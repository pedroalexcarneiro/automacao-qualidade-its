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3.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24.xml" ContentType="application/vnd.openxmlformats-officedocument.drawingml.chart+xml"/>
  <Override PartName="/ppt/charts/style24.xml" ContentType="application/vnd.ms-office.chartstyle+xml"/>
  <Override PartName="/ppt/charts/colors2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57" r:id="rId3"/>
    <p:sldId id="256" r:id="rId4"/>
    <p:sldId id="277" r:id="rId5"/>
    <p:sldId id="278" r:id="rId6"/>
    <p:sldId id="279" r:id="rId7"/>
    <p:sldId id="280" r:id="rId8"/>
    <p:sldId id="288" r:id="rId9"/>
    <p:sldId id="281" r:id="rId10"/>
    <p:sldId id="282" r:id="rId11"/>
    <p:sldId id="287" r:id="rId12"/>
    <p:sldId id="260" r:id="rId13"/>
    <p:sldId id="271" r:id="rId14"/>
    <p:sldId id="272" r:id="rId15"/>
    <p:sldId id="273" r:id="rId16"/>
    <p:sldId id="274" r:id="rId17"/>
    <p:sldId id="289" r:id="rId18"/>
    <p:sldId id="275" r:id="rId19"/>
    <p:sldId id="276" r:id="rId20"/>
    <p:sldId id="286" r:id="rId21"/>
    <p:sldId id="261" r:id="rId22"/>
    <p:sldId id="264" r:id="rId23"/>
    <p:sldId id="266" r:id="rId24"/>
    <p:sldId id="270" r:id="rId25"/>
    <p:sldId id="267" r:id="rId26"/>
    <p:sldId id="290" r:id="rId27"/>
    <p:sldId id="268" r:id="rId28"/>
    <p:sldId id="284" r:id="rId29"/>
    <p:sldId id="285" r:id="rId30"/>
    <p:sldId id="265" r:id="rId31"/>
    <p:sldId id="299" r:id="rId32"/>
    <p:sldId id="294" r:id="rId33"/>
    <p:sldId id="296" r:id="rId34"/>
    <p:sldId id="297" r:id="rId35"/>
    <p:sldId id="298" r:id="rId36"/>
    <p:sldId id="293" r:id="rId37"/>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a:srgbClr val="AFABAB"/>
    <a:srgbClr val="D8CDF6"/>
    <a:srgbClr val="00B050"/>
    <a:srgbClr val="002060"/>
    <a:srgbClr val="00B0F0"/>
    <a:srgbClr val="FF3300"/>
    <a:srgbClr val="0B5892"/>
    <a:srgbClr val="595959"/>
    <a:srgbClr val="9E228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2DE63D5-997A-4646-A377-4702673A728D}" styleName="Estilo Claro 2 - Ênfase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602" autoAdjust="0"/>
    <p:restoredTop sz="94660"/>
  </p:normalViewPr>
  <p:slideViewPr>
    <p:cSldViewPr snapToGrid="0">
      <p:cViewPr varScale="1">
        <p:scale>
          <a:sx n="88" d="100"/>
          <a:sy n="88" d="100"/>
        </p:scale>
        <p:origin x="864" y="-10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package" Target="../embeddings/Microsoft_Excel_Worksheet19.xlsx"/><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package" Target="../embeddings/Microsoft_Excel_Worksheet20.xlsx"/><Relationship Id="rId2" Type="http://schemas.microsoft.com/office/2011/relationships/chartColorStyle" Target="colors21.xml"/><Relationship Id="rId1" Type="http://schemas.microsoft.com/office/2011/relationships/chartStyle" Target="style21.xml"/></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22.xml"/><Relationship Id="rId1" Type="http://schemas.microsoft.com/office/2011/relationships/chartStyle" Target="style22.xml"/></Relationships>
</file>

<file path=ppt/charts/_rels/chart23.xml.rels><?xml version="1.0" encoding="UTF-8" standalone="yes"?>
<Relationships xmlns="http://schemas.openxmlformats.org/package/2006/relationships"><Relationship Id="rId3" Type="http://schemas.openxmlformats.org/officeDocument/2006/relationships/package" Target="../embeddings/Microsoft_Excel_Worksheet22.xlsx"/><Relationship Id="rId2" Type="http://schemas.microsoft.com/office/2011/relationships/chartColorStyle" Target="colors23.xml"/><Relationship Id="rId1" Type="http://schemas.microsoft.com/office/2011/relationships/chartStyle" Target="style23.xml"/></Relationships>
</file>

<file path=ppt/charts/_rels/chart24.xml.rels><?xml version="1.0" encoding="UTF-8" standalone="yes"?>
<Relationships xmlns="http://schemas.openxmlformats.org/package/2006/relationships"><Relationship Id="rId3" Type="http://schemas.openxmlformats.org/officeDocument/2006/relationships/package" Target="../embeddings/Microsoft_Excel_Worksheet23.xlsx"/><Relationship Id="rId2" Type="http://schemas.microsoft.com/office/2011/relationships/chartColorStyle" Target="colors24.xml"/><Relationship Id="rId1" Type="http://schemas.microsoft.com/office/2011/relationships/chartStyle" Target="style2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barChart>
        <c:barDir val="col"/>
        <c:grouping val="clustered"/>
        <c:varyColors val="0"/>
        <c:ser>
          <c:idx val="0"/>
          <c:order val="0"/>
          <c:tx>
            <c:strRef>
              <c:f>Planilha1!$B$1</c:f>
              <c:strCache>
                <c:ptCount val="1"/>
                <c:pt idx="0">
                  <c:v>Operação </c:v>
                </c:pt>
              </c:strCache>
            </c:strRef>
          </c:tx>
          <c:spPr>
            <a:solidFill>
              <a:srgbClr val="D8CDF6"/>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Planilha1!$A$2:$A$5</c:f>
              <c:strCache>
                <c:ptCount val="4"/>
                <c:pt idx="0">
                  <c:v>1° Ciclo </c:v>
                </c:pt>
                <c:pt idx="1">
                  <c:v>2° Ciclo </c:v>
                </c:pt>
                <c:pt idx="2">
                  <c:v>3° Ciclo </c:v>
                </c:pt>
                <c:pt idx="3">
                  <c:v>4° Ciclo </c:v>
                </c:pt>
              </c:strCache>
            </c:strRef>
          </c:cat>
          <c:val>
            <c:numRef>
              <c:f>Planilha1!$B$2:$B$5</c:f>
              <c:numCache>
                <c:formatCode>General</c:formatCode>
                <c:ptCount val="4"/>
                <c:pt idx="0">
                  <c:v>13</c:v>
                </c:pt>
                <c:pt idx="1">
                  <c:v>28</c:v>
                </c:pt>
                <c:pt idx="2">
                  <c:v>26</c:v>
                </c:pt>
                <c:pt idx="3">
                  <c:v>13</c:v>
                </c:pt>
              </c:numCache>
            </c:numRef>
          </c:val>
          <c:extLst>
            <c:ext xmlns:c16="http://schemas.microsoft.com/office/drawing/2014/chart" uri="{C3380CC4-5D6E-409C-BE32-E72D297353CC}">
              <c16:uniqueId val="{00000000-AE38-4387-98CC-526F27A5BF99}"/>
            </c:ext>
          </c:extLst>
        </c:ser>
        <c:ser>
          <c:idx val="1"/>
          <c:order val="1"/>
          <c:tx>
            <c:strRef>
              <c:f>Planilha1!$C$1</c:f>
              <c:strCache>
                <c:ptCount val="1"/>
                <c:pt idx="0">
                  <c:v>Qualidade</c:v>
                </c:pt>
              </c:strCache>
            </c:strRef>
          </c:tx>
          <c:spPr>
            <a:solidFill>
              <a:srgbClr val="9E2289"/>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Planilha1!$A$2:$A$5</c:f>
              <c:strCache>
                <c:ptCount val="4"/>
                <c:pt idx="0">
                  <c:v>1° Ciclo </c:v>
                </c:pt>
                <c:pt idx="1">
                  <c:v>2° Ciclo </c:v>
                </c:pt>
                <c:pt idx="2">
                  <c:v>3° Ciclo </c:v>
                </c:pt>
                <c:pt idx="3">
                  <c:v>4° Ciclo </c:v>
                </c:pt>
              </c:strCache>
            </c:strRef>
          </c:cat>
          <c:val>
            <c:numRef>
              <c:f>Planilha1!$C$2:$C$5</c:f>
              <c:numCache>
                <c:formatCode>General</c:formatCode>
                <c:ptCount val="4"/>
                <c:pt idx="0">
                  <c:v>27</c:v>
                </c:pt>
                <c:pt idx="1">
                  <c:v>28</c:v>
                </c:pt>
                <c:pt idx="2">
                  <c:v>28</c:v>
                </c:pt>
                <c:pt idx="3">
                  <c:v>25</c:v>
                </c:pt>
              </c:numCache>
            </c:numRef>
          </c:val>
          <c:extLst>
            <c:ext xmlns:c16="http://schemas.microsoft.com/office/drawing/2014/chart" uri="{C3380CC4-5D6E-409C-BE32-E72D297353CC}">
              <c16:uniqueId val="{00000001-AE38-4387-98CC-526F27A5BF99}"/>
            </c:ext>
          </c:extLst>
        </c:ser>
        <c:dLbls>
          <c:dLblPos val="outEnd"/>
          <c:showLegendKey val="0"/>
          <c:showVal val="1"/>
          <c:showCatName val="0"/>
          <c:showSerName val="0"/>
          <c:showPercent val="0"/>
          <c:showBubbleSize val="0"/>
        </c:dLbls>
        <c:gapWidth val="219"/>
        <c:overlap val="-27"/>
        <c:axId val="480928000"/>
        <c:axId val="480928480"/>
      </c:barChart>
      <c:catAx>
        <c:axId val="48092800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crossAx val="480928480"/>
        <c:crosses val="autoZero"/>
        <c:auto val="1"/>
        <c:lblAlgn val="ctr"/>
        <c:lblOffset val="100"/>
        <c:noMultiLvlLbl val="0"/>
      </c:catAx>
      <c:valAx>
        <c:axId val="480928480"/>
        <c:scaling>
          <c:orientation val="minMax"/>
          <c:max val="50"/>
          <c:min val="0"/>
        </c:scaling>
        <c:delete val="0"/>
        <c:axPos val="l"/>
        <c:majorGridlines>
          <c:spPr>
            <a:ln w="9525" cap="flat" cmpd="sng" algn="ctr">
              <a:solidFill>
                <a:schemeClr val="tx1">
                  <a:lumMod val="15000"/>
                  <a:lumOff val="85000"/>
                </a:schemeClr>
              </a:solidFill>
              <a:round/>
            </a:ln>
            <a:effectLst/>
          </c:spPr>
        </c:majorGridlines>
        <c:numFmt formatCode="General" sourceLinked="0"/>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crossAx val="480928000"/>
        <c:crosses val="autoZero"/>
        <c:crossBetween val="between"/>
        <c:majorUnit val="10"/>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lumMod val="50000"/>
              <a:lumOff val="50000"/>
            </a:schemeClr>
          </a:solidFill>
          <a:latin typeface="Arial" panose="020B0604020202020204" pitchFamily="34" charset="0"/>
          <a:cs typeface="Arial" panose="020B0604020202020204" pitchFamily="34" charset="0"/>
        </a:defRPr>
      </a:pPr>
      <a:endParaRPr lang="pt-B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barChart>
        <c:barDir val="col"/>
        <c:grouping val="clustered"/>
        <c:varyColors val="0"/>
        <c:ser>
          <c:idx val="0"/>
          <c:order val="0"/>
          <c:tx>
            <c:strRef>
              <c:f>Planilha1!$B$1</c:f>
              <c:strCache>
                <c:ptCount val="1"/>
                <c:pt idx="0">
                  <c:v>NC</c:v>
                </c:pt>
              </c:strCache>
            </c:strRef>
          </c:tx>
          <c:spPr>
            <a:solidFill>
              <a:srgbClr val="D8CDF6"/>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Planilha1!$A$2:$A$5</c:f>
              <c:strCache>
                <c:ptCount val="4"/>
                <c:pt idx="0">
                  <c:v>1° Ciclo </c:v>
                </c:pt>
                <c:pt idx="1">
                  <c:v>2° Ciclo </c:v>
                </c:pt>
                <c:pt idx="2">
                  <c:v>3° Ciclo </c:v>
                </c:pt>
                <c:pt idx="3">
                  <c:v>4° Ciclo </c:v>
                </c:pt>
              </c:strCache>
            </c:strRef>
          </c:cat>
          <c:val>
            <c:numRef>
              <c:f>Planilha1!$B$2:$B$5</c:f>
              <c:numCache>
                <c:formatCode>General</c:formatCode>
                <c:ptCount val="4"/>
                <c:pt idx="0">
                  <c:v>21</c:v>
                </c:pt>
                <c:pt idx="1">
                  <c:v>39</c:v>
                </c:pt>
                <c:pt idx="2">
                  <c:v>35</c:v>
                </c:pt>
                <c:pt idx="3">
                  <c:v>23</c:v>
                </c:pt>
              </c:numCache>
            </c:numRef>
          </c:val>
          <c:extLst>
            <c:ext xmlns:c16="http://schemas.microsoft.com/office/drawing/2014/chart" uri="{C3380CC4-5D6E-409C-BE32-E72D297353CC}">
              <c16:uniqueId val="{00000000-CC13-41C1-B223-D609309025C0}"/>
            </c:ext>
          </c:extLst>
        </c:ser>
        <c:ser>
          <c:idx val="1"/>
          <c:order val="1"/>
          <c:tx>
            <c:strRef>
              <c:f>Planilha1!$C$1</c:f>
              <c:strCache>
                <c:ptCount val="1"/>
                <c:pt idx="0">
                  <c:v>NCG</c:v>
                </c:pt>
              </c:strCache>
            </c:strRef>
          </c:tx>
          <c:spPr>
            <a:solidFill>
              <a:srgbClr val="9E2289"/>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Planilha1!$A$2:$A$5</c:f>
              <c:strCache>
                <c:ptCount val="4"/>
                <c:pt idx="0">
                  <c:v>1° Ciclo </c:v>
                </c:pt>
                <c:pt idx="1">
                  <c:v>2° Ciclo </c:v>
                </c:pt>
                <c:pt idx="2">
                  <c:v>3° Ciclo </c:v>
                </c:pt>
                <c:pt idx="3">
                  <c:v>4° Ciclo </c:v>
                </c:pt>
              </c:strCache>
            </c:strRef>
          </c:cat>
          <c:val>
            <c:numRef>
              <c:f>Planilha1!$C$2:$C$5</c:f>
              <c:numCache>
                <c:formatCode>General</c:formatCode>
                <c:ptCount val="4"/>
                <c:pt idx="0">
                  <c:v>7</c:v>
                </c:pt>
                <c:pt idx="1">
                  <c:v>5</c:v>
                </c:pt>
                <c:pt idx="2">
                  <c:v>12</c:v>
                </c:pt>
                <c:pt idx="3">
                  <c:v>6</c:v>
                </c:pt>
              </c:numCache>
            </c:numRef>
          </c:val>
          <c:extLst>
            <c:ext xmlns:c16="http://schemas.microsoft.com/office/drawing/2014/chart" uri="{C3380CC4-5D6E-409C-BE32-E72D297353CC}">
              <c16:uniqueId val="{00000001-CC13-41C1-B223-D609309025C0}"/>
            </c:ext>
          </c:extLst>
        </c:ser>
        <c:ser>
          <c:idx val="2"/>
          <c:order val="2"/>
          <c:tx>
            <c:strRef>
              <c:f>Planilha1!$D$1</c:f>
              <c:strCache>
                <c:ptCount val="1"/>
                <c:pt idx="0">
                  <c:v>Excelência</c:v>
                </c:pt>
              </c:strCache>
            </c:strRef>
          </c:tx>
          <c:spPr>
            <a:solidFill>
              <a:schemeClr val="accent5">
                <a:tint val="6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Planilha1!$A$2:$A$5</c:f>
              <c:strCache>
                <c:ptCount val="4"/>
                <c:pt idx="0">
                  <c:v>1° Ciclo </c:v>
                </c:pt>
                <c:pt idx="1">
                  <c:v>2° Ciclo </c:v>
                </c:pt>
                <c:pt idx="2">
                  <c:v>3° Ciclo </c:v>
                </c:pt>
                <c:pt idx="3">
                  <c:v>4° Ciclo </c:v>
                </c:pt>
              </c:strCache>
            </c:strRef>
          </c:cat>
          <c:val>
            <c:numRef>
              <c:f>Planilha1!$D$2:$D$5</c:f>
              <c:numCache>
                <c:formatCode>General</c:formatCode>
                <c:ptCount val="4"/>
                <c:pt idx="0">
                  <c:v>12</c:v>
                </c:pt>
                <c:pt idx="1">
                  <c:v>12</c:v>
                </c:pt>
                <c:pt idx="2">
                  <c:v>7</c:v>
                </c:pt>
                <c:pt idx="3">
                  <c:v>9</c:v>
                </c:pt>
              </c:numCache>
            </c:numRef>
          </c:val>
          <c:extLst>
            <c:ext xmlns:c16="http://schemas.microsoft.com/office/drawing/2014/chart" uri="{C3380CC4-5D6E-409C-BE32-E72D297353CC}">
              <c16:uniqueId val="{00000002-CC13-41C1-B223-D609309025C0}"/>
            </c:ext>
          </c:extLst>
        </c:ser>
        <c:dLbls>
          <c:dLblPos val="outEnd"/>
          <c:showLegendKey val="0"/>
          <c:showVal val="1"/>
          <c:showCatName val="0"/>
          <c:showSerName val="0"/>
          <c:showPercent val="0"/>
          <c:showBubbleSize val="0"/>
        </c:dLbls>
        <c:gapWidth val="219"/>
        <c:overlap val="-27"/>
        <c:axId val="480928000"/>
        <c:axId val="480928480"/>
      </c:barChart>
      <c:catAx>
        <c:axId val="48092800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crossAx val="480928480"/>
        <c:crosses val="autoZero"/>
        <c:auto val="1"/>
        <c:lblAlgn val="ctr"/>
        <c:lblOffset val="100"/>
        <c:noMultiLvlLbl val="0"/>
      </c:catAx>
      <c:valAx>
        <c:axId val="480928480"/>
        <c:scaling>
          <c:orientation val="minMax"/>
          <c:max val="55"/>
          <c:min val="0"/>
        </c:scaling>
        <c:delete val="0"/>
        <c:axPos val="l"/>
        <c:majorGridlines>
          <c:spPr>
            <a:ln w="9525" cap="flat" cmpd="sng" algn="ctr">
              <a:solidFill>
                <a:schemeClr val="tx1">
                  <a:lumMod val="15000"/>
                  <a:lumOff val="85000"/>
                </a:schemeClr>
              </a:solidFill>
              <a:round/>
            </a:ln>
            <a:effectLst/>
          </c:spPr>
        </c:majorGridlines>
        <c:numFmt formatCode="General" sourceLinked="0"/>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crossAx val="480928000"/>
        <c:crosses val="autoZero"/>
        <c:crossBetween val="between"/>
        <c:majorUnit val="10"/>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lumMod val="50000"/>
              <a:lumOff val="50000"/>
            </a:schemeClr>
          </a:solidFill>
          <a:latin typeface="Arial" panose="020B0604020202020204" pitchFamily="34" charset="0"/>
          <a:cs typeface="Arial" panose="020B0604020202020204" pitchFamily="34" charset="0"/>
        </a:defRPr>
      </a:pPr>
      <a:endParaRPr lang="pt-B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Planilha1!$B$1</c:f>
              <c:strCache>
                <c:ptCount val="1"/>
                <c:pt idx="0">
                  <c:v>Média do Canal</c:v>
                </c:pt>
              </c:strCache>
            </c:strRef>
          </c:tx>
          <c:spPr>
            <a:ln w="28575" cap="rnd">
              <a:solidFill>
                <a:srgbClr val="9E2289"/>
              </a:solidFill>
              <a:round/>
            </a:ln>
            <a:effectLst/>
          </c:spPr>
          <c:marker>
            <c:symbol val="none"/>
          </c:marker>
          <c:dLbls>
            <c:spPr>
              <a:noFill/>
              <a:ln>
                <a:noFill/>
              </a:ln>
              <a:effectLst/>
            </c:spPr>
            <c:txPr>
              <a:bodyPr rot="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Planilha1!$A$2:$A$5</c:f>
              <c:strCache>
                <c:ptCount val="4"/>
                <c:pt idx="0">
                  <c:v>1° Ciclo </c:v>
                </c:pt>
                <c:pt idx="1">
                  <c:v>2° Ciclo </c:v>
                </c:pt>
                <c:pt idx="2">
                  <c:v>3° Ciclo </c:v>
                </c:pt>
                <c:pt idx="3">
                  <c:v>4° Ciclo </c:v>
                </c:pt>
              </c:strCache>
            </c:strRef>
          </c:cat>
          <c:val>
            <c:numRef>
              <c:f>Planilha1!$B$2:$B$5</c:f>
              <c:numCache>
                <c:formatCode>0.00</c:formatCode>
                <c:ptCount val="4"/>
                <c:pt idx="0">
                  <c:v>76.48</c:v>
                </c:pt>
                <c:pt idx="1">
                  <c:v>82.91</c:v>
                </c:pt>
                <c:pt idx="2">
                  <c:v>68.569999999999993</c:v>
                </c:pt>
                <c:pt idx="3">
                  <c:v>78.39</c:v>
                </c:pt>
              </c:numCache>
            </c:numRef>
          </c:val>
          <c:smooth val="0"/>
          <c:extLst>
            <c:ext xmlns:c16="http://schemas.microsoft.com/office/drawing/2014/chart" uri="{C3380CC4-5D6E-409C-BE32-E72D297353CC}">
              <c16:uniqueId val="{00000000-7A97-4712-9BF9-9830BDD2941E}"/>
            </c:ext>
          </c:extLst>
        </c:ser>
        <c:dLbls>
          <c:dLblPos val="b"/>
          <c:showLegendKey val="0"/>
          <c:showVal val="1"/>
          <c:showCatName val="0"/>
          <c:showSerName val="0"/>
          <c:showPercent val="0"/>
          <c:showBubbleSize val="0"/>
        </c:dLbls>
        <c:smooth val="0"/>
        <c:axId val="480928000"/>
        <c:axId val="480928480"/>
      </c:lineChart>
      <c:catAx>
        <c:axId val="48092800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crossAx val="480928480"/>
        <c:crosses val="autoZero"/>
        <c:auto val="1"/>
        <c:lblAlgn val="ctr"/>
        <c:lblOffset val="100"/>
        <c:noMultiLvlLbl val="0"/>
      </c:catAx>
      <c:valAx>
        <c:axId val="480928480"/>
        <c:scaling>
          <c:orientation val="minMax"/>
          <c:max val="100"/>
          <c:min val="0"/>
        </c:scaling>
        <c:delete val="0"/>
        <c:axPos val="l"/>
        <c:majorGridlines>
          <c:spPr>
            <a:ln w="9525" cap="flat" cmpd="sng" algn="ctr">
              <a:solidFill>
                <a:schemeClr val="tx1">
                  <a:lumMod val="15000"/>
                  <a:lumOff val="85000"/>
                </a:schemeClr>
              </a:solidFill>
              <a:round/>
            </a:ln>
            <a:effectLst/>
          </c:spPr>
        </c:majorGridlines>
        <c:numFmt formatCode="General" sourceLinked="0"/>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crossAx val="480928000"/>
        <c:crosses val="autoZero"/>
        <c:crossBetween val="between"/>
        <c:majorUnit val="50"/>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lumMod val="50000"/>
              <a:lumOff val="50000"/>
            </a:schemeClr>
          </a:solidFill>
          <a:latin typeface="Arial" panose="020B0604020202020204" pitchFamily="34" charset="0"/>
          <a:cs typeface="Arial" panose="020B0604020202020204" pitchFamily="34" charset="0"/>
        </a:defRPr>
      </a:pPr>
      <a:endParaRPr lang="pt-B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barChart>
        <c:barDir val="col"/>
        <c:grouping val="clustered"/>
        <c:varyColors val="0"/>
        <c:ser>
          <c:idx val="0"/>
          <c:order val="0"/>
          <c:tx>
            <c:strRef>
              <c:f>Planilha1!$B$1</c:f>
              <c:strCache>
                <c:ptCount val="1"/>
                <c:pt idx="0">
                  <c:v>Operação </c:v>
                </c:pt>
              </c:strCache>
            </c:strRef>
          </c:tx>
          <c:spPr>
            <a:solidFill>
              <a:srgbClr val="D8CDF6"/>
            </a:solidFill>
            <a:ln>
              <a:noFill/>
            </a:ln>
            <a:effectLst/>
          </c:spPr>
          <c:invertIfNegative val="0"/>
          <c:dLbls>
            <c:dLbl>
              <c:idx val="0"/>
              <c:layout>
                <c:manualLayout>
                  <c:x val="-1.832638277608625E-2"/>
                  <c:y val="9.8386438613167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821-44C1-A1BD-D381622B8E70}"/>
                </c:ext>
              </c:extLst>
            </c:dLbl>
            <c:dLbl>
              <c:idx val="1"/>
              <c:layout>
                <c:manualLayout>
                  <c:x val="-1.2217588517390823E-2"/>
                  <c:y val="-1.029667020794396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821-44C1-A1BD-D381622B8E70}"/>
                </c:ext>
              </c:extLst>
            </c:dLbl>
            <c:dLbl>
              <c:idx val="2"/>
              <c:layout>
                <c:manualLayout>
                  <c:x val="-3.3598368422824765E-2"/>
                  <c:y val="2.1839826402066217E-2"/>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0.11006532080790006"/>
                      <c:h val="0.12695300649683602"/>
                    </c:manualLayout>
                  </c15:layout>
                </c:ext>
                <c:ext xmlns:c16="http://schemas.microsoft.com/office/drawing/2014/chart" uri="{C3380CC4-5D6E-409C-BE32-E72D297353CC}">
                  <c16:uniqueId val="{00000001-FAC6-486A-A719-81BD4D07923D}"/>
                </c:ext>
              </c:extLst>
            </c:dLbl>
            <c:dLbl>
              <c:idx val="3"/>
              <c:layout>
                <c:manualLayout>
                  <c:x val="-1.2217588517390935E-2"/>
                  <c:y val="-3.2656683675108664E-4"/>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821-44C1-A1BD-D381622B8E70}"/>
                </c:ext>
              </c:extLst>
            </c:dLbl>
            <c:spPr>
              <a:noFill/>
              <a:ln>
                <a:noFill/>
              </a:ln>
              <a:effectLst/>
            </c:spPr>
            <c:txPr>
              <a:bodyPr rot="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Planilha1!$A$2:$A$5</c:f>
              <c:strCache>
                <c:ptCount val="4"/>
                <c:pt idx="0">
                  <c:v>1° Ciclo </c:v>
                </c:pt>
                <c:pt idx="1">
                  <c:v>2° Ciclo </c:v>
                </c:pt>
                <c:pt idx="2">
                  <c:v>3° Ciclo </c:v>
                </c:pt>
                <c:pt idx="3">
                  <c:v>4° Ciclo </c:v>
                </c:pt>
              </c:strCache>
            </c:strRef>
          </c:cat>
          <c:val>
            <c:numRef>
              <c:f>Planilha1!$B$2:$B$5</c:f>
              <c:numCache>
                <c:formatCode>General</c:formatCode>
                <c:ptCount val="4"/>
                <c:pt idx="0">
                  <c:v>74.31</c:v>
                </c:pt>
                <c:pt idx="1">
                  <c:v>87.5</c:v>
                </c:pt>
                <c:pt idx="2">
                  <c:v>64.150000000000006</c:v>
                </c:pt>
                <c:pt idx="3">
                  <c:v>86.77</c:v>
                </c:pt>
              </c:numCache>
            </c:numRef>
          </c:val>
          <c:extLst>
            <c:ext xmlns:c16="http://schemas.microsoft.com/office/drawing/2014/chart" uri="{C3380CC4-5D6E-409C-BE32-E72D297353CC}">
              <c16:uniqueId val="{00000000-E821-44C1-A1BD-D381622B8E70}"/>
            </c:ext>
          </c:extLst>
        </c:ser>
        <c:ser>
          <c:idx val="1"/>
          <c:order val="1"/>
          <c:tx>
            <c:strRef>
              <c:f>Planilha1!$C$1</c:f>
              <c:strCache>
                <c:ptCount val="1"/>
                <c:pt idx="0">
                  <c:v>Qualidade</c:v>
                </c:pt>
              </c:strCache>
            </c:strRef>
          </c:tx>
          <c:spPr>
            <a:solidFill>
              <a:srgbClr val="9E2289"/>
            </a:solidFill>
            <a:ln>
              <a:noFill/>
            </a:ln>
            <a:effectLst/>
          </c:spPr>
          <c:invertIfNegative val="0"/>
          <c:dLbls>
            <c:dLbl>
              <c:idx val="0"/>
              <c:layout>
                <c:manualLayout>
                  <c:x val="3.6652765552172471E-2"/>
                  <c:y val="1.510892104458559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821-44C1-A1BD-D381622B8E70}"/>
                </c:ext>
              </c:extLst>
            </c:dLbl>
            <c:dLbl>
              <c:idx val="1"/>
              <c:layout>
                <c:manualLayout>
                  <c:x val="1.2217588517390823E-2"/>
                  <c:y val="1.4456382210494624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821-44C1-A1BD-D381622B8E70}"/>
                </c:ext>
              </c:extLst>
            </c:dLbl>
            <c:dLbl>
              <c:idx val="3"/>
              <c:layout>
                <c:manualLayout>
                  <c:x val="2.7489574164129241E-2"/>
                  <c:y val="1.41298153737435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E821-44C1-A1BD-D381622B8E70}"/>
                </c:ext>
              </c:extLst>
            </c:dLbl>
            <c:spPr>
              <a:noFill/>
              <a:ln>
                <a:noFill/>
              </a:ln>
              <a:effectLst/>
            </c:spPr>
            <c:txPr>
              <a:bodyPr rot="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Planilha1!$A$2:$A$5</c:f>
              <c:strCache>
                <c:ptCount val="4"/>
                <c:pt idx="0">
                  <c:v>1° Ciclo </c:v>
                </c:pt>
                <c:pt idx="1">
                  <c:v>2° Ciclo </c:v>
                </c:pt>
                <c:pt idx="2">
                  <c:v>3° Ciclo </c:v>
                </c:pt>
                <c:pt idx="3">
                  <c:v>4° Ciclo </c:v>
                </c:pt>
              </c:strCache>
            </c:strRef>
          </c:cat>
          <c:val>
            <c:numRef>
              <c:f>Planilha1!$C$2:$C$5</c:f>
              <c:numCache>
                <c:formatCode>General</c:formatCode>
                <c:ptCount val="4"/>
                <c:pt idx="0">
                  <c:v>77.52</c:v>
                </c:pt>
                <c:pt idx="1">
                  <c:v>78.319999999999993</c:v>
                </c:pt>
                <c:pt idx="2">
                  <c:v>72.680000000000007</c:v>
                </c:pt>
                <c:pt idx="3">
                  <c:v>74.040000000000006</c:v>
                </c:pt>
              </c:numCache>
            </c:numRef>
          </c:val>
          <c:extLst>
            <c:ext xmlns:c16="http://schemas.microsoft.com/office/drawing/2014/chart" uri="{C3380CC4-5D6E-409C-BE32-E72D297353CC}">
              <c16:uniqueId val="{00000001-E821-44C1-A1BD-D381622B8E70}"/>
            </c:ext>
          </c:extLst>
        </c:ser>
        <c:dLbls>
          <c:dLblPos val="outEnd"/>
          <c:showLegendKey val="0"/>
          <c:showVal val="1"/>
          <c:showCatName val="0"/>
          <c:showSerName val="0"/>
          <c:showPercent val="0"/>
          <c:showBubbleSize val="0"/>
        </c:dLbls>
        <c:gapWidth val="219"/>
        <c:overlap val="-27"/>
        <c:axId val="480928000"/>
        <c:axId val="480928480"/>
      </c:barChart>
      <c:catAx>
        <c:axId val="48092800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crossAx val="480928480"/>
        <c:crosses val="autoZero"/>
        <c:auto val="1"/>
        <c:lblAlgn val="ctr"/>
        <c:lblOffset val="100"/>
        <c:noMultiLvlLbl val="0"/>
      </c:catAx>
      <c:valAx>
        <c:axId val="480928480"/>
        <c:scaling>
          <c:orientation val="minMax"/>
          <c:max val="100"/>
          <c:min val="0"/>
        </c:scaling>
        <c:delete val="0"/>
        <c:axPos val="l"/>
        <c:majorGridlines>
          <c:spPr>
            <a:ln w="9525" cap="flat" cmpd="sng" algn="ctr">
              <a:solidFill>
                <a:schemeClr val="bg1">
                  <a:lumMod val="95000"/>
                  <a:alpha val="38000"/>
                </a:schemeClr>
              </a:solidFill>
              <a:round/>
            </a:ln>
            <a:effectLst/>
          </c:spPr>
        </c:majorGridlines>
        <c:numFmt formatCode="General" sourceLinked="0"/>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crossAx val="480928000"/>
        <c:crosses val="autoZero"/>
        <c:crossBetween val="between"/>
        <c:majorUnit val="20"/>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lumMod val="50000"/>
              <a:lumOff val="50000"/>
            </a:schemeClr>
          </a:solidFill>
          <a:latin typeface="Arial" panose="020B0604020202020204" pitchFamily="34" charset="0"/>
          <a:cs typeface="Arial" panose="020B0604020202020204" pitchFamily="34" charset="0"/>
        </a:defRPr>
      </a:pPr>
      <a:endParaRPr lang="pt-B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Planilha1!$B$1</c:f>
              <c:strCache>
                <c:ptCount val="1"/>
                <c:pt idx="0">
                  <c:v>Ofensores</c:v>
                </c:pt>
              </c:strCache>
            </c:strRef>
          </c:tx>
          <c:spPr>
            <a:solidFill>
              <a:srgbClr val="9E2289"/>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Planilha1!$A$2:$A$11</c:f>
              <c:strCache>
                <c:ptCount val="10"/>
                <c:pt idx="0">
                  <c:v>Técnica - Tabulação</c:v>
                </c:pt>
                <c:pt idx="1">
                  <c:v>Experiência  - Atenção e interesse.</c:v>
                </c:pt>
                <c:pt idx="2">
                  <c:v>Técnica - Demora maior de 60s para retornar o contato.</c:v>
                </c:pt>
                <c:pt idx="3">
                  <c:v>Experiência  - Domínio do tema.</c:v>
                </c:pt>
                <c:pt idx="4">
                  <c:v>Experiência  - Gentileza e cordialidade.</c:v>
                </c:pt>
                <c:pt idx="5">
                  <c:v>Técnica -  Informação/Procedimento incompleto.</c:v>
                </c:pt>
                <c:pt idx="6">
                  <c:v>Técnica - Observação interna.</c:v>
                </c:pt>
                <c:pt idx="7">
                  <c:v>Técnica - Não realizou a identificação positiva corretamente - faltando apenas 1 dado.</c:v>
                </c:pt>
                <c:pt idx="8">
                  <c:v>Experiência  - Argumentação inadequada.</c:v>
                </c:pt>
                <c:pt idx="9">
                  <c:v>Comunicação - Gírias e Vício de linguagem.</c:v>
                </c:pt>
              </c:strCache>
            </c:strRef>
          </c:cat>
          <c:val>
            <c:numRef>
              <c:f>Planilha1!$B$2:$B$11</c:f>
              <c:numCache>
                <c:formatCode>General</c:formatCode>
                <c:ptCount val="10"/>
                <c:pt idx="0">
                  <c:v>50</c:v>
                </c:pt>
                <c:pt idx="1">
                  <c:v>27</c:v>
                </c:pt>
                <c:pt idx="2">
                  <c:v>26</c:v>
                </c:pt>
                <c:pt idx="3">
                  <c:v>23</c:v>
                </c:pt>
                <c:pt idx="4">
                  <c:v>21</c:v>
                </c:pt>
                <c:pt idx="5">
                  <c:v>17</c:v>
                </c:pt>
                <c:pt idx="6">
                  <c:v>16</c:v>
                </c:pt>
                <c:pt idx="7">
                  <c:v>16</c:v>
                </c:pt>
                <c:pt idx="8">
                  <c:v>16</c:v>
                </c:pt>
                <c:pt idx="9">
                  <c:v>14</c:v>
                </c:pt>
              </c:numCache>
            </c:numRef>
          </c:val>
          <c:extLst>
            <c:ext xmlns:c16="http://schemas.microsoft.com/office/drawing/2014/chart" uri="{C3380CC4-5D6E-409C-BE32-E72D297353CC}">
              <c16:uniqueId val="{00000000-FF36-4018-8C54-CDF65940D94D}"/>
            </c:ext>
          </c:extLst>
        </c:ser>
        <c:dLbls>
          <c:dLblPos val="outEnd"/>
          <c:showLegendKey val="0"/>
          <c:showVal val="1"/>
          <c:showCatName val="0"/>
          <c:showSerName val="0"/>
          <c:showPercent val="0"/>
          <c:showBubbleSize val="0"/>
        </c:dLbls>
        <c:gapWidth val="182"/>
        <c:axId val="1003513503"/>
        <c:axId val="1003513919"/>
      </c:barChart>
      <c:catAx>
        <c:axId val="1003513503"/>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crossAx val="1003513919"/>
        <c:crosses val="autoZero"/>
        <c:auto val="1"/>
        <c:lblAlgn val="ctr"/>
        <c:lblOffset val="100"/>
        <c:noMultiLvlLbl val="0"/>
      </c:catAx>
      <c:valAx>
        <c:axId val="1003513919"/>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crossAx val="100351350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Arial" panose="020B0604020202020204" pitchFamily="34" charset="0"/>
          <a:cs typeface="Arial" panose="020B0604020202020204" pitchFamily="34" charset="0"/>
        </a:defRPr>
      </a:pPr>
      <a:endParaRPr lang="pt-BR"/>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2477506202309159"/>
          <c:y val="0.25071916247917336"/>
          <c:w val="0.8462728841944791"/>
          <c:h val="0.47060911814883422"/>
        </c:manualLayout>
      </c:layout>
      <c:barChart>
        <c:barDir val="col"/>
        <c:grouping val="clustered"/>
        <c:varyColors val="0"/>
        <c:ser>
          <c:idx val="0"/>
          <c:order val="0"/>
          <c:tx>
            <c:strRef>
              <c:f>Planilha1!$B$1</c:f>
              <c:strCache>
                <c:ptCount val="1"/>
                <c:pt idx="0">
                  <c:v> No Prazo</c:v>
                </c:pt>
              </c:strCache>
            </c:strRef>
          </c:tx>
          <c:spPr>
            <a:solidFill>
              <a:srgbClr val="9E2289"/>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pt-BR"/>
              </a:p>
            </c:txPr>
            <c:dLblPos val="outEnd"/>
            <c:showLegendKey val="1"/>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Planilha1!$A$2:$A$5</c:f>
              <c:strCache>
                <c:ptCount val="4"/>
                <c:pt idx="0">
                  <c:v>1º Ciclo</c:v>
                </c:pt>
                <c:pt idx="1">
                  <c:v>2º Ciclo</c:v>
                </c:pt>
                <c:pt idx="2">
                  <c:v>3º Ciclo</c:v>
                </c:pt>
                <c:pt idx="3">
                  <c:v>4º Ciclo</c:v>
                </c:pt>
              </c:strCache>
            </c:strRef>
          </c:cat>
          <c:val>
            <c:numRef>
              <c:f>Planilha1!$B$2:$B$5</c:f>
              <c:numCache>
                <c:formatCode>General</c:formatCode>
                <c:ptCount val="4"/>
                <c:pt idx="0">
                  <c:v>6</c:v>
                </c:pt>
                <c:pt idx="1">
                  <c:v>5</c:v>
                </c:pt>
                <c:pt idx="2">
                  <c:v>12</c:v>
                </c:pt>
                <c:pt idx="3">
                  <c:v>4</c:v>
                </c:pt>
              </c:numCache>
            </c:numRef>
          </c:val>
          <c:extLst>
            <c:ext xmlns:c16="http://schemas.microsoft.com/office/drawing/2014/chart" uri="{C3380CC4-5D6E-409C-BE32-E72D297353CC}">
              <c16:uniqueId val="{00000004-0A7E-405F-B2DB-0B439CAD8A6A}"/>
            </c:ext>
          </c:extLst>
        </c:ser>
        <c:ser>
          <c:idx val="1"/>
          <c:order val="1"/>
          <c:tx>
            <c:strRef>
              <c:f>Planilha1!$C$1</c:f>
              <c:strCache>
                <c:ptCount val="1"/>
                <c:pt idx="0">
                  <c:v>Fora do Prazo</c:v>
                </c:pt>
              </c:strCache>
            </c:strRef>
          </c:tx>
          <c:spPr>
            <a:solidFill>
              <a:srgbClr val="D8CDF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Planilha1!$A$2:$A$5</c:f>
              <c:strCache>
                <c:ptCount val="4"/>
                <c:pt idx="0">
                  <c:v>1º Ciclo</c:v>
                </c:pt>
                <c:pt idx="1">
                  <c:v>2º Ciclo</c:v>
                </c:pt>
                <c:pt idx="2">
                  <c:v>3º Ciclo</c:v>
                </c:pt>
                <c:pt idx="3">
                  <c:v>4º Ciclo</c:v>
                </c:pt>
              </c:strCache>
            </c:strRef>
          </c:cat>
          <c:val>
            <c:numRef>
              <c:f>Planilha1!$C$2:$C$5</c:f>
              <c:numCache>
                <c:formatCode>General</c:formatCode>
                <c:ptCount val="4"/>
                <c:pt idx="0">
                  <c:v>1</c:v>
                </c:pt>
              </c:numCache>
            </c:numRef>
          </c:val>
          <c:extLst>
            <c:ext xmlns:c16="http://schemas.microsoft.com/office/drawing/2014/chart" uri="{C3380CC4-5D6E-409C-BE32-E72D297353CC}">
              <c16:uniqueId val="{00000001-F0E6-4D85-8FDE-985878CD3AEC}"/>
            </c:ext>
          </c:extLst>
        </c:ser>
        <c:ser>
          <c:idx val="2"/>
          <c:order val="2"/>
          <c:tx>
            <c:strRef>
              <c:f>Planilha1!$D$1</c:f>
              <c:strCache>
                <c:ptCount val="1"/>
                <c:pt idx="0">
                  <c:v>Justificados</c:v>
                </c:pt>
              </c:strCache>
            </c:strRef>
          </c:tx>
          <c:spPr>
            <a:solidFill>
              <a:srgbClr val="7F7F7F"/>
            </a:solidFill>
            <a:ln>
              <a:noFill/>
            </a:ln>
            <a:effectLst/>
          </c:spPr>
          <c:invertIfNegative val="0"/>
          <c:dLbls>
            <c:dLbl>
              <c:idx val="3"/>
              <c:layout>
                <c:manualLayout>
                  <c:x val="0"/>
                  <c:y val="-2.1571133067506493E-2"/>
                </c:manualLayout>
              </c:layout>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85000"/>
                          <a:lumOff val="15000"/>
                        </a:schemeClr>
                      </a:solidFill>
                      <a:latin typeface="Arial" panose="020B0604020202020204" pitchFamily="34" charset="0"/>
                      <a:ea typeface="+mn-ea"/>
                      <a:cs typeface="Arial" panose="020B0604020202020204" pitchFamily="34" charset="0"/>
                    </a:defRPr>
                  </a:pPr>
                  <a:endParaRPr lang="pt-BR"/>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AC9-4D18-A9CE-10DC21985E4F}"/>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2">
                        <a:lumMod val="50000"/>
                      </a:schemeClr>
                    </a:solidFill>
                    <a:latin typeface="Arial" panose="020B0604020202020204" pitchFamily="34" charset="0"/>
                    <a:ea typeface="+mn-ea"/>
                    <a:cs typeface="Arial" panose="020B0604020202020204" pitchFamily="34" charset="0"/>
                  </a:defRPr>
                </a:pPr>
                <a:endParaRPr lang="pt-B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Planilha1!$A$2:$A$5</c:f>
              <c:strCache>
                <c:ptCount val="4"/>
                <c:pt idx="0">
                  <c:v>1º Ciclo</c:v>
                </c:pt>
                <c:pt idx="1">
                  <c:v>2º Ciclo</c:v>
                </c:pt>
                <c:pt idx="2">
                  <c:v>3º Ciclo</c:v>
                </c:pt>
                <c:pt idx="3">
                  <c:v>4º Ciclo</c:v>
                </c:pt>
              </c:strCache>
            </c:strRef>
          </c:cat>
          <c:val>
            <c:numRef>
              <c:f>Planilha1!$D$2:$D$5</c:f>
              <c:numCache>
                <c:formatCode>General</c:formatCode>
                <c:ptCount val="4"/>
                <c:pt idx="3">
                  <c:v>2</c:v>
                </c:pt>
              </c:numCache>
            </c:numRef>
          </c:val>
          <c:extLst>
            <c:ext xmlns:c16="http://schemas.microsoft.com/office/drawing/2014/chart" uri="{C3380CC4-5D6E-409C-BE32-E72D297353CC}">
              <c16:uniqueId val="{00000001-8AC9-4D18-A9CE-10DC21985E4F}"/>
            </c:ext>
          </c:extLst>
        </c:ser>
        <c:dLbls>
          <c:dLblPos val="ctr"/>
          <c:showLegendKey val="0"/>
          <c:showVal val="1"/>
          <c:showCatName val="0"/>
          <c:showSerName val="0"/>
          <c:showPercent val="0"/>
          <c:showBubbleSize val="0"/>
        </c:dLbls>
        <c:gapWidth val="79"/>
        <c:axId val="667736623"/>
        <c:axId val="667748271"/>
      </c:barChart>
      <c:catAx>
        <c:axId val="66773662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cap="none" spc="120" normalizeH="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crossAx val="667748271"/>
        <c:crosses val="autoZero"/>
        <c:auto val="1"/>
        <c:lblAlgn val="ctr"/>
        <c:lblOffset val="100"/>
        <c:noMultiLvlLbl val="0"/>
      </c:catAx>
      <c:valAx>
        <c:axId val="667748271"/>
        <c:scaling>
          <c:orientation val="minMax"/>
          <c:max val="20"/>
        </c:scaling>
        <c:delete val="0"/>
        <c:axPos val="l"/>
        <c:numFmt formatCode="General" sourceLinked="0"/>
        <c:majorTickMark val="out"/>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crossAx val="667736623"/>
        <c:crosses val="autoZero"/>
        <c:crossBetween val="between"/>
        <c:majorUnit val="5"/>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Arial" panose="020B0604020202020204" pitchFamily="34" charset="0"/>
          <a:cs typeface="Arial" panose="020B0604020202020204" pitchFamily="34" charset="0"/>
        </a:defRPr>
      </a:pPr>
      <a:endParaRPr lang="pt-BR"/>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2477506202309159"/>
          <c:y val="0.25071916247917336"/>
          <c:w val="0.8462728841944791"/>
          <c:h val="0.47060911814883422"/>
        </c:manualLayout>
      </c:layout>
      <c:barChart>
        <c:barDir val="col"/>
        <c:grouping val="clustered"/>
        <c:varyColors val="0"/>
        <c:ser>
          <c:idx val="0"/>
          <c:order val="0"/>
          <c:tx>
            <c:strRef>
              <c:f>Planilha1!$B$1</c:f>
              <c:strCache>
                <c:ptCount val="1"/>
                <c:pt idx="0">
                  <c:v>No Prazo</c:v>
                </c:pt>
              </c:strCache>
            </c:strRef>
          </c:tx>
          <c:spPr>
            <a:solidFill>
              <a:srgbClr val="9E2289"/>
            </a:solidFill>
            <a:ln>
              <a:noFill/>
            </a:ln>
            <a:effectLst/>
          </c:spPr>
          <c:invertIfNegative val="0"/>
          <c:dLbls>
            <c:dLbl>
              <c:idx val="0"/>
              <c:layout>
                <c:manualLayout>
                  <c:x val="2.6320048893117838E-3"/>
                  <c:y val="-6.335281030406023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C54-4455-86F2-9BBFFC361D92}"/>
                </c:ext>
              </c:extLst>
            </c:dLbl>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Planilha1!$A$2:$A$5</c:f>
              <c:strCache>
                <c:ptCount val="4"/>
                <c:pt idx="0">
                  <c:v>1º Ciclo</c:v>
                </c:pt>
                <c:pt idx="1">
                  <c:v>2º Ciclo</c:v>
                </c:pt>
                <c:pt idx="2">
                  <c:v>3º Ciclo</c:v>
                </c:pt>
                <c:pt idx="3">
                  <c:v>4º Ciclo</c:v>
                </c:pt>
              </c:strCache>
            </c:strRef>
          </c:cat>
          <c:val>
            <c:numRef>
              <c:f>Planilha1!$B$2:$B$5</c:f>
              <c:numCache>
                <c:formatCode>General</c:formatCode>
                <c:ptCount val="4"/>
                <c:pt idx="0">
                  <c:v>20</c:v>
                </c:pt>
                <c:pt idx="1">
                  <c:v>35</c:v>
                </c:pt>
                <c:pt idx="2">
                  <c:v>33</c:v>
                </c:pt>
                <c:pt idx="3">
                  <c:v>22</c:v>
                </c:pt>
              </c:numCache>
            </c:numRef>
          </c:val>
          <c:extLst>
            <c:ext xmlns:c16="http://schemas.microsoft.com/office/drawing/2014/chart" uri="{C3380CC4-5D6E-409C-BE32-E72D297353CC}">
              <c16:uniqueId val="{00000000-D47F-4209-86A6-58A3D2DAFDA5}"/>
            </c:ext>
          </c:extLst>
        </c:ser>
        <c:ser>
          <c:idx val="1"/>
          <c:order val="1"/>
          <c:tx>
            <c:strRef>
              <c:f>Planilha1!$C$1</c:f>
              <c:strCache>
                <c:ptCount val="1"/>
                <c:pt idx="0">
                  <c:v>Fora do Prazo</c:v>
                </c:pt>
              </c:strCache>
            </c:strRef>
          </c:tx>
          <c:spPr>
            <a:solidFill>
              <a:srgbClr val="D8CDF6"/>
            </a:solidFill>
            <a:ln>
              <a:noFill/>
            </a:ln>
            <a:effectLst/>
          </c:spPr>
          <c:invertIfNegative val="0"/>
          <c:dLbls>
            <c:dLbl>
              <c:idx val="0"/>
              <c:layout>
                <c:manualLayout>
                  <c:x val="7.8960146679352312E-3"/>
                  <c:y val="-9.064939124766796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47F-4209-86A6-58A3D2DAFDA5}"/>
                </c:ext>
              </c:extLst>
            </c:dLbl>
            <c:dLbl>
              <c:idx val="1"/>
              <c:layout>
                <c:manualLayout>
                  <c:x val="2.105603911449408E-2"/>
                  <c:y val="-2.371989078707144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D47F-4209-86A6-58A3D2DAFDA5}"/>
                </c:ext>
              </c:extLst>
            </c:dLbl>
            <c:dLbl>
              <c:idx val="2"/>
              <c:layout>
                <c:manualLayout>
                  <c:x val="2.6320048893116632E-3"/>
                  <c:y val="-0.10426317854850574"/>
                </c:manualLayout>
              </c:layout>
              <c:spPr>
                <a:noFill/>
                <a:ln>
                  <a:noFill/>
                </a:ln>
                <a:effectLst/>
              </c:spPr>
              <c:txPr>
                <a:bodyPr rot="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47F-4209-86A6-58A3D2DAFDA5}"/>
                </c:ext>
              </c:extLst>
            </c:dLbl>
            <c:dLbl>
              <c:idx val="3"/>
              <c:layout>
                <c:manualLayout>
                  <c:x val="2.2400641297317281E-2"/>
                  <c:y val="-9.986797340844771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D47F-4209-86A6-58A3D2DAFDA5}"/>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Planilha1!$A$2:$A$5</c:f>
              <c:strCache>
                <c:ptCount val="4"/>
                <c:pt idx="0">
                  <c:v>1º Ciclo</c:v>
                </c:pt>
                <c:pt idx="1">
                  <c:v>2º Ciclo</c:v>
                </c:pt>
                <c:pt idx="2">
                  <c:v>3º Ciclo</c:v>
                </c:pt>
                <c:pt idx="3">
                  <c:v>4º Ciclo</c:v>
                </c:pt>
              </c:strCache>
            </c:strRef>
          </c:cat>
          <c:val>
            <c:numRef>
              <c:f>Planilha1!$C$2:$C$5</c:f>
              <c:numCache>
                <c:formatCode>General</c:formatCode>
                <c:ptCount val="4"/>
                <c:pt idx="1">
                  <c:v>4</c:v>
                </c:pt>
              </c:numCache>
            </c:numRef>
          </c:val>
          <c:extLst>
            <c:ext xmlns:c16="http://schemas.microsoft.com/office/drawing/2014/chart" uri="{C3380CC4-5D6E-409C-BE32-E72D297353CC}">
              <c16:uniqueId val="{00000005-D47F-4209-86A6-58A3D2DAFDA5}"/>
            </c:ext>
          </c:extLst>
        </c:ser>
        <c:ser>
          <c:idx val="2"/>
          <c:order val="2"/>
          <c:tx>
            <c:strRef>
              <c:f>Planilha1!$D$1</c:f>
              <c:strCache>
                <c:ptCount val="1"/>
                <c:pt idx="0">
                  <c:v>Justificados</c:v>
                </c:pt>
              </c:strCache>
            </c:strRef>
          </c:tx>
          <c:spPr>
            <a:solidFill>
              <a:schemeClr val="bg2">
                <a:lumMod val="75000"/>
              </a:schemeClr>
            </a:solidFill>
            <a:ln>
              <a:noFill/>
            </a:ln>
            <a:effectLst/>
          </c:spPr>
          <c:invertIfNegative val="0"/>
          <c:dLbls>
            <c:dLbl>
              <c:idx val="2"/>
              <c:layout>
                <c:manualLayout>
                  <c:x val="-1.8424034225182413E-2"/>
                  <c:y val="-4.039573058593876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D6C-47AC-9B92-7E6D61C44AD4}"/>
                </c:ext>
              </c:extLst>
            </c:dLbl>
            <c:dLbl>
              <c:idx val="3"/>
              <c:layout>
                <c:manualLayout>
                  <c:x val="7.8960146679352798E-3"/>
                  <c:y val="-0.1014551192728893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C97-4902-A34C-C57DCA70305E}"/>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2">
                        <a:lumMod val="50000"/>
                      </a:schemeClr>
                    </a:solidFill>
                    <a:latin typeface="Arial" panose="020B0604020202020204" pitchFamily="34" charset="0"/>
                    <a:ea typeface="+mn-ea"/>
                    <a:cs typeface="Arial" panose="020B0604020202020204" pitchFamily="34" charset="0"/>
                  </a:defRPr>
                </a:pPr>
                <a:endParaRPr lang="pt-B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Planilha1!$A$2:$A$5</c:f>
              <c:strCache>
                <c:ptCount val="4"/>
                <c:pt idx="0">
                  <c:v>1º Ciclo</c:v>
                </c:pt>
                <c:pt idx="1">
                  <c:v>2º Ciclo</c:v>
                </c:pt>
                <c:pt idx="2">
                  <c:v>3º Ciclo</c:v>
                </c:pt>
                <c:pt idx="3">
                  <c:v>4º Ciclo</c:v>
                </c:pt>
              </c:strCache>
            </c:strRef>
          </c:cat>
          <c:val>
            <c:numRef>
              <c:f>Planilha1!$D$2:$D$5</c:f>
              <c:numCache>
                <c:formatCode>General</c:formatCode>
                <c:ptCount val="4"/>
                <c:pt idx="0">
                  <c:v>1</c:v>
                </c:pt>
                <c:pt idx="2">
                  <c:v>2</c:v>
                </c:pt>
                <c:pt idx="3">
                  <c:v>1</c:v>
                </c:pt>
              </c:numCache>
            </c:numRef>
          </c:val>
          <c:extLst>
            <c:ext xmlns:c16="http://schemas.microsoft.com/office/drawing/2014/chart" uri="{C3380CC4-5D6E-409C-BE32-E72D297353CC}">
              <c16:uniqueId val="{00000000-1C97-4902-A34C-C57DCA70305E}"/>
            </c:ext>
          </c:extLst>
        </c:ser>
        <c:dLbls>
          <c:dLblPos val="ctr"/>
          <c:showLegendKey val="0"/>
          <c:showVal val="1"/>
          <c:showCatName val="0"/>
          <c:showSerName val="0"/>
          <c:showPercent val="0"/>
          <c:showBubbleSize val="0"/>
        </c:dLbls>
        <c:gapWidth val="79"/>
        <c:axId val="667736623"/>
        <c:axId val="667748271"/>
      </c:barChart>
      <c:catAx>
        <c:axId val="66773662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cap="none" spc="120" normalizeH="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crossAx val="667748271"/>
        <c:crosses val="autoZero"/>
        <c:auto val="1"/>
        <c:lblAlgn val="ctr"/>
        <c:lblOffset val="100"/>
        <c:noMultiLvlLbl val="0"/>
      </c:catAx>
      <c:valAx>
        <c:axId val="667748271"/>
        <c:scaling>
          <c:orientation val="minMax"/>
          <c:max val="50"/>
        </c:scaling>
        <c:delete val="0"/>
        <c:axPos val="l"/>
        <c:numFmt formatCode="General" sourceLinked="0"/>
        <c:majorTickMark val="out"/>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crossAx val="667736623"/>
        <c:crosses val="autoZero"/>
        <c:crossBetween val="between"/>
        <c:majorUnit val="10"/>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Arial" panose="020B0604020202020204" pitchFamily="34" charset="0"/>
          <a:cs typeface="Arial" panose="020B0604020202020204" pitchFamily="34" charset="0"/>
        </a:defRPr>
      </a:pPr>
      <a:endParaRPr lang="pt-BR"/>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barChart>
        <c:barDir val="bar"/>
        <c:grouping val="clustered"/>
        <c:varyColors val="0"/>
        <c:ser>
          <c:idx val="0"/>
          <c:order val="0"/>
          <c:tx>
            <c:strRef>
              <c:f>Planilha1!$B$1</c:f>
              <c:strCache>
                <c:ptCount val="1"/>
                <c:pt idx="0">
                  <c:v>Jun</c:v>
                </c:pt>
              </c:strCache>
            </c:strRef>
          </c:tx>
          <c:spPr>
            <a:solidFill>
              <a:srgbClr val="9E228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Planilha1!$A$2:$A$6</c:f>
              <c:strCache>
                <c:ptCount val="5"/>
                <c:pt idx="0">
                  <c:v>Jose Augusto Da Gama Junior</c:v>
                </c:pt>
                <c:pt idx="1">
                  <c:v>Caue Coreia Bento</c:v>
                </c:pt>
                <c:pt idx="2">
                  <c:v>Diego Aguiar Zegunis</c:v>
                </c:pt>
                <c:pt idx="3">
                  <c:v>Vitor Eduardo da Silva</c:v>
                </c:pt>
                <c:pt idx="4">
                  <c:v>Brenda L. Emmendoerfer Gomes</c:v>
                </c:pt>
              </c:strCache>
            </c:strRef>
          </c:cat>
          <c:val>
            <c:numRef>
              <c:f>Planilha1!$B$2:$B$6</c:f>
              <c:numCache>
                <c:formatCode>General</c:formatCode>
                <c:ptCount val="5"/>
                <c:pt idx="0">
                  <c:v>65.430000000000007</c:v>
                </c:pt>
                <c:pt idx="1">
                  <c:v>64.14</c:v>
                </c:pt>
                <c:pt idx="2">
                  <c:v>62.29</c:v>
                </c:pt>
                <c:pt idx="3">
                  <c:v>61.43</c:v>
                </c:pt>
                <c:pt idx="4">
                  <c:v>43.86</c:v>
                </c:pt>
              </c:numCache>
            </c:numRef>
          </c:val>
          <c:extLst>
            <c:ext xmlns:c16="http://schemas.microsoft.com/office/drawing/2014/chart" uri="{C3380CC4-5D6E-409C-BE32-E72D297353CC}">
              <c16:uniqueId val="{00000000-7FBA-48C8-9C48-BBCA51719E20}"/>
            </c:ext>
          </c:extLst>
        </c:ser>
        <c:ser>
          <c:idx val="1"/>
          <c:order val="1"/>
          <c:tx>
            <c:strRef>
              <c:f>Planilha1!$C$1</c:f>
              <c:strCache>
                <c:ptCount val="1"/>
                <c:pt idx="0">
                  <c:v>Jul</c:v>
                </c:pt>
              </c:strCache>
            </c:strRef>
          </c:tx>
          <c:spPr>
            <a:solidFill>
              <a:srgbClr val="D8CDF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Planilha1!$A$2:$A$6</c:f>
              <c:strCache>
                <c:ptCount val="5"/>
                <c:pt idx="0">
                  <c:v>Jose Augusto Da Gama Junior</c:v>
                </c:pt>
                <c:pt idx="1">
                  <c:v>Caue Coreia Bento</c:v>
                </c:pt>
                <c:pt idx="2">
                  <c:v>Diego Aguiar Zegunis</c:v>
                </c:pt>
                <c:pt idx="3">
                  <c:v>Vitor Eduardo da Silva</c:v>
                </c:pt>
                <c:pt idx="4">
                  <c:v>Brenda L. Emmendoerfer Gomes</c:v>
                </c:pt>
              </c:strCache>
            </c:strRef>
          </c:cat>
          <c:val>
            <c:numRef>
              <c:f>Planilha1!$C$2:$C$6</c:f>
              <c:numCache>
                <c:formatCode>General</c:formatCode>
                <c:ptCount val="5"/>
                <c:pt idx="0">
                  <c:v>60.43</c:v>
                </c:pt>
                <c:pt idx="1">
                  <c:v>50.86</c:v>
                </c:pt>
                <c:pt idx="2">
                  <c:v>93.14</c:v>
                </c:pt>
                <c:pt idx="3">
                  <c:v>50.86</c:v>
                </c:pt>
                <c:pt idx="4">
                  <c:v>58.5</c:v>
                </c:pt>
              </c:numCache>
            </c:numRef>
          </c:val>
          <c:extLst>
            <c:ext xmlns:c16="http://schemas.microsoft.com/office/drawing/2014/chart" uri="{C3380CC4-5D6E-409C-BE32-E72D297353CC}">
              <c16:uniqueId val="{00000001-7FBA-48C8-9C48-BBCA51719E20}"/>
            </c:ext>
          </c:extLst>
        </c:ser>
        <c:dLbls>
          <c:dLblPos val="outEnd"/>
          <c:showLegendKey val="0"/>
          <c:showVal val="1"/>
          <c:showCatName val="0"/>
          <c:showSerName val="0"/>
          <c:showPercent val="0"/>
          <c:showBubbleSize val="0"/>
        </c:dLbls>
        <c:gapWidth val="182"/>
        <c:axId val="363710783"/>
        <c:axId val="363698303"/>
      </c:barChart>
      <c:catAx>
        <c:axId val="363710783"/>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b" anchorCtr="0"/>
          <a:lstStyle/>
          <a:p>
            <a:pPr>
              <a:defRPr sz="12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pt-BR"/>
          </a:p>
        </c:txPr>
        <c:crossAx val="363698303"/>
        <c:crosses val="autoZero"/>
        <c:auto val="1"/>
        <c:lblAlgn val="ctr"/>
        <c:lblOffset val="100"/>
        <c:noMultiLvlLbl val="0"/>
      </c:catAx>
      <c:valAx>
        <c:axId val="36369830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pt-BR"/>
          </a:p>
        </c:txPr>
        <c:crossAx val="36371078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lumMod val="75000"/>
              <a:lumOff val="25000"/>
            </a:schemeClr>
          </a:solidFill>
          <a:latin typeface="Arial" panose="020B0604020202020204" pitchFamily="34" charset="0"/>
          <a:cs typeface="Arial" panose="020B0604020202020204" pitchFamily="34" charset="0"/>
        </a:defRPr>
      </a:pPr>
      <a:endParaRPr lang="pt-BR"/>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barChart>
        <c:barDir val="col"/>
        <c:grouping val="clustered"/>
        <c:varyColors val="0"/>
        <c:ser>
          <c:idx val="0"/>
          <c:order val="0"/>
          <c:tx>
            <c:strRef>
              <c:f>Planilha1!$B$1</c:f>
              <c:strCache>
                <c:ptCount val="1"/>
                <c:pt idx="0">
                  <c:v>Operação </c:v>
                </c:pt>
              </c:strCache>
            </c:strRef>
          </c:tx>
          <c:spPr>
            <a:solidFill>
              <a:schemeClr val="accent5">
                <a:shade val="76000"/>
              </a:schemeClr>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Planilha1!$A$2:$A$5</c:f>
              <c:strCache>
                <c:ptCount val="4"/>
                <c:pt idx="0">
                  <c:v>1° Ciclo </c:v>
                </c:pt>
                <c:pt idx="1">
                  <c:v>2° Ciclo </c:v>
                </c:pt>
                <c:pt idx="2">
                  <c:v>3° Ciclo </c:v>
                </c:pt>
                <c:pt idx="3">
                  <c:v>4° Ciclo </c:v>
                </c:pt>
              </c:strCache>
            </c:strRef>
          </c:cat>
          <c:val>
            <c:numRef>
              <c:f>Planilha1!$B$2:$B$5</c:f>
              <c:numCache>
                <c:formatCode>General</c:formatCode>
                <c:ptCount val="4"/>
                <c:pt idx="1">
                  <c:v>18</c:v>
                </c:pt>
                <c:pt idx="2">
                  <c:v>65</c:v>
                </c:pt>
                <c:pt idx="3">
                  <c:v>60</c:v>
                </c:pt>
              </c:numCache>
            </c:numRef>
          </c:val>
          <c:extLst>
            <c:ext xmlns:c16="http://schemas.microsoft.com/office/drawing/2014/chart" uri="{C3380CC4-5D6E-409C-BE32-E72D297353CC}">
              <c16:uniqueId val="{00000000-AE38-4387-98CC-526F27A5BF99}"/>
            </c:ext>
          </c:extLst>
        </c:ser>
        <c:ser>
          <c:idx val="1"/>
          <c:order val="1"/>
          <c:tx>
            <c:strRef>
              <c:f>Planilha1!$C$1</c:f>
              <c:strCache>
                <c:ptCount val="1"/>
                <c:pt idx="0">
                  <c:v>Qualidade</c:v>
                </c:pt>
              </c:strCache>
            </c:strRef>
          </c:tx>
          <c:spPr>
            <a:solidFill>
              <a:srgbClr val="0B5892"/>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Planilha1!$A$2:$A$5</c:f>
              <c:strCache>
                <c:ptCount val="4"/>
                <c:pt idx="0">
                  <c:v>1° Ciclo </c:v>
                </c:pt>
                <c:pt idx="1">
                  <c:v>2° Ciclo </c:v>
                </c:pt>
                <c:pt idx="2">
                  <c:v>3° Ciclo </c:v>
                </c:pt>
                <c:pt idx="3">
                  <c:v>4° Ciclo </c:v>
                </c:pt>
              </c:strCache>
            </c:strRef>
          </c:cat>
          <c:val>
            <c:numRef>
              <c:f>Planilha1!$C$2:$C$5</c:f>
              <c:numCache>
                <c:formatCode>General</c:formatCode>
                <c:ptCount val="4"/>
                <c:pt idx="0">
                  <c:v>70</c:v>
                </c:pt>
                <c:pt idx="1">
                  <c:v>71</c:v>
                </c:pt>
                <c:pt idx="2">
                  <c:v>72</c:v>
                </c:pt>
                <c:pt idx="3">
                  <c:v>69</c:v>
                </c:pt>
              </c:numCache>
            </c:numRef>
          </c:val>
          <c:extLst>
            <c:ext xmlns:c16="http://schemas.microsoft.com/office/drawing/2014/chart" uri="{C3380CC4-5D6E-409C-BE32-E72D297353CC}">
              <c16:uniqueId val="{00000001-AE38-4387-98CC-526F27A5BF99}"/>
            </c:ext>
          </c:extLst>
        </c:ser>
        <c:dLbls>
          <c:dLblPos val="outEnd"/>
          <c:showLegendKey val="0"/>
          <c:showVal val="1"/>
          <c:showCatName val="0"/>
          <c:showSerName val="0"/>
          <c:showPercent val="0"/>
          <c:showBubbleSize val="0"/>
        </c:dLbls>
        <c:gapWidth val="219"/>
        <c:overlap val="-27"/>
        <c:axId val="480928000"/>
        <c:axId val="480928480"/>
      </c:barChart>
      <c:catAx>
        <c:axId val="48092800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crossAx val="480928480"/>
        <c:crosses val="autoZero"/>
        <c:auto val="1"/>
        <c:lblAlgn val="ctr"/>
        <c:lblOffset val="100"/>
        <c:noMultiLvlLbl val="0"/>
      </c:catAx>
      <c:valAx>
        <c:axId val="480928480"/>
        <c:scaling>
          <c:orientation val="minMax"/>
          <c:max val="100"/>
          <c:min val="0"/>
        </c:scaling>
        <c:delete val="0"/>
        <c:axPos val="l"/>
        <c:majorGridlines>
          <c:spPr>
            <a:ln w="9525" cap="flat" cmpd="sng" algn="ctr">
              <a:solidFill>
                <a:schemeClr val="tx1">
                  <a:lumMod val="15000"/>
                  <a:lumOff val="85000"/>
                </a:schemeClr>
              </a:solidFill>
              <a:round/>
            </a:ln>
            <a:effectLst/>
          </c:spPr>
        </c:majorGridlines>
        <c:numFmt formatCode="General" sourceLinked="0"/>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crossAx val="480928000"/>
        <c:crosses val="autoZero"/>
        <c:crossBetween val="between"/>
        <c:majorUnit val="20"/>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lumMod val="50000"/>
              <a:lumOff val="50000"/>
            </a:schemeClr>
          </a:solidFill>
          <a:latin typeface="Arial" panose="020B0604020202020204" pitchFamily="34" charset="0"/>
          <a:cs typeface="Arial" panose="020B0604020202020204" pitchFamily="34" charset="0"/>
        </a:defRPr>
      </a:pPr>
      <a:endParaRPr lang="pt-BR"/>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barChart>
        <c:barDir val="col"/>
        <c:grouping val="clustered"/>
        <c:varyColors val="0"/>
        <c:ser>
          <c:idx val="0"/>
          <c:order val="0"/>
          <c:tx>
            <c:strRef>
              <c:f>Planilha1!$B$1</c:f>
              <c:strCache>
                <c:ptCount val="1"/>
                <c:pt idx="0">
                  <c:v>NC</c:v>
                </c:pt>
              </c:strCache>
            </c:strRef>
          </c:tx>
          <c:spPr>
            <a:solidFill>
              <a:schemeClr val="accent5">
                <a:shade val="65000"/>
              </a:schemeClr>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Planilha1!$A$2:$A$5</c:f>
              <c:strCache>
                <c:ptCount val="4"/>
                <c:pt idx="0">
                  <c:v>1° Ciclo </c:v>
                </c:pt>
                <c:pt idx="1">
                  <c:v>2° Ciclo </c:v>
                </c:pt>
                <c:pt idx="2">
                  <c:v>3° Ciclo </c:v>
                </c:pt>
                <c:pt idx="3">
                  <c:v>4° Ciclo </c:v>
                </c:pt>
              </c:strCache>
            </c:strRef>
          </c:cat>
          <c:val>
            <c:numRef>
              <c:f>Planilha1!$B$2:$B$5</c:f>
              <c:numCache>
                <c:formatCode>General</c:formatCode>
                <c:ptCount val="4"/>
                <c:pt idx="0">
                  <c:v>45</c:v>
                </c:pt>
                <c:pt idx="1">
                  <c:v>56</c:v>
                </c:pt>
                <c:pt idx="2">
                  <c:v>97</c:v>
                </c:pt>
                <c:pt idx="3">
                  <c:v>83</c:v>
                </c:pt>
              </c:numCache>
            </c:numRef>
          </c:val>
          <c:extLst>
            <c:ext xmlns:c16="http://schemas.microsoft.com/office/drawing/2014/chart" uri="{C3380CC4-5D6E-409C-BE32-E72D297353CC}">
              <c16:uniqueId val="{00000000-CC13-41C1-B223-D609309025C0}"/>
            </c:ext>
          </c:extLst>
        </c:ser>
        <c:ser>
          <c:idx val="1"/>
          <c:order val="1"/>
          <c:tx>
            <c:strRef>
              <c:f>Planilha1!$C$1</c:f>
              <c:strCache>
                <c:ptCount val="1"/>
                <c:pt idx="0">
                  <c:v>NCG</c:v>
                </c:pt>
              </c:strCache>
            </c:strRef>
          </c:tx>
          <c:spPr>
            <a:solidFill>
              <a:srgbClr val="0B5892"/>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Planilha1!$A$2:$A$5</c:f>
              <c:strCache>
                <c:ptCount val="4"/>
                <c:pt idx="0">
                  <c:v>1° Ciclo </c:v>
                </c:pt>
                <c:pt idx="1">
                  <c:v>2° Ciclo </c:v>
                </c:pt>
                <c:pt idx="2">
                  <c:v>3° Ciclo </c:v>
                </c:pt>
                <c:pt idx="3">
                  <c:v>4° Ciclo </c:v>
                </c:pt>
              </c:strCache>
            </c:strRef>
          </c:cat>
          <c:val>
            <c:numRef>
              <c:f>Planilha1!$C$2:$C$5</c:f>
              <c:numCache>
                <c:formatCode>General</c:formatCode>
                <c:ptCount val="4"/>
                <c:pt idx="0">
                  <c:v>9</c:v>
                </c:pt>
                <c:pt idx="1">
                  <c:v>11</c:v>
                </c:pt>
                <c:pt idx="2">
                  <c:v>21</c:v>
                </c:pt>
                <c:pt idx="3">
                  <c:v>26</c:v>
                </c:pt>
              </c:numCache>
            </c:numRef>
          </c:val>
          <c:extLst>
            <c:ext xmlns:c16="http://schemas.microsoft.com/office/drawing/2014/chart" uri="{C3380CC4-5D6E-409C-BE32-E72D297353CC}">
              <c16:uniqueId val="{00000001-CC13-41C1-B223-D609309025C0}"/>
            </c:ext>
          </c:extLst>
        </c:ser>
        <c:ser>
          <c:idx val="2"/>
          <c:order val="2"/>
          <c:tx>
            <c:strRef>
              <c:f>Planilha1!$D$1</c:f>
              <c:strCache>
                <c:ptCount val="1"/>
                <c:pt idx="0">
                  <c:v>Excelência</c:v>
                </c:pt>
              </c:strCache>
            </c:strRef>
          </c:tx>
          <c:spPr>
            <a:solidFill>
              <a:schemeClr val="accent5">
                <a:tint val="6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Planilha1!$A$2:$A$5</c:f>
              <c:strCache>
                <c:ptCount val="4"/>
                <c:pt idx="0">
                  <c:v>1° Ciclo </c:v>
                </c:pt>
                <c:pt idx="1">
                  <c:v>2° Ciclo </c:v>
                </c:pt>
                <c:pt idx="2">
                  <c:v>3° Ciclo </c:v>
                </c:pt>
                <c:pt idx="3">
                  <c:v>4° Ciclo </c:v>
                </c:pt>
              </c:strCache>
            </c:strRef>
          </c:cat>
          <c:val>
            <c:numRef>
              <c:f>Planilha1!$D$2:$D$5</c:f>
              <c:numCache>
                <c:formatCode>General</c:formatCode>
                <c:ptCount val="4"/>
                <c:pt idx="0">
                  <c:v>15</c:v>
                </c:pt>
                <c:pt idx="1">
                  <c:v>22</c:v>
                </c:pt>
                <c:pt idx="2">
                  <c:v>19</c:v>
                </c:pt>
                <c:pt idx="3">
                  <c:v>20</c:v>
                </c:pt>
              </c:numCache>
            </c:numRef>
          </c:val>
          <c:extLst>
            <c:ext xmlns:c16="http://schemas.microsoft.com/office/drawing/2014/chart" uri="{C3380CC4-5D6E-409C-BE32-E72D297353CC}">
              <c16:uniqueId val="{00000002-CC13-41C1-B223-D609309025C0}"/>
            </c:ext>
          </c:extLst>
        </c:ser>
        <c:dLbls>
          <c:dLblPos val="outEnd"/>
          <c:showLegendKey val="0"/>
          <c:showVal val="1"/>
          <c:showCatName val="0"/>
          <c:showSerName val="0"/>
          <c:showPercent val="0"/>
          <c:showBubbleSize val="0"/>
        </c:dLbls>
        <c:gapWidth val="219"/>
        <c:overlap val="-27"/>
        <c:axId val="480928000"/>
        <c:axId val="480928480"/>
      </c:barChart>
      <c:catAx>
        <c:axId val="48092800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crossAx val="480928480"/>
        <c:crosses val="autoZero"/>
        <c:auto val="1"/>
        <c:lblAlgn val="ctr"/>
        <c:lblOffset val="100"/>
        <c:noMultiLvlLbl val="0"/>
      </c:catAx>
      <c:valAx>
        <c:axId val="480928480"/>
        <c:scaling>
          <c:orientation val="minMax"/>
          <c:max val="100"/>
          <c:min val="0"/>
        </c:scaling>
        <c:delete val="0"/>
        <c:axPos val="l"/>
        <c:majorGridlines>
          <c:spPr>
            <a:ln w="9525" cap="flat" cmpd="sng" algn="ctr">
              <a:solidFill>
                <a:schemeClr val="tx1">
                  <a:lumMod val="15000"/>
                  <a:lumOff val="85000"/>
                </a:schemeClr>
              </a:solidFill>
              <a:round/>
            </a:ln>
            <a:effectLst/>
          </c:spPr>
        </c:majorGridlines>
        <c:numFmt formatCode="General" sourceLinked="0"/>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crossAx val="480928000"/>
        <c:crosses val="autoZero"/>
        <c:crossBetween val="between"/>
        <c:majorUnit val="20"/>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lumMod val="50000"/>
              <a:lumOff val="50000"/>
            </a:schemeClr>
          </a:solidFill>
          <a:latin typeface="Arial" panose="020B0604020202020204" pitchFamily="34" charset="0"/>
          <a:cs typeface="Arial" panose="020B0604020202020204" pitchFamily="34" charset="0"/>
        </a:defRPr>
      </a:pPr>
      <a:endParaRPr lang="pt-BR"/>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Planilha1!$B$1</c:f>
              <c:strCache>
                <c:ptCount val="1"/>
                <c:pt idx="0">
                  <c:v>Média do Canal</c:v>
                </c:pt>
              </c:strCache>
            </c:strRef>
          </c:tx>
          <c:spPr>
            <a:ln w="28575" cap="rnd">
              <a:solidFill>
                <a:srgbClr val="0B5892"/>
              </a:solidFill>
              <a:round/>
            </a:ln>
            <a:effectLst/>
          </c:spPr>
          <c:marker>
            <c:symbol val="none"/>
          </c:marker>
          <c:dLbls>
            <c:spPr>
              <a:noFill/>
              <a:ln>
                <a:noFill/>
              </a:ln>
              <a:effectLst/>
            </c:spPr>
            <c:txPr>
              <a:bodyPr rot="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Planilha1!$A$2:$A$5</c:f>
              <c:strCache>
                <c:ptCount val="4"/>
                <c:pt idx="0">
                  <c:v>1° Ciclo </c:v>
                </c:pt>
                <c:pt idx="1">
                  <c:v>2° Ciclo </c:v>
                </c:pt>
                <c:pt idx="2">
                  <c:v>3° Ciclo </c:v>
                </c:pt>
                <c:pt idx="3">
                  <c:v>4° Ciclo </c:v>
                </c:pt>
              </c:strCache>
            </c:strRef>
          </c:cat>
          <c:val>
            <c:numRef>
              <c:f>Planilha1!$B$2:$B$5</c:f>
              <c:numCache>
                <c:formatCode>General</c:formatCode>
                <c:ptCount val="4"/>
                <c:pt idx="0">
                  <c:v>78.31</c:v>
                </c:pt>
                <c:pt idx="1">
                  <c:v>76.55</c:v>
                </c:pt>
                <c:pt idx="2">
                  <c:v>74.849999999999994</c:v>
                </c:pt>
                <c:pt idx="3">
                  <c:v>72.19</c:v>
                </c:pt>
              </c:numCache>
            </c:numRef>
          </c:val>
          <c:smooth val="0"/>
          <c:extLst>
            <c:ext xmlns:c16="http://schemas.microsoft.com/office/drawing/2014/chart" uri="{C3380CC4-5D6E-409C-BE32-E72D297353CC}">
              <c16:uniqueId val="{00000000-7A97-4712-9BF9-9830BDD2941E}"/>
            </c:ext>
          </c:extLst>
        </c:ser>
        <c:dLbls>
          <c:dLblPos val="b"/>
          <c:showLegendKey val="0"/>
          <c:showVal val="1"/>
          <c:showCatName val="0"/>
          <c:showSerName val="0"/>
          <c:showPercent val="0"/>
          <c:showBubbleSize val="0"/>
        </c:dLbls>
        <c:smooth val="0"/>
        <c:axId val="480928000"/>
        <c:axId val="480928480"/>
      </c:lineChart>
      <c:catAx>
        <c:axId val="48092800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crossAx val="480928480"/>
        <c:crosses val="autoZero"/>
        <c:auto val="1"/>
        <c:lblAlgn val="ctr"/>
        <c:lblOffset val="100"/>
        <c:noMultiLvlLbl val="0"/>
      </c:catAx>
      <c:valAx>
        <c:axId val="4809284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crossAx val="48092800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lumMod val="50000"/>
              <a:lumOff val="50000"/>
            </a:schemeClr>
          </a:solidFill>
          <a:latin typeface="Arial" panose="020B0604020202020204" pitchFamily="34" charset="0"/>
          <a:cs typeface="Arial" panose="020B0604020202020204" pitchFamily="34" charset="0"/>
        </a:defRPr>
      </a:pPr>
      <a:endParaRPr lang="pt-BR"/>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barChart>
        <c:barDir val="col"/>
        <c:grouping val="clustered"/>
        <c:varyColors val="0"/>
        <c:ser>
          <c:idx val="0"/>
          <c:order val="0"/>
          <c:tx>
            <c:strRef>
              <c:f>Planilha1!$B$1</c:f>
              <c:strCache>
                <c:ptCount val="1"/>
                <c:pt idx="0">
                  <c:v>Operação </c:v>
                </c:pt>
              </c:strCache>
            </c:strRef>
          </c:tx>
          <c:spPr>
            <a:solidFill>
              <a:schemeClr val="accent5">
                <a:shade val="76000"/>
              </a:schemeClr>
            </a:solidFill>
            <a:ln>
              <a:noFill/>
            </a:ln>
            <a:effectLst/>
          </c:spPr>
          <c:invertIfNegative val="0"/>
          <c:dLbls>
            <c:dLbl>
              <c:idx val="0"/>
              <c:layout>
                <c:manualLayout>
                  <c:x val="-9.1631913880431178E-3"/>
                  <c:y val="-5.059674564463895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821-44C1-A1BD-D381622B8E70}"/>
                </c:ext>
              </c:extLst>
            </c:dLbl>
            <c:dLbl>
              <c:idx val="1"/>
              <c:layout>
                <c:manualLayout>
                  <c:x val="-3.0543971293477058E-2"/>
                  <c:y val="7.554460522292779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821-44C1-A1BD-D381622B8E70}"/>
                </c:ext>
              </c:extLst>
            </c:dLbl>
            <c:dLbl>
              <c:idx val="2"/>
              <c:layout>
                <c:manualLayout>
                  <c:x val="-1.2217588517390935E-2"/>
                  <c:y val="-5.916867623247752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F54-400D-B25D-5D46B711302A}"/>
                </c:ext>
              </c:extLst>
            </c:dLbl>
            <c:dLbl>
              <c:idx val="3"/>
              <c:layout>
                <c:manualLayout>
                  <c:x val="-9.1631913880432288E-3"/>
                  <c:y val="-3.2656683675109965E-4"/>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821-44C1-A1BD-D381622B8E70}"/>
                </c:ext>
              </c:extLst>
            </c:dLbl>
            <c:spPr>
              <a:noFill/>
              <a:ln>
                <a:noFill/>
              </a:ln>
              <a:effectLst/>
            </c:spPr>
            <c:txPr>
              <a:bodyPr rot="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Planilha1!$A$2:$A$5</c:f>
              <c:strCache>
                <c:ptCount val="4"/>
                <c:pt idx="0">
                  <c:v>1° Ciclo </c:v>
                </c:pt>
                <c:pt idx="1">
                  <c:v>2° Ciclo </c:v>
                </c:pt>
                <c:pt idx="2">
                  <c:v>3° Ciclo </c:v>
                </c:pt>
                <c:pt idx="3">
                  <c:v>4° Ciclo </c:v>
                </c:pt>
              </c:strCache>
            </c:strRef>
          </c:cat>
          <c:val>
            <c:numRef>
              <c:f>Planilha1!$B$2:$B$5</c:f>
              <c:numCache>
                <c:formatCode>0.00</c:formatCode>
                <c:ptCount val="4"/>
                <c:pt idx="1">
                  <c:v>68.777777777777771</c:v>
                </c:pt>
                <c:pt idx="2">
                  <c:v>74.646153846153851</c:v>
                </c:pt>
                <c:pt idx="3">
                  <c:v>74.466666666666669</c:v>
                </c:pt>
              </c:numCache>
            </c:numRef>
          </c:val>
          <c:extLst>
            <c:ext xmlns:c16="http://schemas.microsoft.com/office/drawing/2014/chart" uri="{C3380CC4-5D6E-409C-BE32-E72D297353CC}">
              <c16:uniqueId val="{00000000-E821-44C1-A1BD-D381622B8E70}"/>
            </c:ext>
          </c:extLst>
        </c:ser>
        <c:ser>
          <c:idx val="1"/>
          <c:order val="1"/>
          <c:tx>
            <c:strRef>
              <c:f>Planilha1!$C$1</c:f>
              <c:strCache>
                <c:ptCount val="1"/>
                <c:pt idx="0">
                  <c:v>Qualidade</c:v>
                </c:pt>
              </c:strCache>
            </c:strRef>
          </c:tx>
          <c:spPr>
            <a:solidFill>
              <a:srgbClr val="0B5892"/>
            </a:solidFill>
            <a:ln>
              <a:noFill/>
            </a:ln>
            <a:effectLst/>
          </c:spPr>
          <c:invertIfNegative val="0"/>
          <c:dLbls>
            <c:dLbl>
              <c:idx val="0"/>
              <c:layout>
                <c:manualLayout>
                  <c:x val="-3.0543971293477338E-3"/>
                  <c:y val="1.510892104458559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821-44C1-A1BD-D381622B8E70}"/>
                </c:ext>
              </c:extLst>
            </c:dLbl>
            <c:dLbl>
              <c:idx val="1"/>
              <c:layout>
                <c:manualLayout>
                  <c:x val="9.1631913880431178E-3"/>
                  <c:y val="2.201084273278743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821-44C1-A1BD-D381622B8E70}"/>
                </c:ext>
              </c:extLst>
            </c:dLbl>
            <c:dLbl>
              <c:idx val="3"/>
              <c:layout>
                <c:manualLayout>
                  <c:x val="2.7489574164129241E-2"/>
                  <c:y val="2.168427589603634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E821-44C1-A1BD-D381622B8E70}"/>
                </c:ext>
              </c:extLst>
            </c:dLbl>
            <c:spPr>
              <a:noFill/>
              <a:ln>
                <a:noFill/>
              </a:ln>
              <a:effectLst/>
            </c:spPr>
            <c:txPr>
              <a:bodyPr rot="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Planilha1!$A$2:$A$5</c:f>
              <c:strCache>
                <c:ptCount val="4"/>
                <c:pt idx="0">
                  <c:v>1° Ciclo </c:v>
                </c:pt>
                <c:pt idx="1">
                  <c:v>2° Ciclo </c:v>
                </c:pt>
                <c:pt idx="2">
                  <c:v>3° Ciclo </c:v>
                </c:pt>
                <c:pt idx="3">
                  <c:v>4° Ciclo </c:v>
                </c:pt>
              </c:strCache>
            </c:strRef>
          </c:cat>
          <c:val>
            <c:numRef>
              <c:f>Planilha1!$C$2:$C$5</c:f>
              <c:numCache>
                <c:formatCode>0.00</c:formatCode>
                <c:ptCount val="4"/>
                <c:pt idx="0">
                  <c:v>78.314285714285717</c:v>
                </c:pt>
                <c:pt idx="1">
                  <c:v>78.521126760563376</c:v>
                </c:pt>
                <c:pt idx="2">
                  <c:v>75.041666666666671</c:v>
                </c:pt>
                <c:pt idx="3">
                  <c:v>70.20289855072464</c:v>
                </c:pt>
              </c:numCache>
            </c:numRef>
          </c:val>
          <c:extLst>
            <c:ext xmlns:c16="http://schemas.microsoft.com/office/drawing/2014/chart" uri="{C3380CC4-5D6E-409C-BE32-E72D297353CC}">
              <c16:uniqueId val="{00000001-E821-44C1-A1BD-D381622B8E70}"/>
            </c:ext>
          </c:extLst>
        </c:ser>
        <c:dLbls>
          <c:dLblPos val="outEnd"/>
          <c:showLegendKey val="0"/>
          <c:showVal val="1"/>
          <c:showCatName val="0"/>
          <c:showSerName val="0"/>
          <c:showPercent val="0"/>
          <c:showBubbleSize val="0"/>
        </c:dLbls>
        <c:gapWidth val="219"/>
        <c:overlap val="-27"/>
        <c:axId val="480928000"/>
        <c:axId val="480928480"/>
      </c:barChart>
      <c:catAx>
        <c:axId val="48092800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crossAx val="480928480"/>
        <c:crosses val="autoZero"/>
        <c:auto val="1"/>
        <c:lblAlgn val="ctr"/>
        <c:lblOffset val="100"/>
        <c:noMultiLvlLbl val="0"/>
      </c:catAx>
      <c:valAx>
        <c:axId val="480928480"/>
        <c:scaling>
          <c:orientation val="minMax"/>
          <c:max val="100"/>
          <c:min val="0"/>
        </c:scaling>
        <c:delete val="0"/>
        <c:axPos val="l"/>
        <c:majorGridlines>
          <c:spPr>
            <a:ln w="9525" cap="flat" cmpd="sng" algn="ctr">
              <a:solidFill>
                <a:schemeClr val="bg1">
                  <a:lumMod val="95000"/>
                  <a:alpha val="38000"/>
                </a:schemeClr>
              </a:solidFill>
              <a:round/>
            </a:ln>
            <a:effectLst/>
          </c:spPr>
        </c:majorGridlines>
        <c:numFmt formatCode="General" sourceLinked="0"/>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crossAx val="480928000"/>
        <c:crosses val="autoZero"/>
        <c:crossBetween val="between"/>
        <c:majorUnit val="20"/>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lumMod val="50000"/>
              <a:lumOff val="50000"/>
            </a:schemeClr>
          </a:solidFill>
          <a:latin typeface="Arial" panose="020B0604020202020204" pitchFamily="34" charset="0"/>
          <a:cs typeface="Arial" panose="020B0604020202020204" pitchFamily="34" charset="0"/>
        </a:defRPr>
      </a:pPr>
      <a:endParaRPr lang="pt-BR"/>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Planilha1!$B$1</c:f>
              <c:strCache>
                <c:ptCount val="1"/>
                <c:pt idx="0">
                  <c:v> Ofensores</c:v>
                </c:pt>
              </c:strCache>
            </c:strRef>
          </c:tx>
          <c:spPr>
            <a:solidFill>
              <a:srgbClr val="0B5892"/>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Planilha1!$A$2:$A$11</c:f>
              <c:strCache>
                <c:ptCount val="10"/>
                <c:pt idx="0">
                  <c:v>Técnica - Tabulação</c:v>
                </c:pt>
                <c:pt idx="1">
                  <c:v>Experiência  - Domínio do tema.</c:v>
                </c:pt>
                <c:pt idx="2">
                  <c:v>Técnica - Demora maior de 60s para retornar o contato.</c:v>
                </c:pt>
                <c:pt idx="3">
                  <c:v>Experiência  - Atenção e interesse.</c:v>
                </c:pt>
                <c:pt idx="4">
                  <c:v>Técnica - Observação interna.</c:v>
                </c:pt>
                <c:pt idx="5">
                  <c:v>Técnica - Não realizou a identificação positiva corretamente - faltando apenas 1 dado.</c:v>
                </c:pt>
                <c:pt idx="6">
                  <c:v>Comunicação - Gírias e Vício de linguagem.</c:v>
                </c:pt>
                <c:pt idx="7">
                  <c:v>Experiência  - Proatividade</c:v>
                </c:pt>
                <c:pt idx="8">
                  <c:v>Experiência  - Gentileza e cordialidade.</c:v>
                </c:pt>
                <c:pt idx="9">
                  <c:v>Técnica - Informação/Procedimento incorreto.</c:v>
                </c:pt>
              </c:strCache>
            </c:strRef>
          </c:cat>
          <c:val>
            <c:numRef>
              <c:f>Planilha1!$B$2:$B$11</c:f>
              <c:numCache>
                <c:formatCode>General</c:formatCode>
                <c:ptCount val="10"/>
                <c:pt idx="0">
                  <c:v>132</c:v>
                </c:pt>
                <c:pt idx="1">
                  <c:v>79</c:v>
                </c:pt>
                <c:pt idx="2">
                  <c:v>74</c:v>
                </c:pt>
                <c:pt idx="3">
                  <c:v>66</c:v>
                </c:pt>
                <c:pt idx="4">
                  <c:v>63</c:v>
                </c:pt>
                <c:pt idx="5">
                  <c:v>58</c:v>
                </c:pt>
                <c:pt idx="6">
                  <c:v>45</c:v>
                </c:pt>
                <c:pt idx="7">
                  <c:v>39</c:v>
                </c:pt>
                <c:pt idx="8">
                  <c:v>37</c:v>
                </c:pt>
                <c:pt idx="9">
                  <c:v>28</c:v>
                </c:pt>
              </c:numCache>
            </c:numRef>
          </c:val>
          <c:extLst>
            <c:ext xmlns:c16="http://schemas.microsoft.com/office/drawing/2014/chart" uri="{C3380CC4-5D6E-409C-BE32-E72D297353CC}">
              <c16:uniqueId val="{00000000-D163-4EFE-9056-09C96CCF049A}"/>
            </c:ext>
          </c:extLst>
        </c:ser>
        <c:dLbls>
          <c:dLblPos val="outEnd"/>
          <c:showLegendKey val="0"/>
          <c:showVal val="1"/>
          <c:showCatName val="0"/>
          <c:showSerName val="0"/>
          <c:showPercent val="0"/>
          <c:showBubbleSize val="0"/>
        </c:dLbls>
        <c:gapWidth val="182"/>
        <c:axId val="1003513503"/>
        <c:axId val="1003513919"/>
      </c:barChart>
      <c:catAx>
        <c:axId val="1003513503"/>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crossAx val="1003513919"/>
        <c:crosses val="autoZero"/>
        <c:auto val="1"/>
        <c:lblAlgn val="ctr"/>
        <c:lblOffset val="100"/>
        <c:noMultiLvlLbl val="0"/>
      </c:catAx>
      <c:valAx>
        <c:axId val="1003513919"/>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crossAx val="100351350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Arial" panose="020B0604020202020204" pitchFamily="34" charset="0"/>
          <a:cs typeface="Arial" panose="020B0604020202020204" pitchFamily="34" charset="0"/>
        </a:defRPr>
      </a:pPr>
      <a:endParaRPr lang="pt-BR"/>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2477506202309159"/>
          <c:y val="0.25071916247917336"/>
          <c:w val="0.8462728841944791"/>
          <c:h val="0.47060911814883422"/>
        </c:manualLayout>
      </c:layout>
      <c:barChart>
        <c:barDir val="col"/>
        <c:grouping val="clustered"/>
        <c:varyColors val="0"/>
        <c:ser>
          <c:idx val="0"/>
          <c:order val="0"/>
          <c:tx>
            <c:strRef>
              <c:f>Planilha1!$B$1</c:f>
              <c:strCache>
                <c:ptCount val="1"/>
                <c:pt idx="0">
                  <c:v>NCG No Prazo</c:v>
                </c:pt>
              </c:strCache>
            </c:strRef>
          </c:tx>
          <c:spPr>
            <a:solidFill>
              <a:srgbClr val="0B5892"/>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pt-BR"/>
              </a:p>
            </c:txPr>
            <c:dLblPos val="outEnd"/>
            <c:showLegendKey val="1"/>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Planilha1!$A$2:$A$5</c:f>
              <c:strCache>
                <c:ptCount val="4"/>
                <c:pt idx="0">
                  <c:v>1º Ciclo</c:v>
                </c:pt>
                <c:pt idx="1">
                  <c:v>2º Ciclo</c:v>
                </c:pt>
                <c:pt idx="2">
                  <c:v>3º Ciclo</c:v>
                </c:pt>
                <c:pt idx="3">
                  <c:v>4º Ciclo</c:v>
                </c:pt>
              </c:strCache>
            </c:strRef>
          </c:cat>
          <c:val>
            <c:numRef>
              <c:f>Planilha1!$B$2:$B$5</c:f>
              <c:numCache>
                <c:formatCode>General</c:formatCode>
                <c:ptCount val="4"/>
                <c:pt idx="0">
                  <c:v>7</c:v>
                </c:pt>
                <c:pt idx="1">
                  <c:v>6</c:v>
                </c:pt>
                <c:pt idx="2">
                  <c:v>19</c:v>
                </c:pt>
                <c:pt idx="3">
                  <c:v>17</c:v>
                </c:pt>
              </c:numCache>
            </c:numRef>
          </c:val>
          <c:extLst>
            <c:ext xmlns:c16="http://schemas.microsoft.com/office/drawing/2014/chart" uri="{C3380CC4-5D6E-409C-BE32-E72D297353CC}">
              <c16:uniqueId val="{00000004-0A7E-405F-B2DB-0B439CAD8A6A}"/>
            </c:ext>
          </c:extLst>
        </c:ser>
        <c:ser>
          <c:idx val="1"/>
          <c:order val="1"/>
          <c:tx>
            <c:strRef>
              <c:f>Planilha1!$C$1</c:f>
              <c:strCache>
                <c:ptCount val="1"/>
                <c:pt idx="0">
                  <c:v>NCG Fora do Prazo</c:v>
                </c:pt>
              </c:strCache>
            </c:strRef>
          </c:tx>
          <c:spPr>
            <a:solidFill>
              <a:schemeClr val="accent5">
                <a:lumMod val="60000"/>
                <a:lumOff val="40000"/>
              </a:schemeClr>
            </a:solidFill>
            <a:ln>
              <a:noFill/>
            </a:ln>
            <a:effectLst/>
          </c:spPr>
          <c:invertIfNegative val="0"/>
          <c:dLbls>
            <c:dLbl>
              <c:idx val="0"/>
              <c:layout>
                <c:manualLayout>
                  <c:x val="-2.6320048893117599E-3"/>
                  <c:y val="-1.145837836759262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0A7E-405F-B2DB-0B439CAD8A6A}"/>
                </c:ext>
              </c:extLst>
            </c:dLbl>
            <c:dLbl>
              <c:idx val="1"/>
              <c:layout>
                <c:manualLayout>
                  <c:x val="2.105603911449408E-2"/>
                  <c:y val="-2.371989078707144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0A7E-405F-B2DB-0B439CAD8A6A}"/>
                </c:ext>
              </c:extLst>
            </c:dLbl>
            <c:dLbl>
              <c:idx val="2"/>
              <c:layout>
                <c:manualLayout>
                  <c:x val="2.6320048893116632E-3"/>
                  <c:y val="-1.4513363951086974E-2"/>
                </c:manualLayout>
              </c:layout>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pt-BR"/>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0A7E-405F-B2DB-0B439CAD8A6A}"/>
                </c:ext>
              </c:extLst>
            </c:dLbl>
            <c:dLbl>
              <c:idx val="3"/>
              <c:layout>
                <c:manualLayout>
                  <c:x val="3.9766070721348676E-3"/>
                  <c:y val="-9.986797340844866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0A7E-405F-B2DB-0B439CAD8A6A}"/>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pt-B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Planilha1!$A$2:$A$5</c:f>
              <c:strCache>
                <c:ptCount val="4"/>
                <c:pt idx="0">
                  <c:v>1º Ciclo</c:v>
                </c:pt>
                <c:pt idx="1">
                  <c:v>2º Ciclo</c:v>
                </c:pt>
                <c:pt idx="2">
                  <c:v>3º Ciclo</c:v>
                </c:pt>
                <c:pt idx="3">
                  <c:v>4º Ciclo</c:v>
                </c:pt>
              </c:strCache>
            </c:strRef>
          </c:cat>
          <c:val>
            <c:numRef>
              <c:f>Planilha1!$C$2:$C$5</c:f>
              <c:numCache>
                <c:formatCode>General</c:formatCode>
                <c:ptCount val="4"/>
                <c:pt idx="0">
                  <c:v>1</c:v>
                </c:pt>
                <c:pt idx="1">
                  <c:v>5</c:v>
                </c:pt>
                <c:pt idx="2">
                  <c:v>1</c:v>
                </c:pt>
                <c:pt idx="3">
                  <c:v>1</c:v>
                </c:pt>
              </c:numCache>
            </c:numRef>
          </c:val>
          <c:extLst>
            <c:ext xmlns:c16="http://schemas.microsoft.com/office/drawing/2014/chart" uri="{C3380CC4-5D6E-409C-BE32-E72D297353CC}">
              <c16:uniqueId val="{00000009-0A7E-405F-B2DB-0B439CAD8A6A}"/>
            </c:ext>
          </c:extLst>
        </c:ser>
        <c:ser>
          <c:idx val="2"/>
          <c:order val="2"/>
          <c:tx>
            <c:strRef>
              <c:f>Planilha1!$D$1</c:f>
              <c:strCache>
                <c:ptCount val="1"/>
                <c:pt idx="0">
                  <c:v>Justificado</c:v>
                </c:pt>
              </c:strCache>
            </c:strRef>
          </c:tx>
          <c:spPr>
            <a:solidFill>
              <a:schemeClr val="bg2">
                <a:lumMod val="75000"/>
              </a:schemeClr>
            </a:solidFill>
            <a:ln>
              <a:noFill/>
            </a:ln>
            <a:effectLst/>
          </c:spPr>
          <c:invertIfNegative val="0"/>
          <c:dLbls>
            <c:dLbl>
              <c:idx val="3"/>
              <c:layout>
                <c:manualLayout>
                  <c:x val="0"/>
                  <c:y val="-2.202507840118125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74C-482D-8318-71DC75403FFD}"/>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pt-B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Planilha1!$A$2:$A$5</c:f>
              <c:strCache>
                <c:ptCount val="4"/>
                <c:pt idx="0">
                  <c:v>1º Ciclo</c:v>
                </c:pt>
                <c:pt idx="1">
                  <c:v>2º Ciclo</c:v>
                </c:pt>
                <c:pt idx="2">
                  <c:v>3º Ciclo</c:v>
                </c:pt>
                <c:pt idx="3">
                  <c:v>4º Ciclo</c:v>
                </c:pt>
              </c:strCache>
            </c:strRef>
          </c:cat>
          <c:val>
            <c:numRef>
              <c:f>Planilha1!$D$2:$D$5</c:f>
              <c:numCache>
                <c:formatCode>General</c:formatCode>
                <c:ptCount val="4"/>
                <c:pt idx="0">
                  <c:v>1</c:v>
                </c:pt>
                <c:pt idx="2">
                  <c:v>1</c:v>
                </c:pt>
                <c:pt idx="3">
                  <c:v>8</c:v>
                </c:pt>
              </c:numCache>
            </c:numRef>
          </c:val>
          <c:extLst>
            <c:ext xmlns:c16="http://schemas.microsoft.com/office/drawing/2014/chart" uri="{C3380CC4-5D6E-409C-BE32-E72D297353CC}">
              <c16:uniqueId val="{00000000-2421-4FC5-953C-EDCF13151AFE}"/>
            </c:ext>
          </c:extLst>
        </c:ser>
        <c:dLbls>
          <c:dLblPos val="ctr"/>
          <c:showLegendKey val="0"/>
          <c:showVal val="1"/>
          <c:showCatName val="0"/>
          <c:showSerName val="0"/>
          <c:showPercent val="0"/>
          <c:showBubbleSize val="0"/>
        </c:dLbls>
        <c:gapWidth val="79"/>
        <c:axId val="667736623"/>
        <c:axId val="667748271"/>
      </c:barChart>
      <c:catAx>
        <c:axId val="66773662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cap="none" spc="120" normalizeH="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crossAx val="667748271"/>
        <c:crosses val="autoZero"/>
        <c:auto val="1"/>
        <c:lblAlgn val="ctr"/>
        <c:lblOffset val="100"/>
        <c:noMultiLvlLbl val="0"/>
      </c:catAx>
      <c:valAx>
        <c:axId val="667748271"/>
        <c:scaling>
          <c:orientation val="minMax"/>
          <c:max val="40"/>
        </c:scaling>
        <c:delete val="0"/>
        <c:axPos val="l"/>
        <c:numFmt formatCode="General" sourceLinked="0"/>
        <c:majorTickMark val="out"/>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crossAx val="667736623"/>
        <c:crosses val="autoZero"/>
        <c:crossBetween val="between"/>
        <c:majorUnit val="10"/>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Arial" panose="020B0604020202020204" pitchFamily="34" charset="0"/>
          <a:cs typeface="Arial" panose="020B0604020202020204" pitchFamily="34" charset="0"/>
        </a:defRPr>
      </a:pPr>
      <a:endParaRPr lang="pt-BR"/>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2477506202309159"/>
          <c:y val="0.25071916247917336"/>
          <c:w val="0.8462728841944791"/>
          <c:h val="0.47060911814883422"/>
        </c:manualLayout>
      </c:layout>
      <c:barChart>
        <c:barDir val="col"/>
        <c:grouping val="clustered"/>
        <c:varyColors val="0"/>
        <c:ser>
          <c:idx val="0"/>
          <c:order val="0"/>
          <c:tx>
            <c:strRef>
              <c:f>Planilha1!$B$1</c:f>
              <c:strCache>
                <c:ptCount val="1"/>
                <c:pt idx="0">
                  <c:v> No Prazo</c:v>
                </c:pt>
              </c:strCache>
            </c:strRef>
          </c:tx>
          <c:spPr>
            <a:solidFill>
              <a:srgbClr val="0B5892"/>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Planilha1!$A$2:$A$5</c:f>
              <c:strCache>
                <c:ptCount val="4"/>
                <c:pt idx="0">
                  <c:v>1º Ciclo</c:v>
                </c:pt>
                <c:pt idx="1">
                  <c:v>2º Ciclo</c:v>
                </c:pt>
                <c:pt idx="2">
                  <c:v>3º Ciclo</c:v>
                </c:pt>
                <c:pt idx="3">
                  <c:v>4º Ciclo</c:v>
                </c:pt>
              </c:strCache>
            </c:strRef>
          </c:cat>
          <c:val>
            <c:numRef>
              <c:f>Planilha1!$B$2:$B$5</c:f>
              <c:numCache>
                <c:formatCode>General</c:formatCode>
                <c:ptCount val="4"/>
                <c:pt idx="0">
                  <c:v>25</c:v>
                </c:pt>
                <c:pt idx="1">
                  <c:v>44</c:v>
                </c:pt>
                <c:pt idx="2">
                  <c:v>76</c:v>
                </c:pt>
                <c:pt idx="3">
                  <c:v>67</c:v>
                </c:pt>
              </c:numCache>
            </c:numRef>
          </c:val>
          <c:extLst>
            <c:ext xmlns:c16="http://schemas.microsoft.com/office/drawing/2014/chart" uri="{C3380CC4-5D6E-409C-BE32-E72D297353CC}">
              <c16:uniqueId val="{00000000-D47F-4209-86A6-58A3D2DAFDA5}"/>
            </c:ext>
          </c:extLst>
        </c:ser>
        <c:ser>
          <c:idx val="1"/>
          <c:order val="1"/>
          <c:tx>
            <c:strRef>
              <c:f>Planilha1!$C$1</c:f>
              <c:strCache>
                <c:ptCount val="1"/>
                <c:pt idx="0">
                  <c:v>Fora do Prazo</c:v>
                </c:pt>
              </c:strCache>
            </c:strRef>
          </c:tx>
          <c:spPr>
            <a:solidFill>
              <a:schemeClr val="accent5">
                <a:lumMod val="60000"/>
                <a:lumOff val="40000"/>
              </a:schemeClr>
            </a:solidFill>
            <a:ln>
              <a:noFill/>
            </a:ln>
            <a:effectLst>
              <a:outerShdw blurRad="50800" dist="50800" dir="5400000" algn="ctr" rotWithShape="0">
                <a:schemeClr val="accent5">
                  <a:lumMod val="60000"/>
                  <a:lumOff val="40000"/>
                </a:schemeClr>
              </a:outerShdw>
            </a:effectLst>
          </c:spPr>
          <c:invertIfNegative val="0"/>
          <c:dLbls>
            <c:dLbl>
              <c:idx val="0"/>
              <c:layout>
                <c:manualLayout>
                  <c:x val="0"/>
                  <c:y val="1.493862592576580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47F-4209-86A6-58A3D2DAFDA5}"/>
                </c:ext>
              </c:extLst>
            </c:dLbl>
            <c:dLbl>
              <c:idx val="1"/>
              <c:layout>
                <c:manualLayout>
                  <c:x val="2.6320048893117114E-3"/>
                  <c:y val="-9.2339630924152885E-3"/>
                </c:manualLayout>
              </c:layout>
              <c:spPr>
                <a:noFill/>
                <a:ln>
                  <a:noFill/>
                </a:ln>
                <a:effectLst/>
              </c:spPr>
              <c:txPr>
                <a:bodyPr rot="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D47F-4209-86A6-58A3D2DAFDA5}"/>
                </c:ext>
              </c:extLst>
            </c:dLbl>
            <c:dLbl>
              <c:idx val="3"/>
              <c:layout>
                <c:manualLayout>
                  <c:x val="1.3446021828232046E-3"/>
                  <c:y val="-4.707396482173084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D47F-4209-86A6-58A3D2DAFDA5}"/>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Planilha1!$A$2:$A$5</c:f>
              <c:strCache>
                <c:ptCount val="4"/>
                <c:pt idx="0">
                  <c:v>1º Ciclo</c:v>
                </c:pt>
                <c:pt idx="1">
                  <c:v>2º Ciclo</c:v>
                </c:pt>
                <c:pt idx="2">
                  <c:v>3º Ciclo</c:v>
                </c:pt>
                <c:pt idx="3">
                  <c:v>4º Ciclo</c:v>
                </c:pt>
              </c:strCache>
            </c:strRef>
          </c:cat>
          <c:val>
            <c:numRef>
              <c:f>Planilha1!$C$2:$C$5</c:f>
              <c:numCache>
                <c:formatCode>General</c:formatCode>
                <c:ptCount val="4"/>
                <c:pt idx="0">
                  <c:v>10</c:v>
                </c:pt>
                <c:pt idx="1">
                  <c:v>9</c:v>
                </c:pt>
                <c:pt idx="2">
                  <c:v>6</c:v>
                </c:pt>
                <c:pt idx="3">
                  <c:v>5</c:v>
                </c:pt>
              </c:numCache>
            </c:numRef>
          </c:val>
          <c:extLst>
            <c:ext xmlns:c16="http://schemas.microsoft.com/office/drawing/2014/chart" uri="{C3380CC4-5D6E-409C-BE32-E72D297353CC}">
              <c16:uniqueId val="{00000005-D47F-4209-86A6-58A3D2DAFDA5}"/>
            </c:ext>
          </c:extLst>
        </c:ser>
        <c:ser>
          <c:idx val="2"/>
          <c:order val="2"/>
          <c:tx>
            <c:strRef>
              <c:f>Planilha1!$D$1</c:f>
              <c:strCache>
                <c:ptCount val="1"/>
                <c:pt idx="0">
                  <c:v>Justificados</c:v>
                </c:pt>
              </c:strCache>
            </c:strRef>
          </c:tx>
          <c:spPr>
            <a:solidFill>
              <a:srgbClr val="7F7F7F"/>
            </a:solidFill>
            <a:ln>
              <a:noFill/>
            </a:ln>
            <a:effectLst/>
          </c:spPr>
          <c:invertIfNegative val="0"/>
          <c:dLbls>
            <c:dLbl>
              <c:idx val="0"/>
              <c:layout>
                <c:manualLayout>
                  <c:x val="-4.8252865549495192E-17"/>
                  <c:y val="2.009040662194824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0B6-46A9-847B-6533A0163003}"/>
                </c:ext>
              </c:extLst>
            </c:dLbl>
            <c:dLbl>
              <c:idx val="1"/>
              <c:layout>
                <c:manualLayout>
                  <c:x val="2.6320048893117599E-3"/>
                  <c:y val="-1.14650295812738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1B0-4B65-B019-4093FEDF5F0A}"/>
                </c:ext>
              </c:extLst>
            </c:dLbl>
            <c:dLbl>
              <c:idx val="2"/>
              <c:layout>
                <c:manualLayout>
                  <c:x val="5.2640097786235199E-3"/>
                  <c:y val="-5.7325147906364215E-4"/>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1B0-4B65-B019-4093FEDF5F0A}"/>
                </c:ext>
              </c:extLst>
            </c:dLbl>
            <c:dLbl>
              <c:idx val="3"/>
              <c:layout>
                <c:manualLayout>
                  <c:x val="-1.9301146219798077E-16"/>
                  <c:y val="-7.453100629537375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1B0-4B65-B019-4093FEDF5F0A}"/>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Planilha1!$A$2:$A$5</c:f>
              <c:strCache>
                <c:ptCount val="4"/>
                <c:pt idx="0">
                  <c:v>1º Ciclo</c:v>
                </c:pt>
                <c:pt idx="1">
                  <c:v>2º Ciclo</c:v>
                </c:pt>
                <c:pt idx="2">
                  <c:v>3º Ciclo</c:v>
                </c:pt>
                <c:pt idx="3">
                  <c:v>4º Ciclo</c:v>
                </c:pt>
              </c:strCache>
            </c:strRef>
          </c:cat>
          <c:val>
            <c:numRef>
              <c:f>Planilha1!$D$2:$D$5</c:f>
              <c:numCache>
                <c:formatCode>General</c:formatCode>
                <c:ptCount val="4"/>
                <c:pt idx="0">
                  <c:v>11</c:v>
                </c:pt>
                <c:pt idx="1">
                  <c:v>3</c:v>
                </c:pt>
                <c:pt idx="2">
                  <c:v>15</c:v>
                </c:pt>
                <c:pt idx="3">
                  <c:v>11</c:v>
                </c:pt>
              </c:numCache>
            </c:numRef>
          </c:val>
          <c:extLst>
            <c:ext xmlns:c16="http://schemas.microsoft.com/office/drawing/2014/chart" uri="{C3380CC4-5D6E-409C-BE32-E72D297353CC}">
              <c16:uniqueId val="{00000000-51B0-4B65-B019-4093FEDF5F0A}"/>
            </c:ext>
          </c:extLst>
        </c:ser>
        <c:dLbls>
          <c:dLblPos val="ctr"/>
          <c:showLegendKey val="0"/>
          <c:showVal val="1"/>
          <c:showCatName val="0"/>
          <c:showSerName val="0"/>
          <c:showPercent val="0"/>
          <c:showBubbleSize val="0"/>
        </c:dLbls>
        <c:gapWidth val="79"/>
        <c:axId val="667736623"/>
        <c:axId val="667748271"/>
      </c:barChart>
      <c:catAx>
        <c:axId val="66773662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cap="none" spc="120" normalizeH="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crossAx val="667748271"/>
        <c:crosses val="autoZero"/>
        <c:auto val="1"/>
        <c:lblAlgn val="ctr"/>
        <c:lblOffset val="100"/>
        <c:noMultiLvlLbl val="0"/>
      </c:catAx>
      <c:valAx>
        <c:axId val="667748271"/>
        <c:scaling>
          <c:orientation val="minMax"/>
          <c:max val="100"/>
        </c:scaling>
        <c:delete val="0"/>
        <c:axPos val="l"/>
        <c:numFmt formatCode="General" sourceLinked="0"/>
        <c:majorTickMark val="out"/>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crossAx val="667736623"/>
        <c:crosses val="autoZero"/>
        <c:crossBetween val="between"/>
        <c:majorUnit val="20"/>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Arial" panose="020B0604020202020204" pitchFamily="34" charset="0"/>
          <a:cs typeface="Arial" panose="020B0604020202020204" pitchFamily="34" charset="0"/>
        </a:defRPr>
      </a:pPr>
      <a:endParaRPr lang="pt-BR"/>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barChart>
        <c:barDir val="bar"/>
        <c:grouping val="clustered"/>
        <c:varyColors val="0"/>
        <c:ser>
          <c:idx val="0"/>
          <c:order val="0"/>
          <c:tx>
            <c:strRef>
              <c:f>Planilha1!$B$1</c:f>
              <c:strCache>
                <c:ptCount val="1"/>
                <c:pt idx="0">
                  <c:v>Jun</c:v>
                </c:pt>
              </c:strCache>
            </c:strRef>
          </c:tx>
          <c:spPr>
            <a:solidFill>
              <a:srgbClr val="4A7FB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Planilha1!$A$2:$A$6</c:f>
              <c:strCache>
                <c:ptCount val="5"/>
                <c:pt idx="0">
                  <c:v>Paulo Henrique Araujo Da Silva E Silva</c:v>
                </c:pt>
                <c:pt idx="1">
                  <c:v>Bruno Weslley Ourique de Souza</c:v>
                </c:pt>
                <c:pt idx="2">
                  <c:v>Douglas Andre Locks Machado</c:v>
                </c:pt>
                <c:pt idx="3">
                  <c:v>Robson Maicon Reis Amador</c:v>
                </c:pt>
                <c:pt idx="4">
                  <c:v>Eduardo Luiz Righetto</c:v>
                </c:pt>
              </c:strCache>
            </c:strRef>
          </c:cat>
          <c:val>
            <c:numRef>
              <c:f>Planilha1!$B$2:$B$6</c:f>
              <c:numCache>
                <c:formatCode>General</c:formatCode>
                <c:ptCount val="5"/>
                <c:pt idx="0">
                  <c:v>30.33</c:v>
                </c:pt>
                <c:pt idx="1">
                  <c:v>36.5</c:v>
                </c:pt>
                <c:pt idx="2">
                  <c:v>44.67</c:v>
                </c:pt>
                <c:pt idx="3">
                  <c:v>70</c:v>
                </c:pt>
                <c:pt idx="4">
                  <c:v>53</c:v>
                </c:pt>
              </c:numCache>
            </c:numRef>
          </c:val>
          <c:extLst>
            <c:ext xmlns:c16="http://schemas.microsoft.com/office/drawing/2014/chart" uri="{C3380CC4-5D6E-409C-BE32-E72D297353CC}">
              <c16:uniqueId val="{00000000-75F1-4794-98F9-288DA0A1BB36}"/>
            </c:ext>
          </c:extLst>
        </c:ser>
        <c:ser>
          <c:idx val="1"/>
          <c:order val="1"/>
          <c:tx>
            <c:strRef>
              <c:f>Planilha1!$C$1</c:f>
              <c:strCache>
                <c:ptCount val="1"/>
                <c:pt idx="0">
                  <c:v>Jul</c:v>
                </c:pt>
              </c:strCache>
            </c:strRef>
          </c:tx>
          <c:spPr>
            <a:solidFill>
              <a:srgbClr val="0B589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Planilha1!$A$2:$A$6</c:f>
              <c:strCache>
                <c:ptCount val="5"/>
                <c:pt idx="0">
                  <c:v>Paulo Henrique Araujo Da Silva E Silva</c:v>
                </c:pt>
                <c:pt idx="1">
                  <c:v>Bruno Weslley Ourique de Souza</c:v>
                </c:pt>
                <c:pt idx="2">
                  <c:v>Douglas Andre Locks Machado</c:v>
                </c:pt>
                <c:pt idx="3">
                  <c:v>Robson Maicon Reis Amador</c:v>
                </c:pt>
                <c:pt idx="4">
                  <c:v>Eduardo Luiz Righetto</c:v>
                </c:pt>
              </c:strCache>
            </c:strRef>
          </c:cat>
          <c:val>
            <c:numRef>
              <c:f>Planilha1!$C$2:$C$6</c:f>
              <c:numCache>
                <c:formatCode>General</c:formatCode>
                <c:ptCount val="5"/>
                <c:pt idx="0">
                  <c:v>44</c:v>
                </c:pt>
                <c:pt idx="1">
                  <c:v>0</c:v>
                </c:pt>
                <c:pt idx="2">
                  <c:v>95.83</c:v>
                </c:pt>
                <c:pt idx="3">
                  <c:v>61.5</c:v>
                </c:pt>
                <c:pt idx="4">
                  <c:v>81</c:v>
                </c:pt>
              </c:numCache>
            </c:numRef>
          </c:val>
          <c:extLst>
            <c:ext xmlns:c16="http://schemas.microsoft.com/office/drawing/2014/chart" uri="{C3380CC4-5D6E-409C-BE32-E72D297353CC}">
              <c16:uniqueId val="{00000001-75F1-4794-98F9-288DA0A1BB36}"/>
            </c:ext>
          </c:extLst>
        </c:ser>
        <c:dLbls>
          <c:dLblPos val="outEnd"/>
          <c:showLegendKey val="0"/>
          <c:showVal val="1"/>
          <c:showCatName val="0"/>
          <c:showSerName val="0"/>
          <c:showPercent val="0"/>
          <c:showBubbleSize val="0"/>
        </c:dLbls>
        <c:gapWidth val="182"/>
        <c:axId val="363710783"/>
        <c:axId val="363698303"/>
      </c:barChart>
      <c:catAx>
        <c:axId val="363710783"/>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b" anchorCtr="0"/>
          <a:lstStyle/>
          <a:p>
            <a:pPr>
              <a:defRPr sz="12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pt-BR"/>
          </a:p>
        </c:txPr>
        <c:crossAx val="363698303"/>
        <c:crosses val="autoZero"/>
        <c:auto val="1"/>
        <c:lblAlgn val="ctr"/>
        <c:lblOffset val="100"/>
        <c:noMultiLvlLbl val="0"/>
      </c:catAx>
      <c:valAx>
        <c:axId val="36369830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pt-BR"/>
          </a:p>
        </c:txPr>
        <c:crossAx val="36371078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lumMod val="75000"/>
              <a:lumOff val="25000"/>
            </a:schemeClr>
          </a:solidFill>
          <a:latin typeface="Arial" panose="020B0604020202020204" pitchFamily="34" charset="0"/>
          <a:cs typeface="Arial" panose="020B0604020202020204" pitchFamily="34" charset="0"/>
        </a:defRPr>
      </a:pPr>
      <a:endParaRPr lang="pt-BR"/>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barChart>
        <c:barDir val="col"/>
        <c:grouping val="clustered"/>
        <c:varyColors val="0"/>
        <c:ser>
          <c:idx val="0"/>
          <c:order val="0"/>
          <c:tx>
            <c:strRef>
              <c:f>Planilha1!$B$1</c:f>
              <c:strCache>
                <c:ptCount val="1"/>
                <c:pt idx="0">
                  <c:v>Operação </c:v>
                </c:pt>
              </c:strCache>
            </c:strRef>
          </c:tx>
          <c:spPr>
            <a:solidFill>
              <a:schemeClr val="accent5">
                <a:shade val="76000"/>
              </a:schemeClr>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Planilha1!$A$2:$A$5</c:f>
              <c:strCache>
                <c:ptCount val="4"/>
                <c:pt idx="0">
                  <c:v>1° Ciclo </c:v>
                </c:pt>
                <c:pt idx="1">
                  <c:v>2° Ciclo </c:v>
                </c:pt>
                <c:pt idx="2">
                  <c:v>3° Ciclo </c:v>
                </c:pt>
                <c:pt idx="3">
                  <c:v>4° Ciclo </c:v>
                </c:pt>
              </c:strCache>
            </c:strRef>
          </c:cat>
          <c:val>
            <c:numRef>
              <c:f>Planilha1!$B$2:$B$5</c:f>
              <c:numCache>
                <c:formatCode>General</c:formatCode>
                <c:ptCount val="4"/>
                <c:pt idx="0">
                  <c:v>0</c:v>
                </c:pt>
                <c:pt idx="1">
                  <c:v>0</c:v>
                </c:pt>
                <c:pt idx="2">
                  <c:v>4</c:v>
                </c:pt>
                <c:pt idx="3">
                  <c:v>4</c:v>
                </c:pt>
              </c:numCache>
            </c:numRef>
          </c:val>
          <c:extLst>
            <c:ext xmlns:c16="http://schemas.microsoft.com/office/drawing/2014/chart" uri="{C3380CC4-5D6E-409C-BE32-E72D297353CC}">
              <c16:uniqueId val="{00000000-AE38-4387-98CC-526F27A5BF99}"/>
            </c:ext>
          </c:extLst>
        </c:ser>
        <c:ser>
          <c:idx val="1"/>
          <c:order val="1"/>
          <c:tx>
            <c:strRef>
              <c:f>Planilha1!$C$1</c:f>
              <c:strCache>
                <c:ptCount val="1"/>
                <c:pt idx="0">
                  <c:v>Qualidade</c:v>
                </c:pt>
              </c:strCache>
            </c:strRef>
          </c:tx>
          <c:spPr>
            <a:solidFill>
              <a:srgbClr val="00B0F0"/>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Planilha1!$A$2:$A$5</c:f>
              <c:strCache>
                <c:ptCount val="4"/>
                <c:pt idx="0">
                  <c:v>1° Ciclo </c:v>
                </c:pt>
                <c:pt idx="1">
                  <c:v>2° Ciclo </c:v>
                </c:pt>
                <c:pt idx="2">
                  <c:v>3° Ciclo </c:v>
                </c:pt>
                <c:pt idx="3">
                  <c:v>4° Ciclo </c:v>
                </c:pt>
              </c:strCache>
            </c:strRef>
          </c:cat>
          <c:val>
            <c:numRef>
              <c:f>Planilha1!$C$2:$C$5</c:f>
              <c:numCache>
                <c:formatCode>General</c:formatCode>
                <c:ptCount val="4"/>
                <c:pt idx="0">
                  <c:v>4</c:v>
                </c:pt>
                <c:pt idx="1">
                  <c:v>3</c:v>
                </c:pt>
                <c:pt idx="2">
                  <c:v>4</c:v>
                </c:pt>
                <c:pt idx="3">
                  <c:v>4</c:v>
                </c:pt>
              </c:numCache>
            </c:numRef>
          </c:val>
          <c:extLst>
            <c:ext xmlns:c16="http://schemas.microsoft.com/office/drawing/2014/chart" uri="{C3380CC4-5D6E-409C-BE32-E72D297353CC}">
              <c16:uniqueId val="{00000001-AE38-4387-98CC-526F27A5BF99}"/>
            </c:ext>
          </c:extLst>
        </c:ser>
        <c:dLbls>
          <c:dLblPos val="outEnd"/>
          <c:showLegendKey val="0"/>
          <c:showVal val="1"/>
          <c:showCatName val="0"/>
          <c:showSerName val="0"/>
          <c:showPercent val="0"/>
          <c:showBubbleSize val="0"/>
        </c:dLbls>
        <c:gapWidth val="219"/>
        <c:overlap val="-27"/>
        <c:axId val="480928000"/>
        <c:axId val="480928480"/>
      </c:barChart>
      <c:catAx>
        <c:axId val="48092800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crossAx val="480928480"/>
        <c:crosses val="autoZero"/>
        <c:auto val="1"/>
        <c:lblAlgn val="ctr"/>
        <c:lblOffset val="100"/>
        <c:noMultiLvlLbl val="0"/>
      </c:catAx>
      <c:valAx>
        <c:axId val="480928480"/>
        <c:scaling>
          <c:orientation val="minMax"/>
          <c:max val="5"/>
          <c:min val="0"/>
        </c:scaling>
        <c:delete val="0"/>
        <c:axPos val="l"/>
        <c:majorGridlines>
          <c:spPr>
            <a:ln w="9525" cap="flat" cmpd="sng" algn="ctr">
              <a:solidFill>
                <a:schemeClr val="tx1">
                  <a:lumMod val="15000"/>
                  <a:lumOff val="85000"/>
                </a:schemeClr>
              </a:solidFill>
              <a:round/>
            </a:ln>
            <a:effectLst/>
          </c:spPr>
        </c:majorGridlines>
        <c:numFmt formatCode="General" sourceLinked="0"/>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crossAx val="480928000"/>
        <c:crosses val="autoZero"/>
        <c:crossBetween val="between"/>
        <c:majorUnit val="2"/>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lumMod val="50000"/>
              <a:lumOff val="50000"/>
            </a:schemeClr>
          </a:solidFill>
          <a:latin typeface="Arial" panose="020B0604020202020204" pitchFamily="34" charset="0"/>
          <a:cs typeface="Arial" panose="020B0604020202020204" pitchFamily="34" charset="0"/>
        </a:defRPr>
      </a:pPr>
      <a:endParaRPr lang="pt-BR"/>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barChart>
        <c:barDir val="col"/>
        <c:grouping val="clustered"/>
        <c:varyColors val="0"/>
        <c:ser>
          <c:idx val="0"/>
          <c:order val="0"/>
          <c:tx>
            <c:strRef>
              <c:f>Planilha1!$B$1</c:f>
              <c:strCache>
                <c:ptCount val="1"/>
                <c:pt idx="0">
                  <c:v>NC</c:v>
                </c:pt>
              </c:strCache>
            </c:strRef>
          </c:tx>
          <c:spPr>
            <a:solidFill>
              <a:schemeClr val="accent5">
                <a:shade val="65000"/>
              </a:schemeClr>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Planilha1!$A$2:$A$5</c:f>
              <c:strCache>
                <c:ptCount val="4"/>
                <c:pt idx="0">
                  <c:v>1° Ciclo </c:v>
                </c:pt>
                <c:pt idx="1">
                  <c:v>2° Ciclo </c:v>
                </c:pt>
                <c:pt idx="2">
                  <c:v>3° Ciclo </c:v>
                </c:pt>
                <c:pt idx="3">
                  <c:v>4° Ciclo </c:v>
                </c:pt>
              </c:strCache>
            </c:strRef>
          </c:cat>
          <c:val>
            <c:numRef>
              <c:f>Planilha1!$B$2:$B$5</c:f>
              <c:numCache>
                <c:formatCode>General</c:formatCode>
                <c:ptCount val="4"/>
                <c:pt idx="0">
                  <c:v>3</c:v>
                </c:pt>
                <c:pt idx="1">
                  <c:v>0</c:v>
                </c:pt>
                <c:pt idx="2">
                  <c:v>1</c:v>
                </c:pt>
                <c:pt idx="3">
                  <c:v>1</c:v>
                </c:pt>
              </c:numCache>
            </c:numRef>
          </c:val>
          <c:extLst>
            <c:ext xmlns:c16="http://schemas.microsoft.com/office/drawing/2014/chart" uri="{C3380CC4-5D6E-409C-BE32-E72D297353CC}">
              <c16:uniqueId val="{00000000-CC13-41C1-B223-D609309025C0}"/>
            </c:ext>
          </c:extLst>
        </c:ser>
        <c:ser>
          <c:idx val="1"/>
          <c:order val="1"/>
          <c:tx>
            <c:strRef>
              <c:f>Planilha1!$C$1</c:f>
              <c:strCache>
                <c:ptCount val="1"/>
                <c:pt idx="0">
                  <c:v>NCG</c:v>
                </c:pt>
              </c:strCache>
            </c:strRef>
          </c:tx>
          <c:spPr>
            <a:solidFill>
              <a:srgbClr val="00B0F0"/>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Planilha1!$A$2:$A$5</c:f>
              <c:strCache>
                <c:ptCount val="4"/>
                <c:pt idx="0">
                  <c:v>1° Ciclo </c:v>
                </c:pt>
                <c:pt idx="1">
                  <c:v>2° Ciclo </c:v>
                </c:pt>
                <c:pt idx="2">
                  <c:v>3° Ciclo </c:v>
                </c:pt>
                <c:pt idx="3">
                  <c:v>4° Ciclo </c:v>
                </c:pt>
              </c:strCache>
            </c:strRef>
          </c:cat>
          <c:val>
            <c:numRef>
              <c:f>Planilha1!$C$2:$C$5</c:f>
              <c:numCache>
                <c:formatCode>General</c:formatCode>
                <c:ptCount val="4"/>
                <c:pt idx="0">
                  <c:v>0</c:v>
                </c:pt>
                <c:pt idx="1">
                  <c:v>0</c:v>
                </c:pt>
                <c:pt idx="2">
                  <c:v>1</c:v>
                </c:pt>
              </c:numCache>
            </c:numRef>
          </c:val>
          <c:extLst>
            <c:ext xmlns:c16="http://schemas.microsoft.com/office/drawing/2014/chart" uri="{C3380CC4-5D6E-409C-BE32-E72D297353CC}">
              <c16:uniqueId val="{00000001-CC13-41C1-B223-D609309025C0}"/>
            </c:ext>
          </c:extLst>
        </c:ser>
        <c:ser>
          <c:idx val="2"/>
          <c:order val="2"/>
          <c:tx>
            <c:strRef>
              <c:f>Planilha1!$D$1</c:f>
              <c:strCache>
                <c:ptCount val="1"/>
                <c:pt idx="0">
                  <c:v>Excelência</c:v>
                </c:pt>
              </c:strCache>
            </c:strRef>
          </c:tx>
          <c:spPr>
            <a:solidFill>
              <a:schemeClr val="accent5">
                <a:tint val="6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Planilha1!$A$2:$A$5</c:f>
              <c:strCache>
                <c:ptCount val="4"/>
                <c:pt idx="0">
                  <c:v>1° Ciclo </c:v>
                </c:pt>
                <c:pt idx="1">
                  <c:v>2° Ciclo </c:v>
                </c:pt>
                <c:pt idx="2">
                  <c:v>3° Ciclo </c:v>
                </c:pt>
                <c:pt idx="3">
                  <c:v>4° Ciclo </c:v>
                </c:pt>
              </c:strCache>
            </c:strRef>
          </c:cat>
          <c:val>
            <c:numRef>
              <c:f>Planilha1!$D$2:$D$5</c:f>
              <c:numCache>
                <c:formatCode>General</c:formatCode>
                <c:ptCount val="4"/>
                <c:pt idx="0">
                  <c:v>1</c:v>
                </c:pt>
                <c:pt idx="1">
                  <c:v>3</c:v>
                </c:pt>
                <c:pt idx="2">
                  <c:v>6</c:v>
                </c:pt>
                <c:pt idx="3">
                  <c:v>7</c:v>
                </c:pt>
              </c:numCache>
            </c:numRef>
          </c:val>
          <c:extLst>
            <c:ext xmlns:c16="http://schemas.microsoft.com/office/drawing/2014/chart" uri="{C3380CC4-5D6E-409C-BE32-E72D297353CC}">
              <c16:uniqueId val="{00000002-CC13-41C1-B223-D609309025C0}"/>
            </c:ext>
          </c:extLst>
        </c:ser>
        <c:dLbls>
          <c:dLblPos val="outEnd"/>
          <c:showLegendKey val="0"/>
          <c:showVal val="1"/>
          <c:showCatName val="0"/>
          <c:showSerName val="0"/>
          <c:showPercent val="0"/>
          <c:showBubbleSize val="0"/>
        </c:dLbls>
        <c:gapWidth val="219"/>
        <c:overlap val="-27"/>
        <c:axId val="480928000"/>
        <c:axId val="480928480"/>
      </c:barChart>
      <c:catAx>
        <c:axId val="48092800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crossAx val="480928480"/>
        <c:crosses val="autoZero"/>
        <c:auto val="1"/>
        <c:lblAlgn val="ctr"/>
        <c:lblOffset val="100"/>
        <c:noMultiLvlLbl val="0"/>
      </c:catAx>
      <c:valAx>
        <c:axId val="480928480"/>
        <c:scaling>
          <c:orientation val="minMax"/>
          <c:max val="8"/>
          <c:min val="0"/>
        </c:scaling>
        <c:delete val="0"/>
        <c:axPos val="l"/>
        <c:majorGridlines>
          <c:spPr>
            <a:ln w="9525" cap="flat" cmpd="sng" algn="ctr">
              <a:solidFill>
                <a:schemeClr val="tx1">
                  <a:lumMod val="15000"/>
                  <a:lumOff val="85000"/>
                </a:schemeClr>
              </a:solidFill>
              <a:round/>
            </a:ln>
            <a:effectLst/>
          </c:spPr>
        </c:majorGridlines>
        <c:numFmt formatCode="General" sourceLinked="0"/>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crossAx val="480928000"/>
        <c:crosses val="autoZero"/>
        <c:crossBetween val="between"/>
        <c:majorUnit val="2"/>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lumMod val="50000"/>
              <a:lumOff val="50000"/>
            </a:schemeClr>
          </a:solidFill>
          <a:latin typeface="Arial" panose="020B0604020202020204" pitchFamily="34" charset="0"/>
          <a:cs typeface="Arial" panose="020B0604020202020204" pitchFamily="34" charset="0"/>
        </a:defRPr>
      </a:pPr>
      <a:endParaRPr lang="pt-BR"/>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Planilha1!$B$1</c:f>
              <c:strCache>
                <c:ptCount val="1"/>
                <c:pt idx="0">
                  <c:v>Média do Canal</c:v>
                </c:pt>
              </c:strCache>
            </c:strRef>
          </c:tx>
          <c:spPr>
            <a:ln w="28575" cap="rnd">
              <a:solidFill>
                <a:srgbClr val="00B0F0"/>
              </a:solidFill>
              <a:round/>
            </a:ln>
            <a:effectLst/>
          </c:spPr>
          <c:marker>
            <c:symbol val="none"/>
          </c:marker>
          <c:dLbls>
            <c:spPr>
              <a:noFill/>
              <a:ln>
                <a:noFill/>
              </a:ln>
              <a:effectLst/>
            </c:spPr>
            <c:txPr>
              <a:bodyPr rot="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Planilha1!$A$2:$A$5</c:f>
              <c:strCache>
                <c:ptCount val="4"/>
                <c:pt idx="0">
                  <c:v>1° Ciclo </c:v>
                </c:pt>
                <c:pt idx="1">
                  <c:v>2° Ciclo </c:v>
                </c:pt>
                <c:pt idx="2">
                  <c:v>3° Ciclo </c:v>
                </c:pt>
                <c:pt idx="3">
                  <c:v>4° Ciclo </c:v>
                </c:pt>
              </c:strCache>
            </c:strRef>
          </c:cat>
          <c:val>
            <c:numRef>
              <c:f>Planilha1!$B$2:$B$5</c:f>
              <c:numCache>
                <c:formatCode>General</c:formatCode>
                <c:ptCount val="4"/>
                <c:pt idx="0">
                  <c:v>96</c:v>
                </c:pt>
                <c:pt idx="1">
                  <c:v>100</c:v>
                </c:pt>
                <c:pt idx="2">
                  <c:v>87</c:v>
                </c:pt>
                <c:pt idx="3">
                  <c:v>99.5</c:v>
                </c:pt>
              </c:numCache>
            </c:numRef>
          </c:val>
          <c:smooth val="0"/>
          <c:extLst>
            <c:ext xmlns:c16="http://schemas.microsoft.com/office/drawing/2014/chart" uri="{C3380CC4-5D6E-409C-BE32-E72D297353CC}">
              <c16:uniqueId val="{00000000-7A97-4712-9BF9-9830BDD2941E}"/>
            </c:ext>
          </c:extLst>
        </c:ser>
        <c:dLbls>
          <c:dLblPos val="b"/>
          <c:showLegendKey val="0"/>
          <c:showVal val="1"/>
          <c:showCatName val="0"/>
          <c:showSerName val="0"/>
          <c:showPercent val="0"/>
          <c:showBubbleSize val="0"/>
        </c:dLbls>
        <c:smooth val="0"/>
        <c:axId val="480928000"/>
        <c:axId val="480928480"/>
      </c:lineChart>
      <c:catAx>
        <c:axId val="48092800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crossAx val="480928480"/>
        <c:crosses val="autoZero"/>
        <c:auto val="1"/>
        <c:lblAlgn val="ctr"/>
        <c:lblOffset val="100"/>
        <c:noMultiLvlLbl val="0"/>
      </c:catAx>
      <c:valAx>
        <c:axId val="4809284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crossAx val="48092800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lumMod val="50000"/>
              <a:lumOff val="50000"/>
            </a:schemeClr>
          </a:solidFill>
          <a:latin typeface="Arial" panose="020B0604020202020204" pitchFamily="34" charset="0"/>
          <a:cs typeface="Arial" panose="020B0604020202020204" pitchFamily="34" charset="0"/>
        </a:defRPr>
      </a:pPr>
      <a:endParaRPr lang="pt-BR"/>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manualLayout>
          <c:layoutTarget val="inner"/>
          <c:xMode val="edge"/>
          <c:yMode val="edge"/>
          <c:x val="0.11256006580181532"/>
          <c:y val="0.17907878410065634"/>
          <c:w val="0.85384156577535997"/>
          <c:h val="0.42484620427023323"/>
        </c:manualLayout>
      </c:layout>
      <c:barChart>
        <c:barDir val="col"/>
        <c:grouping val="clustered"/>
        <c:varyColors val="0"/>
        <c:ser>
          <c:idx val="0"/>
          <c:order val="0"/>
          <c:tx>
            <c:strRef>
              <c:f>Planilha1!$B$1</c:f>
              <c:strCache>
                <c:ptCount val="1"/>
                <c:pt idx="0">
                  <c:v>Operação </c:v>
                </c:pt>
              </c:strCache>
            </c:strRef>
          </c:tx>
          <c:spPr>
            <a:solidFill>
              <a:schemeClr val="accent5">
                <a:shade val="76000"/>
              </a:schemeClr>
            </a:solidFill>
            <a:ln>
              <a:noFill/>
            </a:ln>
            <a:effectLst/>
          </c:spPr>
          <c:invertIfNegative val="0"/>
          <c:dLbls>
            <c:dLbl>
              <c:idx val="0"/>
              <c:layout>
                <c:manualLayout>
                  <c:x val="-9.1631913880431178E-3"/>
                  <c:y val="-5.059674564463895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821-44C1-A1BD-D381622B8E70}"/>
                </c:ext>
              </c:extLst>
            </c:dLbl>
            <c:dLbl>
              <c:idx val="1"/>
              <c:layout>
                <c:manualLayout>
                  <c:x val="-9.1631913880431733E-3"/>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821-44C1-A1BD-D381622B8E70}"/>
                </c:ext>
              </c:extLst>
            </c:dLbl>
            <c:dLbl>
              <c:idx val="2"/>
              <c:layout>
                <c:manualLayout>
                  <c:x val="0"/>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A90-421D-A5C7-0636596AC494}"/>
                </c:ext>
              </c:extLst>
            </c:dLbl>
            <c:dLbl>
              <c:idx val="3"/>
              <c:layout>
                <c:manualLayout>
                  <c:x val="0"/>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821-44C1-A1BD-D381622B8E70}"/>
                </c:ext>
              </c:extLst>
            </c:dLbl>
            <c:spPr>
              <a:noFill/>
              <a:ln>
                <a:noFill/>
              </a:ln>
              <a:effectLst/>
            </c:spPr>
            <c:txPr>
              <a:bodyPr rot="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Planilha1!$A$2:$A$5</c:f>
              <c:strCache>
                <c:ptCount val="4"/>
                <c:pt idx="0">
                  <c:v>1° Ciclo </c:v>
                </c:pt>
                <c:pt idx="1">
                  <c:v>2° Ciclo </c:v>
                </c:pt>
                <c:pt idx="2">
                  <c:v>3° Ciclo </c:v>
                </c:pt>
                <c:pt idx="3">
                  <c:v>4° Ciclo </c:v>
                </c:pt>
              </c:strCache>
            </c:strRef>
          </c:cat>
          <c:val>
            <c:numRef>
              <c:f>Planilha1!$B$2:$B$5</c:f>
              <c:numCache>
                <c:formatCode>General</c:formatCode>
                <c:ptCount val="4"/>
                <c:pt idx="2">
                  <c:v>99</c:v>
                </c:pt>
                <c:pt idx="3">
                  <c:v>99</c:v>
                </c:pt>
              </c:numCache>
            </c:numRef>
          </c:val>
          <c:extLst>
            <c:ext xmlns:c16="http://schemas.microsoft.com/office/drawing/2014/chart" uri="{C3380CC4-5D6E-409C-BE32-E72D297353CC}">
              <c16:uniqueId val="{00000000-E821-44C1-A1BD-D381622B8E70}"/>
            </c:ext>
          </c:extLst>
        </c:ser>
        <c:ser>
          <c:idx val="1"/>
          <c:order val="1"/>
          <c:tx>
            <c:strRef>
              <c:f>Planilha1!$C$1</c:f>
              <c:strCache>
                <c:ptCount val="1"/>
                <c:pt idx="0">
                  <c:v>Qualidade</c:v>
                </c:pt>
              </c:strCache>
            </c:strRef>
          </c:tx>
          <c:spPr>
            <a:solidFill>
              <a:srgbClr val="00B0F0"/>
            </a:solidFill>
            <a:ln>
              <a:noFill/>
            </a:ln>
            <a:effectLst/>
          </c:spPr>
          <c:invertIfNegative val="0"/>
          <c:dLbls>
            <c:dLbl>
              <c:idx val="0"/>
              <c:layout>
                <c:manualLayout>
                  <c:x val="0"/>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821-44C1-A1BD-D381622B8E70}"/>
                </c:ext>
              </c:extLst>
            </c:dLbl>
            <c:dLbl>
              <c:idx val="1"/>
              <c:layout>
                <c:manualLayout>
                  <c:x val="3.0543971293477057E-3"/>
                  <c:y val="6.901921688201835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821-44C1-A1BD-D381622B8E70}"/>
                </c:ext>
              </c:extLst>
            </c:dLbl>
            <c:dLbl>
              <c:idx val="3"/>
              <c:layout>
                <c:manualLayout>
                  <c:x val="-3.054397129347818E-3"/>
                  <c:y val="6.575354851450753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E821-44C1-A1BD-D381622B8E70}"/>
                </c:ext>
              </c:extLst>
            </c:dLbl>
            <c:spPr>
              <a:noFill/>
              <a:ln>
                <a:noFill/>
              </a:ln>
              <a:effectLst/>
            </c:spPr>
            <c:txPr>
              <a:bodyPr rot="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Planilha1!$A$2:$A$5</c:f>
              <c:strCache>
                <c:ptCount val="4"/>
                <c:pt idx="0">
                  <c:v>1° Ciclo </c:v>
                </c:pt>
                <c:pt idx="1">
                  <c:v>2° Ciclo </c:v>
                </c:pt>
                <c:pt idx="2">
                  <c:v>3° Ciclo </c:v>
                </c:pt>
                <c:pt idx="3">
                  <c:v>4° Ciclo </c:v>
                </c:pt>
              </c:strCache>
            </c:strRef>
          </c:cat>
          <c:val>
            <c:numRef>
              <c:f>Planilha1!$C$2:$C$5</c:f>
              <c:numCache>
                <c:formatCode>General</c:formatCode>
                <c:ptCount val="4"/>
                <c:pt idx="0">
                  <c:v>96</c:v>
                </c:pt>
                <c:pt idx="1">
                  <c:v>100</c:v>
                </c:pt>
                <c:pt idx="2">
                  <c:v>75</c:v>
                </c:pt>
                <c:pt idx="3">
                  <c:v>100</c:v>
                </c:pt>
              </c:numCache>
            </c:numRef>
          </c:val>
          <c:extLst>
            <c:ext xmlns:c16="http://schemas.microsoft.com/office/drawing/2014/chart" uri="{C3380CC4-5D6E-409C-BE32-E72D297353CC}">
              <c16:uniqueId val="{00000001-E821-44C1-A1BD-D381622B8E70}"/>
            </c:ext>
          </c:extLst>
        </c:ser>
        <c:dLbls>
          <c:dLblPos val="outEnd"/>
          <c:showLegendKey val="0"/>
          <c:showVal val="1"/>
          <c:showCatName val="0"/>
          <c:showSerName val="0"/>
          <c:showPercent val="0"/>
          <c:showBubbleSize val="0"/>
        </c:dLbls>
        <c:gapWidth val="219"/>
        <c:overlap val="-27"/>
        <c:axId val="480928000"/>
        <c:axId val="480928480"/>
      </c:barChart>
      <c:catAx>
        <c:axId val="48092800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crossAx val="480928480"/>
        <c:crosses val="autoZero"/>
        <c:auto val="1"/>
        <c:lblAlgn val="ctr"/>
        <c:lblOffset val="100"/>
        <c:noMultiLvlLbl val="0"/>
      </c:catAx>
      <c:valAx>
        <c:axId val="480928480"/>
        <c:scaling>
          <c:orientation val="minMax"/>
          <c:max val="100"/>
          <c:min val="0"/>
        </c:scaling>
        <c:delete val="0"/>
        <c:axPos val="l"/>
        <c:majorGridlines>
          <c:spPr>
            <a:ln w="9525" cap="flat" cmpd="sng" algn="ctr">
              <a:solidFill>
                <a:schemeClr val="bg1">
                  <a:lumMod val="95000"/>
                  <a:alpha val="38000"/>
                </a:schemeClr>
              </a:solidFill>
              <a:round/>
            </a:ln>
            <a:effectLst/>
          </c:spPr>
        </c:majorGridlines>
        <c:numFmt formatCode="General" sourceLinked="0"/>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crossAx val="480928000"/>
        <c:crosses val="autoZero"/>
        <c:crossBetween val="between"/>
        <c:majorUnit val="20"/>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lumMod val="50000"/>
              <a:lumOff val="50000"/>
            </a:schemeClr>
          </a:solidFill>
          <a:latin typeface="Arial" panose="020B0604020202020204" pitchFamily="34" charset="0"/>
          <a:cs typeface="Arial" panose="020B0604020202020204" pitchFamily="34" charset="0"/>
        </a:defRPr>
      </a:pPr>
      <a:endParaRPr lang="pt-BR"/>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Planilha1!$B$1</c:f>
              <c:strCache>
                <c:ptCount val="1"/>
                <c:pt idx="0">
                  <c:v> Ofensores</c:v>
                </c:pt>
              </c:strCache>
            </c:strRef>
          </c:tx>
          <c:spPr>
            <a:solidFill>
              <a:srgbClr val="00B0F0"/>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Planilha1!$A$2:$A$7</c:f>
              <c:strCache>
                <c:ptCount val="6"/>
                <c:pt idx="0">
                  <c:v>Experiência  - Domínio do tema.</c:v>
                </c:pt>
                <c:pt idx="1">
                  <c:v>Experiência  - Iniciou o atendimento em até 5 segundos.</c:v>
                </c:pt>
                <c:pt idx="2">
                  <c:v>Experiência  - Proatividade</c:v>
                </c:pt>
                <c:pt idx="3">
                  <c:v>Técnica - Informação/Procedimento incorreto.</c:v>
                </c:pt>
                <c:pt idx="4">
                  <c:v>Técnica - Observação interna.</c:v>
                </c:pt>
                <c:pt idx="5">
                  <c:v>Comunicação - Utilizou assinatura Adequada</c:v>
                </c:pt>
              </c:strCache>
            </c:strRef>
          </c:cat>
          <c:val>
            <c:numRef>
              <c:f>Planilha1!$B$2:$B$7</c:f>
              <c:numCache>
                <c:formatCode>General</c:formatCode>
                <c:ptCount val="6"/>
                <c:pt idx="0">
                  <c:v>2</c:v>
                </c:pt>
                <c:pt idx="1">
                  <c:v>2</c:v>
                </c:pt>
                <c:pt idx="2">
                  <c:v>1</c:v>
                </c:pt>
                <c:pt idx="3">
                  <c:v>1</c:v>
                </c:pt>
                <c:pt idx="4">
                  <c:v>1</c:v>
                </c:pt>
                <c:pt idx="5">
                  <c:v>1</c:v>
                </c:pt>
              </c:numCache>
            </c:numRef>
          </c:val>
          <c:extLst>
            <c:ext xmlns:c16="http://schemas.microsoft.com/office/drawing/2014/chart" uri="{C3380CC4-5D6E-409C-BE32-E72D297353CC}">
              <c16:uniqueId val="{00000000-3D11-4B04-BF30-1ED14689AAD0}"/>
            </c:ext>
          </c:extLst>
        </c:ser>
        <c:dLbls>
          <c:dLblPos val="outEnd"/>
          <c:showLegendKey val="0"/>
          <c:showVal val="1"/>
          <c:showCatName val="0"/>
          <c:showSerName val="0"/>
          <c:showPercent val="0"/>
          <c:showBubbleSize val="0"/>
        </c:dLbls>
        <c:gapWidth val="182"/>
        <c:axId val="1003513503"/>
        <c:axId val="1003513919"/>
      </c:barChart>
      <c:catAx>
        <c:axId val="1003513503"/>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crossAx val="1003513919"/>
        <c:crosses val="autoZero"/>
        <c:auto val="1"/>
        <c:lblAlgn val="ctr"/>
        <c:lblOffset val="100"/>
        <c:noMultiLvlLbl val="0"/>
      </c:catAx>
      <c:valAx>
        <c:axId val="1003513919"/>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crossAx val="100351350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Arial" panose="020B0604020202020204" pitchFamily="34" charset="0"/>
          <a:cs typeface="Arial" panose="020B0604020202020204" pitchFamily="34" charset="0"/>
        </a:defRPr>
      </a:pPr>
      <a:endParaRPr lang="pt-BR"/>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2477506202309159"/>
          <c:y val="0.25071916247917336"/>
          <c:w val="0.8462728841944791"/>
          <c:h val="0.47060911814883422"/>
        </c:manualLayout>
      </c:layout>
      <c:barChart>
        <c:barDir val="col"/>
        <c:grouping val="clustered"/>
        <c:varyColors val="0"/>
        <c:ser>
          <c:idx val="0"/>
          <c:order val="0"/>
          <c:tx>
            <c:strRef>
              <c:f>Planilha1!$B$1</c:f>
              <c:strCache>
                <c:ptCount val="1"/>
                <c:pt idx="0">
                  <c:v> No Prazo</c:v>
                </c:pt>
              </c:strCache>
            </c:strRef>
          </c:tx>
          <c:spPr>
            <a:solidFill>
              <a:srgbClr val="00B0F0"/>
            </a:solidFill>
            <a:ln>
              <a:noFill/>
            </a:ln>
            <a:effectLst/>
          </c:spPr>
          <c:invertIfNegative val="0"/>
          <c:dLbls>
            <c:dLbl>
              <c:idx val="0"/>
              <c:layout>
                <c:manualLayout>
                  <c:x val="2.6320048893117114E-3"/>
                  <c:y val="-1.232677745371586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2D87-4A94-921D-1D45D4BF1812}"/>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595959"/>
                    </a:solidFill>
                    <a:latin typeface="Arial" panose="020B0604020202020204" pitchFamily="34" charset="0"/>
                    <a:ea typeface="+mn-ea"/>
                    <a:cs typeface="Arial" panose="020B0604020202020204" pitchFamily="34" charset="0"/>
                  </a:defRPr>
                </a:pPr>
                <a:endParaRPr lang="pt-B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Planilha1!$A$2</c:f>
              <c:strCache>
                <c:ptCount val="1"/>
                <c:pt idx="0">
                  <c:v>3º Ciclo</c:v>
                </c:pt>
              </c:strCache>
            </c:strRef>
          </c:cat>
          <c:val>
            <c:numRef>
              <c:f>Planilha1!$B$2</c:f>
              <c:numCache>
                <c:formatCode>General</c:formatCode>
                <c:ptCount val="1"/>
                <c:pt idx="0">
                  <c:v>1</c:v>
                </c:pt>
              </c:numCache>
            </c:numRef>
          </c:val>
          <c:extLst>
            <c:ext xmlns:c16="http://schemas.microsoft.com/office/drawing/2014/chart" uri="{C3380CC4-5D6E-409C-BE32-E72D297353CC}">
              <c16:uniqueId val="{00000004-0A7E-405F-B2DB-0B439CAD8A6A}"/>
            </c:ext>
          </c:extLst>
        </c:ser>
        <c:dLbls>
          <c:dLblPos val="ctr"/>
          <c:showLegendKey val="0"/>
          <c:showVal val="1"/>
          <c:showCatName val="0"/>
          <c:showSerName val="0"/>
          <c:showPercent val="0"/>
          <c:showBubbleSize val="0"/>
        </c:dLbls>
        <c:gapWidth val="79"/>
        <c:axId val="667736623"/>
        <c:axId val="667748271"/>
      </c:barChart>
      <c:catAx>
        <c:axId val="667736623"/>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cap="none" spc="120" normalizeH="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crossAx val="667748271"/>
        <c:crosses val="autoZero"/>
        <c:auto val="1"/>
        <c:lblAlgn val="ctr"/>
        <c:lblOffset val="100"/>
        <c:noMultiLvlLbl val="0"/>
      </c:catAx>
      <c:valAx>
        <c:axId val="667748271"/>
        <c:scaling>
          <c:orientation val="minMax"/>
          <c:max val="2"/>
        </c:scaling>
        <c:delete val="0"/>
        <c:axPos val="l"/>
        <c:numFmt formatCode="General" sourceLinked="0"/>
        <c:majorTickMark val="out"/>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crossAx val="667736623"/>
        <c:crosses val="autoZero"/>
        <c:crossBetween val="between"/>
        <c:majorUnit val="1"/>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Arial" panose="020B0604020202020204" pitchFamily="34" charset="0"/>
          <a:cs typeface="Arial" panose="020B0604020202020204" pitchFamily="34" charset="0"/>
        </a:defRPr>
      </a:pPr>
      <a:endParaRPr lang="pt-BR"/>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2477506202309159"/>
          <c:y val="0.25071916247917336"/>
          <c:w val="0.8462728841944791"/>
          <c:h val="0.47060911814883422"/>
        </c:manualLayout>
      </c:layout>
      <c:barChart>
        <c:barDir val="col"/>
        <c:grouping val="clustered"/>
        <c:varyColors val="0"/>
        <c:ser>
          <c:idx val="0"/>
          <c:order val="0"/>
          <c:tx>
            <c:strRef>
              <c:f>Planilha1!$B$1</c:f>
              <c:strCache>
                <c:ptCount val="1"/>
                <c:pt idx="0">
                  <c:v>No Prazo</c:v>
                </c:pt>
              </c:strCache>
            </c:strRef>
          </c:tx>
          <c:spPr>
            <a:solidFill>
              <a:srgbClr val="00B0F0"/>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Planilha1!$A$2:$A$4</c:f>
              <c:strCache>
                <c:ptCount val="3"/>
                <c:pt idx="0">
                  <c:v>1º Ciclo</c:v>
                </c:pt>
                <c:pt idx="1">
                  <c:v>3º Ciclo</c:v>
                </c:pt>
                <c:pt idx="2">
                  <c:v>4º Ciclo</c:v>
                </c:pt>
              </c:strCache>
            </c:strRef>
          </c:cat>
          <c:val>
            <c:numRef>
              <c:f>Planilha1!$B$2:$B$4</c:f>
              <c:numCache>
                <c:formatCode>General</c:formatCode>
                <c:ptCount val="3"/>
                <c:pt idx="0">
                  <c:v>2</c:v>
                </c:pt>
                <c:pt idx="1">
                  <c:v>1</c:v>
                </c:pt>
                <c:pt idx="2">
                  <c:v>1</c:v>
                </c:pt>
              </c:numCache>
            </c:numRef>
          </c:val>
          <c:extLst>
            <c:ext xmlns:c16="http://schemas.microsoft.com/office/drawing/2014/chart" uri="{C3380CC4-5D6E-409C-BE32-E72D297353CC}">
              <c16:uniqueId val="{00000000-D47F-4209-86A6-58A3D2DAFDA5}"/>
            </c:ext>
          </c:extLst>
        </c:ser>
        <c:ser>
          <c:idx val="1"/>
          <c:order val="1"/>
          <c:tx>
            <c:strRef>
              <c:f>Planilha1!$C$1</c:f>
              <c:strCache>
                <c:ptCount val="1"/>
                <c:pt idx="0">
                  <c:v>Fora do Prazo</c:v>
                </c:pt>
              </c:strCache>
            </c:strRef>
          </c:tx>
          <c:spPr>
            <a:solidFill>
              <a:srgbClr val="4A7FB0"/>
            </a:solidFill>
            <a:ln>
              <a:noFill/>
            </a:ln>
            <a:effectLst/>
          </c:spPr>
          <c:invertIfNegative val="0"/>
          <c:dLbls>
            <c:dLbl>
              <c:idx val="0"/>
              <c:layout>
                <c:manualLayout>
                  <c:x val="7.8960146679352312E-3"/>
                  <c:y val="-9.064939124766796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47F-4209-86A6-58A3D2DAFDA5}"/>
                </c:ext>
              </c:extLst>
            </c:dLbl>
            <c:dLbl>
              <c:idx val="1"/>
              <c:layout>
                <c:manualLayout>
                  <c:x val="2.105603911449408E-2"/>
                  <c:y val="-2.371989078707144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D47F-4209-86A6-58A3D2DAFDA5}"/>
                </c:ext>
              </c:extLst>
            </c:dLbl>
            <c:dLbl>
              <c:idx val="2"/>
              <c:layout>
                <c:manualLayout>
                  <c:x val="3.1584058671741119E-2"/>
                  <c:y val="-3.0351566527102032E-2"/>
                </c:manualLayout>
              </c:layout>
              <c:spPr>
                <a:noFill/>
                <a:ln>
                  <a:noFill/>
                </a:ln>
                <a:effectLst/>
              </c:spPr>
              <c:txPr>
                <a:bodyPr rot="0" spcFirstLastPara="1" vertOverflow="ellipsis" vert="horz" wrap="square" anchor="ctr" anchorCtr="1"/>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47F-4209-86A6-58A3D2DAFDA5}"/>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50000"/>
                        <a:lumOff val="50000"/>
                      </a:schemeClr>
                    </a:solidFill>
                    <a:latin typeface="Arial" panose="020B0604020202020204" pitchFamily="34" charset="0"/>
                    <a:ea typeface="+mn-ea"/>
                    <a:cs typeface="Arial" panose="020B0604020202020204" pitchFamily="34" charset="0"/>
                  </a:defRPr>
                </a:pPr>
                <a:endParaRPr lang="pt-B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Planilha1!$A$2:$A$4</c:f>
              <c:strCache>
                <c:ptCount val="3"/>
                <c:pt idx="0">
                  <c:v>1º Ciclo</c:v>
                </c:pt>
                <c:pt idx="1">
                  <c:v>3º Ciclo</c:v>
                </c:pt>
                <c:pt idx="2">
                  <c:v>4º Ciclo</c:v>
                </c:pt>
              </c:strCache>
            </c:strRef>
          </c:cat>
          <c:val>
            <c:numRef>
              <c:f>Planilha1!$C$2:$C$4</c:f>
              <c:numCache>
                <c:formatCode>General</c:formatCode>
                <c:ptCount val="3"/>
                <c:pt idx="0">
                  <c:v>1</c:v>
                </c:pt>
              </c:numCache>
            </c:numRef>
          </c:val>
          <c:extLst>
            <c:ext xmlns:c16="http://schemas.microsoft.com/office/drawing/2014/chart" uri="{C3380CC4-5D6E-409C-BE32-E72D297353CC}">
              <c16:uniqueId val="{00000005-D47F-4209-86A6-58A3D2DAFDA5}"/>
            </c:ext>
          </c:extLst>
        </c:ser>
        <c:dLbls>
          <c:dLblPos val="ctr"/>
          <c:showLegendKey val="0"/>
          <c:showVal val="1"/>
          <c:showCatName val="0"/>
          <c:showSerName val="0"/>
          <c:showPercent val="0"/>
          <c:showBubbleSize val="0"/>
        </c:dLbls>
        <c:gapWidth val="79"/>
        <c:axId val="667736623"/>
        <c:axId val="667748271"/>
      </c:barChart>
      <c:catAx>
        <c:axId val="66773662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cap="none" spc="120" normalizeH="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crossAx val="667748271"/>
        <c:crosses val="autoZero"/>
        <c:auto val="1"/>
        <c:lblAlgn val="ctr"/>
        <c:lblOffset val="100"/>
        <c:noMultiLvlLbl val="0"/>
      </c:catAx>
      <c:valAx>
        <c:axId val="667748271"/>
        <c:scaling>
          <c:orientation val="minMax"/>
          <c:max val="8"/>
        </c:scaling>
        <c:delete val="0"/>
        <c:axPos val="l"/>
        <c:numFmt formatCode="General" sourceLinked="0"/>
        <c:majorTickMark val="out"/>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crossAx val="667736623"/>
        <c:crosses val="autoZero"/>
        <c:crossBetween val="between"/>
        <c:majorUnit val="2"/>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Arial" panose="020B0604020202020204" pitchFamily="34" charset="0"/>
          <a:cs typeface="Arial" panose="020B0604020202020204" pitchFamily="34" charset="0"/>
        </a:defRPr>
      </a:pPr>
      <a:endParaRPr lang="pt-BR"/>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barChart>
        <c:barDir val="bar"/>
        <c:grouping val="clustered"/>
        <c:varyColors val="0"/>
        <c:ser>
          <c:idx val="0"/>
          <c:order val="0"/>
          <c:tx>
            <c:strRef>
              <c:f>Planilha1!$B$1</c:f>
              <c:strCache>
                <c:ptCount val="1"/>
                <c:pt idx="0">
                  <c:v>Jun</c:v>
                </c:pt>
              </c:strCache>
            </c:strRef>
          </c:tx>
          <c:spPr>
            <a:solidFill>
              <a:srgbClr val="4A7FB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c:f>
              <c:strCache>
                <c:ptCount val="1"/>
                <c:pt idx="0">
                  <c:v>Antonina Haak</c:v>
                </c:pt>
              </c:strCache>
            </c:strRef>
          </c:cat>
          <c:val>
            <c:numRef>
              <c:f>Planilha1!$B$2</c:f>
              <c:numCache>
                <c:formatCode>General</c:formatCode>
                <c:ptCount val="1"/>
                <c:pt idx="0">
                  <c:v>78.599999999999994</c:v>
                </c:pt>
              </c:numCache>
            </c:numRef>
          </c:val>
          <c:extLst>
            <c:ext xmlns:c16="http://schemas.microsoft.com/office/drawing/2014/chart" uri="{C3380CC4-5D6E-409C-BE32-E72D297353CC}">
              <c16:uniqueId val="{00000000-7FBA-48C8-9C48-BBCA51719E20}"/>
            </c:ext>
          </c:extLst>
        </c:ser>
        <c:ser>
          <c:idx val="1"/>
          <c:order val="1"/>
          <c:tx>
            <c:strRef>
              <c:f>Planilha1!$C$1</c:f>
              <c:strCache>
                <c:ptCount val="1"/>
                <c:pt idx="0">
                  <c:v>Jul</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c:f>
              <c:strCache>
                <c:ptCount val="1"/>
                <c:pt idx="0">
                  <c:v>Antonina Haak</c:v>
                </c:pt>
              </c:strCache>
            </c:strRef>
          </c:cat>
          <c:val>
            <c:numRef>
              <c:f>Planilha1!$C$2</c:f>
              <c:numCache>
                <c:formatCode>General</c:formatCode>
                <c:ptCount val="1"/>
                <c:pt idx="0">
                  <c:v>82.17</c:v>
                </c:pt>
              </c:numCache>
            </c:numRef>
          </c:val>
          <c:extLst>
            <c:ext xmlns:c16="http://schemas.microsoft.com/office/drawing/2014/chart" uri="{C3380CC4-5D6E-409C-BE32-E72D297353CC}">
              <c16:uniqueId val="{00000001-7FBA-48C8-9C48-BBCA51719E20}"/>
            </c:ext>
          </c:extLst>
        </c:ser>
        <c:dLbls>
          <c:dLblPos val="outEnd"/>
          <c:showLegendKey val="0"/>
          <c:showVal val="1"/>
          <c:showCatName val="0"/>
          <c:showSerName val="0"/>
          <c:showPercent val="0"/>
          <c:showBubbleSize val="0"/>
        </c:dLbls>
        <c:gapWidth val="182"/>
        <c:axId val="363710783"/>
        <c:axId val="363698303"/>
      </c:barChart>
      <c:catAx>
        <c:axId val="363710783"/>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b" anchorCtr="0"/>
          <a:lstStyle/>
          <a:p>
            <a:pPr>
              <a:defRPr sz="12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pt-BR"/>
          </a:p>
        </c:txPr>
        <c:crossAx val="363698303"/>
        <c:crosses val="autoZero"/>
        <c:auto val="1"/>
        <c:lblAlgn val="ctr"/>
        <c:lblOffset val="100"/>
        <c:noMultiLvlLbl val="0"/>
      </c:catAx>
      <c:valAx>
        <c:axId val="36369830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pt-BR"/>
          </a:p>
        </c:txPr>
        <c:crossAx val="36371078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lumMod val="75000"/>
              <a:lumOff val="25000"/>
            </a:schemeClr>
          </a:solidFill>
          <a:latin typeface="Arial" panose="020B0604020202020204" pitchFamily="34" charset="0"/>
          <a:cs typeface="Arial" panose="020B0604020202020204" pitchFamily="34" charset="0"/>
        </a:defRPr>
      </a:pPr>
      <a:endParaRPr lang="pt-BR"/>
    </a:p>
  </c:txPr>
  <c:externalData r:id="rId3">
    <c:autoUpdate val="0"/>
  </c:externalData>
</c:chartSpace>
</file>

<file path=ppt/charts/colors1.xml><?xml version="1.0" encoding="utf-8"?>
<cs:colorStyle xmlns:cs="http://schemas.microsoft.com/office/drawing/2012/chartStyle" xmlns:a="http://schemas.openxmlformats.org/drawingml/2006/main" meth="withinLinear" id="18">
  <a:schemeClr val="accent5"/>
</cs:colorStyle>
</file>

<file path=ppt/charts/colors2.xml><?xml version="1.0" encoding="utf-8"?>
<cs:colorStyle xmlns:cs="http://schemas.microsoft.com/office/drawing/2012/chartStyle" xmlns:a="http://schemas.openxmlformats.org/drawingml/2006/main" meth="withinLinear" id="18">
  <a:schemeClr val="accent5"/>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withinLinear" id="18">
  <a:schemeClr val="accent5"/>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withinLinear" id="14">
  <a:schemeClr val="accent1"/>
</cs:colorStyle>
</file>

<file path=ppt/charts/colors7.xml><?xml version="1.0" encoding="utf-8"?>
<cs:colorStyle xmlns:cs="http://schemas.microsoft.com/office/drawing/2012/chartStyle" xmlns:a="http://schemas.openxmlformats.org/drawingml/2006/main" meth="withinLinear" id="14">
  <a:schemeClr val="accent1"/>
</cs:colorStyle>
</file>

<file path=ppt/charts/colors8.xml><?xml version="1.0" encoding="utf-8"?>
<cs:colorStyle xmlns:cs="http://schemas.microsoft.com/office/drawing/2012/chartStyle" xmlns:a="http://schemas.openxmlformats.org/drawingml/2006/main" meth="withinLinear" id="14">
  <a:schemeClr val="accent1"/>
</cs:colorStyle>
</file>

<file path=ppt/charts/colors9.xml><?xml version="1.0" encoding="utf-8"?>
<cs:colorStyle xmlns:cs="http://schemas.microsoft.com/office/drawing/2012/chartStyle" xmlns:a="http://schemas.openxmlformats.org/drawingml/2006/main" meth="withinLinear" id="18">
  <a:schemeClr val="accent5"/>
</cs:colorStyle>
</file>

<file path=ppt/charts/colors10.xml><?xml version="1.0" encoding="utf-8"?>
<cs:colorStyle xmlns:cs="http://schemas.microsoft.com/office/drawing/2012/chartStyle" xmlns:a="http://schemas.openxmlformats.org/drawingml/2006/main" meth="withinLinear" id="18">
  <a:schemeClr val="accent5"/>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withinLinear" id="18">
  <a:schemeClr val="accent5"/>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withinLinear" id="14">
  <a:schemeClr val="accent1"/>
</cs:colorStyle>
</file>

<file path=ppt/charts/colors15.xml><?xml version="1.0" encoding="utf-8"?>
<cs:colorStyle xmlns:cs="http://schemas.microsoft.com/office/drawing/2012/chartStyle" xmlns:a="http://schemas.openxmlformats.org/drawingml/2006/main" meth="withinLinear" id="14">
  <a:schemeClr val="accent1"/>
</cs:colorStyle>
</file>

<file path=ppt/charts/colors16.xml><?xml version="1.0" encoding="utf-8"?>
<cs:colorStyle xmlns:cs="http://schemas.microsoft.com/office/drawing/2012/chartStyle" xmlns:a="http://schemas.openxmlformats.org/drawingml/2006/main" meth="withinLinear" id="14">
  <a:schemeClr val="accent1"/>
</cs:colorStyle>
</file>

<file path=ppt/charts/colors17.xml><?xml version="1.0" encoding="utf-8"?>
<cs:colorStyle xmlns:cs="http://schemas.microsoft.com/office/drawing/2012/chartStyle" xmlns:a="http://schemas.openxmlformats.org/drawingml/2006/main" meth="withinLinear" id="18">
  <a:schemeClr val="accent5"/>
</cs:colorStyle>
</file>

<file path=ppt/charts/colors18.xml><?xml version="1.0" encoding="utf-8"?>
<cs:colorStyle xmlns:cs="http://schemas.microsoft.com/office/drawing/2012/chartStyle" xmlns:a="http://schemas.openxmlformats.org/drawingml/2006/main" meth="withinLinear" id="18">
  <a:schemeClr val="accent5"/>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withinLinear" id="18">
  <a:schemeClr val="accent5"/>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withinLinear" id="14">
  <a:schemeClr val="accent1"/>
</cs:colorStyle>
</file>

<file path=ppt/charts/colors23.xml><?xml version="1.0" encoding="utf-8"?>
<cs:colorStyle xmlns:cs="http://schemas.microsoft.com/office/drawing/2012/chartStyle" xmlns:a="http://schemas.openxmlformats.org/drawingml/2006/main" meth="withinLinear" id="14">
  <a:schemeClr val="accent1"/>
</cs:colorStyle>
</file>

<file path=ppt/charts/colors24.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15.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1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23.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2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147EE8-4303-46C7-AC58-9A076167870E}"/>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3511B05B-930F-4207-9AC6-E526592C17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9CB80240-26B0-4718-9482-FCEFBA7E295D}"/>
              </a:ext>
            </a:extLst>
          </p:cNvPr>
          <p:cNvSpPr>
            <a:spLocks noGrp="1"/>
          </p:cNvSpPr>
          <p:nvPr>
            <p:ph type="dt" sz="half" idx="10"/>
          </p:nvPr>
        </p:nvSpPr>
        <p:spPr/>
        <p:txBody>
          <a:bodyPr/>
          <a:lstStyle/>
          <a:p>
            <a:fld id="{E443E878-5096-4098-811A-D489D9E995BB}" type="datetimeFigureOut">
              <a:rPr lang="pt-BR" smtClean="0"/>
              <a:t>13/08/2026</a:t>
            </a:fld>
            <a:endParaRPr lang="pt-BR"/>
          </a:p>
        </p:txBody>
      </p:sp>
      <p:sp>
        <p:nvSpPr>
          <p:cNvPr id="5" name="Espaço Reservado para Rodapé 4">
            <a:extLst>
              <a:ext uri="{FF2B5EF4-FFF2-40B4-BE49-F238E27FC236}">
                <a16:creationId xmlns:a16="http://schemas.microsoft.com/office/drawing/2014/main" id="{D79F2770-A00D-45E0-8A27-922D11BA42E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71CF22A5-E0F5-4D0C-991D-489B988F0470}"/>
              </a:ext>
            </a:extLst>
          </p:cNvPr>
          <p:cNvSpPr>
            <a:spLocks noGrp="1"/>
          </p:cNvSpPr>
          <p:nvPr>
            <p:ph type="sldNum" sz="quarter" idx="12"/>
          </p:nvPr>
        </p:nvSpPr>
        <p:spPr/>
        <p:txBody>
          <a:bodyPr/>
          <a:lstStyle/>
          <a:p>
            <a:fld id="{CEA7A37C-483A-4E64-9B7B-804F815FC7C8}" type="slidenum">
              <a:rPr lang="pt-BR" smtClean="0"/>
              <a:t>‹nº›</a:t>
            </a:fld>
            <a:endParaRPr lang="pt-BR"/>
          </a:p>
        </p:txBody>
      </p:sp>
    </p:spTree>
    <p:extLst>
      <p:ext uri="{BB962C8B-B14F-4D97-AF65-F5344CB8AC3E}">
        <p14:creationId xmlns:p14="http://schemas.microsoft.com/office/powerpoint/2010/main" val="2379026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779184-820B-4104-AB6B-E51978A2AF86}"/>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28ACA27B-98CF-4560-A159-254EAB6C392C}"/>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89805A3F-8729-4933-915D-5B0D1D90A351}"/>
              </a:ext>
            </a:extLst>
          </p:cNvPr>
          <p:cNvSpPr>
            <a:spLocks noGrp="1"/>
          </p:cNvSpPr>
          <p:nvPr>
            <p:ph type="dt" sz="half" idx="10"/>
          </p:nvPr>
        </p:nvSpPr>
        <p:spPr/>
        <p:txBody>
          <a:bodyPr/>
          <a:lstStyle/>
          <a:p>
            <a:fld id="{E443E878-5096-4098-811A-D489D9E995BB}" type="datetimeFigureOut">
              <a:rPr lang="pt-BR" smtClean="0"/>
              <a:t>13/08/2026</a:t>
            </a:fld>
            <a:endParaRPr lang="pt-BR"/>
          </a:p>
        </p:txBody>
      </p:sp>
      <p:sp>
        <p:nvSpPr>
          <p:cNvPr id="5" name="Espaço Reservado para Rodapé 4">
            <a:extLst>
              <a:ext uri="{FF2B5EF4-FFF2-40B4-BE49-F238E27FC236}">
                <a16:creationId xmlns:a16="http://schemas.microsoft.com/office/drawing/2014/main" id="{DEC4AE7D-B8D1-4215-92A1-0140A5BA40CF}"/>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2F7AD5E5-9DFE-4B23-AA2F-5FE9A54788D9}"/>
              </a:ext>
            </a:extLst>
          </p:cNvPr>
          <p:cNvSpPr>
            <a:spLocks noGrp="1"/>
          </p:cNvSpPr>
          <p:nvPr>
            <p:ph type="sldNum" sz="quarter" idx="12"/>
          </p:nvPr>
        </p:nvSpPr>
        <p:spPr/>
        <p:txBody>
          <a:bodyPr/>
          <a:lstStyle/>
          <a:p>
            <a:fld id="{CEA7A37C-483A-4E64-9B7B-804F815FC7C8}" type="slidenum">
              <a:rPr lang="pt-BR" smtClean="0"/>
              <a:t>‹nº›</a:t>
            </a:fld>
            <a:endParaRPr lang="pt-BR"/>
          </a:p>
        </p:txBody>
      </p:sp>
    </p:spTree>
    <p:extLst>
      <p:ext uri="{BB962C8B-B14F-4D97-AF65-F5344CB8AC3E}">
        <p14:creationId xmlns:p14="http://schemas.microsoft.com/office/powerpoint/2010/main" val="14901661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0B9F23-A61F-46AC-9A4E-641B8B32064A}"/>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2E568F9F-3E4F-4220-8A3E-6DD04508FD4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C7C5999E-0486-4957-84ED-3C83051A01BE}"/>
              </a:ext>
            </a:extLst>
          </p:cNvPr>
          <p:cNvSpPr>
            <a:spLocks noGrp="1"/>
          </p:cNvSpPr>
          <p:nvPr>
            <p:ph type="dt" sz="half" idx="10"/>
          </p:nvPr>
        </p:nvSpPr>
        <p:spPr/>
        <p:txBody>
          <a:bodyPr/>
          <a:lstStyle/>
          <a:p>
            <a:fld id="{E443E878-5096-4098-811A-D489D9E995BB}" type="datetimeFigureOut">
              <a:rPr lang="pt-BR" smtClean="0"/>
              <a:t>13/08/2026</a:t>
            </a:fld>
            <a:endParaRPr lang="pt-BR"/>
          </a:p>
        </p:txBody>
      </p:sp>
      <p:sp>
        <p:nvSpPr>
          <p:cNvPr id="5" name="Espaço Reservado para Rodapé 4">
            <a:extLst>
              <a:ext uri="{FF2B5EF4-FFF2-40B4-BE49-F238E27FC236}">
                <a16:creationId xmlns:a16="http://schemas.microsoft.com/office/drawing/2014/main" id="{4EA91186-45A2-4E45-9003-DF5B298B92E5}"/>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9EB004F9-E6E0-4294-A165-46ABBD328526}"/>
              </a:ext>
            </a:extLst>
          </p:cNvPr>
          <p:cNvSpPr>
            <a:spLocks noGrp="1"/>
          </p:cNvSpPr>
          <p:nvPr>
            <p:ph type="sldNum" sz="quarter" idx="12"/>
          </p:nvPr>
        </p:nvSpPr>
        <p:spPr/>
        <p:txBody>
          <a:bodyPr/>
          <a:lstStyle/>
          <a:p>
            <a:fld id="{CEA7A37C-483A-4E64-9B7B-804F815FC7C8}" type="slidenum">
              <a:rPr lang="pt-BR" smtClean="0"/>
              <a:t>‹nº›</a:t>
            </a:fld>
            <a:endParaRPr lang="pt-BR"/>
          </a:p>
        </p:txBody>
      </p:sp>
    </p:spTree>
    <p:extLst>
      <p:ext uri="{BB962C8B-B14F-4D97-AF65-F5344CB8AC3E}">
        <p14:creationId xmlns:p14="http://schemas.microsoft.com/office/powerpoint/2010/main" val="1647139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B73CC3-3117-4A98-8AF5-2D444EEB3B39}"/>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1E01455D-C5EF-4659-8A36-FA88E46775D4}"/>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CCAA88E4-D01D-4CF1-B1FB-07CF4D2E4FA6}"/>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9652F283-C6B9-40AF-B851-CF3B311A3033}"/>
              </a:ext>
            </a:extLst>
          </p:cNvPr>
          <p:cNvSpPr>
            <a:spLocks noGrp="1"/>
          </p:cNvSpPr>
          <p:nvPr>
            <p:ph type="dt" sz="half" idx="10"/>
          </p:nvPr>
        </p:nvSpPr>
        <p:spPr/>
        <p:txBody>
          <a:bodyPr/>
          <a:lstStyle/>
          <a:p>
            <a:fld id="{E443E878-5096-4098-811A-D489D9E995BB}" type="datetimeFigureOut">
              <a:rPr lang="pt-BR" smtClean="0"/>
              <a:t>13/08/2026</a:t>
            </a:fld>
            <a:endParaRPr lang="pt-BR"/>
          </a:p>
        </p:txBody>
      </p:sp>
      <p:sp>
        <p:nvSpPr>
          <p:cNvPr id="6" name="Espaço Reservado para Rodapé 5">
            <a:extLst>
              <a:ext uri="{FF2B5EF4-FFF2-40B4-BE49-F238E27FC236}">
                <a16:creationId xmlns:a16="http://schemas.microsoft.com/office/drawing/2014/main" id="{7E759488-C253-48BD-BD01-9E09B7219CC2}"/>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3667C49C-4D79-4721-A23C-CD7EA0529CE7}"/>
              </a:ext>
            </a:extLst>
          </p:cNvPr>
          <p:cNvSpPr>
            <a:spLocks noGrp="1"/>
          </p:cNvSpPr>
          <p:nvPr>
            <p:ph type="sldNum" sz="quarter" idx="12"/>
          </p:nvPr>
        </p:nvSpPr>
        <p:spPr/>
        <p:txBody>
          <a:bodyPr/>
          <a:lstStyle/>
          <a:p>
            <a:fld id="{CEA7A37C-483A-4E64-9B7B-804F815FC7C8}" type="slidenum">
              <a:rPr lang="pt-BR" smtClean="0"/>
              <a:t>‹nº›</a:t>
            </a:fld>
            <a:endParaRPr lang="pt-BR"/>
          </a:p>
        </p:txBody>
      </p:sp>
    </p:spTree>
    <p:extLst>
      <p:ext uri="{BB962C8B-B14F-4D97-AF65-F5344CB8AC3E}">
        <p14:creationId xmlns:p14="http://schemas.microsoft.com/office/powerpoint/2010/main" val="2717634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540CD4-42C4-44E5-BBD0-DA06E5D8F7E1}"/>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EE1C2DC9-CBCB-472D-8AFC-AD72B6774AA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1B783CC5-E0E6-49A6-99FE-2C7EC39686B6}"/>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D3E26C98-9F53-4B15-B864-D261428816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3D91DAB4-96A1-4885-993D-1644F65906B8}"/>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3ACEC98A-05A4-4A1A-9ECF-FBBE81399C8B}"/>
              </a:ext>
            </a:extLst>
          </p:cNvPr>
          <p:cNvSpPr>
            <a:spLocks noGrp="1"/>
          </p:cNvSpPr>
          <p:nvPr>
            <p:ph type="dt" sz="half" idx="10"/>
          </p:nvPr>
        </p:nvSpPr>
        <p:spPr/>
        <p:txBody>
          <a:bodyPr/>
          <a:lstStyle/>
          <a:p>
            <a:fld id="{E443E878-5096-4098-811A-D489D9E995BB}" type="datetimeFigureOut">
              <a:rPr lang="pt-BR" smtClean="0"/>
              <a:t>13/08/2026</a:t>
            </a:fld>
            <a:endParaRPr lang="pt-BR"/>
          </a:p>
        </p:txBody>
      </p:sp>
      <p:sp>
        <p:nvSpPr>
          <p:cNvPr id="8" name="Espaço Reservado para Rodapé 7">
            <a:extLst>
              <a:ext uri="{FF2B5EF4-FFF2-40B4-BE49-F238E27FC236}">
                <a16:creationId xmlns:a16="http://schemas.microsoft.com/office/drawing/2014/main" id="{1856572A-F1CA-40B3-9C2D-4EEB9BB11879}"/>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53323276-F0CF-4971-B34C-EECD3594B5DE}"/>
              </a:ext>
            </a:extLst>
          </p:cNvPr>
          <p:cNvSpPr>
            <a:spLocks noGrp="1"/>
          </p:cNvSpPr>
          <p:nvPr>
            <p:ph type="sldNum" sz="quarter" idx="12"/>
          </p:nvPr>
        </p:nvSpPr>
        <p:spPr/>
        <p:txBody>
          <a:bodyPr/>
          <a:lstStyle/>
          <a:p>
            <a:fld id="{CEA7A37C-483A-4E64-9B7B-804F815FC7C8}" type="slidenum">
              <a:rPr lang="pt-BR" smtClean="0"/>
              <a:t>‹nº›</a:t>
            </a:fld>
            <a:endParaRPr lang="pt-BR"/>
          </a:p>
        </p:txBody>
      </p:sp>
    </p:spTree>
    <p:extLst>
      <p:ext uri="{BB962C8B-B14F-4D97-AF65-F5344CB8AC3E}">
        <p14:creationId xmlns:p14="http://schemas.microsoft.com/office/powerpoint/2010/main" val="30431225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16960C-F197-49A4-908C-3211BC156376}"/>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9A0BEB64-A6F8-4D09-91EA-17C729EF3B44}"/>
              </a:ext>
            </a:extLst>
          </p:cNvPr>
          <p:cNvSpPr>
            <a:spLocks noGrp="1"/>
          </p:cNvSpPr>
          <p:nvPr>
            <p:ph type="dt" sz="half" idx="10"/>
          </p:nvPr>
        </p:nvSpPr>
        <p:spPr/>
        <p:txBody>
          <a:bodyPr/>
          <a:lstStyle/>
          <a:p>
            <a:fld id="{E443E878-5096-4098-811A-D489D9E995BB}" type="datetimeFigureOut">
              <a:rPr lang="pt-BR" smtClean="0"/>
              <a:t>13/08/2026</a:t>
            </a:fld>
            <a:endParaRPr lang="pt-BR"/>
          </a:p>
        </p:txBody>
      </p:sp>
      <p:sp>
        <p:nvSpPr>
          <p:cNvPr id="4" name="Espaço Reservado para Rodapé 3">
            <a:extLst>
              <a:ext uri="{FF2B5EF4-FFF2-40B4-BE49-F238E27FC236}">
                <a16:creationId xmlns:a16="http://schemas.microsoft.com/office/drawing/2014/main" id="{2E3E23F6-17B2-45A6-A4A9-47E38CCE1CCF}"/>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2DB55702-D6C6-4BDE-97DA-4ECA697EF693}"/>
              </a:ext>
            </a:extLst>
          </p:cNvPr>
          <p:cNvSpPr>
            <a:spLocks noGrp="1"/>
          </p:cNvSpPr>
          <p:nvPr>
            <p:ph type="sldNum" sz="quarter" idx="12"/>
          </p:nvPr>
        </p:nvSpPr>
        <p:spPr/>
        <p:txBody>
          <a:bodyPr/>
          <a:lstStyle/>
          <a:p>
            <a:fld id="{CEA7A37C-483A-4E64-9B7B-804F815FC7C8}" type="slidenum">
              <a:rPr lang="pt-BR" smtClean="0"/>
              <a:t>‹nº›</a:t>
            </a:fld>
            <a:endParaRPr lang="pt-BR"/>
          </a:p>
        </p:txBody>
      </p:sp>
    </p:spTree>
    <p:extLst>
      <p:ext uri="{BB962C8B-B14F-4D97-AF65-F5344CB8AC3E}">
        <p14:creationId xmlns:p14="http://schemas.microsoft.com/office/powerpoint/2010/main" val="2875652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3F983172-A4FE-4971-9780-A2DB220FBF05}"/>
              </a:ext>
            </a:extLst>
          </p:cNvPr>
          <p:cNvSpPr>
            <a:spLocks noGrp="1"/>
          </p:cNvSpPr>
          <p:nvPr>
            <p:ph type="dt" sz="half" idx="10"/>
          </p:nvPr>
        </p:nvSpPr>
        <p:spPr/>
        <p:txBody>
          <a:bodyPr/>
          <a:lstStyle/>
          <a:p>
            <a:fld id="{E443E878-5096-4098-811A-D489D9E995BB}" type="datetimeFigureOut">
              <a:rPr lang="pt-BR" smtClean="0"/>
              <a:t>13/08/2026</a:t>
            </a:fld>
            <a:endParaRPr lang="pt-BR"/>
          </a:p>
        </p:txBody>
      </p:sp>
      <p:sp>
        <p:nvSpPr>
          <p:cNvPr id="3" name="Espaço Reservado para Rodapé 2">
            <a:extLst>
              <a:ext uri="{FF2B5EF4-FFF2-40B4-BE49-F238E27FC236}">
                <a16:creationId xmlns:a16="http://schemas.microsoft.com/office/drawing/2014/main" id="{35A29A99-AADF-4E23-8279-3D3CB202BD56}"/>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E66D661F-0B39-4FDF-8834-881E3AA3BB12}"/>
              </a:ext>
            </a:extLst>
          </p:cNvPr>
          <p:cNvSpPr>
            <a:spLocks noGrp="1"/>
          </p:cNvSpPr>
          <p:nvPr>
            <p:ph type="sldNum" sz="quarter" idx="12"/>
          </p:nvPr>
        </p:nvSpPr>
        <p:spPr/>
        <p:txBody>
          <a:bodyPr/>
          <a:lstStyle/>
          <a:p>
            <a:fld id="{CEA7A37C-483A-4E64-9B7B-804F815FC7C8}" type="slidenum">
              <a:rPr lang="pt-BR" smtClean="0"/>
              <a:t>‹nº›</a:t>
            </a:fld>
            <a:endParaRPr lang="pt-BR"/>
          </a:p>
        </p:txBody>
      </p:sp>
    </p:spTree>
    <p:extLst>
      <p:ext uri="{BB962C8B-B14F-4D97-AF65-F5344CB8AC3E}">
        <p14:creationId xmlns:p14="http://schemas.microsoft.com/office/powerpoint/2010/main" val="2540877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E6A51E-7523-49B3-9EF0-486E828234E1}"/>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50E574B6-E754-4FF3-BF1E-B4D820A978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46128BA3-BD21-4491-BD09-EFD8AA989C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1F36FBFC-BD0A-4B81-A99E-60A646D8C5CE}"/>
              </a:ext>
            </a:extLst>
          </p:cNvPr>
          <p:cNvSpPr>
            <a:spLocks noGrp="1"/>
          </p:cNvSpPr>
          <p:nvPr>
            <p:ph type="dt" sz="half" idx="10"/>
          </p:nvPr>
        </p:nvSpPr>
        <p:spPr/>
        <p:txBody>
          <a:bodyPr/>
          <a:lstStyle/>
          <a:p>
            <a:fld id="{E443E878-5096-4098-811A-D489D9E995BB}" type="datetimeFigureOut">
              <a:rPr lang="pt-BR" smtClean="0"/>
              <a:t>13/08/2026</a:t>
            </a:fld>
            <a:endParaRPr lang="pt-BR"/>
          </a:p>
        </p:txBody>
      </p:sp>
      <p:sp>
        <p:nvSpPr>
          <p:cNvPr id="6" name="Espaço Reservado para Rodapé 5">
            <a:extLst>
              <a:ext uri="{FF2B5EF4-FFF2-40B4-BE49-F238E27FC236}">
                <a16:creationId xmlns:a16="http://schemas.microsoft.com/office/drawing/2014/main" id="{8EF47FF0-234E-407A-B7B4-CA1449550EFF}"/>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69FD96D0-4412-48D4-A6B8-72177CAFF881}"/>
              </a:ext>
            </a:extLst>
          </p:cNvPr>
          <p:cNvSpPr>
            <a:spLocks noGrp="1"/>
          </p:cNvSpPr>
          <p:nvPr>
            <p:ph type="sldNum" sz="quarter" idx="12"/>
          </p:nvPr>
        </p:nvSpPr>
        <p:spPr/>
        <p:txBody>
          <a:bodyPr/>
          <a:lstStyle/>
          <a:p>
            <a:fld id="{CEA7A37C-483A-4E64-9B7B-804F815FC7C8}" type="slidenum">
              <a:rPr lang="pt-BR" smtClean="0"/>
              <a:t>‹nº›</a:t>
            </a:fld>
            <a:endParaRPr lang="pt-BR"/>
          </a:p>
        </p:txBody>
      </p:sp>
    </p:spTree>
    <p:extLst>
      <p:ext uri="{BB962C8B-B14F-4D97-AF65-F5344CB8AC3E}">
        <p14:creationId xmlns:p14="http://schemas.microsoft.com/office/powerpoint/2010/main" val="1086427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5F55F4-FE9C-4787-8EB8-4D352A03A400}"/>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29089F6D-85A7-4465-A87C-C54A0C41B6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22ECC5B6-74B4-4B9A-AC17-E3FDCC26F3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6814ED76-64D5-437D-A276-48AC4B9F3159}"/>
              </a:ext>
            </a:extLst>
          </p:cNvPr>
          <p:cNvSpPr>
            <a:spLocks noGrp="1"/>
          </p:cNvSpPr>
          <p:nvPr>
            <p:ph type="dt" sz="half" idx="10"/>
          </p:nvPr>
        </p:nvSpPr>
        <p:spPr/>
        <p:txBody>
          <a:bodyPr/>
          <a:lstStyle/>
          <a:p>
            <a:fld id="{E443E878-5096-4098-811A-D489D9E995BB}" type="datetimeFigureOut">
              <a:rPr lang="pt-BR" smtClean="0"/>
              <a:t>13/08/2026</a:t>
            </a:fld>
            <a:endParaRPr lang="pt-BR"/>
          </a:p>
        </p:txBody>
      </p:sp>
      <p:sp>
        <p:nvSpPr>
          <p:cNvPr id="6" name="Espaço Reservado para Rodapé 5">
            <a:extLst>
              <a:ext uri="{FF2B5EF4-FFF2-40B4-BE49-F238E27FC236}">
                <a16:creationId xmlns:a16="http://schemas.microsoft.com/office/drawing/2014/main" id="{E52B90BE-B934-4969-AA04-9C1FDC923EBB}"/>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763FF7C7-94BD-41D2-BA89-3C49975E293D}"/>
              </a:ext>
            </a:extLst>
          </p:cNvPr>
          <p:cNvSpPr>
            <a:spLocks noGrp="1"/>
          </p:cNvSpPr>
          <p:nvPr>
            <p:ph type="sldNum" sz="quarter" idx="12"/>
          </p:nvPr>
        </p:nvSpPr>
        <p:spPr/>
        <p:txBody>
          <a:bodyPr/>
          <a:lstStyle/>
          <a:p>
            <a:fld id="{CEA7A37C-483A-4E64-9B7B-804F815FC7C8}" type="slidenum">
              <a:rPr lang="pt-BR" smtClean="0"/>
              <a:t>‹nº›</a:t>
            </a:fld>
            <a:endParaRPr lang="pt-BR"/>
          </a:p>
        </p:txBody>
      </p:sp>
    </p:spTree>
    <p:extLst>
      <p:ext uri="{BB962C8B-B14F-4D97-AF65-F5344CB8AC3E}">
        <p14:creationId xmlns:p14="http://schemas.microsoft.com/office/powerpoint/2010/main" val="423336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15DD43-BE83-435F-AD67-16ED9E0B6233}"/>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65CEB165-2BF4-44E0-8AF3-7F5D9D03DF34}"/>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C94154C9-7B45-40AA-81BA-FE3887EA0602}"/>
              </a:ext>
            </a:extLst>
          </p:cNvPr>
          <p:cNvSpPr>
            <a:spLocks noGrp="1"/>
          </p:cNvSpPr>
          <p:nvPr>
            <p:ph type="dt" sz="half" idx="10"/>
          </p:nvPr>
        </p:nvSpPr>
        <p:spPr/>
        <p:txBody>
          <a:bodyPr/>
          <a:lstStyle/>
          <a:p>
            <a:fld id="{E443E878-5096-4098-811A-D489D9E995BB}" type="datetimeFigureOut">
              <a:rPr lang="pt-BR" smtClean="0"/>
              <a:t>13/08/2026</a:t>
            </a:fld>
            <a:endParaRPr lang="pt-BR"/>
          </a:p>
        </p:txBody>
      </p:sp>
      <p:sp>
        <p:nvSpPr>
          <p:cNvPr id="5" name="Espaço Reservado para Rodapé 4">
            <a:extLst>
              <a:ext uri="{FF2B5EF4-FFF2-40B4-BE49-F238E27FC236}">
                <a16:creationId xmlns:a16="http://schemas.microsoft.com/office/drawing/2014/main" id="{3152A3FA-EC1B-403D-88D5-D75E1292B59A}"/>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AB1A9408-2648-4661-8769-1DE466DC3EF6}"/>
              </a:ext>
            </a:extLst>
          </p:cNvPr>
          <p:cNvSpPr>
            <a:spLocks noGrp="1"/>
          </p:cNvSpPr>
          <p:nvPr>
            <p:ph type="sldNum" sz="quarter" idx="12"/>
          </p:nvPr>
        </p:nvSpPr>
        <p:spPr/>
        <p:txBody>
          <a:bodyPr/>
          <a:lstStyle/>
          <a:p>
            <a:fld id="{CEA7A37C-483A-4E64-9B7B-804F815FC7C8}" type="slidenum">
              <a:rPr lang="pt-BR" smtClean="0"/>
              <a:t>‹nº›</a:t>
            </a:fld>
            <a:endParaRPr lang="pt-BR"/>
          </a:p>
        </p:txBody>
      </p:sp>
    </p:spTree>
    <p:extLst>
      <p:ext uri="{BB962C8B-B14F-4D97-AF65-F5344CB8AC3E}">
        <p14:creationId xmlns:p14="http://schemas.microsoft.com/office/powerpoint/2010/main" val="26598988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B523552-55A8-4200-8C39-CE9C1C118B1F}"/>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C274DB7F-2FD6-482F-88B3-13352CCAE614}"/>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C99A6A25-5218-4B02-A3A9-542258401F66}"/>
              </a:ext>
            </a:extLst>
          </p:cNvPr>
          <p:cNvSpPr>
            <a:spLocks noGrp="1"/>
          </p:cNvSpPr>
          <p:nvPr>
            <p:ph type="dt" sz="half" idx="10"/>
          </p:nvPr>
        </p:nvSpPr>
        <p:spPr/>
        <p:txBody>
          <a:bodyPr/>
          <a:lstStyle/>
          <a:p>
            <a:fld id="{E443E878-5096-4098-811A-D489D9E995BB}" type="datetimeFigureOut">
              <a:rPr lang="pt-BR" smtClean="0"/>
              <a:t>13/08/2026</a:t>
            </a:fld>
            <a:endParaRPr lang="pt-BR"/>
          </a:p>
        </p:txBody>
      </p:sp>
      <p:sp>
        <p:nvSpPr>
          <p:cNvPr id="5" name="Espaço Reservado para Rodapé 4">
            <a:extLst>
              <a:ext uri="{FF2B5EF4-FFF2-40B4-BE49-F238E27FC236}">
                <a16:creationId xmlns:a16="http://schemas.microsoft.com/office/drawing/2014/main" id="{7A590FB6-F1E7-4D56-A4E8-1D04039C0671}"/>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477E6256-D0EC-43AA-A6D6-A161EFF9783F}"/>
              </a:ext>
            </a:extLst>
          </p:cNvPr>
          <p:cNvSpPr>
            <a:spLocks noGrp="1"/>
          </p:cNvSpPr>
          <p:nvPr>
            <p:ph type="sldNum" sz="quarter" idx="12"/>
          </p:nvPr>
        </p:nvSpPr>
        <p:spPr/>
        <p:txBody>
          <a:bodyPr/>
          <a:lstStyle/>
          <a:p>
            <a:fld id="{CEA7A37C-483A-4E64-9B7B-804F815FC7C8}" type="slidenum">
              <a:rPr lang="pt-BR" smtClean="0"/>
              <a:t>‹nº›</a:t>
            </a:fld>
            <a:endParaRPr lang="pt-BR"/>
          </a:p>
        </p:txBody>
      </p:sp>
    </p:spTree>
    <p:extLst>
      <p:ext uri="{BB962C8B-B14F-4D97-AF65-F5344CB8AC3E}">
        <p14:creationId xmlns:p14="http://schemas.microsoft.com/office/powerpoint/2010/main" val="8592992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3000">
              <a:schemeClr val="bg1">
                <a:lumMod val="95000"/>
                <a:alpha val="61000"/>
              </a:schemeClr>
            </a:gs>
            <a:gs pos="100000">
              <a:schemeClr val="bg2">
                <a:alpha val="3000"/>
              </a:schemeClr>
            </a:gs>
          </a:gsLst>
          <a:lin ang="18900000" scaled="1"/>
          <a:tileRect/>
        </a:gradFill>
        <a:effectLst/>
      </p:bgPr>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D7B538F0-5F9C-46DD-B714-54E3883CB8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4FFDCBCC-EC74-4408-B0AB-5C4602903E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D13B4CDA-7CC8-4F2F-AA14-1CD80F17246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43E878-5096-4098-811A-D489D9E995BB}" type="datetimeFigureOut">
              <a:rPr lang="pt-BR" smtClean="0"/>
              <a:t>13/08/2026</a:t>
            </a:fld>
            <a:endParaRPr lang="pt-BR"/>
          </a:p>
        </p:txBody>
      </p:sp>
      <p:sp>
        <p:nvSpPr>
          <p:cNvPr id="5" name="Espaço Reservado para Rodapé 4">
            <a:extLst>
              <a:ext uri="{FF2B5EF4-FFF2-40B4-BE49-F238E27FC236}">
                <a16:creationId xmlns:a16="http://schemas.microsoft.com/office/drawing/2014/main" id="{E55D0830-6E37-49F9-B4A0-F3440CADD4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EA40D348-0496-45A4-9C79-710896223B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A7A37C-483A-4E64-9B7B-804F815FC7C8}" type="slidenum">
              <a:rPr lang="pt-BR" smtClean="0"/>
              <a:t>‹nº›</a:t>
            </a:fld>
            <a:endParaRPr lang="pt-BR"/>
          </a:p>
        </p:txBody>
      </p:sp>
    </p:spTree>
    <p:extLst>
      <p:ext uri="{BB962C8B-B14F-4D97-AF65-F5344CB8AC3E}">
        <p14:creationId xmlns:p14="http://schemas.microsoft.com/office/powerpoint/2010/main" val="41916991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5" Type="http://schemas.microsoft.com/office/2007/relationships/hdphoto" Target="../media/hdphoto2.wdp"/><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chart" Target="../charts/chart2.xml"/><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chart" Target="../charts/chart4.xml"/><Relationship Id="rId4" Type="http://schemas.openxmlformats.org/officeDocument/2006/relationships/chart" Target="../charts/char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chart" Target="../charts/chart5.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chart" Target="../charts/chart7.xml"/><Relationship Id="rId4" Type="http://schemas.openxmlformats.org/officeDocument/2006/relationships/chart" Target="../charts/chart6.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chart" Target="../charts/chart8.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chart" Target="../charts/chart10.xml"/><Relationship Id="rId4" Type="http://schemas.openxmlformats.org/officeDocument/2006/relationships/chart" Target="../charts/chart9.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chart" Target="../charts/chart12.xml"/><Relationship Id="rId4" Type="http://schemas.openxmlformats.org/officeDocument/2006/relationships/chart" Target="../charts/chart1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chart" Target="../charts/chart13.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chart" Target="../charts/chart15.xml"/><Relationship Id="rId4" Type="http://schemas.openxmlformats.org/officeDocument/2006/relationships/chart" Target="../charts/chart14.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chart" Target="../charts/chart16.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chart" Target="../charts/chart18.xml"/><Relationship Id="rId4" Type="http://schemas.openxmlformats.org/officeDocument/2006/relationships/chart" Target="../charts/chart17.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chart" Target="../charts/chart20.xml"/><Relationship Id="rId4" Type="http://schemas.openxmlformats.org/officeDocument/2006/relationships/chart" Target="../charts/chart19.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chart" Target="../charts/chart21.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chart" Target="../charts/chart23.xml"/><Relationship Id="rId4" Type="http://schemas.openxmlformats.org/officeDocument/2006/relationships/chart" Target="../charts/chart2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chart" Target="../charts/chart24.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tângulo: Cantos Arredondados 42">
            <a:extLst>
              <a:ext uri="{FF2B5EF4-FFF2-40B4-BE49-F238E27FC236}">
                <a16:creationId xmlns:a16="http://schemas.microsoft.com/office/drawing/2014/main" id="{C1D32C22-2BB4-4AA9-AC92-F27F756F9A46}"/>
              </a:ext>
            </a:extLst>
          </p:cNvPr>
          <p:cNvSpPr/>
          <p:nvPr/>
        </p:nvSpPr>
        <p:spPr>
          <a:xfrm>
            <a:off x="9727562" y="551224"/>
            <a:ext cx="2020973" cy="375927"/>
          </a:xfrm>
          <a:prstGeom prst="roundRect">
            <a:avLst>
              <a:gd name="adj" fmla="val 13727"/>
            </a:avLst>
          </a:prstGeom>
          <a:solidFill>
            <a:srgbClr val="0B589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4" name="Retângulo: Cantos Arredondados 43">
            <a:extLst>
              <a:ext uri="{FF2B5EF4-FFF2-40B4-BE49-F238E27FC236}">
                <a16:creationId xmlns:a16="http://schemas.microsoft.com/office/drawing/2014/main" id="{1B017911-3FA8-4E15-AE1D-B1FD14D64222}"/>
              </a:ext>
            </a:extLst>
          </p:cNvPr>
          <p:cNvSpPr/>
          <p:nvPr/>
        </p:nvSpPr>
        <p:spPr>
          <a:xfrm>
            <a:off x="9773512" y="588962"/>
            <a:ext cx="1992680" cy="341643"/>
          </a:xfrm>
          <a:prstGeom prst="roundRect">
            <a:avLst>
              <a:gd name="adj" fmla="val 13727"/>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38" name="Imagem 37">
            <a:extLst>
              <a:ext uri="{FF2B5EF4-FFF2-40B4-BE49-F238E27FC236}">
                <a16:creationId xmlns:a16="http://schemas.microsoft.com/office/drawing/2014/main" id="{DE2A603E-716D-41D5-ABEF-1625839B46A3}"/>
              </a:ext>
            </a:extLst>
          </p:cNvPr>
          <p:cNvPicPr>
            <a:picLocks noChangeAspect="1"/>
          </p:cNvPicPr>
          <p:nvPr/>
        </p:nvPicPr>
        <p:blipFill>
          <a:blip r:embed="rId2">
            <a:alphaModFix amt="4000"/>
          </a:blip>
          <a:stretch>
            <a:fillRect/>
          </a:stretch>
        </p:blipFill>
        <p:spPr>
          <a:xfrm>
            <a:off x="-2192539" y="-1973179"/>
            <a:ext cx="5030445" cy="5148116"/>
          </a:xfrm>
          <a:prstGeom prst="rect">
            <a:avLst/>
          </a:prstGeom>
          <a:effectLst/>
        </p:spPr>
      </p:pic>
      <p:pic>
        <p:nvPicPr>
          <p:cNvPr id="39" name="Imagem 38">
            <a:extLst>
              <a:ext uri="{FF2B5EF4-FFF2-40B4-BE49-F238E27FC236}">
                <a16:creationId xmlns:a16="http://schemas.microsoft.com/office/drawing/2014/main" id="{8F6A83EB-6687-479D-BD59-51B6B2B8CBF9}"/>
              </a:ext>
            </a:extLst>
          </p:cNvPr>
          <p:cNvPicPr>
            <a:picLocks noChangeAspect="1"/>
          </p:cNvPicPr>
          <p:nvPr/>
        </p:nvPicPr>
        <p:blipFill>
          <a:blip r:embed="rId2">
            <a:alphaModFix amt="4000"/>
          </a:blip>
          <a:stretch>
            <a:fillRect/>
          </a:stretch>
        </p:blipFill>
        <p:spPr>
          <a:xfrm>
            <a:off x="9157251" y="4596063"/>
            <a:ext cx="5030445" cy="5148116"/>
          </a:xfrm>
          <a:prstGeom prst="rect">
            <a:avLst/>
          </a:prstGeom>
          <a:effectLst/>
        </p:spPr>
      </p:pic>
      <p:sp>
        <p:nvSpPr>
          <p:cNvPr id="10" name="Título 1">
            <a:extLst>
              <a:ext uri="{FF2B5EF4-FFF2-40B4-BE49-F238E27FC236}">
                <a16:creationId xmlns:a16="http://schemas.microsoft.com/office/drawing/2014/main" id="{A5950180-9DDC-4E06-9746-C88850FA434F}"/>
              </a:ext>
            </a:extLst>
          </p:cNvPr>
          <p:cNvSpPr txBox="1">
            <a:spLocks/>
          </p:cNvSpPr>
          <p:nvPr/>
        </p:nvSpPr>
        <p:spPr>
          <a:xfrm>
            <a:off x="-179551" y="685690"/>
            <a:ext cx="12192001" cy="5580185"/>
          </a:xfrm>
          <a:prstGeom prst="rect">
            <a:avLst/>
          </a:prstGeom>
          <a:effectLst>
            <a:reflection blurRad="6350" stA="50000" endA="295" endPos="92000" dist="101600" dir="5400000" sy="-100000" algn="bl" rotWithShape="0"/>
          </a:effectLst>
        </p:spPr>
        <p:txBody>
          <a:bodyPr vert="horz" lIns="91440" tIns="45720" rIns="91440" bIns="45720" rtlCol="0" anchor="b">
            <a:normAutofit fontScale="9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pt-BR" sz="43300" b="1" spc="-300" dirty="0">
                <a:solidFill>
                  <a:schemeClr val="tx1">
                    <a:lumMod val="50000"/>
                    <a:lumOff val="50000"/>
                    <a:alpha val="11000"/>
                  </a:schemeClr>
                </a:solidFill>
                <a:latin typeface="Arial" panose="020B0604020202020204" pitchFamily="34" charset="0"/>
                <a:cs typeface="Arial" panose="020B0604020202020204" pitchFamily="34" charset="0"/>
              </a:rPr>
              <a:t>2026</a:t>
            </a:r>
          </a:p>
        </p:txBody>
      </p:sp>
      <p:sp>
        <p:nvSpPr>
          <p:cNvPr id="15" name="Retângulo: Cantos Arredondados 14">
            <a:extLst>
              <a:ext uri="{FF2B5EF4-FFF2-40B4-BE49-F238E27FC236}">
                <a16:creationId xmlns:a16="http://schemas.microsoft.com/office/drawing/2014/main" id="{1B71EADA-2995-4F0E-898A-DAD0EBF1629A}"/>
              </a:ext>
            </a:extLst>
          </p:cNvPr>
          <p:cNvSpPr/>
          <p:nvPr/>
        </p:nvSpPr>
        <p:spPr>
          <a:xfrm>
            <a:off x="940477" y="2158889"/>
            <a:ext cx="2437660" cy="408165"/>
          </a:xfrm>
          <a:prstGeom prst="round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rgbClr val="0B5892"/>
              </a:solidFill>
            </a:endParaRPr>
          </a:p>
        </p:txBody>
      </p:sp>
      <p:sp>
        <p:nvSpPr>
          <p:cNvPr id="2" name="Título 1">
            <a:extLst>
              <a:ext uri="{FF2B5EF4-FFF2-40B4-BE49-F238E27FC236}">
                <a16:creationId xmlns:a16="http://schemas.microsoft.com/office/drawing/2014/main" id="{F311001D-7B27-4D1E-8727-3B5C67488BE8}"/>
              </a:ext>
            </a:extLst>
          </p:cNvPr>
          <p:cNvSpPr>
            <a:spLocks noGrp="1"/>
          </p:cNvSpPr>
          <p:nvPr>
            <p:ph type="ctrTitle"/>
          </p:nvPr>
        </p:nvSpPr>
        <p:spPr>
          <a:xfrm>
            <a:off x="2869297" y="3091934"/>
            <a:ext cx="5985178" cy="1189342"/>
          </a:xfrm>
          <a:effectLst/>
        </p:spPr>
        <p:txBody>
          <a:bodyPr>
            <a:noAutofit/>
          </a:bodyPr>
          <a:lstStyle/>
          <a:p>
            <a:pPr algn="l"/>
            <a:r>
              <a:rPr lang="pt-BR" sz="10300" b="1" dirty="0">
                <a:solidFill>
                  <a:srgbClr val="0B5892"/>
                </a:solidFill>
                <a:latin typeface="Arial" panose="020B0604020202020204" pitchFamily="34" charset="0"/>
                <a:cs typeface="Arial" panose="020B0604020202020204" pitchFamily="34" charset="0"/>
              </a:rPr>
              <a:t>WEEKLY</a:t>
            </a:r>
            <a:endParaRPr lang="pt-BR" sz="12400" b="1" dirty="0">
              <a:solidFill>
                <a:srgbClr val="0B5892"/>
              </a:solidFill>
              <a:latin typeface="Arial" panose="020B0604020202020204" pitchFamily="34" charset="0"/>
              <a:cs typeface="Arial" panose="020B0604020202020204" pitchFamily="34" charset="0"/>
            </a:endParaRPr>
          </a:p>
        </p:txBody>
      </p:sp>
      <p:sp>
        <p:nvSpPr>
          <p:cNvPr id="6" name="Título 1">
            <a:extLst>
              <a:ext uri="{FF2B5EF4-FFF2-40B4-BE49-F238E27FC236}">
                <a16:creationId xmlns:a16="http://schemas.microsoft.com/office/drawing/2014/main" id="{F19E4ED5-6191-4819-BC5E-0686AFC2CEAF}"/>
              </a:ext>
            </a:extLst>
          </p:cNvPr>
          <p:cNvSpPr txBox="1">
            <a:spLocks/>
          </p:cNvSpPr>
          <p:nvPr/>
        </p:nvSpPr>
        <p:spPr>
          <a:xfrm>
            <a:off x="395849" y="431573"/>
            <a:ext cx="5811865"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600" spc="600" dirty="0">
                <a:solidFill>
                  <a:schemeClr val="tx1">
                    <a:lumMod val="50000"/>
                    <a:lumOff val="50000"/>
                  </a:schemeClr>
                </a:solidFill>
                <a:latin typeface="Arial" panose="020B0604020202020204" pitchFamily="34" charset="0"/>
                <a:cs typeface="Arial" panose="020B0604020202020204" pitchFamily="34" charset="0"/>
              </a:rPr>
              <a:t>RELATÓRIO MENSAL</a:t>
            </a:r>
          </a:p>
        </p:txBody>
      </p:sp>
      <p:pic>
        <p:nvPicPr>
          <p:cNvPr id="19" name="Imagem 18">
            <a:extLst>
              <a:ext uri="{FF2B5EF4-FFF2-40B4-BE49-F238E27FC236}">
                <a16:creationId xmlns:a16="http://schemas.microsoft.com/office/drawing/2014/main" id="{4C060A47-A05B-445F-9298-A5D6A781B187}"/>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7759146" y="2565415"/>
            <a:ext cx="2132458" cy="2132458"/>
          </a:xfrm>
          <a:prstGeom prst="rect">
            <a:avLst/>
          </a:prstGeom>
          <a:effectLst>
            <a:outerShdw blurRad="457200" dist="38100" dir="2700000" sx="106000" sy="106000" algn="tl" rotWithShape="0">
              <a:prstClr val="black">
                <a:alpha val="40000"/>
              </a:prstClr>
            </a:outerShdw>
            <a:reflection blurRad="6350" stA="50000" endA="300" endPos="55500" dist="101600" dir="5400000" sy="-100000" algn="bl" rotWithShape="0"/>
          </a:effectLst>
        </p:spPr>
      </p:pic>
      <p:sp>
        <p:nvSpPr>
          <p:cNvPr id="3" name="Retângulo: Cantos Arredondados 2">
            <a:extLst>
              <a:ext uri="{FF2B5EF4-FFF2-40B4-BE49-F238E27FC236}">
                <a16:creationId xmlns:a16="http://schemas.microsoft.com/office/drawing/2014/main" id="{6021C8E1-11F0-459F-8C87-DCB9B6EC7814}"/>
              </a:ext>
            </a:extLst>
          </p:cNvPr>
          <p:cNvSpPr/>
          <p:nvPr/>
        </p:nvSpPr>
        <p:spPr>
          <a:xfrm>
            <a:off x="3214255" y="4289580"/>
            <a:ext cx="5167746" cy="422031"/>
          </a:xfrm>
          <a:prstGeom prst="roundRect">
            <a:avLst/>
          </a:prstGeom>
          <a:gradFill flip="none" rotWithShape="1">
            <a:gsLst>
              <a:gs pos="0">
                <a:schemeClr val="bg2">
                  <a:lumMod val="75000"/>
                  <a:tint val="66000"/>
                  <a:satMod val="160000"/>
                </a:schemeClr>
              </a:gs>
              <a:gs pos="50000">
                <a:schemeClr val="bg2">
                  <a:lumMod val="75000"/>
                  <a:tint val="44500"/>
                  <a:satMod val="160000"/>
                </a:schemeClr>
              </a:gs>
              <a:gs pos="100000">
                <a:schemeClr val="bg2">
                  <a:lumMod val="75000"/>
                  <a:tint val="23500"/>
                  <a:satMod val="160000"/>
                </a:schemeClr>
              </a:gs>
            </a:gsLst>
            <a:lin ang="1350000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Título 1">
            <a:extLst>
              <a:ext uri="{FF2B5EF4-FFF2-40B4-BE49-F238E27FC236}">
                <a16:creationId xmlns:a16="http://schemas.microsoft.com/office/drawing/2014/main" id="{9EF44465-2770-491B-BA4E-94ADD8550292}"/>
              </a:ext>
            </a:extLst>
          </p:cNvPr>
          <p:cNvSpPr txBox="1">
            <a:spLocks/>
          </p:cNvSpPr>
          <p:nvPr/>
        </p:nvSpPr>
        <p:spPr>
          <a:xfrm>
            <a:off x="3313342" y="4189561"/>
            <a:ext cx="5167745" cy="46409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pt-BR" sz="1400" dirty="0">
                <a:solidFill>
                  <a:srgbClr val="0B5892"/>
                </a:solidFill>
                <a:latin typeface="Arial" panose="020B0604020202020204" pitchFamily="34" charset="0"/>
                <a:cs typeface="Arial" panose="020B0604020202020204" pitchFamily="34" charset="0"/>
              </a:rPr>
              <a:t>RESULTADOS OPERACIONAIS | VOZ </a:t>
            </a:r>
          </a:p>
        </p:txBody>
      </p:sp>
      <p:grpSp>
        <p:nvGrpSpPr>
          <p:cNvPr id="20" name="Google Shape;1964;p50">
            <a:extLst>
              <a:ext uri="{FF2B5EF4-FFF2-40B4-BE49-F238E27FC236}">
                <a16:creationId xmlns:a16="http://schemas.microsoft.com/office/drawing/2014/main" id="{644333FE-63B4-42DF-ADFA-AF9177DF58D7}"/>
              </a:ext>
            </a:extLst>
          </p:cNvPr>
          <p:cNvGrpSpPr/>
          <p:nvPr/>
        </p:nvGrpSpPr>
        <p:grpSpPr>
          <a:xfrm>
            <a:off x="3417784" y="4365535"/>
            <a:ext cx="293131" cy="279819"/>
            <a:chOff x="4126815" y="2760704"/>
            <a:chExt cx="380393" cy="363118"/>
          </a:xfrm>
          <a:solidFill>
            <a:srgbClr val="0B5892"/>
          </a:solidFill>
        </p:grpSpPr>
        <p:sp>
          <p:nvSpPr>
            <p:cNvPr id="21" name="Google Shape;1965;p50">
              <a:extLst>
                <a:ext uri="{FF2B5EF4-FFF2-40B4-BE49-F238E27FC236}">
                  <a16:creationId xmlns:a16="http://schemas.microsoft.com/office/drawing/2014/main" id="{C90A8E2B-6430-4128-93A1-80EDBF3E3BED}"/>
                </a:ext>
              </a:extLst>
            </p:cNvPr>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966;p50">
              <a:extLst>
                <a:ext uri="{FF2B5EF4-FFF2-40B4-BE49-F238E27FC236}">
                  <a16:creationId xmlns:a16="http://schemas.microsoft.com/office/drawing/2014/main" id="{C220A82A-DCEF-47A8-9174-5A849CB2B75F}"/>
                </a:ext>
              </a:extLst>
            </p:cNvPr>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967;p50">
              <a:extLst>
                <a:ext uri="{FF2B5EF4-FFF2-40B4-BE49-F238E27FC236}">
                  <a16:creationId xmlns:a16="http://schemas.microsoft.com/office/drawing/2014/main" id="{446DDA74-F73B-4510-BFCE-608659C3FC02}"/>
                </a:ext>
              </a:extLst>
            </p:cNvPr>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968;p50">
              <a:extLst>
                <a:ext uri="{FF2B5EF4-FFF2-40B4-BE49-F238E27FC236}">
                  <a16:creationId xmlns:a16="http://schemas.microsoft.com/office/drawing/2014/main" id="{487DFEED-06C3-4B9B-9B7A-545AAF95F24C}"/>
                </a:ext>
              </a:extLst>
            </p:cNvPr>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Retângulo 3">
            <a:extLst>
              <a:ext uri="{FF2B5EF4-FFF2-40B4-BE49-F238E27FC236}">
                <a16:creationId xmlns:a16="http://schemas.microsoft.com/office/drawing/2014/main" id="{21D28AC1-0221-48D8-B024-0763281FCC5A}"/>
              </a:ext>
            </a:extLst>
          </p:cNvPr>
          <p:cNvSpPr/>
          <p:nvPr/>
        </p:nvSpPr>
        <p:spPr>
          <a:xfrm>
            <a:off x="-641684" y="6707874"/>
            <a:ext cx="4776717" cy="300251"/>
          </a:xfrm>
          <a:prstGeom prst="rect">
            <a:avLst/>
          </a:prstGeom>
          <a:solidFill>
            <a:srgbClr val="9E22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8" name="Retângulo 27">
            <a:extLst>
              <a:ext uri="{FF2B5EF4-FFF2-40B4-BE49-F238E27FC236}">
                <a16:creationId xmlns:a16="http://schemas.microsoft.com/office/drawing/2014/main" id="{1B97A203-0963-4EDB-AFF5-18D33C0036C8}"/>
              </a:ext>
            </a:extLst>
          </p:cNvPr>
          <p:cNvSpPr/>
          <p:nvPr/>
        </p:nvSpPr>
        <p:spPr>
          <a:xfrm>
            <a:off x="4040868" y="6707874"/>
            <a:ext cx="4776717" cy="300251"/>
          </a:xfrm>
          <a:prstGeom prst="rect">
            <a:avLst/>
          </a:prstGeom>
          <a:solidFill>
            <a:srgbClr val="0B589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9" name="Retângulo 28">
            <a:extLst>
              <a:ext uri="{FF2B5EF4-FFF2-40B4-BE49-F238E27FC236}">
                <a16:creationId xmlns:a16="http://schemas.microsoft.com/office/drawing/2014/main" id="{0BBC58FB-2C41-419E-8246-609C9177CDA9}"/>
              </a:ext>
            </a:extLst>
          </p:cNvPr>
          <p:cNvSpPr/>
          <p:nvPr/>
        </p:nvSpPr>
        <p:spPr>
          <a:xfrm>
            <a:off x="8828573" y="6707874"/>
            <a:ext cx="4776717" cy="30025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 name="Imagem 7">
            <a:extLst>
              <a:ext uri="{FF2B5EF4-FFF2-40B4-BE49-F238E27FC236}">
                <a16:creationId xmlns:a16="http://schemas.microsoft.com/office/drawing/2014/main" id="{55CA91AA-A108-4071-B0A7-0374C74EDA09}"/>
              </a:ext>
            </a:extLst>
          </p:cNvPr>
          <p:cNvPicPr>
            <a:picLocks noChangeAspect="1"/>
          </p:cNvPicPr>
          <p:nvPr/>
        </p:nvPicPr>
        <p:blipFill>
          <a:blip r:embed="rId5"/>
          <a:stretch>
            <a:fillRect/>
          </a:stretch>
        </p:blipFill>
        <p:spPr>
          <a:xfrm>
            <a:off x="-124691" y="-20995"/>
            <a:ext cx="12316692" cy="88042"/>
          </a:xfrm>
          <a:prstGeom prst="rect">
            <a:avLst/>
          </a:prstGeom>
        </p:spPr>
      </p:pic>
      <p:sp>
        <p:nvSpPr>
          <p:cNvPr id="33" name="Título 1">
            <a:extLst>
              <a:ext uri="{FF2B5EF4-FFF2-40B4-BE49-F238E27FC236}">
                <a16:creationId xmlns:a16="http://schemas.microsoft.com/office/drawing/2014/main" id="{E8ED96BD-2906-4BD9-86CD-086D77D840E8}"/>
              </a:ext>
            </a:extLst>
          </p:cNvPr>
          <p:cNvSpPr txBox="1">
            <a:spLocks/>
          </p:cNvSpPr>
          <p:nvPr/>
        </p:nvSpPr>
        <p:spPr>
          <a:xfrm>
            <a:off x="0" y="5391500"/>
            <a:ext cx="12192000"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pt-BR" sz="1600" spc="600" dirty="0">
                <a:solidFill>
                  <a:srgbClr val="0B5892"/>
                </a:solidFill>
                <a:latin typeface="Arial" panose="020B0604020202020204" pitchFamily="34" charset="0"/>
                <a:cs typeface="Arial" panose="020B0604020202020204" pitchFamily="34" charset="0"/>
              </a:rPr>
              <a:t>Excelência não é um ato, é um hábito diário.</a:t>
            </a:r>
          </a:p>
        </p:txBody>
      </p:sp>
      <p:sp>
        <p:nvSpPr>
          <p:cNvPr id="40" name="Título 1">
            <a:extLst>
              <a:ext uri="{FF2B5EF4-FFF2-40B4-BE49-F238E27FC236}">
                <a16:creationId xmlns:a16="http://schemas.microsoft.com/office/drawing/2014/main" id="{8B24F100-4168-4C22-95ED-00150A20E58B}"/>
              </a:ext>
            </a:extLst>
          </p:cNvPr>
          <p:cNvSpPr txBox="1">
            <a:spLocks/>
          </p:cNvSpPr>
          <p:nvPr/>
        </p:nvSpPr>
        <p:spPr>
          <a:xfrm>
            <a:off x="10010273" y="673769"/>
            <a:ext cx="1744579" cy="228600"/>
          </a:xfrm>
          <a:prstGeom prst="rect">
            <a:avLst/>
          </a:prstGeom>
        </p:spPr>
        <p:txBody>
          <a:bodyPr vert="horz" lIns="91440" tIns="45720" rIns="91440" bIns="45720" rtlCol="0" anchor="b">
            <a:normAutofit fontScale="8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pt-BR" sz="1400" spc="300" dirty="0">
                <a:solidFill>
                  <a:srgbClr val="0B5892"/>
                </a:solidFill>
                <a:latin typeface="Arial" panose="020B0604020202020204" pitchFamily="34" charset="0"/>
                <a:cs typeface="Arial" panose="020B0604020202020204" pitchFamily="34" charset="0"/>
              </a:rPr>
              <a:t>Julho</a:t>
            </a:r>
          </a:p>
        </p:txBody>
      </p:sp>
      <p:grpSp>
        <p:nvGrpSpPr>
          <p:cNvPr id="64" name="Google Shape;2286;p50">
            <a:extLst>
              <a:ext uri="{FF2B5EF4-FFF2-40B4-BE49-F238E27FC236}">
                <a16:creationId xmlns:a16="http://schemas.microsoft.com/office/drawing/2014/main" id="{DD2CD91E-4B95-4BA2-97EA-B75F30F1F20D}"/>
              </a:ext>
            </a:extLst>
          </p:cNvPr>
          <p:cNvGrpSpPr/>
          <p:nvPr/>
        </p:nvGrpSpPr>
        <p:grpSpPr>
          <a:xfrm>
            <a:off x="9914641" y="640516"/>
            <a:ext cx="256996" cy="256996"/>
            <a:chOff x="10170398" y="2275581"/>
            <a:chExt cx="1044240" cy="1044240"/>
          </a:xfrm>
          <a:solidFill>
            <a:srgbClr val="0B5892"/>
          </a:solidFill>
        </p:grpSpPr>
        <p:sp>
          <p:nvSpPr>
            <p:cNvPr id="65" name="Google Shape;2287;p50">
              <a:extLst>
                <a:ext uri="{FF2B5EF4-FFF2-40B4-BE49-F238E27FC236}">
                  <a16:creationId xmlns:a16="http://schemas.microsoft.com/office/drawing/2014/main" id="{A45AE1BE-32EF-4AEA-A507-6978FDF05586}"/>
                </a:ext>
              </a:extLst>
            </p:cNvPr>
            <p:cNvSpPr/>
            <p:nvPr/>
          </p:nvSpPr>
          <p:spPr>
            <a:xfrm>
              <a:off x="10170398" y="2275581"/>
              <a:ext cx="1044240" cy="1044240"/>
            </a:xfrm>
            <a:custGeom>
              <a:avLst/>
              <a:gdLst/>
              <a:ahLst/>
              <a:cxnLst/>
              <a:rect l="l" t="t" r="r" b="b"/>
              <a:pathLst>
                <a:path w="1044240" h="1044240" extrusionOk="0">
                  <a:moveTo>
                    <a:pt x="1043243" y="1023511"/>
                  </a:moveTo>
                  <a:lnTo>
                    <a:pt x="890278" y="620562"/>
                  </a:lnTo>
                  <a:cubicBezTo>
                    <a:pt x="889008" y="617215"/>
                    <a:pt x="886603" y="614420"/>
                    <a:pt x="883487" y="612664"/>
                  </a:cubicBezTo>
                  <a:lnTo>
                    <a:pt x="720557" y="520873"/>
                  </a:lnTo>
                  <a:lnTo>
                    <a:pt x="768125" y="445452"/>
                  </a:lnTo>
                  <a:cubicBezTo>
                    <a:pt x="797319" y="399126"/>
                    <a:pt x="812752" y="345590"/>
                    <a:pt x="812752" y="290633"/>
                  </a:cubicBezTo>
                  <a:cubicBezTo>
                    <a:pt x="812752" y="130377"/>
                    <a:pt x="682375" y="0"/>
                    <a:pt x="522119" y="0"/>
                  </a:cubicBezTo>
                  <a:cubicBezTo>
                    <a:pt x="361863" y="0"/>
                    <a:pt x="231486" y="130377"/>
                    <a:pt x="231486" y="290633"/>
                  </a:cubicBezTo>
                  <a:cubicBezTo>
                    <a:pt x="231486" y="345604"/>
                    <a:pt x="246925" y="399142"/>
                    <a:pt x="276135" y="445456"/>
                  </a:cubicBezTo>
                  <a:cubicBezTo>
                    <a:pt x="276917" y="446698"/>
                    <a:pt x="323691" y="520877"/>
                    <a:pt x="323691" y="520877"/>
                  </a:cubicBezTo>
                  <a:lnTo>
                    <a:pt x="160755" y="612664"/>
                  </a:lnTo>
                  <a:cubicBezTo>
                    <a:pt x="157637" y="614420"/>
                    <a:pt x="155232" y="617215"/>
                    <a:pt x="153961" y="620562"/>
                  </a:cubicBezTo>
                  <a:lnTo>
                    <a:pt x="997" y="1023511"/>
                  </a:lnTo>
                  <a:cubicBezTo>
                    <a:pt x="-1290" y="1029532"/>
                    <a:pt x="442" y="1036340"/>
                    <a:pt x="5323" y="1040539"/>
                  </a:cubicBezTo>
                  <a:cubicBezTo>
                    <a:pt x="10209" y="1044741"/>
                    <a:pt x="17195" y="1045432"/>
                    <a:pt x="22805" y="1042269"/>
                  </a:cubicBezTo>
                  <a:lnTo>
                    <a:pt x="268707" y="903732"/>
                  </a:lnTo>
                  <a:lnTo>
                    <a:pt x="514609" y="1042269"/>
                  </a:lnTo>
                  <a:cubicBezTo>
                    <a:pt x="519270" y="1044894"/>
                    <a:pt x="524966" y="1044894"/>
                    <a:pt x="529626" y="1042269"/>
                  </a:cubicBezTo>
                  <a:lnTo>
                    <a:pt x="775528" y="903732"/>
                  </a:lnTo>
                  <a:lnTo>
                    <a:pt x="1021430" y="1042269"/>
                  </a:lnTo>
                  <a:cubicBezTo>
                    <a:pt x="1023776" y="1043590"/>
                    <a:pt x="1026364" y="1044239"/>
                    <a:pt x="1028938" y="1044239"/>
                  </a:cubicBezTo>
                  <a:cubicBezTo>
                    <a:pt x="1032519" y="1044239"/>
                    <a:pt x="1036072" y="1042985"/>
                    <a:pt x="1038915" y="1040541"/>
                  </a:cubicBezTo>
                  <a:cubicBezTo>
                    <a:pt x="1043800" y="1036340"/>
                    <a:pt x="1045529" y="1029532"/>
                    <a:pt x="1043243" y="1023511"/>
                  </a:cubicBezTo>
                  <a:close/>
                  <a:moveTo>
                    <a:pt x="537417" y="792788"/>
                  </a:moveTo>
                  <a:cubicBezTo>
                    <a:pt x="546987" y="789410"/>
                    <a:pt x="555284" y="782904"/>
                    <a:pt x="560915" y="773989"/>
                  </a:cubicBezTo>
                  <a:cubicBezTo>
                    <a:pt x="561692" y="772765"/>
                    <a:pt x="691912" y="566296"/>
                    <a:pt x="691912" y="566296"/>
                  </a:cubicBezTo>
                  <a:lnTo>
                    <a:pt x="758235" y="878360"/>
                  </a:lnTo>
                  <a:lnTo>
                    <a:pt x="537417" y="1002763"/>
                  </a:lnTo>
                  <a:close/>
                  <a:moveTo>
                    <a:pt x="302013" y="429133"/>
                  </a:moveTo>
                  <a:cubicBezTo>
                    <a:pt x="275889" y="387710"/>
                    <a:pt x="262081" y="339818"/>
                    <a:pt x="262081" y="290631"/>
                  </a:cubicBezTo>
                  <a:cubicBezTo>
                    <a:pt x="262081" y="147244"/>
                    <a:pt x="378734" y="30591"/>
                    <a:pt x="522121" y="30591"/>
                  </a:cubicBezTo>
                  <a:cubicBezTo>
                    <a:pt x="665508" y="30591"/>
                    <a:pt x="782161" y="147244"/>
                    <a:pt x="782161" y="290631"/>
                  </a:cubicBezTo>
                  <a:cubicBezTo>
                    <a:pt x="782161" y="339808"/>
                    <a:pt x="768357" y="387704"/>
                    <a:pt x="742249" y="429133"/>
                  </a:cubicBezTo>
                  <a:cubicBezTo>
                    <a:pt x="740208" y="432370"/>
                    <a:pt x="538658" y="751989"/>
                    <a:pt x="535141" y="757510"/>
                  </a:cubicBezTo>
                  <a:cubicBezTo>
                    <a:pt x="535109" y="757557"/>
                    <a:pt x="535080" y="757606"/>
                    <a:pt x="535050" y="757653"/>
                  </a:cubicBezTo>
                  <a:cubicBezTo>
                    <a:pt x="532213" y="762139"/>
                    <a:pt x="527381" y="764821"/>
                    <a:pt x="522121" y="764821"/>
                  </a:cubicBezTo>
                  <a:cubicBezTo>
                    <a:pt x="516857" y="764821"/>
                    <a:pt x="512003" y="762127"/>
                    <a:pt x="509162" y="757661"/>
                  </a:cubicBezTo>
                  <a:cubicBezTo>
                    <a:pt x="507118" y="754420"/>
                    <a:pt x="305166" y="434169"/>
                    <a:pt x="302082" y="429245"/>
                  </a:cubicBezTo>
                  <a:cubicBezTo>
                    <a:pt x="302060" y="429209"/>
                    <a:pt x="302035" y="429172"/>
                    <a:pt x="302013" y="429133"/>
                  </a:cubicBezTo>
                  <a:close/>
                  <a:moveTo>
                    <a:pt x="180596" y="636598"/>
                  </a:moveTo>
                  <a:lnTo>
                    <a:pt x="323191" y="556267"/>
                  </a:lnTo>
                  <a:lnTo>
                    <a:pt x="298350" y="673141"/>
                  </a:lnTo>
                  <a:cubicBezTo>
                    <a:pt x="296594" y="681405"/>
                    <a:pt x="301868" y="689526"/>
                    <a:pt x="310130" y="691284"/>
                  </a:cubicBezTo>
                  <a:cubicBezTo>
                    <a:pt x="311203" y="691513"/>
                    <a:pt x="312274" y="691623"/>
                    <a:pt x="313326" y="691623"/>
                  </a:cubicBezTo>
                  <a:cubicBezTo>
                    <a:pt x="320393" y="691623"/>
                    <a:pt x="326744" y="686693"/>
                    <a:pt x="328272" y="679504"/>
                  </a:cubicBezTo>
                  <a:lnTo>
                    <a:pt x="352332" y="566306"/>
                  </a:lnTo>
                  <a:lnTo>
                    <a:pt x="483313" y="774030"/>
                  </a:lnTo>
                  <a:cubicBezTo>
                    <a:pt x="488964" y="782920"/>
                    <a:pt x="497267" y="789412"/>
                    <a:pt x="506820" y="792785"/>
                  </a:cubicBezTo>
                  <a:lnTo>
                    <a:pt x="506820" y="1002767"/>
                  </a:lnTo>
                  <a:lnTo>
                    <a:pt x="286007" y="878362"/>
                  </a:lnTo>
                  <a:lnTo>
                    <a:pt x="315553" y="739350"/>
                  </a:lnTo>
                  <a:cubicBezTo>
                    <a:pt x="317309" y="731086"/>
                    <a:pt x="312035" y="722964"/>
                    <a:pt x="303773" y="721206"/>
                  </a:cubicBezTo>
                  <a:cubicBezTo>
                    <a:pt x="295501" y="719440"/>
                    <a:pt x="287385" y="724726"/>
                    <a:pt x="285629" y="732986"/>
                  </a:cubicBezTo>
                  <a:lnTo>
                    <a:pt x="255181" y="876235"/>
                  </a:lnTo>
                  <a:lnTo>
                    <a:pt x="44588" y="994882"/>
                  </a:lnTo>
                  <a:close/>
                  <a:moveTo>
                    <a:pt x="789059" y="876237"/>
                  </a:moveTo>
                  <a:lnTo>
                    <a:pt x="721055" y="556265"/>
                  </a:lnTo>
                  <a:lnTo>
                    <a:pt x="863644" y="636598"/>
                  </a:lnTo>
                  <a:lnTo>
                    <a:pt x="999654" y="994882"/>
                  </a:lnTo>
                  <a:close/>
                </a:path>
              </a:pathLst>
            </a:custGeom>
            <a:grp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 name="Google Shape;2288;p50">
              <a:extLst>
                <a:ext uri="{FF2B5EF4-FFF2-40B4-BE49-F238E27FC236}">
                  <a16:creationId xmlns:a16="http://schemas.microsoft.com/office/drawing/2014/main" id="{A6AE6957-2411-41B9-955C-B436C14393C1}"/>
                </a:ext>
              </a:extLst>
            </p:cNvPr>
            <p:cNvSpPr/>
            <p:nvPr/>
          </p:nvSpPr>
          <p:spPr>
            <a:xfrm>
              <a:off x="10524258" y="2397950"/>
              <a:ext cx="336522" cy="336522"/>
            </a:xfrm>
            <a:custGeom>
              <a:avLst/>
              <a:gdLst/>
              <a:ahLst/>
              <a:cxnLst/>
              <a:rect l="l" t="t" r="r" b="b"/>
              <a:pathLst>
                <a:path w="336522" h="336522" extrusionOk="0">
                  <a:moveTo>
                    <a:pt x="336522" y="168261"/>
                  </a:moveTo>
                  <a:cubicBezTo>
                    <a:pt x="336522" y="75483"/>
                    <a:pt x="261039" y="0"/>
                    <a:pt x="168261" y="0"/>
                  </a:cubicBezTo>
                  <a:cubicBezTo>
                    <a:pt x="75483" y="0"/>
                    <a:pt x="0" y="75483"/>
                    <a:pt x="0" y="168261"/>
                  </a:cubicBezTo>
                  <a:cubicBezTo>
                    <a:pt x="0" y="261039"/>
                    <a:pt x="75483" y="336522"/>
                    <a:pt x="168261" y="336522"/>
                  </a:cubicBezTo>
                  <a:cubicBezTo>
                    <a:pt x="261039" y="336522"/>
                    <a:pt x="336522" y="261039"/>
                    <a:pt x="336522" y="168261"/>
                  </a:cubicBezTo>
                  <a:close/>
                  <a:moveTo>
                    <a:pt x="30593" y="168261"/>
                  </a:moveTo>
                  <a:cubicBezTo>
                    <a:pt x="30593" y="92350"/>
                    <a:pt x="92350" y="30593"/>
                    <a:pt x="168261" y="30593"/>
                  </a:cubicBezTo>
                  <a:cubicBezTo>
                    <a:pt x="244172" y="30593"/>
                    <a:pt x="305929" y="92350"/>
                    <a:pt x="305929" y="168261"/>
                  </a:cubicBezTo>
                  <a:cubicBezTo>
                    <a:pt x="305929" y="244172"/>
                    <a:pt x="244172" y="305929"/>
                    <a:pt x="168261" y="305929"/>
                  </a:cubicBezTo>
                  <a:cubicBezTo>
                    <a:pt x="92350" y="305929"/>
                    <a:pt x="30593" y="244172"/>
                    <a:pt x="30593" y="168261"/>
                  </a:cubicBezTo>
                  <a:close/>
                </a:path>
              </a:pathLst>
            </a:custGeom>
            <a:grp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 name="Google Shape;2289;p50">
              <a:extLst>
                <a:ext uri="{FF2B5EF4-FFF2-40B4-BE49-F238E27FC236}">
                  <a16:creationId xmlns:a16="http://schemas.microsoft.com/office/drawing/2014/main" id="{45390312-E95B-4BA5-B6BB-066662AEF39E}"/>
                </a:ext>
              </a:extLst>
            </p:cNvPr>
            <p:cNvSpPr/>
            <p:nvPr/>
          </p:nvSpPr>
          <p:spPr>
            <a:xfrm>
              <a:off x="10585444" y="2459136"/>
              <a:ext cx="214150" cy="214150"/>
            </a:xfrm>
            <a:custGeom>
              <a:avLst/>
              <a:gdLst/>
              <a:ahLst/>
              <a:cxnLst/>
              <a:rect l="l" t="t" r="r" b="b"/>
              <a:pathLst>
                <a:path w="214150" h="214150" extrusionOk="0">
                  <a:moveTo>
                    <a:pt x="214151" y="107075"/>
                  </a:moveTo>
                  <a:cubicBezTo>
                    <a:pt x="214151" y="48035"/>
                    <a:pt x="166116" y="0"/>
                    <a:pt x="107075" y="0"/>
                  </a:cubicBezTo>
                  <a:cubicBezTo>
                    <a:pt x="48035" y="0"/>
                    <a:pt x="0" y="48035"/>
                    <a:pt x="0" y="107075"/>
                  </a:cubicBezTo>
                  <a:cubicBezTo>
                    <a:pt x="0" y="166116"/>
                    <a:pt x="48035" y="214151"/>
                    <a:pt x="107075" y="214151"/>
                  </a:cubicBezTo>
                  <a:cubicBezTo>
                    <a:pt x="166116" y="214151"/>
                    <a:pt x="214151" y="166116"/>
                    <a:pt x="214151" y="107075"/>
                  </a:cubicBezTo>
                  <a:close/>
                  <a:moveTo>
                    <a:pt x="30593" y="107075"/>
                  </a:moveTo>
                  <a:cubicBezTo>
                    <a:pt x="30593" y="64902"/>
                    <a:pt x="64902" y="30593"/>
                    <a:pt x="107075" y="30593"/>
                  </a:cubicBezTo>
                  <a:cubicBezTo>
                    <a:pt x="149249" y="30593"/>
                    <a:pt x="183558" y="64902"/>
                    <a:pt x="183558" y="107075"/>
                  </a:cubicBezTo>
                  <a:cubicBezTo>
                    <a:pt x="183558" y="149249"/>
                    <a:pt x="149249" y="183558"/>
                    <a:pt x="107075" y="183558"/>
                  </a:cubicBezTo>
                  <a:cubicBezTo>
                    <a:pt x="64902" y="183558"/>
                    <a:pt x="30593" y="149249"/>
                    <a:pt x="30593" y="107075"/>
                  </a:cubicBezTo>
                  <a:close/>
                </a:path>
              </a:pathLst>
            </a:custGeom>
            <a:grp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5" name="Imagem 4">
            <a:extLst>
              <a:ext uri="{FF2B5EF4-FFF2-40B4-BE49-F238E27FC236}">
                <a16:creationId xmlns:a16="http://schemas.microsoft.com/office/drawing/2014/main" id="{ED58B4A5-2B10-48D7-8015-39B2E3435E53}"/>
              </a:ext>
            </a:extLst>
          </p:cNvPr>
          <p:cNvPicPr>
            <a:picLocks noChangeAspect="1"/>
          </p:cNvPicPr>
          <p:nvPr/>
        </p:nvPicPr>
        <p:blipFill>
          <a:blip r:embed="rId6"/>
          <a:stretch>
            <a:fillRect/>
          </a:stretch>
        </p:blipFill>
        <p:spPr>
          <a:xfrm>
            <a:off x="5101389" y="6176185"/>
            <a:ext cx="977318" cy="401078"/>
          </a:xfrm>
          <a:prstGeom prst="rect">
            <a:avLst/>
          </a:prstGeom>
        </p:spPr>
      </p:pic>
    </p:spTree>
    <p:extLst>
      <p:ext uri="{BB962C8B-B14F-4D97-AF65-F5344CB8AC3E}">
        <p14:creationId xmlns:p14="http://schemas.microsoft.com/office/powerpoint/2010/main" val="29674526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Imagem 37">
            <a:extLst>
              <a:ext uri="{FF2B5EF4-FFF2-40B4-BE49-F238E27FC236}">
                <a16:creationId xmlns:a16="http://schemas.microsoft.com/office/drawing/2014/main" id="{DE2A603E-716D-41D5-ABEF-1625839B46A3}"/>
              </a:ext>
            </a:extLst>
          </p:cNvPr>
          <p:cNvPicPr>
            <a:picLocks noChangeAspect="1"/>
          </p:cNvPicPr>
          <p:nvPr/>
        </p:nvPicPr>
        <p:blipFill>
          <a:blip r:embed="rId2">
            <a:alphaModFix amt="4000"/>
          </a:blip>
          <a:stretch>
            <a:fillRect/>
          </a:stretch>
        </p:blipFill>
        <p:spPr>
          <a:xfrm>
            <a:off x="-2128370" y="-2021305"/>
            <a:ext cx="5030445" cy="5148116"/>
          </a:xfrm>
          <a:prstGeom prst="rect">
            <a:avLst/>
          </a:prstGeom>
          <a:effectLst/>
        </p:spPr>
      </p:pic>
      <p:pic>
        <p:nvPicPr>
          <p:cNvPr id="39" name="Imagem 38">
            <a:extLst>
              <a:ext uri="{FF2B5EF4-FFF2-40B4-BE49-F238E27FC236}">
                <a16:creationId xmlns:a16="http://schemas.microsoft.com/office/drawing/2014/main" id="{8F6A83EB-6687-479D-BD59-51B6B2B8CBF9}"/>
              </a:ext>
            </a:extLst>
          </p:cNvPr>
          <p:cNvPicPr>
            <a:picLocks noChangeAspect="1"/>
          </p:cNvPicPr>
          <p:nvPr/>
        </p:nvPicPr>
        <p:blipFill>
          <a:blip r:embed="rId2">
            <a:alphaModFix amt="4000"/>
          </a:blip>
          <a:stretch>
            <a:fillRect/>
          </a:stretch>
        </p:blipFill>
        <p:spPr>
          <a:xfrm>
            <a:off x="9157251" y="4596063"/>
            <a:ext cx="5030445" cy="5148116"/>
          </a:xfrm>
          <a:prstGeom prst="rect">
            <a:avLst/>
          </a:prstGeom>
          <a:effectLst/>
        </p:spPr>
      </p:pic>
      <p:sp>
        <p:nvSpPr>
          <p:cNvPr id="15" name="Retângulo: Cantos Arredondados 14">
            <a:extLst>
              <a:ext uri="{FF2B5EF4-FFF2-40B4-BE49-F238E27FC236}">
                <a16:creationId xmlns:a16="http://schemas.microsoft.com/office/drawing/2014/main" id="{1B71EADA-2995-4F0E-898A-DAD0EBF1629A}"/>
              </a:ext>
            </a:extLst>
          </p:cNvPr>
          <p:cNvSpPr/>
          <p:nvPr/>
        </p:nvSpPr>
        <p:spPr>
          <a:xfrm>
            <a:off x="940477" y="2158889"/>
            <a:ext cx="2437660" cy="408165"/>
          </a:xfrm>
          <a:prstGeom prst="round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rgbClr val="0B5892"/>
              </a:solidFill>
            </a:endParaRPr>
          </a:p>
        </p:txBody>
      </p:sp>
      <p:sp>
        <p:nvSpPr>
          <p:cNvPr id="6" name="Título 1">
            <a:extLst>
              <a:ext uri="{FF2B5EF4-FFF2-40B4-BE49-F238E27FC236}">
                <a16:creationId xmlns:a16="http://schemas.microsoft.com/office/drawing/2014/main" id="{F19E4ED5-6191-4819-BC5E-0686AFC2CEAF}"/>
              </a:ext>
            </a:extLst>
          </p:cNvPr>
          <p:cNvSpPr txBox="1">
            <a:spLocks/>
          </p:cNvSpPr>
          <p:nvPr/>
        </p:nvSpPr>
        <p:spPr>
          <a:xfrm>
            <a:off x="5946417" y="431573"/>
            <a:ext cx="5811865"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pt-BR" sz="1600" spc="600" dirty="0">
                <a:solidFill>
                  <a:schemeClr val="tx1">
                    <a:lumMod val="50000"/>
                    <a:lumOff val="50000"/>
                  </a:schemeClr>
                </a:solidFill>
                <a:latin typeface="Arial" panose="020B0604020202020204" pitchFamily="34" charset="0"/>
                <a:cs typeface="Arial" panose="020B0604020202020204" pitchFamily="34" charset="0"/>
              </a:rPr>
              <a:t>RELATÓRIO MENSAL</a:t>
            </a:r>
          </a:p>
        </p:txBody>
      </p:sp>
      <p:sp>
        <p:nvSpPr>
          <p:cNvPr id="9" name="Título 1">
            <a:extLst>
              <a:ext uri="{FF2B5EF4-FFF2-40B4-BE49-F238E27FC236}">
                <a16:creationId xmlns:a16="http://schemas.microsoft.com/office/drawing/2014/main" id="{9EF44465-2770-491B-BA4E-94ADD8550292}"/>
              </a:ext>
            </a:extLst>
          </p:cNvPr>
          <p:cNvSpPr txBox="1">
            <a:spLocks/>
          </p:cNvSpPr>
          <p:nvPr/>
        </p:nvSpPr>
        <p:spPr>
          <a:xfrm>
            <a:off x="879129" y="430994"/>
            <a:ext cx="4313409"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800" dirty="0">
                <a:solidFill>
                  <a:srgbClr val="0B5892"/>
                </a:solidFill>
                <a:latin typeface="Arial" panose="020B0604020202020204" pitchFamily="34" charset="0"/>
                <a:cs typeface="Arial" panose="020B0604020202020204" pitchFamily="34" charset="0"/>
              </a:rPr>
              <a:t>RESULTADOS OPERACIONAIS  - VOZ</a:t>
            </a:r>
          </a:p>
        </p:txBody>
      </p:sp>
      <p:grpSp>
        <p:nvGrpSpPr>
          <p:cNvPr id="20" name="Google Shape;1964;p50">
            <a:extLst>
              <a:ext uri="{FF2B5EF4-FFF2-40B4-BE49-F238E27FC236}">
                <a16:creationId xmlns:a16="http://schemas.microsoft.com/office/drawing/2014/main" id="{644333FE-63B4-42DF-ADFA-AF9177DF58D7}"/>
              </a:ext>
            </a:extLst>
          </p:cNvPr>
          <p:cNvGrpSpPr/>
          <p:nvPr/>
        </p:nvGrpSpPr>
        <p:grpSpPr>
          <a:xfrm>
            <a:off x="594374" y="579597"/>
            <a:ext cx="293131" cy="279819"/>
            <a:chOff x="4126815" y="2760704"/>
            <a:chExt cx="380393" cy="363118"/>
          </a:xfrm>
          <a:solidFill>
            <a:srgbClr val="0B5892"/>
          </a:solidFill>
        </p:grpSpPr>
        <p:sp>
          <p:nvSpPr>
            <p:cNvPr id="21" name="Google Shape;1965;p50">
              <a:extLst>
                <a:ext uri="{FF2B5EF4-FFF2-40B4-BE49-F238E27FC236}">
                  <a16:creationId xmlns:a16="http://schemas.microsoft.com/office/drawing/2014/main" id="{C90A8E2B-6430-4128-93A1-80EDBF3E3BED}"/>
                </a:ext>
              </a:extLst>
            </p:cNvPr>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966;p50">
              <a:extLst>
                <a:ext uri="{FF2B5EF4-FFF2-40B4-BE49-F238E27FC236}">
                  <a16:creationId xmlns:a16="http://schemas.microsoft.com/office/drawing/2014/main" id="{C220A82A-DCEF-47A8-9174-5A849CB2B75F}"/>
                </a:ext>
              </a:extLst>
            </p:cNvPr>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967;p50">
              <a:extLst>
                <a:ext uri="{FF2B5EF4-FFF2-40B4-BE49-F238E27FC236}">
                  <a16:creationId xmlns:a16="http://schemas.microsoft.com/office/drawing/2014/main" id="{446DDA74-F73B-4510-BFCE-608659C3FC02}"/>
                </a:ext>
              </a:extLst>
            </p:cNvPr>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968;p50">
              <a:extLst>
                <a:ext uri="{FF2B5EF4-FFF2-40B4-BE49-F238E27FC236}">
                  <a16:creationId xmlns:a16="http://schemas.microsoft.com/office/drawing/2014/main" id="{487DFEED-06C3-4B9B-9B7A-545AAF95F24C}"/>
                </a:ext>
              </a:extLst>
            </p:cNvPr>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Retângulo 3">
            <a:extLst>
              <a:ext uri="{FF2B5EF4-FFF2-40B4-BE49-F238E27FC236}">
                <a16:creationId xmlns:a16="http://schemas.microsoft.com/office/drawing/2014/main" id="{21D28AC1-0221-48D8-B024-0763281FCC5A}"/>
              </a:ext>
            </a:extLst>
          </p:cNvPr>
          <p:cNvSpPr/>
          <p:nvPr/>
        </p:nvSpPr>
        <p:spPr>
          <a:xfrm>
            <a:off x="-641684" y="6707874"/>
            <a:ext cx="4776717" cy="300251"/>
          </a:xfrm>
          <a:prstGeom prst="rect">
            <a:avLst/>
          </a:prstGeom>
          <a:solidFill>
            <a:srgbClr val="9E22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8" name="Retângulo 27">
            <a:extLst>
              <a:ext uri="{FF2B5EF4-FFF2-40B4-BE49-F238E27FC236}">
                <a16:creationId xmlns:a16="http://schemas.microsoft.com/office/drawing/2014/main" id="{1B97A203-0963-4EDB-AFF5-18D33C0036C8}"/>
              </a:ext>
            </a:extLst>
          </p:cNvPr>
          <p:cNvSpPr/>
          <p:nvPr/>
        </p:nvSpPr>
        <p:spPr>
          <a:xfrm>
            <a:off x="4040868" y="6707874"/>
            <a:ext cx="4776717" cy="300251"/>
          </a:xfrm>
          <a:prstGeom prst="rect">
            <a:avLst/>
          </a:prstGeom>
          <a:solidFill>
            <a:srgbClr val="0B589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9" name="Retângulo 28">
            <a:extLst>
              <a:ext uri="{FF2B5EF4-FFF2-40B4-BE49-F238E27FC236}">
                <a16:creationId xmlns:a16="http://schemas.microsoft.com/office/drawing/2014/main" id="{0BBC58FB-2C41-419E-8246-609C9177CDA9}"/>
              </a:ext>
            </a:extLst>
          </p:cNvPr>
          <p:cNvSpPr/>
          <p:nvPr/>
        </p:nvSpPr>
        <p:spPr>
          <a:xfrm>
            <a:off x="8828573" y="6707874"/>
            <a:ext cx="4776717" cy="30025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 name="Imagem 7">
            <a:extLst>
              <a:ext uri="{FF2B5EF4-FFF2-40B4-BE49-F238E27FC236}">
                <a16:creationId xmlns:a16="http://schemas.microsoft.com/office/drawing/2014/main" id="{55CA91AA-A108-4071-B0A7-0374C74EDA09}"/>
              </a:ext>
            </a:extLst>
          </p:cNvPr>
          <p:cNvPicPr>
            <a:picLocks noChangeAspect="1"/>
          </p:cNvPicPr>
          <p:nvPr/>
        </p:nvPicPr>
        <p:blipFill>
          <a:blip r:embed="rId3"/>
          <a:stretch>
            <a:fillRect/>
          </a:stretch>
        </p:blipFill>
        <p:spPr>
          <a:xfrm>
            <a:off x="-124691" y="-20995"/>
            <a:ext cx="12316692" cy="88042"/>
          </a:xfrm>
          <a:prstGeom prst="rect">
            <a:avLst/>
          </a:prstGeom>
        </p:spPr>
      </p:pic>
      <p:pic>
        <p:nvPicPr>
          <p:cNvPr id="13" name="Imagem 12">
            <a:extLst>
              <a:ext uri="{FF2B5EF4-FFF2-40B4-BE49-F238E27FC236}">
                <a16:creationId xmlns:a16="http://schemas.microsoft.com/office/drawing/2014/main" id="{DBEDCAAB-5C89-4501-A713-64F17925C922}"/>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585" b="94569" l="5911" r="92971"/>
                    </a14:imgEffect>
                  </a14:imgLayer>
                </a14:imgProps>
              </a:ext>
            </a:extLst>
          </a:blip>
          <a:stretch>
            <a:fillRect/>
          </a:stretch>
        </p:blipFill>
        <p:spPr>
          <a:xfrm>
            <a:off x="7427496" y="1588168"/>
            <a:ext cx="3884696" cy="3884696"/>
          </a:xfrm>
          <a:prstGeom prst="rect">
            <a:avLst/>
          </a:prstGeom>
          <a:effectLst>
            <a:outerShdw blurRad="342900" dist="177800" dir="2880000" sx="104000" sy="104000" algn="ctr" rotWithShape="0">
              <a:srgbClr val="000000">
                <a:alpha val="20000"/>
              </a:srgbClr>
            </a:outerShdw>
          </a:effectLst>
        </p:spPr>
      </p:pic>
      <p:sp>
        <p:nvSpPr>
          <p:cNvPr id="26" name="Título 1">
            <a:extLst>
              <a:ext uri="{FF2B5EF4-FFF2-40B4-BE49-F238E27FC236}">
                <a16:creationId xmlns:a16="http://schemas.microsoft.com/office/drawing/2014/main" id="{8FAB71B1-3E17-40AE-AC37-CA635E91F7B7}"/>
              </a:ext>
            </a:extLst>
          </p:cNvPr>
          <p:cNvSpPr txBox="1">
            <a:spLocks/>
          </p:cNvSpPr>
          <p:nvPr/>
        </p:nvSpPr>
        <p:spPr>
          <a:xfrm>
            <a:off x="946484" y="2279330"/>
            <a:ext cx="6448928" cy="230871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pt-BR" sz="2000" dirty="0">
                <a:solidFill>
                  <a:srgbClr val="0B5892"/>
                </a:solidFill>
                <a:latin typeface="Arial" panose="020B0604020202020204" pitchFamily="34" charset="0"/>
                <a:cs typeface="Arial" panose="020B0604020202020204" pitchFamily="34" charset="0"/>
              </a:rPr>
              <a:t>Nesta apresentação iremos demonstrar o consolidado mensal das monitorias de qualidade, bem como a aplicação de feedbacks e o desempenho dos agentes ao longo do período. O objetivo é analisar os resultados alcançados, identificar pontos de destaque e oportunidades de melhoria, além de direcionar as ações de desenvolvimento para o próximo ciclo.</a:t>
            </a:r>
          </a:p>
        </p:txBody>
      </p:sp>
    </p:spTree>
    <p:extLst>
      <p:ext uri="{BB962C8B-B14F-4D97-AF65-F5344CB8AC3E}">
        <p14:creationId xmlns:p14="http://schemas.microsoft.com/office/powerpoint/2010/main" val="41403086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tângulo: Cantos Arredondados 42">
            <a:extLst>
              <a:ext uri="{FF2B5EF4-FFF2-40B4-BE49-F238E27FC236}">
                <a16:creationId xmlns:a16="http://schemas.microsoft.com/office/drawing/2014/main" id="{C1D32C22-2BB4-4AA9-AC92-F27F756F9A46}"/>
              </a:ext>
            </a:extLst>
          </p:cNvPr>
          <p:cNvSpPr/>
          <p:nvPr/>
        </p:nvSpPr>
        <p:spPr>
          <a:xfrm>
            <a:off x="9727562" y="551224"/>
            <a:ext cx="2020973" cy="375927"/>
          </a:xfrm>
          <a:prstGeom prst="roundRect">
            <a:avLst>
              <a:gd name="adj" fmla="val 13727"/>
            </a:avLst>
          </a:prstGeom>
          <a:solidFill>
            <a:srgbClr val="0B589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4" name="Retângulo: Cantos Arredondados 43">
            <a:extLst>
              <a:ext uri="{FF2B5EF4-FFF2-40B4-BE49-F238E27FC236}">
                <a16:creationId xmlns:a16="http://schemas.microsoft.com/office/drawing/2014/main" id="{1B017911-3FA8-4E15-AE1D-B1FD14D64222}"/>
              </a:ext>
            </a:extLst>
          </p:cNvPr>
          <p:cNvSpPr/>
          <p:nvPr/>
        </p:nvSpPr>
        <p:spPr>
          <a:xfrm>
            <a:off x="9773512" y="588962"/>
            <a:ext cx="1992680" cy="341643"/>
          </a:xfrm>
          <a:prstGeom prst="roundRect">
            <a:avLst>
              <a:gd name="adj" fmla="val 13727"/>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38" name="Imagem 37">
            <a:extLst>
              <a:ext uri="{FF2B5EF4-FFF2-40B4-BE49-F238E27FC236}">
                <a16:creationId xmlns:a16="http://schemas.microsoft.com/office/drawing/2014/main" id="{DE2A603E-716D-41D5-ABEF-1625839B46A3}"/>
              </a:ext>
            </a:extLst>
          </p:cNvPr>
          <p:cNvPicPr>
            <a:picLocks noChangeAspect="1"/>
          </p:cNvPicPr>
          <p:nvPr/>
        </p:nvPicPr>
        <p:blipFill>
          <a:blip r:embed="rId2">
            <a:alphaModFix amt="4000"/>
          </a:blip>
          <a:stretch>
            <a:fillRect/>
          </a:stretch>
        </p:blipFill>
        <p:spPr>
          <a:xfrm>
            <a:off x="-2192539" y="-1973179"/>
            <a:ext cx="5030445" cy="5148116"/>
          </a:xfrm>
          <a:prstGeom prst="rect">
            <a:avLst/>
          </a:prstGeom>
          <a:effectLst/>
        </p:spPr>
      </p:pic>
      <p:pic>
        <p:nvPicPr>
          <p:cNvPr id="39" name="Imagem 38">
            <a:extLst>
              <a:ext uri="{FF2B5EF4-FFF2-40B4-BE49-F238E27FC236}">
                <a16:creationId xmlns:a16="http://schemas.microsoft.com/office/drawing/2014/main" id="{8F6A83EB-6687-479D-BD59-51B6B2B8CBF9}"/>
              </a:ext>
            </a:extLst>
          </p:cNvPr>
          <p:cNvPicPr>
            <a:picLocks noChangeAspect="1"/>
          </p:cNvPicPr>
          <p:nvPr/>
        </p:nvPicPr>
        <p:blipFill>
          <a:blip r:embed="rId2">
            <a:alphaModFix amt="4000"/>
          </a:blip>
          <a:stretch>
            <a:fillRect/>
          </a:stretch>
        </p:blipFill>
        <p:spPr>
          <a:xfrm>
            <a:off x="9157251" y="4596063"/>
            <a:ext cx="5030445" cy="5148116"/>
          </a:xfrm>
          <a:prstGeom prst="rect">
            <a:avLst/>
          </a:prstGeom>
          <a:effectLst/>
        </p:spPr>
      </p:pic>
      <p:sp>
        <p:nvSpPr>
          <p:cNvPr id="10" name="Título 1">
            <a:extLst>
              <a:ext uri="{FF2B5EF4-FFF2-40B4-BE49-F238E27FC236}">
                <a16:creationId xmlns:a16="http://schemas.microsoft.com/office/drawing/2014/main" id="{A5950180-9DDC-4E06-9746-C88850FA434F}"/>
              </a:ext>
            </a:extLst>
          </p:cNvPr>
          <p:cNvSpPr txBox="1">
            <a:spLocks/>
          </p:cNvSpPr>
          <p:nvPr/>
        </p:nvSpPr>
        <p:spPr>
          <a:xfrm>
            <a:off x="-1" y="855616"/>
            <a:ext cx="12192001" cy="5580185"/>
          </a:xfrm>
          <a:prstGeom prst="rect">
            <a:avLst/>
          </a:prstGeom>
          <a:effectLst>
            <a:reflection blurRad="6350" stA="50000" endA="295" endPos="92000" dist="101600" dir="5400000" sy="-100000" algn="bl" rotWithShape="0"/>
          </a:effectLst>
        </p:spPr>
        <p:txBody>
          <a:bodyPr vert="horz" lIns="91440" tIns="45720" rIns="91440" bIns="45720" rtlCol="0" anchor="b">
            <a:normAutofit fontScale="9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pt-BR" sz="43300" b="1" spc="-300" dirty="0">
                <a:solidFill>
                  <a:schemeClr val="tx1">
                    <a:lumMod val="50000"/>
                    <a:lumOff val="50000"/>
                    <a:alpha val="11000"/>
                  </a:schemeClr>
                </a:solidFill>
                <a:latin typeface="Arial" panose="020B0604020202020204" pitchFamily="34" charset="0"/>
                <a:cs typeface="Arial" panose="020B0604020202020204" pitchFamily="34" charset="0"/>
              </a:rPr>
              <a:t>2026</a:t>
            </a:r>
          </a:p>
        </p:txBody>
      </p:sp>
      <p:sp>
        <p:nvSpPr>
          <p:cNvPr id="15" name="Retângulo: Cantos Arredondados 14">
            <a:extLst>
              <a:ext uri="{FF2B5EF4-FFF2-40B4-BE49-F238E27FC236}">
                <a16:creationId xmlns:a16="http://schemas.microsoft.com/office/drawing/2014/main" id="{1B71EADA-2995-4F0E-898A-DAD0EBF1629A}"/>
              </a:ext>
            </a:extLst>
          </p:cNvPr>
          <p:cNvSpPr/>
          <p:nvPr/>
        </p:nvSpPr>
        <p:spPr>
          <a:xfrm>
            <a:off x="940477" y="2158889"/>
            <a:ext cx="2437660" cy="408165"/>
          </a:xfrm>
          <a:prstGeom prst="round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rgbClr val="0B5892"/>
              </a:solidFill>
            </a:endParaRPr>
          </a:p>
        </p:txBody>
      </p:sp>
      <p:sp>
        <p:nvSpPr>
          <p:cNvPr id="2" name="Título 1">
            <a:extLst>
              <a:ext uri="{FF2B5EF4-FFF2-40B4-BE49-F238E27FC236}">
                <a16:creationId xmlns:a16="http://schemas.microsoft.com/office/drawing/2014/main" id="{F311001D-7B27-4D1E-8727-3B5C67488BE8}"/>
              </a:ext>
            </a:extLst>
          </p:cNvPr>
          <p:cNvSpPr>
            <a:spLocks noGrp="1"/>
          </p:cNvSpPr>
          <p:nvPr>
            <p:ph type="ctrTitle"/>
          </p:nvPr>
        </p:nvSpPr>
        <p:spPr>
          <a:xfrm>
            <a:off x="2354946" y="3126224"/>
            <a:ext cx="7177673" cy="1189342"/>
          </a:xfrm>
          <a:effectLst/>
        </p:spPr>
        <p:txBody>
          <a:bodyPr>
            <a:noAutofit/>
          </a:bodyPr>
          <a:lstStyle/>
          <a:p>
            <a:r>
              <a:rPr lang="pt-BR" sz="10300" b="1" dirty="0">
                <a:solidFill>
                  <a:srgbClr val="9E2289"/>
                </a:solidFill>
                <a:latin typeface="Arial" panose="020B0604020202020204" pitchFamily="34" charset="0"/>
                <a:cs typeface="Arial" panose="020B0604020202020204" pitchFamily="34" charset="0"/>
              </a:rPr>
              <a:t>PREMIUM</a:t>
            </a:r>
            <a:endParaRPr lang="pt-BR" sz="12400" b="1" dirty="0">
              <a:solidFill>
                <a:srgbClr val="9E2289"/>
              </a:solidFill>
              <a:latin typeface="Arial" panose="020B0604020202020204" pitchFamily="34" charset="0"/>
              <a:cs typeface="Arial" panose="020B0604020202020204" pitchFamily="34" charset="0"/>
            </a:endParaRPr>
          </a:p>
        </p:txBody>
      </p:sp>
      <p:sp>
        <p:nvSpPr>
          <p:cNvPr id="6" name="Título 1">
            <a:extLst>
              <a:ext uri="{FF2B5EF4-FFF2-40B4-BE49-F238E27FC236}">
                <a16:creationId xmlns:a16="http://schemas.microsoft.com/office/drawing/2014/main" id="{F19E4ED5-6191-4819-BC5E-0686AFC2CEAF}"/>
              </a:ext>
            </a:extLst>
          </p:cNvPr>
          <p:cNvSpPr txBox="1">
            <a:spLocks/>
          </p:cNvSpPr>
          <p:nvPr/>
        </p:nvSpPr>
        <p:spPr>
          <a:xfrm>
            <a:off x="395849" y="431573"/>
            <a:ext cx="5811865"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600" spc="600" dirty="0">
                <a:solidFill>
                  <a:schemeClr val="tx1">
                    <a:lumMod val="50000"/>
                    <a:lumOff val="50000"/>
                  </a:schemeClr>
                </a:solidFill>
                <a:latin typeface="Arial" panose="020B0604020202020204" pitchFamily="34" charset="0"/>
                <a:cs typeface="Arial" panose="020B0604020202020204" pitchFamily="34" charset="0"/>
              </a:rPr>
              <a:t>RELATÓRIO MENSAL</a:t>
            </a:r>
          </a:p>
        </p:txBody>
      </p:sp>
      <p:sp>
        <p:nvSpPr>
          <p:cNvPr id="3" name="Retângulo: Cantos Arredondados 2">
            <a:extLst>
              <a:ext uri="{FF2B5EF4-FFF2-40B4-BE49-F238E27FC236}">
                <a16:creationId xmlns:a16="http://schemas.microsoft.com/office/drawing/2014/main" id="{6021C8E1-11F0-459F-8C87-DCB9B6EC7814}"/>
              </a:ext>
            </a:extLst>
          </p:cNvPr>
          <p:cNvSpPr/>
          <p:nvPr/>
        </p:nvSpPr>
        <p:spPr>
          <a:xfrm>
            <a:off x="3214255" y="4289580"/>
            <a:ext cx="5167746" cy="422031"/>
          </a:xfrm>
          <a:prstGeom prst="roundRect">
            <a:avLst/>
          </a:prstGeom>
          <a:gradFill flip="none" rotWithShape="1">
            <a:gsLst>
              <a:gs pos="0">
                <a:schemeClr val="bg2">
                  <a:lumMod val="75000"/>
                  <a:tint val="66000"/>
                  <a:satMod val="160000"/>
                </a:schemeClr>
              </a:gs>
              <a:gs pos="50000">
                <a:schemeClr val="bg2">
                  <a:lumMod val="75000"/>
                  <a:tint val="44500"/>
                  <a:satMod val="160000"/>
                </a:schemeClr>
              </a:gs>
              <a:gs pos="100000">
                <a:schemeClr val="bg2">
                  <a:lumMod val="75000"/>
                  <a:tint val="23500"/>
                  <a:satMod val="160000"/>
                </a:schemeClr>
              </a:gs>
            </a:gsLst>
            <a:lin ang="1350000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Título 1">
            <a:extLst>
              <a:ext uri="{FF2B5EF4-FFF2-40B4-BE49-F238E27FC236}">
                <a16:creationId xmlns:a16="http://schemas.microsoft.com/office/drawing/2014/main" id="{9EF44465-2770-491B-BA4E-94ADD8550292}"/>
              </a:ext>
            </a:extLst>
          </p:cNvPr>
          <p:cNvSpPr txBox="1">
            <a:spLocks/>
          </p:cNvSpPr>
          <p:nvPr/>
        </p:nvSpPr>
        <p:spPr>
          <a:xfrm>
            <a:off x="3846918" y="4184846"/>
            <a:ext cx="4313409"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800" dirty="0">
                <a:solidFill>
                  <a:srgbClr val="9E2289"/>
                </a:solidFill>
                <a:latin typeface="Arial" panose="020B0604020202020204" pitchFamily="34" charset="0"/>
                <a:cs typeface="Arial" panose="020B0604020202020204" pitchFamily="34" charset="0"/>
              </a:rPr>
              <a:t>RESULTADOS OPERACIONAIS  - VOZ</a:t>
            </a:r>
          </a:p>
        </p:txBody>
      </p:sp>
      <p:grpSp>
        <p:nvGrpSpPr>
          <p:cNvPr id="20" name="Google Shape;1964;p50">
            <a:extLst>
              <a:ext uri="{FF2B5EF4-FFF2-40B4-BE49-F238E27FC236}">
                <a16:creationId xmlns:a16="http://schemas.microsoft.com/office/drawing/2014/main" id="{644333FE-63B4-42DF-ADFA-AF9177DF58D7}"/>
              </a:ext>
            </a:extLst>
          </p:cNvPr>
          <p:cNvGrpSpPr/>
          <p:nvPr/>
        </p:nvGrpSpPr>
        <p:grpSpPr>
          <a:xfrm>
            <a:off x="3417784" y="4365535"/>
            <a:ext cx="293131" cy="279819"/>
            <a:chOff x="4126815" y="2760704"/>
            <a:chExt cx="380393" cy="363118"/>
          </a:xfrm>
          <a:solidFill>
            <a:srgbClr val="9E2289"/>
          </a:solidFill>
        </p:grpSpPr>
        <p:sp>
          <p:nvSpPr>
            <p:cNvPr id="21" name="Google Shape;1965;p50">
              <a:extLst>
                <a:ext uri="{FF2B5EF4-FFF2-40B4-BE49-F238E27FC236}">
                  <a16:creationId xmlns:a16="http://schemas.microsoft.com/office/drawing/2014/main" id="{C90A8E2B-6430-4128-93A1-80EDBF3E3BED}"/>
                </a:ext>
              </a:extLst>
            </p:cNvPr>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966;p50">
              <a:extLst>
                <a:ext uri="{FF2B5EF4-FFF2-40B4-BE49-F238E27FC236}">
                  <a16:creationId xmlns:a16="http://schemas.microsoft.com/office/drawing/2014/main" id="{C220A82A-DCEF-47A8-9174-5A849CB2B75F}"/>
                </a:ext>
              </a:extLst>
            </p:cNvPr>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967;p50">
              <a:extLst>
                <a:ext uri="{FF2B5EF4-FFF2-40B4-BE49-F238E27FC236}">
                  <a16:creationId xmlns:a16="http://schemas.microsoft.com/office/drawing/2014/main" id="{446DDA74-F73B-4510-BFCE-608659C3FC02}"/>
                </a:ext>
              </a:extLst>
            </p:cNvPr>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968;p50">
              <a:extLst>
                <a:ext uri="{FF2B5EF4-FFF2-40B4-BE49-F238E27FC236}">
                  <a16:creationId xmlns:a16="http://schemas.microsoft.com/office/drawing/2014/main" id="{487DFEED-06C3-4B9B-9B7A-545AAF95F24C}"/>
                </a:ext>
              </a:extLst>
            </p:cNvPr>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Retângulo 3">
            <a:extLst>
              <a:ext uri="{FF2B5EF4-FFF2-40B4-BE49-F238E27FC236}">
                <a16:creationId xmlns:a16="http://schemas.microsoft.com/office/drawing/2014/main" id="{21D28AC1-0221-48D8-B024-0763281FCC5A}"/>
              </a:ext>
            </a:extLst>
          </p:cNvPr>
          <p:cNvSpPr/>
          <p:nvPr/>
        </p:nvSpPr>
        <p:spPr>
          <a:xfrm>
            <a:off x="-641684" y="6707874"/>
            <a:ext cx="13077524" cy="300251"/>
          </a:xfrm>
          <a:prstGeom prst="rect">
            <a:avLst/>
          </a:prstGeom>
          <a:solidFill>
            <a:srgbClr val="9E22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3" name="Título 1">
            <a:extLst>
              <a:ext uri="{FF2B5EF4-FFF2-40B4-BE49-F238E27FC236}">
                <a16:creationId xmlns:a16="http://schemas.microsoft.com/office/drawing/2014/main" id="{E8ED96BD-2906-4BD9-86CD-086D77D840E8}"/>
              </a:ext>
            </a:extLst>
          </p:cNvPr>
          <p:cNvSpPr txBox="1">
            <a:spLocks/>
          </p:cNvSpPr>
          <p:nvPr/>
        </p:nvSpPr>
        <p:spPr>
          <a:xfrm>
            <a:off x="0" y="5391500"/>
            <a:ext cx="12192000"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pt-BR" sz="1600" spc="600" dirty="0">
                <a:solidFill>
                  <a:srgbClr val="9E2289"/>
                </a:solidFill>
                <a:latin typeface="Arial" panose="020B0604020202020204" pitchFamily="34" charset="0"/>
                <a:cs typeface="Arial" panose="020B0604020202020204" pitchFamily="34" charset="0"/>
              </a:rPr>
              <a:t>Excelência não é um ato, é um hábito diário.</a:t>
            </a:r>
          </a:p>
        </p:txBody>
      </p:sp>
      <p:sp>
        <p:nvSpPr>
          <p:cNvPr id="40" name="Título 1">
            <a:extLst>
              <a:ext uri="{FF2B5EF4-FFF2-40B4-BE49-F238E27FC236}">
                <a16:creationId xmlns:a16="http://schemas.microsoft.com/office/drawing/2014/main" id="{8B24F100-4168-4C22-95ED-00150A20E58B}"/>
              </a:ext>
            </a:extLst>
          </p:cNvPr>
          <p:cNvSpPr txBox="1">
            <a:spLocks/>
          </p:cNvSpPr>
          <p:nvPr/>
        </p:nvSpPr>
        <p:spPr>
          <a:xfrm>
            <a:off x="10010273" y="673769"/>
            <a:ext cx="1744579" cy="228600"/>
          </a:xfrm>
          <a:prstGeom prst="rect">
            <a:avLst/>
          </a:prstGeom>
        </p:spPr>
        <p:txBody>
          <a:bodyPr vert="horz" lIns="91440" tIns="45720" rIns="91440" bIns="45720" rtlCol="0" anchor="b">
            <a:normAutofit fontScale="8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pt-BR" sz="1400" spc="300" dirty="0">
                <a:solidFill>
                  <a:srgbClr val="0B5892"/>
                </a:solidFill>
                <a:latin typeface="Arial" panose="020B0604020202020204" pitchFamily="34" charset="0"/>
                <a:cs typeface="Arial" panose="020B0604020202020204" pitchFamily="34" charset="0"/>
              </a:rPr>
              <a:t>Julho</a:t>
            </a:r>
          </a:p>
        </p:txBody>
      </p:sp>
      <p:grpSp>
        <p:nvGrpSpPr>
          <p:cNvPr id="64" name="Google Shape;2286;p50">
            <a:extLst>
              <a:ext uri="{FF2B5EF4-FFF2-40B4-BE49-F238E27FC236}">
                <a16:creationId xmlns:a16="http://schemas.microsoft.com/office/drawing/2014/main" id="{DD2CD91E-4B95-4BA2-97EA-B75F30F1F20D}"/>
              </a:ext>
            </a:extLst>
          </p:cNvPr>
          <p:cNvGrpSpPr/>
          <p:nvPr/>
        </p:nvGrpSpPr>
        <p:grpSpPr>
          <a:xfrm>
            <a:off x="9914641" y="640516"/>
            <a:ext cx="256996" cy="256996"/>
            <a:chOff x="10170398" y="2275581"/>
            <a:chExt cx="1044240" cy="1044240"/>
          </a:xfrm>
          <a:solidFill>
            <a:srgbClr val="0B5892"/>
          </a:solidFill>
        </p:grpSpPr>
        <p:sp>
          <p:nvSpPr>
            <p:cNvPr id="65" name="Google Shape;2287;p50">
              <a:extLst>
                <a:ext uri="{FF2B5EF4-FFF2-40B4-BE49-F238E27FC236}">
                  <a16:creationId xmlns:a16="http://schemas.microsoft.com/office/drawing/2014/main" id="{A45AE1BE-32EF-4AEA-A507-6978FDF05586}"/>
                </a:ext>
              </a:extLst>
            </p:cNvPr>
            <p:cNvSpPr/>
            <p:nvPr/>
          </p:nvSpPr>
          <p:spPr>
            <a:xfrm>
              <a:off x="10170398" y="2275581"/>
              <a:ext cx="1044240" cy="1044240"/>
            </a:xfrm>
            <a:custGeom>
              <a:avLst/>
              <a:gdLst/>
              <a:ahLst/>
              <a:cxnLst/>
              <a:rect l="l" t="t" r="r" b="b"/>
              <a:pathLst>
                <a:path w="1044240" h="1044240" extrusionOk="0">
                  <a:moveTo>
                    <a:pt x="1043243" y="1023511"/>
                  </a:moveTo>
                  <a:lnTo>
                    <a:pt x="890278" y="620562"/>
                  </a:lnTo>
                  <a:cubicBezTo>
                    <a:pt x="889008" y="617215"/>
                    <a:pt x="886603" y="614420"/>
                    <a:pt x="883487" y="612664"/>
                  </a:cubicBezTo>
                  <a:lnTo>
                    <a:pt x="720557" y="520873"/>
                  </a:lnTo>
                  <a:lnTo>
                    <a:pt x="768125" y="445452"/>
                  </a:lnTo>
                  <a:cubicBezTo>
                    <a:pt x="797319" y="399126"/>
                    <a:pt x="812752" y="345590"/>
                    <a:pt x="812752" y="290633"/>
                  </a:cubicBezTo>
                  <a:cubicBezTo>
                    <a:pt x="812752" y="130377"/>
                    <a:pt x="682375" y="0"/>
                    <a:pt x="522119" y="0"/>
                  </a:cubicBezTo>
                  <a:cubicBezTo>
                    <a:pt x="361863" y="0"/>
                    <a:pt x="231486" y="130377"/>
                    <a:pt x="231486" y="290633"/>
                  </a:cubicBezTo>
                  <a:cubicBezTo>
                    <a:pt x="231486" y="345604"/>
                    <a:pt x="246925" y="399142"/>
                    <a:pt x="276135" y="445456"/>
                  </a:cubicBezTo>
                  <a:cubicBezTo>
                    <a:pt x="276917" y="446698"/>
                    <a:pt x="323691" y="520877"/>
                    <a:pt x="323691" y="520877"/>
                  </a:cubicBezTo>
                  <a:lnTo>
                    <a:pt x="160755" y="612664"/>
                  </a:lnTo>
                  <a:cubicBezTo>
                    <a:pt x="157637" y="614420"/>
                    <a:pt x="155232" y="617215"/>
                    <a:pt x="153961" y="620562"/>
                  </a:cubicBezTo>
                  <a:lnTo>
                    <a:pt x="997" y="1023511"/>
                  </a:lnTo>
                  <a:cubicBezTo>
                    <a:pt x="-1290" y="1029532"/>
                    <a:pt x="442" y="1036340"/>
                    <a:pt x="5323" y="1040539"/>
                  </a:cubicBezTo>
                  <a:cubicBezTo>
                    <a:pt x="10209" y="1044741"/>
                    <a:pt x="17195" y="1045432"/>
                    <a:pt x="22805" y="1042269"/>
                  </a:cubicBezTo>
                  <a:lnTo>
                    <a:pt x="268707" y="903732"/>
                  </a:lnTo>
                  <a:lnTo>
                    <a:pt x="514609" y="1042269"/>
                  </a:lnTo>
                  <a:cubicBezTo>
                    <a:pt x="519270" y="1044894"/>
                    <a:pt x="524966" y="1044894"/>
                    <a:pt x="529626" y="1042269"/>
                  </a:cubicBezTo>
                  <a:lnTo>
                    <a:pt x="775528" y="903732"/>
                  </a:lnTo>
                  <a:lnTo>
                    <a:pt x="1021430" y="1042269"/>
                  </a:lnTo>
                  <a:cubicBezTo>
                    <a:pt x="1023776" y="1043590"/>
                    <a:pt x="1026364" y="1044239"/>
                    <a:pt x="1028938" y="1044239"/>
                  </a:cubicBezTo>
                  <a:cubicBezTo>
                    <a:pt x="1032519" y="1044239"/>
                    <a:pt x="1036072" y="1042985"/>
                    <a:pt x="1038915" y="1040541"/>
                  </a:cubicBezTo>
                  <a:cubicBezTo>
                    <a:pt x="1043800" y="1036340"/>
                    <a:pt x="1045529" y="1029532"/>
                    <a:pt x="1043243" y="1023511"/>
                  </a:cubicBezTo>
                  <a:close/>
                  <a:moveTo>
                    <a:pt x="537417" y="792788"/>
                  </a:moveTo>
                  <a:cubicBezTo>
                    <a:pt x="546987" y="789410"/>
                    <a:pt x="555284" y="782904"/>
                    <a:pt x="560915" y="773989"/>
                  </a:cubicBezTo>
                  <a:cubicBezTo>
                    <a:pt x="561692" y="772765"/>
                    <a:pt x="691912" y="566296"/>
                    <a:pt x="691912" y="566296"/>
                  </a:cubicBezTo>
                  <a:lnTo>
                    <a:pt x="758235" y="878360"/>
                  </a:lnTo>
                  <a:lnTo>
                    <a:pt x="537417" y="1002763"/>
                  </a:lnTo>
                  <a:close/>
                  <a:moveTo>
                    <a:pt x="302013" y="429133"/>
                  </a:moveTo>
                  <a:cubicBezTo>
                    <a:pt x="275889" y="387710"/>
                    <a:pt x="262081" y="339818"/>
                    <a:pt x="262081" y="290631"/>
                  </a:cubicBezTo>
                  <a:cubicBezTo>
                    <a:pt x="262081" y="147244"/>
                    <a:pt x="378734" y="30591"/>
                    <a:pt x="522121" y="30591"/>
                  </a:cubicBezTo>
                  <a:cubicBezTo>
                    <a:pt x="665508" y="30591"/>
                    <a:pt x="782161" y="147244"/>
                    <a:pt x="782161" y="290631"/>
                  </a:cubicBezTo>
                  <a:cubicBezTo>
                    <a:pt x="782161" y="339808"/>
                    <a:pt x="768357" y="387704"/>
                    <a:pt x="742249" y="429133"/>
                  </a:cubicBezTo>
                  <a:cubicBezTo>
                    <a:pt x="740208" y="432370"/>
                    <a:pt x="538658" y="751989"/>
                    <a:pt x="535141" y="757510"/>
                  </a:cubicBezTo>
                  <a:cubicBezTo>
                    <a:pt x="535109" y="757557"/>
                    <a:pt x="535080" y="757606"/>
                    <a:pt x="535050" y="757653"/>
                  </a:cubicBezTo>
                  <a:cubicBezTo>
                    <a:pt x="532213" y="762139"/>
                    <a:pt x="527381" y="764821"/>
                    <a:pt x="522121" y="764821"/>
                  </a:cubicBezTo>
                  <a:cubicBezTo>
                    <a:pt x="516857" y="764821"/>
                    <a:pt x="512003" y="762127"/>
                    <a:pt x="509162" y="757661"/>
                  </a:cubicBezTo>
                  <a:cubicBezTo>
                    <a:pt x="507118" y="754420"/>
                    <a:pt x="305166" y="434169"/>
                    <a:pt x="302082" y="429245"/>
                  </a:cubicBezTo>
                  <a:cubicBezTo>
                    <a:pt x="302060" y="429209"/>
                    <a:pt x="302035" y="429172"/>
                    <a:pt x="302013" y="429133"/>
                  </a:cubicBezTo>
                  <a:close/>
                  <a:moveTo>
                    <a:pt x="180596" y="636598"/>
                  </a:moveTo>
                  <a:lnTo>
                    <a:pt x="323191" y="556267"/>
                  </a:lnTo>
                  <a:lnTo>
                    <a:pt x="298350" y="673141"/>
                  </a:lnTo>
                  <a:cubicBezTo>
                    <a:pt x="296594" y="681405"/>
                    <a:pt x="301868" y="689526"/>
                    <a:pt x="310130" y="691284"/>
                  </a:cubicBezTo>
                  <a:cubicBezTo>
                    <a:pt x="311203" y="691513"/>
                    <a:pt x="312274" y="691623"/>
                    <a:pt x="313326" y="691623"/>
                  </a:cubicBezTo>
                  <a:cubicBezTo>
                    <a:pt x="320393" y="691623"/>
                    <a:pt x="326744" y="686693"/>
                    <a:pt x="328272" y="679504"/>
                  </a:cubicBezTo>
                  <a:lnTo>
                    <a:pt x="352332" y="566306"/>
                  </a:lnTo>
                  <a:lnTo>
                    <a:pt x="483313" y="774030"/>
                  </a:lnTo>
                  <a:cubicBezTo>
                    <a:pt x="488964" y="782920"/>
                    <a:pt x="497267" y="789412"/>
                    <a:pt x="506820" y="792785"/>
                  </a:cubicBezTo>
                  <a:lnTo>
                    <a:pt x="506820" y="1002767"/>
                  </a:lnTo>
                  <a:lnTo>
                    <a:pt x="286007" y="878362"/>
                  </a:lnTo>
                  <a:lnTo>
                    <a:pt x="315553" y="739350"/>
                  </a:lnTo>
                  <a:cubicBezTo>
                    <a:pt x="317309" y="731086"/>
                    <a:pt x="312035" y="722964"/>
                    <a:pt x="303773" y="721206"/>
                  </a:cubicBezTo>
                  <a:cubicBezTo>
                    <a:pt x="295501" y="719440"/>
                    <a:pt x="287385" y="724726"/>
                    <a:pt x="285629" y="732986"/>
                  </a:cubicBezTo>
                  <a:lnTo>
                    <a:pt x="255181" y="876235"/>
                  </a:lnTo>
                  <a:lnTo>
                    <a:pt x="44588" y="994882"/>
                  </a:lnTo>
                  <a:close/>
                  <a:moveTo>
                    <a:pt x="789059" y="876237"/>
                  </a:moveTo>
                  <a:lnTo>
                    <a:pt x="721055" y="556265"/>
                  </a:lnTo>
                  <a:lnTo>
                    <a:pt x="863644" y="636598"/>
                  </a:lnTo>
                  <a:lnTo>
                    <a:pt x="999654" y="994882"/>
                  </a:lnTo>
                  <a:close/>
                </a:path>
              </a:pathLst>
            </a:custGeom>
            <a:grp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 name="Google Shape;2288;p50">
              <a:extLst>
                <a:ext uri="{FF2B5EF4-FFF2-40B4-BE49-F238E27FC236}">
                  <a16:creationId xmlns:a16="http://schemas.microsoft.com/office/drawing/2014/main" id="{A6AE6957-2411-41B9-955C-B436C14393C1}"/>
                </a:ext>
              </a:extLst>
            </p:cNvPr>
            <p:cNvSpPr/>
            <p:nvPr/>
          </p:nvSpPr>
          <p:spPr>
            <a:xfrm>
              <a:off x="10524258" y="2397950"/>
              <a:ext cx="336522" cy="336522"/>
            </a:xfrm>
            <a:custGeom>
              <a:avLst/>
              <a:gdLst/>
              <a:ahLst/>
              <a:cxnLst/>
              <a:rect l="l" t="t" r="r" b="b"/>
              <a:pathLst>
                <a:path w="336522" h="336522" extrusionOk="0">
                  <a:moveTo>
                    <a:pt x="336522" y="168261"/>
                  </a:moveTo>
                  <a:cubicBezTo>
                    <a:pt x="336522" y="75483"/>
                    <a:pt x="261039" y="0"/>
                    <a:pt x="168261" y="0"/>
                  </a:cubicBezTo>
                  <a:cubicBezTo>
                    <a:pt x="75483" y="0"/>
                    <a:pt x="0" y="75483"/>
                    <a:pt x="0" y="168261"/>
                  </a:cubicBezTo>
                  <a:cubicBezTo>
                    <a:pt x="0" y="261039"/>
                    <a:pt x="75483" y="336522"/>
                    <a:pt x="168261" y="336522"/>
                  </a:cubicBezTo>
                  <a:cubicBezTo>
                    <a:pt x="261039" y="336522"/>
                    <a:pt x="336522" y="261039"/>
                    <a:pt x="336522" y="168261"/>
                  </a:cubicBezTo>
                  <a:close/>
                  <a:moveTo>
                    <a:pt x="30593" y="168261"/>
                  </a:moveTo>
                  <a:cubicBezTo>
                    <a:pt x="30593" y="92350"/>
                    <a:pt x="92350" y="30593"/>
                    <a:pt x="168261" y="30593"/>
                  </a:cubicBezTo>
                  <a:cubicBezTo>
                    <a:pt x="244172" y="30593"/>
                    <a:pt x="305929" y="92350"/>
                    <a:pt x="305929" y="168261"/>
                  </a:cubicBezTo>
                  <a:cubicBezTo>
                    <a:pt x="305929" y="244172"/>
                    <a:pt x="244172" y="305929"/>
                    <a:pt x="168261" y="305929"/>
                  </a:cubicBezTo>
                  <a:cubicBezTo>
                    <a:pt x="92350" y="305929"/>
                    <a:pt x="30593" y="244172"/>
                    <a:pt x="30593" y="168261"/>
                  </a:cubicBezTo>
                  <a:close/>
                </a:path>
              </a:pathLst>
            </a:custGeom>
            <a:grp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 name="Google Shape;2289;p50">
              <a:extLst>
                <a:ext uri="{FF2B5EF4-FFF2-40B4-BE49-F238E27FC236}">
                  <a16:creationId xmlns:a16="http://schemas.microsoft.com/office/drawing/2014/main" id="{45390312-E95B-4BA5-B6BB-066662AEF39E}"/>
                </a:ext>
              </a:extLst>
            </p:cNvPr>
            <p:cNvSpPr/>
            <p:nvPr/>
          </p:nvSpPr>
          <p:spPr>
            <a:xfrm>
              <a:off x="10585444" y="2459136"/>
              <a:ext cx="214150" cy="214150"/>
            </a:xfrm>
            <a:custGeom>
              <a:avLst/>
              <a:gdLst/>
              <a:ahLst/>
              <a:cxnLst/>
              <a:rect l="l" t="t" r="r" b="b"/>
              <a:pathLst>
                <a:path w="214150" h="214150" extrusionOk="0">
                  <a:moveTo>
                    <a:pt x="214151" y="107075"/>
                  </a:moveTo>
                  <a:cubicBezTo>
                    <a:pt x="214151" y="48035"/>
                    <a:pt x="166116" y="0"/>
                    <a:pt x="107075" y="0"/>
                  </a:cubicBezTo>
                  <a:cubicBezTo>
                    <a:pt x="48035" y="0"/>
                    <a:pt x="0" y="48035"/>
                    <a:pt x="0" y="107075"/>
                  </a:cubicBezTo>
                  <a:cubicBezTo>
                    <a:pt x="0" y="166116"/>
                    <a:pt x="48035" y="214151"/>
                    <a:pt x="107075" y="214151"/>
                  </a:cubicBezTo>
                  <a:cubicBezTo>
                    <a:pt x="166116" y="214151"/>
                    <a:pt x="214151" y="166116"/>
                    <a:pt x="214151" y="107075"/>
                  </a:cubicBezTo>
                  <a:close/>
                  <a:moveTo>
                    <a:pt x="30593" y="107075"/>
                  </a:moveTo>
                  <a:cubicBezTo>
                    <a:pt x="30593" y="64902"/>
                    <a:pt x="64902" y="30593"/>
                    <a:pt x="107075" y="30593"/>
                  </a:cubicBezTo>
                  <a:cubicBezTo>
                    <a:pt x="149249" y="30593"/>
                    <a:pt x="183558" y="64902"/>
                    <a:pt x="183558" y="107075"/>
                  </a:cubicBezTo>
                  <a:cubicBezTo>
                    <a:pt x="183558" y="149249"/>
                    <a:pt x="149249" y="183558"/>
                    <a:pt x="107075" y="183558"/>
                  </a:cubicBezTo>
                  <a:cubicBezTo>
                    <a:pt x="64902" y="183558"/>
                    <a:pt x="30593" y="149249"/>
                    <a:pt x="30593" y="107075"/>
                  </a:cubicBezTo>
                  <a:close/>
                </a:path>
              </a:pathLst>
            </a:custGeom>
            <a:grp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68" name="Imagem 67">
            <a:extLst>
              <a:ext uri="{FF2B5EF4-FFF2-40B4-BE49-F238E27FC236}">
                <a16:creationId xmlns:a16="http://schemas.microsoft.com/office/drawing/2014/main" id="{ACE5FCC6-D4D5-4654-BC70-A5D45921E093}"/>
              </a:ext>
            </a:extLst>
          </p:cNvPr>
          <p:cNvPicPr>
            <a:picLocks noChangeAspect="1"/>
          </p:cNvPicPr>
          <p:nvPr/>
        </p:nvPicPr>
        <p:blipFill>
          <a:blip r:embed="rId3"/>
          <a:stretch>
            <a:fillRect/>
          </a:stretch>
        </p:blipFill>
        <p:spPr>
          <a:xfrm>
            <a:off x="-124691" y="-20995"/>
            <a:ext cx="12316692" cy="88042"/>
          </a:xfrm>
          <a:prstGeom prst="rect">
            <a:avLst/>
          </a:prstGeom>
        </p:spPr>
      </p:pic>
      <p:pic>
        <p:nvPicPr>
          <p:cNvPr id="69" name="Imagem 68">
            <a:extLst>
              <a:ext uri="{FF2B5EF4-FFF2-40B4-BE49-F238E27FC236}">
                <a16:creationId xmlns:a16="http://schemas.microsoft.com/office/drawing/2014/main" id="{4F21BBA1-8BEA-4B8E-94CB-342D66912A22}"/>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8482477" y="2579063"/>
            <a:ext cx="2132458" cy="2132458"/>
          </a:xfrm>
          <a:prstGeom prst="rect">
            <a:avLst/>
          </a:prstGeom>
          <a:effectLst>
            <a:outerShdw blurRad="457200" dist="38100" dir="2700000" sx="106000" sy="106000" algn="tl" rotWithShape="0">
              <a:prstClr val="black">
                <a:alpha val="40000"/>
              </a:prstClr>
            </a:outerShdw>
            <a:reflection blurRad="6350" stA="50000" endA="300" endPos="55500" dist="101600" dir="5400000" sy="-100000" algn="bl" rotWithShape="0"/>
          </a:effectLst>
        </p:spPr>
      </p:pic>
    </p:spTree>
    <p:extLst>
      <p:ext uri="{BB962C8B-B14F-4D97-AF65-F5344CB8AC3E}">
        <p14:creationId xmlns:p14="http://schemas.microsoft.com/office/powerpoint/2010/main" val="3599451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Retângulo: Cantos Arredondados 79">
            <a:extLst>
              <a:ext uri="{FF2B5EF4-FFF2-40B4-BE49-F238E27FC236}">
                <a16:creationId xmlns:a16="http://schemas.microsoft.com/office/drawing/2014/main" id="{75B4443A-AB0F-41A7-8EBD-850DB095055A}"/>
              </a:ext>
            </a:extLst>
          </p:cNvPr>
          <p:cNvSpPr/>
          <p:nvPr/>
        </p:nvSpPr>
        <p:spPr>
          <a:xfrm>
            <a:off x="3741696" y="3860196"/>
            <a:ext cx="4814164" cy="1752907"/>
          </a:xfrm>
          <a:prstGeom prst="roundRect">
            <a:avLst/>
          </a:prstGeom>
          <a:solidFill>
            <a:schemeClr val="bg1">
              <a:alpha val="76000"/>
            </a:schemeClr>
          </a:solidFill>
          <a:ln>
            <a:noFill/>
          </a:ln>
          <a:effectLst>
            <a:outerShdw blurRad="177800" dist="38100" dir="5400000" sx="107000" sy="107000" algn="t" rotWithShape="0">
              <a:prstClr val="black">
                <a:alpha val="1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81" name="Retângulo: Cantos Arredondados 80">
            <a:extLst>
              <a:ext uri="{FF2B5EF4-FFF2-40B4-BE49-F238E27FC236}">
                <a16:creationId xmlns:a16="http://schemas.microsoft.com/office/drawing/2014/main" id="{CA314B76-9ED7-405F-8836-ADF96DD6847A}"/>
              </a:ext>
            </a:extLst>
          </p:cNvPr>
          <p:cNvSpPr/>
          <p:nvPr/>
        </p:nvSpPr>
        <p:spPr>
          <a:xfrm>
            <a:off x="3787417" y="3860197"/>
            <a:ext cx="4814164" cy="1752907"/>
          </a:xfrm>
          <a:prstGeom prst="roundRect">
            <a:avLst/>
          </a:prstGeom>
          <a:solidFill>
            <a:schemeClr val="bg1"/>
          </a:solidFill>
          <a:ln>
            <a:noFill/>
          </a:ln>
          <a:effectLst>
            <a:outerShdw dist="101600" dir="10740000" algn="t" rotWithShape="0">
              <a:srgbClr val="9E2289"/>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76" name="Retângulo: Cantos Arredondados 75">
            <a:extLst>
              <a:ext uri="{FF2B5EF4-FFF2-40B4-BE49-F238E27FC236}">
                <a16:creationId xmlns:a16="http://schemas.microsoft.com/office/drawing/2014/main" id="{F9B8545C-EE3B-4A2D-88AF-B393E3C17F99}"/>
              </a:ext>
            </a:extLst>
          </p:cNvPr>
          <p:cNvSpPr/>
          <p:nvPr/>
        </p:nvSpPr>
        <p:spPr>
          <a:xfrm>
            <a:off x="6171638" y="1898011"/>
            <a:ext cx="4814164" cy="1737667"/>
          </a:xfrm>
          <a:prstGeom prst="roundRect">
            <a:avLst/>
          </a:prstGeom>
          <a:solidFill>
            <a:schemeClr val="bg1">
              <a:alpha val="76000"/>
            </a:schemeClr>
          </a:solidFill>
          <a:ln>
            <a:noFill/>
          </a:ln>
          <a:effectLst>
            <a:outerShdw blurRad="177800" dist="38100" dir="5400000" sx="107000" sy="107000" algn="t" rotWithShape="0">
              <a:prstClr val="black">
                <a:alpha val="1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77" name="Retângulo: Cantos Arredondados 76">
            <a:extLst>
              <a:ext uri="{FF2B5EF4-FFF2-40B4-BE49-F238E27FC236}">
                <a16:creationId xmlns:a16="http://schemas.microsoft.com/office/drawing/2014/main" id="{60D24A15-7CCF-4245-A75F-347C77ED1F42}"/>
              </a:ext>
            </a:extLst>
          </p:cNvPr>
          <p:cNvSpPr/>
          <p:nvPr/>
        </p:nvSpPr>
        <p:spPr>
          <a:xfrm>
            <a:off x="6194499" y="1909442"/>
            <a:ext cx="4814164" cy="1737667"/>
          </a:xfrm>
          <a:prstGeom prst="roundRect">
            <a:avLst/>
          </a:prstGeom>
          <a:solidFill>
            <a:schemeClr val="bg1"/>
          </a:solidFill>
          <a:ln>
            <a:noFill/>
          </a:ln>
          <a:effectLst>
            <a:outerShdw dist="101600" dir="10740000" algn="t" rotWithShape="0">
              <a:srgbClr val="9E2289"/>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39" name="Imagem 38">
            <a:extLst>
              <a:ext uri="{FF2B5EF4-FFF2-40B4-BE49-F238E27FC236}">
                <a16:creationId xmlns:a16="http://schemas.microsoft.com/office/drawing/2014/main" id="{8F6A83EB-6687-479D-BD59-51B6B2B8CBF9}"/>
              </a:ext>
            </a:extLst>
          </p:cNvPr>
          <p:cNvPicPr>
            <a:picLocks noChangeAspect="1"/>
          </p:cNvPicPr>
          <p:nvPr/>
        </p:nvPicPr>
        <p:blipFill>
          <a:blip r:embed="rId2">
            <a:alphaModFix amt="4000"/>
          </a:blip>
          <a:stretch>
            <a:fillRect/>
          </a:stretch>
        </p:blipFill>
        <p:spPr>
          <a:xfrm>
            <a:off x="9157251" y="4596063"/>
            <a:ext cx="5030445" cy="5148116"/>
          </a:xfrm>
          <a:prstGeom prst="rect">
            <a:avLst/>
          </a:prstGeom>
          <a:effectLst/>
        </p:spPr>
      </p:pic>
      <p:pic>
        <p:nvPicPr>
          <p:cNvPr id="38" name="Imagem 37">
            <a:extLst>
              <a:ext uri="{FF2B5EF4-FFF2-40B4-BE49-F238E27FC236}">
                <a16:creationId xmlns:a16="http://schemas.microsoft.com/office/drawing/2014/main" id="{DE2A603E-716D-41D5-ABEF-1625839B46A3}"/>
              </a:ext>
            </a:extLst>
          </p:cNvPr>
          <p:cNvPicPr>
            <a:picLocks noChangeAspect="1"/>
          </p:cNvPicPr>
          <p:nvPr/>
        </p:nvPicPr>
        <p:blipFill>
          <a:blip r:embed="rId2">
            <a:alphaModFix amt="4000"/>
          </a:blip>
          <a:stretch>
            <a:fillRect/>
          </a:stretch>
        </p:blipFill>
        <p:spPr>
          <a:xfrm>
            <a:off x="-2128370" y="-2021305"/>
            <a:ext cx="5030445" cy="5148116"/>
          </a:xfrm>
          <a:prstGeom prst="rect">
            <a:avLst/>
          </a:prstGeom>
          <a:effectLst/>
        </p:spPr>
      </p:pic>
      <p:sp>
        <p:nvSpPr>
          <p:cNvPr id="15" name="Retângulo: Cantos Arredondados 14">
            <a:extLst>
              <a:ext uri="{FF2B5EF4-FFF2-40B4-BE49-F238E27FC236}">
                <a16:creationId xmlns:a16="http://schemas.microsoft.com/office/drawing/2014/main" id="{1B71EADA-2995-4F0E-898A-DAD0EBF1629A}"/>
              </a:ext>
            </a:extLst>
          </p:cNvPr>
          <p:cNvSpPr/>
          <p:nvPr/>
        </p:nvSpPr>
        <p:spPr>
          <a:xfrm>
            <a:off x="915379" y="2457008"/>
            <a:ext cx="3625927" cy="527350"/>
          </a:xfrm>
          <a:prstGeom prst="round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rgbClr val="0B5892"/>
              </a:solidFill>
            </a:endParaRPr>
          </a:p>
        </p:txBody>
      </p:sp>
      <p:sp>
        <p:nvSpPr>
          <p:cNvPr id="6" name="Título 1">
            <a:extLst>
              <a:ext uri="{FF2B5EF4-FFF2-40B4-BE49-F238E27FC236}">
                <a16:creationId xmlns:a16="http://schemas.microsoft.com/office/drawing/2014/main" id="{F19E4ED5-6191-4819-BC5E-0686AFC2CEAF}"/>
              </a:ext>
            </a:extLst>
          </p:cNvPr>
          <p:cNvSpPr txBox="1">
            <a:spLocks/>
          </p:cNvSpPr>
          <p:nvPr/>
        </p:nvSpPr>
        <p:spPr>
          <a:xfrm>
            <a:off x="5946417" y="431573"/>
            <a:ext cx="5811865"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pt-BR" sz="1600" spc="600" dirty="0">
                <a:solidFill>
                  <a:srgbClr val="9E2289"/>
                </a:solidFill>
                <a:latin typeface="Arial" panose="020B0604020202020204" pitchFamily="34" charset="0"/>
                <a:cs typeface="Arial" panose="020B0604020202020204" pitchFamily="34" charset="0"/>
              </a:rPr>
              <a:t>PREMIUM</a:t>
            </a:r>
          </a:p>
        </p:txBody>
      </p:sp>
      <p:grpSp>
        <p:nvGrpSpPr>
          <p:cNvPr id="20" name="Google Shape;1964;p50">
            <a:extLst>
              <a:ext uri="{FF2B5EF4-FFF2-40B4-BE49-F238E27FC236}">
                <a16:creationId xmlns:a16="http://schemas.microsoft.com/office/drawing/2014/main" id="{644333FE-63B4-42DF-ADFA-AF9177DF58D7}"/>
              </a:ext>
            </a:extLst>
          </p:cNvPr>
          <p:cNvGrpSpPr/>
          <p:nvPr/>
        </p:nvGrpSpPr>
        <p:grpSpPr>
          <a:xfrm flipH="1">
            <a:off x="742950" y="537670"/>
            <a:ext cx="603644" cy="576232"/>
            <a:chOff x="4126815" y="2760704"/>
            <a:chExt cx="380393" cy="363118"/>
          </a:xfrm>
          <a:solidFill>
            <a:srgbClr val="0B5892"/>
          </a:solidFill>
        </p:grpSpPr>
        <p:sp>
          <p:nvSpPr>
            <p:cNvPr id="21" name="Google Shape;1965;p50">
              <a:extLst>
                <a:ext uri="{FF2B5EF4-FFF2-40B4-BE49-F238E27FC236}">
                  <a16:creationId xmlns:a16="http://schemas.microsoft.com/office/drawing/2014/main" id="{C90A8E2B-6430-4128-93A1-80EDBF3E3BED}"/>
                </a:ext>
              </a:extLst>
            </p:cNvPr>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966;p50">
              <a:extLst>
                <a:ext uri="{FF2B5EF4-FFF2-40B4-BE49-F238E27FC236}">
                  <a16:creationId xmlns:a16="http://schemas.microsoft.com/office/drawing/2014/main" id="{C220A82A-DCEF-47A8-9174-5A849CB2B75F}"/>
                </a:ext>
              </a:extLst>
            </p:cNvPr>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967;p50">
              <a:extLst>
                <a:ext uri="{FF2B5EF4-FFF2-40B4-BE49-F238E27FC236}">
                  <a16:creationId xmlns:a16="http://schemas.microsoft.com/office/drawing/2014/main" id="{446DDA74-F73B-4510-BFCE-608659C3FC02}"/>
                </a:ext>
              </a:extLst>
            </p:cNvPr>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968;p50">
              <a:extLst>
                <a:ext uri="{FF2B5EF4-FFF2-40B4-BE49-F238E27FC236}">
                  <a16:creationId xmlns:a16="http://schemas.microsoft.com/office/drawing/2014/main" id="{487DFEED-06C3-4B9B-9B7A-545AAF95F24C}"/>
                </a:ext>
              </a:extLst>
            </p:cNvPr>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Retângulo 28">
            <a:extLst>
              <a:ext uri="{FF2B5EF4-FFF2-40B4-BE49-F238E27FC236}">
                <a16:creationId xmlns:a16="http://schemas.microsoft.com/office/drawing/2014/main" id="{0BBC58FB-2C41-419E-8246-609C9177CDA9}"/>
              </a:ext>
            </a:extLst>
          </p:cNvPr>
          <p:cNvSpPr/>
          <p:nvPr/>
        </p:nvSpPr>
        <p:spPr>
          <a:xfrm>
            <a:off x="-449179" y="6707874"/>
            <a:ext cx="14054469" cy="334610"/>
          </a:xfrm>
          <a:prstGeom prst="rect">
            <a:avLst/>
          </a:prstGeom>
          <a:solidFill>
            <a:srgbClr val="9E22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 name="Imagem 7">
            <a:extLst>
              <a:ext uri="{FF2B5EF4-FFF2-40B4-BE49-F238E27FC236}">
                <a16:creationId xmlns:a16="http://schemas.microsoft.com/office/drawing/2014/main" id="{55CA91AA-A108-4071-B0A7-0374C74EDA09}"/>
              </a:ext>
            </a:extLst>
          </p:cNvPr>
          <p:cNvPicPr>
            <a:picLocks noChangeAspect="1"/>
          </p:cNvPicPr>
          <p:nvPr/>
        </p:nvPicPr>
        <p:blipFill>
          <a:blip r:embed="rId3"/>
          <a:stretch>
            <a:fillRect/>
          </a:stretch>
        </p:blipFill>
        <p:spPr>
          <a:xfrm>
            <a:off x="-124691" y="-20995"/>
            <a:ext cx="12316692" cy="88042"/>
          </a:xfrm>
          <a:prstGeom prst="rect">
            <a:avLst/>
          </a:prstGeom>
        </p:spPr>
      </p:pic>
      <p:sp>
        <p:nvSpPr>
          <p:cNvPr id="18" name="Título 1">
            <a:extLst>
              <a:ext uri="{FF2B5EF4-FFF2-40B4-BE49-F238E27FC236}">
                <a16:creationId xmlns:a16="http://schemas.microsoft.com/office/drawing/2014/main" id="{9BC75932-B40A-460F-B242-8264BFE06926}"/>
              </a:ext>
            </a:extLst>
          </p:cNvPr>
          <p:cNvSpPr txBox="1">
            <a:spLocks/>
          </p:cNvSpPr>
          <p:nvPr/>
        </p:nvSpPr>
        <p:spPr>
          <a:xfrm>
            <a:off x="1366068" y="448718"/>
            <a:ext cx="6453099"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spc="600" dirty="0">
                <a:solidFill>
                  <a:srgbClr val="0B5892"/>
                </a:solidFill>
                <a:latin typeface="Arial" panose="020B0604020202020204" pitchFamily="34" charset="0"/>
                <a:cs typeface="Arial" panose="020B0604020202020204" pitchFamily="34" charset="0"/>
              </a:rPr>
              <a:t>VISÃO GERAL DO CANAL</a:t>
            </a:r>
          </a:p>
        </p:txBody>
      </p:sp>
      <p:sp>
        <p:nvSpPr>
          <p:cNvPr id="19" name="Título 1">
            <a:extLst>
              <a:ext uri="{FF2B5EF4-FFF2-40B4-BE49-F238E27FC236}">
                <a16:creationId xmlns:a16="http://schemas.microsoft.com/office/drawing/2014/main" id="{CB92D9AB-3FEB-47AD-8015-DD30B5F902CE}"/>
              </a:ext>
            </a:extLst>
          </p:cNvPr>
          <p:cNvSpPr txBox="1">
            <a:spLocks/>
          </p:cNvSpPr>
          <p:nvPr/>
        </p:nvSpPr>
        <p:spPr>
          <a:xfrm>
            <a:off x="1400358" y="716411"/>
            <a:ext cx="6950456"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600" spc="300" dirty="0">
                <a:solidFill>
                  <a:srgbClr val="0B5892"/>
                </a:solidFill>
                <a:latin typeface="Arial" panose="020B0604020202020204" pitchFamily="34" charset="0"/>
                <a:cs typeface="Arial" panose="020B0604020202020204" pitchFamily="34" charset="0"/>
              </a:rPr>
              <a:t>Quantidade total de monitorias realizadas</a:t>
            </a:r>
          </a:p>
        </p:txBody>
      </p:sp>
      <p:cxnSp>
        <p:nvCxnSpPr>
          <p:cNvPr id="25" name="Conector reto 24">
            <a:extLst>
              <a:ext uri="{FF2B5EF4-FFF2-40B4-BE49-F238E27FC236}">
                <a16:creationId xmlns:a16="http://schemas.microsoft.com/office/drawing/2014/main" id="{C6F5D155-7AE8-4277-A61A-2EF88BF2DADC}"/>
              </a:ext>
            </a:extLst>
          </p:cNvPr>
          <p:cNvCxnSpPr/>
          <p:nvPr/>
        </p:nvCxnSpPr>
        <p:spPr>
          <a:xfrm>
            <a:off x="725988" y="1185955"/>
            <a:ext cx="9855200" cy="0"/>
          </a:xfrm>
          <a:prstGeom prst="line">
            <a:avLst/>
          </a:prstGeom>
          <a:ln>
            <a:solidFill>
              <a:srgbClr val="0B5892"/>
            </a:solidFill>
          </a:ln>
        </p:spPr>
        <p:style>
          <a:lnRef idx="1">
            <a:schemeClr val="accent1"/>
          </a:lnRef>
          <a:fillRef idx="0">
            <a:schemeClr val="accent1"/>
          </a:fillRef>
          <a:effectRef idx="0">
            <a:schemeClr val="accent1"/>
          </a:effectRef>
          <a:fontRef idx="minor">
            <a:schemeClr val="tx1"/>
          </a:fontRef>
        </p:style>
      </p:cxnSp>
      <p:sp>
        <p:nvSpPr>
          <p:cNvPr id="26" name="Retângulo: Cantos Arredondados 25">
            <a:extLst>
              <a:ext uri="{FF2B5EF4-FFF2-40B4-BE49-F238E27FC236}">
                <a16:creationId xmlns:a16="http://schemas.microsoft.com/office/drawing/2014/main" id="{D6CE0130-151A-4297-A436-4220E143FB10}"/>
              </a:ext>
            </a:extLst>
          </p:cNvPr>
          <p:cNvSpPr/>
          <p:nvPr/>
        </p:nvSpPr>
        <p:spPr>
          <a:xfrm>
            <a:off x="841448" y="1871341"/>
            <a:ext cx="4814164" cy="1752907"/>
          </a:xfrm>
          <a:prstGeom prst="roundRect">
            <a:avLst/>
          </a:prstGeom>
          <a:solidFill>
            <a:schemeClr val="bg1">
              <a:alpha val="76000"/>
            </a:schemeClr>
          </a:solidFill>
          <a:ln>
            <a:noFill/>
          </a:ln>
          <a:effectLst>
            <a:outerShdw blurRad="177800" dist="38100" dir="5400000" sx="107000" sy="107000" algn="t" rotWithShape="0">
              <a:prstClr val="black">
                <a:alpha val="1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7" name="Retângulo: Cantos Arredondados 26">
            <a:extLst>
              <a:ext uri="{FF2B5EF4-FFF2-40B4-BE49-F238E27FC236}">
                <a16:creationId xmlns:a16="http://schemas.microsoft.com/office/drawing/2014/main" id="{7BB5200E-D583-4DFF-A3A0-F34072602F9F}"/>
              </a:ext>
            </a:extLst>
          </p:cNvPr>
          <p:cNvSpPr/>
          <p:nvPr/>
        </p:nvSpPr>
        <p:spPr>
          <a:xfrm>
            <a:off x="887169" y="1871342"/>
            <a:ext cx="4814164" cy="1752907"/>
          </a:xfrm>
          <a:prstGeom prst="roundRect">
            <a:avLst/>
          </a:prstGeom>
          <a:solidFill>
            <a:schemeClr val="bg1"/>
          </a:solidFill>
          <a:ln>
            <a:noFill/>
          </a:ln>
          <a:effectLst>
            <a:outerShdw dist="101600" dir="10740000" algn="t" rotWithShape="0">
              <a:srgbClr val="9E2289"/>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0" name="CaixaDeTexto 29">
            <a:extLst>
              <a:ext uri="{FF2B5EF4-FFF2-40B4-BE49-F238E27FC236}">
                <a16:creationId xmlns:a16="http://schemas.microsoft.com/office/drawing/2014/main" id="{3F7528B4-88F4-468A-8E7C-E472BD29EE3C}"/>
              </a:ext>
            </a:extLst>
          </p:cNvPr>
          <p:cNvSpPr txBox="1"/>
          <p:nvPr/>
        </p:nvSpPr>
        <p:spPr>
          <a:xfrm>
            <a:off x="1219240" y="2138440"/>
            <a:ext cx="3758268" cy="276999"/>
          </a:xfrm>
          <a:prstGeom prst="rect">
            <a:avLst/>
          </a:prstGeom>
          <a:noFill/>
        </p:spPr>
        <p:txBody>
          <a:bodyPr wrap="square" rtlCol="0">
            <a:spAutoFit/>
          </a:bodyPr>
          <a:lstStyle/>
          <a:p>
            <a:r>
              <a:rPr lang="pt-BR" sz="1200" b="1" dirty="0">
                <a:solidFill>
                  <a:schemeClr val="tx1">
                    <a:lumMod val="50000"/>
                    <a:lumOff val="50000"/>
                  </a:schemeClr>
                </a:solidFill>
                <a:latin typeface="Arial" panose="020B0604020202020204" pitchFamily="34" charset="0"/>
                <a:cs typeface="Arial" panose="020B0604020202020204" pitchFamily="34" charset="0"/>
              </a:rPr>
              <a:t>Volume de Monitorias </a:t>
            </a:r>
          </a:p>
        </p:txBody>
      </p:sp>
      <p:sp>
        <p:nvSpPr>
          <p:cNvPr id="31" name="CaixaDeTexto 30">
            <a:extLst>
              <a:ext uri="{FF2B5EF4-FFF2-40B4-BE49-F238E27FC236}">
                <a16:creationId xmlns:a16="http://schemas.microsoft.com/office/drawing/2014/main" id="{C04A5897-BEF2-4BD8-BE02-EA3E5D4A80D1}"/>
              </a:ext>
            </a:extLst>
          </p:cNvPr>
          <p:cNvSpPr txBox="1"/>
          <p:nvPr/>
        </p:nvSpPr>
        <p:spPr>
          <a:xfrm>
            <a:off x="1203770" y="2288968"/>
            <a:ext cx="1838183" cy="1107996"/>
          </a:xfrm>
          <a:prstGeom prst="rect">
            <a:avLst/>
          </a:prstGeom>
          <a:noFill/>
        </p:spPr>
        <p:txBody>
          <a:bodyPr wrap="square" rtlCol="0">
            <a:spAutoFit/>
          </a:bodyPr>
          <a:lstStyle/>
          <a:p>
            <a:r>
              <a:rPr lang="pt-BR" sz="6600" b="1" dirty="0">
                <a:solidFill>
                  <a:schemeClr val="tx1">
                    <a:lumMod val="50000"/>
                    <a:lumOff val="50000"/>
                  </a:schemeClr>
                </a:solidFill>
                <a:latin typeface="Arial" panose="020B0604020202020204" pitchFamily="34" charset="0"/>
                <a:cs typeface="Arial" panose="020B0604020202020204" pitchFamily="34" charset="0"/>
              </a:rPr>
              <a:t>188</a:t>
            </a:r>
          </a:p>
        </p:txBody>
      </p:sp>
      <p:sp>
        <p:nvSpPr>
          <p:cNvPr id="32" name="Google Shape;2081;p50">
            <a:extLst>
              <a:ext uri="{FF2B5EF4-FFF2-40B4-BE49-F238E27FC236}">
                <a16:creationId xmlns:a16="http://schemas.microsoft.com/office/drawing/2014/main" id="{BCBB39BF-ABF4-4D46-A5A2-ED525A956FBF}"/>
              </a:ext>
            </a:extLst>
          </p:cNvPr>
          <p:cNvSpPr/>
          <p:nvPr/>
        </p:nvSpPr>
        <p:spPr>
          <a:xfrm>
            <a:off x="5059638" y="2057858"/>
            <a:ext cx="192116" cy="240512"/>
          </a:xfrm>
          <a:custGeom>
            <a:avLst/>
            <a:gdLst/>
            <a:ahLst/>
            <a:cxnLst/>
            <a:rect l="l" t="t" r="r" b="b"/>
            <a:pathLst>
              <a:path w="7240" h="11467" extrusionOk="0">
                <a:moveTo>
                  <a:pt x="1048" y="346"/>
                </a:moveTo>
                <a:cubicBezTo>
                  <a:pt x="1156" y="346"/>
                  <a:pt x="1239" y="441"/>
                  <a:pt x="1239" y="537"/>
                </a:cubicBezTo>
                <a:cubicBezTo>
                  <a:pt x="1239" y="644"/>
                  <a:pt x="1156" y="727"/>
                  <a:pt x="1048" y="727"/>
                </a:cubicBezTo>
                <a:cubicBezTo>
                  <a:pt x="941" y="727"/>
                  <a:pt x="858" y="644"/>
                  <a:pt x="858" y="537"/>
                </a:cubicBezTo>
                <a:cubicBezTo>
                  <a:pt x="858" y="429"/>
                  <a:pt x="941" y="346"/>
                  <a:pt x="1048" y="346"/>
                </a:cubicBezTo>
                <a:close/>
                <a:moveTo>
                  <a:pt x="3549" y="1203"/>
                </a:moveTo>
                <a:lnTo>
                  <a:pt x="3906" y="1453"/>
                </a:lnTo>
                <a:lnTo>
                  <a:pt x="3549" y="1453"/>
                </a:lnTo>
                <a:lnTo>
                  <a:pt x="3549" y="1203"/>
                </a:lnTo>
                <a:close/>
                <a:moveTo>
                  <a:pt x="6883" y="1060"/>
                </a:moveTo>
                <a:lnTo>
                  <a:pt x="6883" y="1072"/>
                </a:lnTo>
                <a:lnTo>
                  <a:pt x="6097" y="2799"/>
                </a:lnTo>
                <a:cubicBezTo>
                  <a:pt x="6085" y="2846"/>
                  <a:pt x="6085" y="2894"/>
                  <a:pt x="6097" y="2942"/>
                </a:cubicBezTo>
                <a:lnTo>
                  <a:pt x="6883" y="4680"/>
                </a:lnTo>
                <a:lnTo>
                  <a:pt x="4620" y="4680"/>
                </a:lnTo>
                <a:lnTo>
                  <a:pt x="4620" y="1608"/>
                </a:lnTo>
                <a:cubicBezTo>
                  <a:pt x="4620" y="1549"/>
                  <a:pt x="4597" y="1501"/>
                  <a:pt x="4549" y="1477"/>
                </a:cubicBezTo>
                <a:lnTo>
                  <a:pt x="3942" y="1060"/>
                </a:lnTo>
                <a:close/>
                <a:moveTo>
                  <a:pt x="6883" y="4680"/>
                </a:moveTo>
                <a:cubicBezTo>
                  <a:pt x="6883" y="4686"/>
                  <a:pt x="6880" y="4689"/>
                  <a:pt x="6878" y="4689"/>
                </a:cubicBezTo>
                <a:cubicBezTo>
                  <a:pt x="6877" y="4689"/>
                  <a:pt x="6877" y="4686"/>
                  <a:pt x="6883" y="4680"/>
                </a:cubicBezTo>
                <a:close/>
                <a:moveTo>
                  <a:pt x="4299" y="1787"/>
                </a:moveTo>
                <a:lnTo>
                  <a:pt x="4299" y="5394"/>
                </a:lnTo>
                <a:lnTo>
                  <a:pt x="1941" y="5406"/>
                </a:lnTo>
                <a:lnTo>
                  <a:pt x="1941" y="2692"/>
                </a:lnTo>
                <a:cubicBezTo>
                  <a:pt x="1941" y="2608"/>
                  <a:pt x="1870" y="2537"/>
                  <a:pt x="1787" y="2537"/>
                </a:cubicBezTo>
                <a:cubicBezTo>
                  <a:pt x="1691" y="2537"/>
                  <a:pt x="1620" y="2608"/>
                  <a:pt x="1620" y="2692"/>
                </a:cubicBezTo>
                <a:lnTo>
                  <a:pt x="1620" y="5406"/>
                </a:lnTo>
                <a:lnTo>
                  <a:pt x="1227" y="5406"/>
                </a:lnTo>
                <a:lnTo>
                  <a:pt x="1227" y="1787"/>
                </a:lnTo>
                <a:lnTo>
                  <a:pt x="1620" y="1787"/>
                </a:lnTo>
                <a:lnTo>
                  <a:pt x="1620" y="1989"/>
                </a:lnTo>
                <a:cubicBezTo>
                  <a:pt x="1620" y="2072"/>
                  <a:pt x="1691" y="2144"/>
                  <a:pt x="1787" y="2144"/>
                </a:cubicBezTo>
                <a:cubicBezTo>
                  <a:pt x="1870" y="2144"/>
                  <a:pt x="1941" y="2072"/>
                  <a:pt x="1941" y="1989"/>
                </a:cubicBezTo>
                <a:lnTo>
                  <a:pt x="1941" y="1787"/>
                </a:lnTo>
                <a:close/>
                <a:moveTo>
                  <a:pt x="1584" y="10764"/>
                </a:moveTo>
                <a:cubicBezTo>
                  <a:pt x="1691" y="10764"/>
                  <a:pt x="1787" y="10859"/>
                  <a:pt x="1787" y="10954"/>
                </a:cubicBezTo>
                <a:lnTo>
                  <a:pt x="1787" y="11145"/>
                </a:lnTo>
                <a:lnTo>
                  <a:pt x="322" y="11145"/>
                </a:lnTo>
                <a:lnTo>
                  <a:pt x="322" y="10954"/>
                </a:lnTo>
                <a:cubicBezTo>
                  <a:pt x="322" y="10847"/>
                  <a:pt x="417" y="10764"/>
                  <a:pt x="513" y="10764"/>
                </a:cubicBezTo>
                <a:close/>
                <a:moveTo>
                  <a:pt x="1048" y="1"/>
                </a:moveTo>
                <a:cubicBezTo>
                  <a:pt x="775" y="1"/>
                  <a:pt x="536" y="239"/>
                  <a:pt x="536" y="525"/>
                </a:cubicBezTo>
                <a:cubicBezTo>
                  <a:pt x="536" y="763"/>
                  <a:pt x="679" y="953"/>
                  <a:pt x="894" y="1037"/>
                </a:cubicBezTo>
                <a:lnTo>
                  <a:pt x="894" y="10419"/>
                </a:lnTo>
                <a:lnTo>
                  <a:pt x="513" y="10419"/>
                </a:lnTo>
                <a:cubicBezTo>
                  <a:pt x="215" y="10419"/>
                  <a:pt x="1" y="10657"/>
                  <a:pt x="1" y="10943"/>
                </a:cubicBezTo>
                <a:lnTo>
                  <a:pt x="1" y="11300"/>
                </a:lnTo>
                <a:cubicBezTo>
                  <a:pt x="1" y="11395"/>
                  <a:pt x="72" y="11466"/>
                  <a:pt x="155" y="11466"/>
                </a:cubicBezTo>
                <a:lnTo>
                  <a:pt x="1965" y="11466"/>
                </a:lnTo>
                <a:cubicBezTo>
                  <a:pt x="2049" y="11466"/>
                  <a:pt x="2120" y="11395"/>
                  <a:pt x="2120" y="11300"/>
                </a:cubicBezTo>
                <a:lnTo>
                  <a:pt x="2120" y="10943"/>
                </a:lnTo>
                <a:cubicBezTo>
                  <a:pt x="2120" y="10645"/>
                  <a:pt x="1882" y="10419"/>
                  <a:pt x="1608" y="10419"/>
                </a:cubicBezTo>
                <a:lnTo>
                  <a:pt x="1227" y="10419"/>
                </a:lnTo>
                <a:lnTo>
                  <a:pt x="1227" y="5740"/>
                </a:lnTo>
                <a:lnTo>
                  <a:pt x="4299" y="5740"/>
                </a:lnTo>
                <a:cubicBezTo>
                  <a:pt x="4489" y="5740"/>
                  <a:pt x="4632" y="5585"/>
                  <a:pt x="4632" y="5394"/>
                </a:cubicBezTo>
                <a:lnTo>
                  <a:pt x="4632" y="5025"/>
                </a:lnTo>
                <a:lnTo>
                  <a:pt x="6883" y="5025"/>
                </a:lnTo>
                <a:cubicBezTo>
                  <a:pt x="7002" y="5025"/>
                  <a:pt x="7109" y="4966"/>
                  <a:pt x="7180" y="4859"/>
                </a:cubicBezTo>
                <a:cubicBezTo>
                  <a:pt x="7228" y="4763"/>
                  <a:pt x="7240" y="4632"/>
                  <a:pt x="7180" y="4525"/>
                </a:cubicBezTo>
                <a:lnTo>
                  <a:pt x="6442" y="2882"/>
                </a:lnTo>
                <a:lnTo>
                  <a:pt x="7180" y="1227"/>
                </a:lnTo>
                <a:cubicBezTo>
                  <a:pt x="7228" y="1120"/>
                  <a:pt x="7228" y="989"/>
                  <a:pt x="7156" y="894"/>
                </a:cubicBezTo>
                <a:cubicBezTo>
                  <a:pt x="7097" y="787"/>
                  <a:pt x="6978" y="727"/>
                  <a:pt x="6859" y="727"/>
                </a:cubicBezTo>
                <a:lnTo>
                  <a:pt x="3358" y="727"/>
                </a:lnTo>
                <a:cubicBezTo>
                  <a:pt x="3275" y="727"/>
                  <a:pt x="3192" y="810"/>
                  <a:pt x="3192" y="894"/>
                </a:cubicBezTo>
                <a:lnTo>
                  <a:pt x="3192" y="1453"/>
                </a:lnTo>
                <a:lnTo>
                  <a:pt x="1215" y="1453"/>
                </a:lnTo>
                <a:lnTo>
                  <a:pt x="1215" y="1037"/>
                </a:lnTo>
                <a:cubicBezTo>
                  <a:pt x="1429" y="953"/>
                  <a:pt x="1572" y="763"/>
                  <a:pt x="1572" y="525"/>
                </a:cubicBezTo>
                <a:cubicBezTo>
                  <a:pt x="1572" y="227"/>
                  <a:pt x="1334" y="1"/>
                  <a:pt x="1048" y="1"/>
                </a:cubicBezTo>
                <a:close/>
              </a:path>
            </a:pathLst>
          </a:custGeom>
          <a:solidFill>
            <a:schemeClr val="tx1">
              <a:lumMod val="85000"/>
              <a:lumOff val="1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CaixaDeTexto 32">
            <a:extLst>
              <a:ext uri="{FF2B5EF4-FFF2-40B4-BE49-F238E27FC236}">
                <a16:creationId xmlns:a16="http://schemas.microsoft.com/office/drawing/2014/main" id="{0CA63353-40AC-40B2-A5C2-734BB29F6637}"/>
              </a:ext>
            </a:extLst>
          </p:cNvPr>
          <p:cNvSpPr txBox="1"/>
          <p:nvPr/>
        </p:nvSpPr>
        <p:spPr>
          <a:xfrm>
            <a:off x="1207029" y="3208877"/>
            <a:ext cx="3953866" cy="246221"/>
          </a:xfrm>
          <a:prstGeom prst="rect">
            <a:avLst/>
          </a:prstGeom>
          <a:noFill/>
        </p:spPr>
        <p:txBody>
          <a:bodyPr wrap="square" rtlCol="0">
            <a:spAutoFit/>
          </a:bodyPr>
          <a:lstStyle/>
          <a:p>
            <a:r>
              <a:rPr lang="pt-BR" sz="1000" b="1" dirty="0">
                <a:solidFill>
                  <a:schemeClr val="tx1">
                    <a:lumMod val="50000"/>
                    <a:lumOff val="50000"/>
                  </a:schemeClr>
                </a:solidFill>
                <a:latin typeface="Arial" panose="020B0604020202020204" pitchFamily="34" charset="0"/>
                <a:cs typeface="Arial" panose="020B0604020202020204" pitchFamily="34" charset="0"/>
              </a:rPr>
              <a:t>(Qualidade + Operação)</a:t>
            </a:r>
          </a:p>
        </p:txBody>
      </p:sp>
      <p:sp>
        <p:nvSpPr>
          <p:cNvPr id="36" name="CaixaDeTexto 35">
            <a:extLst>
              <a:ext uri="{FF2B5EF4-FFF2-40B4-BE49-F238E27FC236}">
                <a16:creationId xmlns:a16="http://schemas.microsoft.com/office/drawing/2014/main" id="{5A9E22E9-AA98-4B42-8F8D-6BE3DA249752}"/>
              </a:ext>
            </a:extLst>
          </p:cNvPr>
          <p:cNvSpPr txBox="1"/>
          <p:nvPr/>
        </p:nvSpPr>
        <p:spPr>
          <a:xfrm>
            <a:off x="6512383" y="2047000"/>
            <a:ext cx="1811109" cy="276999"/>
          </a:xfrm>
          <a:prstGeom prst="rect">
            <a:avLst/>
          </a:prstGeom>
          <a:noFill/>
        </p:spPr>
        <p:txBody>
          <a:bodyPr wrap="square" rtlCol="0">
            <a:spAutoFit/>
          </a:bodyPr>
          <a:lstStyle/>
          <a:p>
            <a:r>
              <a:rPr lang="pt-BR" sz="1200" b="1" dirty="0">
                <a:solidFill>
                  <a:schemeClr val="tx1">
                    <a:lumMod val="50000"/>
                    <a:lumOff val="50000"/>
                  </a:schemeClr>
                </a:solidFill>
                <a:latin typeface="Arial" panose="020B0604020202020204" pitchFamily="34" charset="0"/>
                <a:cs typeface="Arial" panose="020B0604020202020204" pitchFamily="34" charset="0"/>
              </a:rPr>
              <a:t>Média Do Mês</a:t>
            </a:r>
          </a:p>
        </p:txBody>
      </p:sp>
      <p:sp>
        <p:nvSpPr>
          <p:cNvPr id="37" name="CaixaDeTexto 36">
            <a:extLst>
              <a:ext uri="{FF2B5EF4-FFF2-40B4-BE49-F238E27FC236}">
                <a16:creationId xmlns:a16="http://schemas.microsoft.com/office/drawing/2014/main" id="{CD33852A-A47C-4576-9C4A-3C972DD40094}"/>
              </a:ext>
            </a:extLst>
          </p:cNvPr>
          <p:cNvSpPr txBox="1"/>
          <p:nvPr/>
        </p:nvSpPr>
        <p:spPr>
          <a:xfrm>
            <a:off x="6428480" y="2312008"/>
            <a:ext cx="3160305" cy="1015663"/>
          </a:xfrm>
          <a:prstGeom prst="rect">
            <a:avLst/>
          </a:prstGeom>
          <a:noFill/>
        </p:spPr>
        <p:txBody>
          <a:bodyPr wrap="square" rtlCol="0">
            <a:spAutoFit/>
          </a:bodyPr>
          <a:lstStyle/>
          <a:p>
            <a:r>
              <a:rPr lang="pt-BR" sz="6000" b="1" dirty="0">
                <a:solidFill>
                  <a:schemeClr val="tx1">
                    <a:lumMod val="50000"/>
                    <a:lumOff val="50000"/>
                  </a:schemeClr>
                </a:solidFill>
                <a:latin typeface="Arial" panose="020B0604020202020204" pitchFamily="34" charset="0"/>
                <a:cs typeface="Arial" panose="020B0604020202020204" pitchFamily="34" charset="0"/>
              </a:rPr>
              <a:t>76,41</a:t>
            </a:r>
          </a:p>
        </p:txBody>
      </p:sp>
      <p:sp>
        <p:nvSpPr>
          <p:cNvPr id="40" name="CaixaDeTexto 39">
            <a:extLst>
              <a:ext uri="{FF2B5EF4-FFF2-40B4-BE49-F238E27FC236}">
                <a16:creationId xmlns:a16="http://schemas.microsoft.com/office/drawing/2014/main" id="{C31C7B74-2118-4CDD-B0D0-DE1F77107782}"/>
              </a:ext>
            </a:extLst>
          </p:cNvPr>
          <p:cNvSpPr txBox="1"/>
          <p:nvPr/>
        </p:nvSpPr>
        <p:spPr>
          <a:xfrm>
            <a:off x="6502087" y="3281397"/>
            <a:ext cx="1727871" cy="246221"/>
          </a:xfrm>
          <a:prstGeom prst="rect">
            <a:avLst/>
          </a:prstGeom>
          <a:noFill/>
        </p:spPr>
        <p:txBody>
          <a:bodyPr wrap="square" rtlCol="0">
            <a:spAutoFit/>
          </a:bodyPr>
          <a:lstStyle/>
          <a:p>
            <a:r>
              <a:rPr lang="pt-BR" sz="1000" b="1" dirty="0">
                <a:solidFill>
                  <a:schemeClr val="tx1">
                    <a:lumMod val="50000"/>
                    <a:lumOff val="50000"/>
                  </a:schemeClr>
                </a:solidFill>
                <a:latin typeface="Arial" panose="020B0604020202020204" pitchFamily="34" charset="0"/>
                <a:cs typeface="Arial" panose="020B0604020202020204" pitchFamily="34" charset="0"/>
              </a:rPr>
              <a:t>(Qualidade + Operação)</a:t>
            </a:r>
          </a:p>
        </p:txBody>
      </p:sp>
      <p:grpSp>
        <p:nvGrpSpPr>
          <p:cNvPr id="41" name="Google Shape;2561;p51">
            <a:extLst>
              <a:ext uri="{FF2B5EF4-FFF2-40B4-BE49-F238E27FC236}">
                <a16:creationId xmlns:a16="http://schemas.microsoft.com/office/drawing/2014/main" id="{6FBEF20F-E903-44C4-881A-70AE6F8AEF33}"/>
              </a:ext>
            </a:extLst>
          </p:cNvPr>
          <p:cNvGrpSpPr/>
          <p:nvPr/>
        </p:nvGrpSpPr>
        <p:grpSpPr>
          <a:xfrm>
            <a:off x="10403127" y="2066258"/>
            <a:ext cx="230870" cy="230118"/>
            <a:chOff x="852385" y="1510916"/>
            <a:chExt cx="353145" cy="351998"/>
          </a:xfrm>
          <a:solidFill>
            <a:schemeClr val="tx1">
              <a:lumMod val="85000"/>
              <a:lumOff val="15000"/>
            </a:schemeClr>
          </a:solidFill>
        </p:grpSpPr>
        <p:sp>
          <p:nvSpPr>
            <p:cNvPr id="42" name="Google Shape;2562;p51">
              <a:extLst>
                <a:ext uri="{FF2B5EF4-FFF2-40B4-BE49-F238E27FC236}">
                  <a16:creationId xmlns:a16="http://schemas.microsoft.com/office/drawing/2014/main" id="{864D4EBC-4F20-4F03-B58B-E924ED9A2A8A}"/>
                </a:ext>
              </a:extLst>
            </p:cNvPr>
            <p:cNvSpPr/>
            <p:nvPr/>
          </p:nvSpPr>
          <p:spPr>
            <a:xfrm>
              <a:off x="852385" y="1510916"/>
              <a:ext cx="353145" cy="187785"/>
            </a:xfrm>
            <a:custGeom>
              <a:avLst/>
              <a:gdLst/>
              <a:ahLst/>
              <a:cxnLst/>
              <a:rect l="l" t="t" r="r" b="b"/>
              <a:pathLst>
                <a:path w="11086" h="5895" extrusionOk="0">
                  <a:moveTo>
                    <a:pt x="6145" y="334"/>
                  </a:moveTo>
                  <a:lnTo>
                    <a:pt x="6145" y="703"/>
                  </a:lnTo>
                  <a:lnTo>
                    <a:pt x="4942" y="703"/>
                  </a:lnTo>
                  <a:lnTo>
                    <a:pt x="4942" y="334"/>
                  </a:lnTo>
                  <a:close/>
                  <a:moveTo>
                    <a:pt x="10764" y="1025"/>
                  </a:moveTo>
                  <a:lnTo>
                    <a:pt x="10764" y="1596"/>
                  </a:lnTo>
                  <a:lnTo>
                    <a:pt x="346" y="1596"/>
                  </a:lnTo>
                  <a:lnTo>
                    <a:pt x="346" y="1025"/>
                  </a:lnTo>
                  <a:close/>
                  <a:moveTo>
                    <a:pt x="4775" y="1"/>
                  </a:moveTo>
                  <a:cubicBezTo>
                    <a:pt x="4692" y="1"/>
                    <a:pt x="4621" y="84"/>
                    <a:pt x="4621" y="167"/>
                  </a:cubicBezTo>
                  <a:lnTo>
                    <a:pt x="4621" y="703"/>
                  </a:lnTo>
                  <a:lnTo>
                    <a:pt x="168" y="703"/>
                  </a:lnTo>
                  <a:cubicBezTo>
                    <a:pt x="72" y="703"/>
                    <a:pt x="1" y="775"/>
                    <a:pt x="1" y="870"/>
                  </a:cubicBezTo>
                  <a:lnTo>
                    <a:pt x="1" y="1751"/>
                  </a:lnTo>
                  <a:cubicBezTo>
                    <a:pt x="1" y="1834"/>
                    <a:pt x="72" y="1906"/>
                    <a:pt x="168" y="1906"/>
                  </a:cubicBezTo>
                  <a:lnTo>
                    <a:pt x="656" y="1906"/>
                  </a:lnTo>
                  <a:lnTo>
                    <a:pt x="656" y="2620"/>
                  </a:lnTo>
                  <a:cubicBezTo>
                    <a:pt x="656" y="2715"/>
                    <a:pt x="727" y="2787"/>
                    <a:pt x="822" y="2787"/>
                  </a:cubicBezTo>
                  <a:cubicBezTo>
                    <a:pt x="906" y="2787"/>
                    <a:pt x="989" y="2715"/>
                    <a:pt x="989" y="2620"/>
                  </a:cubicBezTo>
                  <a:lnTo>
                    <a:pt x="989" y="1906"/>
                  </a:lnTo>
                  <a:lnTo>
                    <a:pt x="10109" y="1906"/>
                  </a:lnTo>
                  <a:lnTo>
                    <a:pt x="10109" y="5740"/>
                  </a:lnTo>
                  <a:cubicBezTo>
                    <a:pt x="10109" y="5823"/>
                    <a:pt x="10181" y="5894"/>
                    <a:pt x="10276" y="5894"/>
                  </a:cubicBezTo>
                  <a:cubicBezTo>
                    <a:pt x="10359" y="5894"/>
                    <a:pt x="10431" y="5823"/>
                    <a:pt x="10431" y="5740"/>
                  </a:cubicBezTo>
                  <a:lnTo>
                    <a:pt x="10431" y="1918"/>
                  </a:lnTo>
                  <a:lnTo>
                    <a:pt x="10931" y="1918"/>
                  </a:lnTo>
                  <a:cubicBezTo>
                    <a:pt x="11014" y="1918"/>
                    <a:pt x="11086" y="1846"/>
                    <a:pt x="11086" y="1763"/>
                  </a:cubicBezTo>
                  <a:lnTo>
                    <a:pt x="11086" y="882"/>
                  </a:lnTo>
                  <a:cubicBezTo>
                    <a:pt x="11086" y="775"/>
                    <a:pt x="11014" y="703"/>
                    <a:pt x="10931" y="703"/>
                  </a:cubicBezTo>
                  <a:lnTo>
                    <a:pt x="6478" y="703"/>
                  </a:lnTo>
                  <a:lnTo>
                    <a:pt x="6478" y="167"/>
                  </a:lnTo>
                  <a:cubicBezTo>
                    <a:pt x="6478" y="84"/>
                    <a:pt x="6406" y="1"/>
                    <a:pt x="631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563;p51">
              <a:extLst>
                <a:ext uri="{FF2B5EF4-FFF2-40B4-BE49-F238E27FC236}">
                  <a16:creationId xmlns:a16="http://schemas.microsoft.com/office/drawing/2014/main" id="{B6FB790E-6181-494B-8F66-47D168E05014}"/>
                </a:ext>
              </a:extLst>
            </p:cNvPr>
            <p:cNvSpPr/>
            <p:nvPr/>
          </p:nvSpPr>
          <p:spPr>
            <a:xfrm>
              <a:off x="852385" y="1609921"/>
              <a:ext cx="353145" cy="252992"/>
            </a:xfrm>
            <a:custGeom>
              <a:avLst/>
              <a:gdLst/>
              <a:ahLst/>
              <a:cxnLst/>
              <a:rect l="l" t="t" r="r" b="b"/>
              <a:pathLst>
                <a:path w="11086" h="7942" extrusionOk="0">
                  <a:moveTo>
                    <a:pt x="10764" y="4382"/>
                  </a:moveTo>
                  <a:lnTo>
                    <a:pt x="10764" y="4953"/>
                  </a:lnTo>
                  <a:lnTo>
                    <a:pt x="346" y="4953"/>
                  </a:lnTo>
                  <a:lnTo>
                    <a:pt x="346" y="4382"/>
                  </a:lnTo>
                  <a:close/>
                  <a:moveTo>
                    <a:pt x="6406" y="5275"/>
                  </a:moveTo>
                  <a:lnTo>
                    <a:pt x="6895" y="6168"/>
                  </a:lnTo>
                  <a:lnTo>
                    <a:pt x="4228" y="6168"/>
                  </a:lnTo>
                  <a:lnTo>
                    <a:pt x="4716" y="5275"/>
                  </a:lnTo>
                  <a:close/>
                  <a:moveTo>
                    <a:pt x="4335" y="5275"/>
                  </a:moveTo>
                  <a:lnTo>
                    <a:pt x="3049" y="7608"/>
                  </a:lnTo>
                  <a:lnTo>
                    <a:pt x="2573" y="7608"/>
                  </a:lnTo>
                  <a:lnTo>
                    <a:pt x="3859" y="5275"/>
                  </a:lnTo>
                  <a:close/>
                  <a:moveTo>
                    <a:pt x="7240" y="5275"/>
                  </a:moveTo>
                  <a:lnTo>
                    <a:pt x="8514" y="7608"/>
                  </a:lnTo>
                  <a:lnTo>
                    <a:pt x="8038" y="7608"/>
                  </a:lnTo>
                  <a:lnTo>
                    <a:pt x="6764" y="5275"/>
                  </a:lnTo>
                  <a:close/>
                  <a:moveTo>
                    <a:pt x="822" y="0"/>
                  </a:moveTo>
                  <a:cubicBezTo>
                    <a:pt x="727" y="0"/>
                    <a:pt x="656" y="84"/>
                    <a:pt x="656" y="167"/>
                  </a:cubicBezTo>
                  <a:lnTo>
                    <a:pt x="656" y="4072"/>
                  </a:lnTo>
                  <a:lnTo>
                    <a:pt x="168" y="4072"/>
                  </a:lnTo>
                  <a:cubicBezTo>
                    <a:pt x="72" y="4072"/>
                    <a:pt x="1" y="4144"/>
                    <a:pt x="1" y="4239"/>
                  </a:cubicBezTo>
                  <a:lnTo>
                    <a:pt x="1" y="5108"/>
                  </a:lnTo>
                  <a:cubicBezTo>
                    <a:pt x="1" y="5203"/>
                    <a:pt x="72" y="5275"/>
                    <a:pt x="168" y="5275"/>
                  </a:cubicBezTo>
                  <a:lnTo>
                    <a:pt x="3489" y="5275"/>
                  </a:lnTo>
                  <a:lnTo>
                    <a:pt x="2144" y="7704"/>
                  </a:lnTo>
                  <a:cubicBezTo>
                    <a:pt x="2120" y="7751"/>
                    <a:pt x="2120" y="7811"/>
                    <a:pt x="2144" y="7870"/>
                  </a:cubicBezTo>
                  <a:cubicBezTo>
                    <a:pt x="2180" y="7906"/>
                    <a:pt x="2239" y="7942"/>
                    <a:pt x="2275" y="7942"/>
                  </a:cubicBezTo>
                  <a:lnTo>
                    <a:pt x="3132" y="7942"/>
                  </a:lnTo>
                  <a:cubicBezTo>
                    <a:pt x="3192" y="7942"/>
                    <a:pt x="3251" y="7906"/>
                    <a:pt x="3275" y="7846"/>
                  </a:cubicBezTo>
                  <a:lnTo>
                    <a:pt x="3644" y="7168"/>
                  </a:lnTo>
                  <a:lnTo>
                    <a:pt x="4644" y="7168"/>
                  </a:lnTo>
                  <a:cubicBezTo>
                    <a:pt x="4728" y="7168"/>
                    <a:pt x="4811" y="7096"/>
                    <a:pt x="4811" y="7001"/>
                  </a:cubicBezTo>
                  <a:cubicBezTo>
                    <a:pt x="4811" y="6906"/>
                    <a:pt x="4728" y="6834"/>
                    <a:pt x="4644" y="6834"/>
                  </a:cubicBezTo>
                  <a:lnTo>
                    <a:pt x="3823" y="6834"/>
                  </a:lnTo>
                  <a:lnTo>
                    <a:pt x="4037" y="6465"/>
                  </a:lnTo>
                  <a:lnTo>
                    <a:pt x="7061" y="6465"/>
                  </a:lnTo>
                  <a:lnTo>
                    <a:pt x="7252" y="6834"/>
                  </a:lnTo>
                  <a:lnTo>
                    <a:pt x="5299" y="6834"/>
                  </a:lnTo>
                  <a:cubicBezTo>
                    <a:pt x="5216" y="6834"/>
                    <a:pt x="5133" y="6906"/>
                    <a:pt x="5133" y="7001"/>
                  </a:cubicBezTo>
                  <a:cubicBezTo>
                    <a:pt x="5133" y="7096"/>
                    <a:pt x="5216" y="7168"/>
                    <a:pt x="5299" y="7168"/>
                  </a:cubicBezTo>
                  <a:lnTo>
                    <a:pt x="7430" y="7168"/>
                  </a:lnTo>
                  <a:lnTo>
                    <a:pt x="7800" y="7846"/>
                  </a:lnTo>
                  <a:cubicBezTo>
                    <a:pt x="7835" y="7894"/>
                    <a:pt x="7895" y="7942"/>
                    <a:pt x="7954" y="7942"/>
                  </a:cubicBezTo>
                  <a:lnTo>
                    <a:pt x="8800" y="7942"/>
                  </a:lnTo>
                  <a:cubicBezTo>
                    <a:pt x="8859" y="7942"/>
                    <a:pt x="8907" y="7906"/>
                    <a:pt x="8931" y="7870"/>
                  </a:cubicBezTo>
                  <a:cubicBezTo>
                    <a:pt x="8966" y="7823"/>
                    <a:pt x="8966" y="7763"/>
                    <a:pt x="8931" y="7704"/>
                  </a:cubicBezTo>
                  <a:lnTo>
                    <a:pt x="7597" y="5275"/>
                  </a:lnTo>
                  <a:lnTo>
                    <a:pt x="10931" y="5275"/>
                  </a:lnTo>
                  <a:cubicBezTo>
                    <a:pt x="11014" y="5275"/>
                    <a:pt x="11086" y="5203"/>
                    <a:pt x="11086" y="5108"/>
                  </a:cubicBezTo>
                  <a:lnTo>
                    <a:pt x="11086" y="4239"/>
                  </a:lnTo>
                  <a:cubicBezTo>
                    <a:pt x="11086" y="4144"/>
                    <a:pt x="11014" y="4072"/>
                    <a:pt x="10931" y="4072"/>
                  </a:cubicBezTo>
                  <a:lnTo>
                    <a:pt x="10431" y="4072"/>
                  </a:lnTo>
                  <a:lnTo>
                    <a:pt x="10431" y="3263"/>
                  </a:lnTo>
                  <a:cubicBezTo>
                    <a:pt x="10431" y="3179"/>
                    <a:pt x="10359" y="3108"/>
                    <a:pt x="10276" y="3108"/>
                  </a:cubicBezTo>
                  <a:cubicBezTo>
                    <a:pt x="10181" y="3108"/>
                    <a:pt x="10109" y="3179"/>
                    <a:pt x="10109" y="3263"/>
                  </a:cubicBezTo>
                  <a:lnTo>
                    <a:pt x="10109" y="4072"/>
                  </a:lnTo>
                  <a:lnTo>
                    <a:pt x="989" y="4072"/>
                  </a:lnTo>
                  <a:lnTo>
                    <a:pt x="989" y="167"/>
                  </a:lnTo>
                  <a:cubicBezTo>
                    <a:pt x="989" y="84"/>
                    <a:pt x="906" y="0"/>
                    <a:pt x="82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564;p51">
              <a:extLst>
                <a:ext uri="{FF2B5EF4-FFF2-40B4-BE49-F238E27FC236}">
                  <a16:creationId xmlns:a16="http://schemas.microsoft.com/office/drawing/2014/main" id="{099484A7-C227-4045-819C-75C2F7C47320}"/>
                </a:ext>
              </a:extLst>
            </p:cNvPr>
            <p:cNvSpPr/>
            <p:nvPr/>
          </p:nvSpPr>
          <p:spPr>
            <a:xfrm>
              <a:off x="928264" y="1584501"/>
              <a:ext cx="198775" cy="140735"/>
            </a:xfrm>
            <a:custGeom>
              <a:avLst/>
              <a:gdLst/>
              <a:ahLst/>
              <a:cxnLst/>
              <a:rect l="l" t="t" r="r" b="b"/>
              <a:pathLst>
                <a:path w="6240" h="4418" extrusionOk="0">
                  <a:moveTo>
                    <a:pt x="5608" y="322"/>
                  </a:moveTo>
                  <a:cubicBezTo>
                    <a:pt x="5787" y="322"/>
                    <a:pt x="5929" y="465"/>
                    <a:pt x="5929" y="643"/>
                  </a:cubicBezTo>
                  <a:cubicBezTo>
                    <a:pt x="5929" y="798"/>
                    <a:pt x="5775" y="953"/>
                    <a:pt x="5608" y="953"/>
                  </a:cubicBezTo>
                  <a:cubicBezTo>
                    <a:pt x="5453" y="953"/>
                    <a:pt x="5298" y="822"/>
                    <a:pt x="5298" y="643"/>
                  </a:cubicBezTo>
                  <a:cubicBezTo>
                    <a:pt x="5298" y="477"/>
                    <a:pt x="5429" y="322"/>
                    <a:pt x="5608" y="322"/>
                  </a:cubicBezTo>
                  <a:close/>
                  <a:moveTo>
                    <a:pt x="2131" y="1334"/>
                  </a:moveTo>
                  <a:cubicBezTo>
                    <a:pt x="2310" y="1334"/>
                    <a:pt x="2441" y="1477"/>
                    <a:pt x="2441" y="1656"/>
                  </a:cubicBezTo>
                  <a:cubicBezTo>
                    <a:pt x="2441" y="1834"/>
                    <a:pt x="2310" y="1965"/>
                    <a:pt x="2131" y="1965"/>
                  </a:cubicBezTo>
                  <a:cubicBezTo>
                    <a:pt x="1965" y="1965"/>
                    <a:pt x="1822" y="1834"/>
                    <a:pt x="1822" y="1656"/>
                  </a:cubicBezTo>
                  <a:cubicBezTo>
                    <a:pt x="1822" y="1489"/>
                    <a:pt x="1953" y="1334"/>
                    <a:pt x="2131" y="1334"/>
                  </a:cubicBezTo>
                  <a:close/>
                  <a:moveTo>
                    <a:pt x="4036" y="2429"/>
                  </a:moveTo>
                  <a:cubicBezTo>
                    <a:pt x="4215" y="2429"/>
                    <a:pt x="4346" y="2560"/>
                    <a:pt x="4346" y="2739"/>
                  </a:cubicBezTo>
                  <a:cubicBezTo>
                    <a:pt x="4346" y="2918"/>
                    <a:pt x="4203" y="3049"/>
                    <a:pt x="4036" y="3049"/>
                  </a:cubicBezTo>
                  <a:cubicBezTo>
                    <a:pt x="3870" y="3049"/>
                    <a:pt x="3727" y="2918"/>
                    <a:pt x="3727" y="2739"/>
                  </a:cubicBezTo>
                  <a:cubicBezTo>
                    <a:pt x="3727" y="2572"/>
                    <a:pt x="3858" y="2429"/>
                    <a:pt x="4036" y="2429"/>
                  </a:cubicBezTo>
                  <a:close/>
                  <a:moveTo>
                    <a:pt x="595" y="3501"/>
                  </a:moveTo>
                  <a:cubicBezTo>
                    <a:pt x="774" y="3501"/>
                    <a:pt x="905" y="3632"/>
                    <a:pt x="905" y="3811"/>
                  </a:cubicBezTo>
                  <a:cubicBezTo>
                    <a:pt x="905" y="3989"/>
                    <a:pt x="762" y="4120"/>
                    <a:pt x="595" y="4120"/>
                  </a:cubicBezTo>
                  <a:cubicBezTo>
                    <a:pt x="429" y="4120"/>
                    <a:pt x="286" y="3989"/>
                    <a:pt x="286" y="3811"/>
                  </a:cubicBezTo>
                  <a:cubicBezTo>
                    <a:pt x="286" y="3644"/>
                    <a:pt x="417" y="3501"/>
                    <a:pt x="595" y="3501"/>
                  </a:cubicBezTo>
                  <a:close/>
                  <a:moveTo>
                    <a:pt x="5608" y="1"/>
                  </a:moveTo>
                  <a:cubicBezTo>
                    <a:pt x="5275" y="1"/>
                    <a:pt x="4989" y="286"/>
                    <a:pt x="4989" y="632"/>
                  </a:cubicBezTo>
                  <a:cubicBezTo>
                    <a:pt x="4989" y="786"/>
                    <a:pt x="5048" y="941"/>
                    <a:pt x="5156" y="1048"/>
                  </a:cubicBezTo>
                  <a:lnTo>
                    <a:pt x="4239" y="2132"/>
                  </a:lnTo>
                  <a:cubicBezTo>
                    <a:pt x="4179" y="2120"/>
                    <a:pt x="4108" y="2096"/>
                    <a:pt x="4048" y="2096"/>
                  </a:cubicBezTo>
                  <a:cubicBezTo>
                    <a:pt x="3858" y="2096"/>
                    <a:pt x="3679" y="2191"/>
                    <a:pt x="3560" y="2334"/>
                  </a:cubicBezTo>
                  <a:lnTo>
                    <a:pt x="2739" y="1882"/>
                  </a:lnTo>
                  <a:cubicBezTo>
                    <a:pt x="2774" y="1798"/>
                    <a:pt x="2786" y="1727"/>
                    <a:pt x="2786" y="1656"/>
                  </a:cubicBezTo>
                  <a:cubicBezTo>
                    <a:pt x="2786" y="1310"/>
                    <a:pt x="2500" y="1024"/>
                    <a:pt x="2155" y="1024"/>
                  </a:cubicBezTo>
                  <a:cubicBezTo>
                    <a:pt x="1822" y="1024"/>
                    <a:pt x="1536" y="1310"/>
                    <a:pt x="1536" y="1656"/>
                  </a:cubicBezTo>
                  <a:cubicBezTo>
                    <a:pt x="1536" y="1822"/>
                    <a:pt x="1596" y="1953"/>
                    <a:pt x="1703" y="2072"/>
                  </a:cubicBezTo>
                  <a:lnTo>
                    <a:pt x="834" y="3203"/>
                  </a:lnTo>
                  <a:cubicBezTo>
                    <a:pt x="774" y="3191"/>
                    <a:pt x="703" y="3168"/>
                    <a:pt x="631" y="3168"/>
                  </a:cubicBezTo>
                  <a:cubicBezTo>
                    <a:pt x="286" y="3168"/>
                    <a:pt x="0" y="3453"/>
                    <a:pt x="0" y="3799"/>
                  </a:cubicBezTo>
                  <a:cubicBezTo>
                    <a:pt x="0" y="4144"/>
                    <a:pt x="286" y="4418"/>
                    <a:pt x="631" y="4418"/>
                  </a:cubicBezTo>
                  <a:cubicBezTo>
                    <a:pt x="965" y="4418"/>
                    <a:pt x="1250" y="4144"/>
                    <a:pt x="1250" y="3799"/>
                  </a:cubicBezTo>
                  <a:cubicBezTo>
                    <a:pt x="1250" y="3632"/>
                    <a:pt x="1191" y="3501"/>
                    <a:pt x="1084" y="3382"/>
                  </a:cubicBezTo>
                  <a:lnTo>
                    <a:pt x="1953" y="2251"/>
                  </a:lnTo>
                  <a:cubicBezTo>
                    <a:pt x="2012" y="2263"/>
                    <a:pt x="2084" y="2275"/>
                    <a:pt x="2155" y="2275"/>
                  </a:cubicBezTo>
                  <a:cubicBezTo>
                    <a:pt x="2310" y="2275"/>
                    <a:pt x="2441" y="2215"/>
                    <a:pt x="2560" y="2144"/>
                  </a:cubicBezTo>
                  <a:lnTo>
                    <a:pt x="3441" y="2632"/>
                  </a:lnTo>
                  <a:cubicBezTo>
                    <a:pt x="3441" y="2668"/>
                    <a:pt x="3429" y="2691"/>
                    <a:pt x="3429" y="2739"/>
                  </a:cubicBezTo>
                  <a:cubicBezTo>
                    <a:pt x="3429" y="3084"/>
                    <a:pt x="3703" y="3370"/>
                    <a:pt x="4048" y="3370"/>
                  </a:cubicBezTo>
                  <a:cubicBezTo>
                    <a:pt x="4394" y="3370"/>
                    <a:pt x="4679" y="3084"/>
                    <a:pt x="4679" y="2739"/>
                  </a:cubicBezTo>
                  <a:cubicBezTo>
                    <a:pt x="4679" y="2572"/>
                    <a:pt x="4620" y="2429"/>
                    <a:pt x="4513" y="2322"/>
                  </a:cubicBezTo>
                  <a:lnTo>
                    <a:pt x="5418" y="1239"/>
                  </a:lnTo>
                  <a:cubicBezTo>
                    <a:pt x="5477" y="1251"/>
                    <a:pt x="5548" y="1263"/>
                    <a:pt x="5608" y="1263"/>
                  </a:cubicBezTo>
                  <a:cubicBezTo>
                    <a:pt x="5953" y="1263"/>
                    <a:pt x="6239" y="989"/>
                    <a:pt x="6239" y="643"/>
                  </a:cubicBezTo>
                  <a:cubicBezTo>
                    <a:pt x="6239" y="286"/>
                    <a:pt x="5953" y="1"/>
                    <a:pt x="560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CaixaDeTexto 46">
            <a:extLst>
              <a:ext uri="{FF2B5EF4-FFF2-40B4-BE49-F238E27FC236}">
                <a16:creationId xmlns:a16="http://schemas.microsoft.com/office/drawing/2014/main" id="{BF0E6FE5-B17A-42B9-9A44-DCF89B81043E}"/>
              </a:ext>
            </a:extLst>
          </p:cNvPr>
          <p:cNvSpPr txBox="1"/>
          <p:nvPr/>
        </p:nvSpPr>
        <p:spPr>
          <a:xfrm>
            <a:off x="4095356" y="3994387"/>
            <a:ext cx="2149223" cy="276999"/>
          </a:xfrm>
          <a:prstGeom prst="rect">
            <a:avLst/>
          </a:prstGeom>
          <a:noFill/>
        </p:spPr>
        <p:txBody>
          <a:bodyPr wrap="square" rtlCol="0">
            <a:spAutoFit/>
          </a:bodyPr>
          <a:lstStyle/>
          <a:p>
            <a:r>
              <a:rPr lang="pt-BR" sz="1200" b="1" dirty="0">
                <a:solidFill>
                  <a:schemeClr val="tx1">
                    <a:lumMod val="50000"/>
                    <a:lumOff val="50000"/>
                  </a:schemeClr>
                </a:solidFill>
                <a:latin typeface="Arial" panose="020B0604020202020204" pitchFamily="34" charset="0"/>
                <a:cs typeface="Arial" panose="020B0604020202020204" pitchFamily="34" charset="0"/>
              </a:rPr>
              <a:t>Volume de Feedback</a:t>
            </a:r>
          </a:p>
        </p:txBody>
      </p:sp>
      <p:sp>
        <p:nvSpPr>
          <p:cNvPr id="48" name="CaixaDeTexto 47">
            <a:extLst>
              <a:ext uri="{FF2B5EF4-FFF2-40B4-BE49-F238E27FC236}">
                <a16:creationId xmlns:a16="http://schemas.microsoft.com/office/drawing/2014/main" id="{FC6DA04E-F738-4A7B-BA80-252717B62CAA}"/>
              </a:ext>
            </a:extLst>
          </p:cNvPr>
          <p:cNvSpPr txBox="1"/>
          <p:nvPr/>
        </p:nvSpPr>
        <p:spPr>
          <a:xfrm>
            <a:off x="4096961" y="4178848"/>
            <a:ext cx="2508180" cy="1107996"/>
          </a:xfrm>
          <a:prstGeom prst="rect">
            <a:avLst/>
          </a:prstGeom>
          <a:noFill/>
        </p:spPr>
        <p:txBody>
          <a:bodyPr wrap="square" rtlCol="0">
            <a:spAutoFit/>
          </a:bodyPr>
          <a:lstStyle/>
          <a:p>
            <a:r>
              <a:rPr lang="pt-BR" sz="6600" b="1" dirty="0">
                <a:solidFill>
                  <a:schemeClr val="tx1">
                    <a:lumMod val="50000"/>
                    <a:lumOff val="50000"/>
                  </a:schemeClr>
                </a:solidFill>
                <a:latin typeface="Arial" panose="020B0604020202020204" pitchFamily="34" charset="0"/>
                <a:cs typeface="Arial" panose="020B0604020202020204" pitchFamily="34" charset="0"/>
              </a:rPr>
              <a:t>185</a:t>
            </a:r>
          </a:p>
        </p:txBody>
      </p:sp>
      <p:grpSp>
        <p:nvGrpSpPr>
          <p:cNvPr id="49" name="Google Shape;3637;p53">
            <a:extLst>
              <a:ext uri="{FF2B5EF4-FFF2-40B4-BE49-F238E27FC236}">
                <a16:creationId xmlns:a16="http://schemas.microsoft.com/office/drawing/2014/main" id="{5F55345F-DD7D-4D97-A22E-8C6A53D2CE13}"/>
              </a:ext>
            </a:extLst>
          </p:cNvPr>
          <p:cNvGrpSpPr/>
          <p:nvPr/>
        </p:nvGrpSpPr>
        <p:grpSpPr>
          <a:xfrm>
            <a:off x="7886034" y="4082366"/>
            <a:ext cx="286642" cy="288164"/>
            <a:chOff x="7098912" y="1969392"/>
            <a:chExt cx="359651" cy="361560"/>
          </a:xfrm>
          <a:solidFill>
            <a:schemeClr val="tx1">
              <a:lumMod val="85000"/>
              <a:lumOff val="15000"/>
            </a:schemeClr>
          </a:solidFill>
        </p:grpSpPr>
        <p:sp>
          <p:nvSpPr>
            <p:cNvPr id="50" name="Google Shape;3638;p53">
              <a:extLst>
                <a:ext uri="{FF2B5EF4-FFF2-40B4-BE49-F238E27FC236}">
                  <a16:creationId xmlns:a16="http://schemas.microsoft.com/office/drawing/2014/main" id="{6E792E51-DF81-4979-B773-F615C8DC120C}"/>
                </a:ext>
              </a:extLst>
            </p:cNvPr>
            <p:cNvSpPr/>
            <p:nvPr/>
          </p:nvSpPr>
          <p:spPr>
            <a:xfrm>
              <a:off x="7098912" y="2127607"/>
              <a:ext cx="134567" cy="202582"/>
            </a:xfrm>
            <a:custGeom>
              <a:avLst/>
              <a:gdLst/>
              <a:ahLst/>
              <a:cxnLst/>
              <a:rect l="l" t="t" r="r" b="b"/>
              <a:pathLst>
                <a:path w="4228" h="6365" extrusionOk="0">
                  <a:moveTo>
                    <a:pt x="2108" y="331"/>
                  </a:moveTo>
                  <a:cubicBezTo>
                    <a:pt x="2153" y="331"/>
                    <a:pt x="2198" y="334"/>
                    <a:pt x="2239" y="340"/>
                  </a:cubicBezTo>
                  <a:cubicBezTo>
                    <a:pt x="2978" y="399"/>
                    <a:pt x="3537" y="1042"/>
                    <a:pt x="3537" y="1780"/>
                  </a:cubicBezTo>
                  <a:cubicBezTo>
                    <a:pt x="3537" y="2483"/>
                    <a:pt x="3704" y="3138"/>
                    <a:pt x="3847" y="3483"/>
                  </a:cubicBezTo>
                  <a:lnTo>
                    <a:pt x="3847" y="3495"/>
                  </a:lnTo>
                  <a:cubicBezTo>
                    <a:pt x="3656" y="3602"/>
                    <a:pt x="3335" y="3793"/>
                    <a:pt x="2787" y="3912"/>
                  </a:cubicBezTo>
                  <a:lnTo>
                    <a:pt x="2787" y="3864"/>
                  </a:lnTo>
                  <a:lnTo>
                    <a:pt x="2787" y="3531"/>
                  </a:lnTo>
                  <a:cubicBezTo>
                    <a:pt x="3001" y="3412"/>
                    <a:pt x="3180" y="3233"/>
                    <a:pt x="3299" y="3007"/>
                  </a:cubicBezTo>
                  <a:cubicBezTo>
                    <a:pt x="3537" y="2590"/>
                    <a:pt x="3454" y="2066"/>
                    <a:pt x="3108" y="1745"/>
                  </a:cubicBezTo>
                  <a:cubicBezTo>
                    <a:pt x="2870" y="1518"/>
                    <a:pt x="2430" y="1245"/>
                    <a:pt x="1727" y="1245"/>
                  </a:cubicBezTo>
                  <a:cubicBezTo>
                    <a:pt x="1680" y="1245"/>
                    <a:pt x="1632" y="1268"/>
                    <a:pt x="1608" y="1292"/>
                  </a:cubicBezTo>
                  <a:lnTo>
                    <a:pt x="1251" y="1649"/>
                  </a:lnTo>
                  <a:cubicBezTo>
                    <a:pt x="1192" y="1709"/>
                    <a:pt x="1192" y="1816"/>
                    <a:pt x="1251" y="1888"/>
                  </a:cubicBezTo>
                  <a:cubicBezTo>
                    <a:pt x="1281" y="1917"/>
                    <a:pt x="1323" y="1932"/>
                    <a:pt x="1366" y="1932"/>
                  </a:cubicBezTo>
                  <a:cubicBezTo>
                    <a:pt x="1409" y="1932"/>
                    <a:pt x="1454" y="1917"/>
                    <a:pt x="1489" y="1888"/>
                  </a:cubicBezTo>
                  <a:lnTo>
                    <a:pt x="1799" y="1578"/>
                  </a:lnTo>
                  <a:cubicBezTo>
                    <a:pt x="2239" y="1590"/>
                    <a:pt x="2608" y="1721"/>
                    <a:pt x="2882" y="1983"/>
                  </a:cubicBezTo>
                  <a:cubicBezTo>
                    <a:pt x="3120" y="2185"/>
                    <a:pt x="3180" y="2542"/>
                    <a:pt x="3025" y="2828"/>
                  </a:cubicBezTo>
                  <a:cubicBezTo>
                    <a:pt x="2823" y="3173"/>
                    <a:pt x="2466" y="3376"/>
                    <a:pt x="2085" y="3376"/>
                  </a:cubicBezTo>
                  <a:cubicBezTo>
                    <a:pt x="1489" y="3376"/>
                    <a:pt x="1013" y="2900"/>
                    <a:pt x="1013" y="2304"/>
                  </a:cubicBezTo>
                  <a:cubicBezTo>
                    <a:pt x="1013" y="2209"/>
                    <a:pt x="942" y="2138"/>
                    <a:pt x="846" y="2138"/>
                  </a:cubicBezTo>
                  <a:cubicBezTo>
                    <a:pt x="763" y="2138"/>
                    <a:pt x="680" y="2209"/>
                    <a:pt x="680" y="2304"/>
                  </a:cubicBezTo>
                  <a:cubicBezTo>
                    <a:pt x="680" y="2828"/>
                    <a:pt x="965" y="3292"/>
                    <a:pt x="1394" y="3519"/>
                  </a:cubicBezTo>
                  <a:lnTo>
                    <a:pt x="1394" y="3852"/>
                  </a:lnTo>
                  <a:lnTo>
                    <a:pt x="1394" y="3900"/>
                  </a:lnTo>
                  <a:cubicBezTo>
                    <a:pt x="834" y="3781"/>
                    <a:pt x="501" y="3602"/>
                    <a:pt x="370" y="3495"/>
                  </a:cubicBezTo>
                  <a:cubicBezTo>
                    <a:pt x="370" y="3495"/>
                    <a:pt x="358" y="3495"/>
                    <a:pt x="370" y="3483"/>
                  </a:cubicBezTo>
                  <a:cubicBezTo>
                    <a:pt x="525" y="3138"/>
                    <a:pt x="680" y="2483"/>
                    <a:pt x="680" y="1780"/>
                  </a:cubicBezTo>
                  <a:cubicBezTo>
                    <a:pt x="680" y="1042"/>
                    <a:pt x="1251" y="399"/>
                    <a:pt x="1977" y="340"/>
                  </a:cubicBezTo>
                  <a:cubicBezTo>
                    <a:pt x="2019" y="334"/>
                    <a:pt x="2064" y="331"/>
                    <a:pt x="2108" y="331"/>
                  </a:cubicBezTo>
                  <a:close/>
                  <a:moveTo>
                    <a:pt x="2442" y="3662"/>
                  </a:moveTo>
                  <a:lnTo>
                    <a:pt x="2442" y="3852"/>
                  </a:lnTo>
                  <a:cubicBezTo>
                    <a:pt x="2442" y="4043"/>
                    <a:pt x="2549" y="4221"/>
                    <a:pt x="2727" y="4316"/>
                  </a:cubicBezTo>
                  <a:lnTo>
                    <a:pt x="2823" y="4376"/>
                  </a:lnTo>
                  <a:cubicBezTo>
                    <a:pt x="2680" y="4626"/>
                    <a:pt x="2382" y="4793"/>
                    <a:pt x="2073" y="4793"/>
                  </a:cubicBezTo>
                  <a:cubicBezTo>
                    <a:pt x="1751" y="4793"/>
                    <a:pt x="1477" y="4626"/>
                    <a:pt x="1311" y="4376"/>
                  </a:cubicBezTo>
                  <a:lnTo>
                    <a:pt x="1418" y="4316"/>
                  </a:lnTo>
                  <a:cubicBezTo>
                    <a:pt x="1596" y="4221"/>
                    <a:pt x="1692" y="4043"/>
                    <a:pt x="1692" y="3852"/>
                  </a:cubicBezTo>
                  <a:lnTo>
                    <a:pt x="1692" y="3662"/>
                  </a:lnTo>
                  <a:cubicBezTo>
                    <a:pt x="1811" y="3685"/>
                    <a:pt x="1930" y="3709"/>
                    <a:pt x="2073" y="3709"/>
                  </a:cubicBezTo>
                  <a:cubicBezTo>
                    <a:pt x="2192" y="3709"/>
                    <a:pt x="2323" y="3685"/>
                    <a:pt x="2442" y="3662"/>
                  </a:cubicBezTo>
                  <a:close/>
                  <a:moveTo>
                    <a:pt x="2096" y="0"/>
                  </a:moveTo>
                  <a:cubicBezTo>
                    <a:pt x="2040" y="0"/>
                    <a:pt x="1983" y="6"/>
                    <a:pt x="1930" y="18"/>
                  </a:cubicBezTo>
                  <a:cubicBezTo>
                    <a:pt x="1037" y="102"/>
                    <a:pt x="334" y="875"/>
                    <a:pt x="334" y="1780"/>
                  </a:cubicBezTo>
                  <a:cubicBezTo>
                    <a:pt x="334" y="2435"/>
                    <a:pt x="180" y="3042"/>
                    <a:pt x="60" y="3364"/>
                  </a:cubicBezTo>
                  <a:cubicBezTo>
                    <a:pt x="1" y="3507"/>
                    <a:pt x="37" y="3673"/>
                    <a:pt x="180" y="3781"/>
                  </a:cubicBezTo>
                  <a:cubicBezTo>
                    <a:pt x="311" y="3888"/>
                    <a:pt x="596" y="4043"/>
                    <a:pt x="1037" y="4162"/>
                  </a:cubicBezTo>
                  <a:lnTo>
                    <a:pt x="382" y="4495"/>
                  </a:lnTo>
                  <a:cubicBezTo>
                    <a:pt x="144" y="4614"/>
                    <a:pt x="1" y="4852"/>
                    <a:pt x="1" y="5114"/>
                  </a:cubicBezTo>
                  <a:lnTo>
                    <a:pt x="1" y="6209"/>
                  </a:lnTo>
                  <a:cubicBezTo>
                    <a:pt x="1" y="6293"/>
                    <a:pt x="72" y="6364"/>
                    <a:pt x="156" y="6364"/>
                  </a:cubicBezTo>
                  <a:cubicBezTo>
                    <a:pt x="251" y="6364"/>
                    <a:pt x="322" y="6293"/>
                    <a:pt x="322" y="6209"/>
                  </a:cubicBezTo>
                  <a:lnTo>
                    <a:pt x="322" y="5114"/>
                  </a:lnTo>
                  <a:cubicBezTo>
                    <a:pt x="322" y="4983"/>
                    <a:pt x="394" y="4852"/>
                    <a:pt x="537" y="4793"/>
                  </a:cubicBezTo>
                  <a:lnTo>
                    <a:pt x="1049" y="4519"/>
                  </a:lnTo>
                  <a:cubicBezTo>
                    <a:pt x="1275" y="4900"/>
                    <a:pt x="1680" y="5138"/>
                    <a:pt x="2108" y="5138"/>
                  </a:cubicBezTo>
                  <a:cubicBezTo>
                    <a:pt x="2561" y="5138"/>
                    <a:pt x="2942" y="4900"/>
                    <a:pt x="3168" y="4519"/>
                  </a:cubicBezTo>
                  <a:lnTo>
                    <a:pt x="3692" y="4793"/>
                  </a:lnTo>
                  <a:cubicBezTo>
                    <a:pt x="3811" y="4852"/>
                    <a:pt x="3894" y="4983"/>
                    <a:pt x="3894" y="5114"/>
                  </a:cubicBezTo>
                  <a:lnTo>
                    <a:pt x="3894" y="6209"/>
                  </a:lnTo>
                  <a:cubicBezTo>
                    <a:pt x="3894" y="6293"/>
                    <a:pt x="3966" y="6364"/>
                    <a:pt x="4061" y="6364"/>
                  </a:cubicBezTo>
                  <a:cubicBezTo>
                    <a:pt x="4144" y="6364"/>
                    <a:pt x="4228" y="6293"/>
                    <a:pt x="4228" y="6209"/>
                  </a:cubicBezTo>
                  <a:lnTo>
                    <a:pt x="4228" y="5114"/>
                  </a:lnTo>
                  <a:cubicBezTo>
                    <a:pt x="4192" y="4852"/>
                    <a:pt x="4049" y="4614"/>
                    <a:pt x="3811" y="4495"/>
                  </a:cubicBezTo>
                  <a:lnTo>
                    <a:pt x="3156" y="4162"/>
                  </a:lnTo>
                  <a:cubicBezTo>
                    <a:pt x="3597" y="4043"/>
                    <a:pt x="3870" y="3888"/>
                    <a:pt x="4013" y="3781"/>
                  </a:cubicBezTo>
                  <a:cubicBezTo>
                    <a:pt x="4156" y="3685"/>
                    <a:pt x="4192" y="3507"/>
                    <a:pt x="4132" y="3364"/>
                  </a:cubicBezTo>
                  <a:cubicBezTo>
                    <a:pt x="4001" y="3042"/>
                    <a:pt x="3847" y="2435"/>
                    <a:pt x="3847" y="1780"/>
                  </a:cubicBezTo>
                  <a:cubicBezTo>
                    <a:pt x="3847" y="875"/>
                    <a:pt x="3156" y="90"/>
                    <a:pt x="2263" y="18"/>
                  </a:cubicBezTo>
                  <a:cubicBezTo>
                    <a:pt x="2210" y="6"/>
                    <a:pt x="2153" y="0"/>
                    <a:pt x="209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sp>
          <p:nvSpPr>
            <p:cNvPr id="51" name="Google Shape;3639;p53">
              <a:extLst>
                <a:ext uri="{FF2B5EF4-FFF2-40B4-BE49-F238E27FC236}">
                  <a16:creationId xmlns:a16="http://schemas.microsoft.com/office/drawing/2014/main" id="{19FDBECF-6FEE-4821-9285-1F80A438C8D0}"/>
                </a:ext>
              </a:extLst>
            </p:cNvPr>
            <p:cNvSpPr/>
            <p:nvPr/>
          </p:nvSpPr>
          <p:spPr>
            <a:xfrm>
              <a:off x="7120141" y="2297184"/>
              <a:ext cx="10662" cy="33005"/>
            </a:xfrm>
            <a:custGeom>
              <a:avLst/>
              <a:gdLst/>
              <a:ahLst/>
              <a:cxnLst/>
              <a:rect l="l" t="t" r="r" b="b"/>
              <a:pathLst>
                <a:path w="335" h="1037" extrusionOk="0">
                  <a:moveTo>
                    <a:pt x="167" y="0"/>
                  </a:moveTo>
                  <a:cubicBezTo>
                    <a:pt x="72" y="0"/>
                    <a:pt x="1" y="72"/>
                    <a:pt x="1" y="167"/>
                  </a:cubicBezTo>
                  <a:lnTo>
                    <a:pt x="1" y="881"/>
                  </a:lnTo>
                  <a:cubicBezTo>
                    <a:pt x="1" y="965"/>
                    <a:pt x="72" y="1036"/>
                    <a:pt x="167" y="1036"/>
                  </a:cubicBezTo>
                  <a:cubicBezTo>
                    <a:pt x="251" y="1036"/>
                    <a:pt x="334" y="965"/>
                    <a:pt x="334" y="881"/>
                  </a:cubicBezTo>
                  <a:lnTo>
                    <a:pt x="334" y="167"/>
                  </a:lnTo>
                  <a:cubicBezTo>
                    <a:pt x="334" y="72"/>
                    <a:pt x="251" y="0"/>
                    <a:pt x="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sp>
          <p:nvSpPr>
            <p:cNvPr id="52" name="Google Shape;3640;p53">
              <a:extLst>
                <a:ext uri="{FF2B5EF4-FFF2-40B4-BE49-F238E27FC236}">
                  <a16:creationId xmlns:a16="http://schemas.microsoft.com/office/drawing/2014/main" id="{C1914079-D4B5-4231-B503-B0017E60AC85}"/>
                </a:ext>
              </a:extLst>
            </p:cNvPr>
            <p:cNvSpPr/>
            <p:nvPr/>
          </p:nvSpPr>
          <p:spPr>
            <a:xfrm>
              <a:off x="7199360" y="2297184"/>
              <a:ext cx="10248" cy="33005"/>
            </a:xfrm>
            <a:custGeom>
              <a:avLst/>
              <a:gdLst/>
              <a:ahLst/>
              <a:cxnLst/>
              <a:rect l="l" t="t" r="r" b="b"/>
              <a:pathLst>
                <a:path w="322" h="1037" extrusionOk="0">
                  <a:moveTo>
                    <a:pt x="167" y="0"/>
                  </a:moveTo>
                  <a:cubicBezTo>
                    <a:pt x="72" y="0"/>
                    <a:pt x="0" y="72"/>
                    <a:pt x="0" y="167"/>
                  </a:cubicBezTo>
                  <a:lnTo>
                    <a:pt x="0" y="881"/>
                  </a:lnTo>
                  <a:cubicBezTo>
                    <a:pt x="0" y="965"/>
                    <a:pt x="72" y="1036"/>
                    <a:pt x="167" y="1036"/>
                  </a:cubicBezTo>
                  <a:cubicBezTo>
                    <a:pt x="250" y="1036"/>
                    <a:pt x="322" y="965"/>
                    <a:pt x="322" y="881"/>
                  </a:cubicBezTo>
                  <a:lnTo>
                    <a:pt x="322" y="167"/>
                  </a:lnTo>
                  <a:cubicBezTo>
                    <a:pt x="322" y="72"/>
                    <a:pt x="250" y="0"/>
                    <a:pt x="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sp>
          <p:nvSpPr>
            <p:cNvPr id="53" name="Google Shape;3641;p53">
              <a:extLst>
                <a:ext uri="{FF2B5EF4-FFF2-40B4-BE49-F238E27FC236}">
                  <a16:creationId xmlns:a16="http://schemas.microsoft.com/office/drawing/2014/main" id="{E63FD7C3-F576-41E5-8195-379E28F82DC0}"/>
                </a:ext>
              </a:extLst>
            </p:cNvPr>
            <p:cNvSpPr/>
            <p:nvPr/>
          </p:nvSpPr>
          <p:spPr>
            <a:xfrm>
              <a:off x="7357001" y="2165704"/>
              <a:ext cx="56876" cy="17823"/>
            </a:xfrm>
            <a:custGeom>
              <a:avLst/>
              <a:gdLst/>
              <a:ahLst/>
              <a:cxnLst/>
              <a:rect l="l" t="t" r="r" b="b"/>
              <a:pathLst>
                <a:path w="1787" h="560" extrusionOk="0">
                  <a:moveTo>
                    <a:pt x="630" y="0"/>
                  </a:moveTo>
                  <a:cubicBezTo>
                    <a:pt x="478" y="0"/>
                    <a:pt x="311" y="14"/>
                    <a:pt x="131" y="48"/>
                  </a:cubicBezTo>
                  <a:cubicBezTo>
                    <a:pt x="60" y="71"/>
                    <a:pt x="0" y="143"/>
                    <a:pt x="0" y="214"/>
                  </a:cubicBezTo>
                  <a:lnTo>
                    <a:pt x="0" y="393"/>
                  </a:lnTo>
                  <a:cubicBezTo>
                    <a:pt x="0" y="488"/>
                    <a:pt x="72" y="560"/>
                    <a:pt x="167" y="560"/>
                  </a:cubicBezTo>
                  <a:cubicBezTo>
                    <a:pt x="250" y="560"/>
                    <a:pt x="322" y="488"/>
                    <a:pt x="322" y="393"/>
                  </a:cubicBezTo>
                  <a:lnTo>
                    <a:pt x="322" y="345"/>
                  </a:lnTo>
                  <a:cubicBezTo>
                    <a:pt x="436" y="334"/>
                    <a:pt x="543" y="328"/>
                    <a:pt x="642" y="328"/>
                  </a:cubicBezTo>
                  <a:cubicBezTo>
                    <a:pt x="851" y="328"/>
                    <a:pt x="1022" y="352"/>
                    <a:pt x="1143" y="393"/>
                  </a:cubicBezTo>
                  <a:cubicBezTo>
                    <a:pt x="1369" y="452"/>
                    <a:pt x="1488" y="524"/>
                    <a:pt x="1488" y="524"/>
                  </a:cubicBezTo>
                  <a:cubicBezTo>
                    <a:pt x="1512" y="548"/>
                    <a:pt x="1548" y="560"/>
                    <a:pt x="1572" y="560"/>
                  </a:cubicBezTo>
                  <a:cubicBezTo>
                    <a:pt x="1631" y="560"/>
                    <a:pt x="1679" y="524"/>
                    <a:pt x="1715" y="488"/>
                  </a:cubicBezTo>
                  <a:cubicBezTo>
                    <a:pt x="1786" y="405"/>
                    <a:pt x="1762" y="310"/>
                    <a:pt x="1679" y="262"/>
                  </a:cubicBezTo>
                  <a:cubicBezTo>
                    <a:pt x="1660" y="252"/>
                    <a:pt x="1280" y="0"/>
                    <a:pt x="6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sp>
          <p:nvSpPr>
            <p:cNvPr id="54" name="Google Shape;3642;p53">
              <a:extLst>
                <a:ext uri="{FF2B5EF4-FFF2-40B4-BE49-F238E27FC236}">
                  <a16:creationId xmlns:a16="http://schemas.microsoft.com/office/drawing/2014/main" id="{2168DEE8-42A0-4A8E-BBD0-746835BDC4DA}"/>
                </a:ext>
              </a:extLst>
            </p:cNvPr>
            <p:cNvSpPr/>
            <p:nvPr/>
          </p:nvSpPr>
          <p:spPr>
            <a:xfrm>
              <a:off x="7312666" y="2133113"/>
              <a:ext cx="145897" cy="197840"/>
            </a:xfrm>
            <a:custGeom>
              <a:avLst/>
              <a:gdLst/>
              <a:ahLst/>
              <a:cxnLst/>
              <a:rect l="l" t="t" r="r" b="b"/>
              <a:pathLst>
                <a:path w="4584" h="6216" extrusionOk="0">
                  <a:moveTo>
                    <a:pt x="3536" y="345"/>
                  </a:moveTo>
                  <a:lnTo>
                    <a:pt x="3536" y="1167"/>
                  </a:lnTo>
                  <a:cubicBezTo>
                    <a:pt x="3536" y="1298"/>
                    <a:pt x="3512" y="1453"/>
                    <a:pt x="3453" y="1572"/>
                  </a:cubicBezTo>
                  <a:lnTo>
                    <a:pt x="3393" y="1703"/>
                  </a:lnTo>
                  <a:cubicBezTo>
                    <a:pt x="3370" y="1726"/>
                    <a:pt x="3370" y="1750"/>
                    <a:pt x="3370" y="1774"/>
                  </a:cubicBezTo>
                  <a:lnTo>
                    <a:pt x="3370" y="2131"/>
                  </a:lnTo>
                  <a:cubicBezTo>
                    <a:pt x="3358" y="2417"/>
                    <a:pt x="3239" y="2703"/>
                    <a:pt x="3036" y="2905"/>
                  </a:cubicBezTo>
                  <a:cubicBezTo>
                    <a:pt x="2834" y="3108"/>
                    <a:pt x="2568" y="3204"/>
                    <a:pt x="2288" y="3204"/>
                  </a:cubicBezTo>
                  <a:cubicBezTo>
                    <a:pt x="2271" y="3204"/>
                    <a:pt x="2255" y="3203"/>
                    <a:pt x="2238" y="3203"/>
                  </a:cubicBezTo>
                  <a:cubicBezTo>
                    <a:pt x="1667" y="3191"/>
                    <a:pt x="1203" y="2679"/>
                    <a:pt x="1203" y="2072"/>
                  </a:cubicBezTo>
                  <a:lnTo>
                    <a:pt x="1203" y="1774"/>
                  </a:lnTo>
                  <a:cubicBezTo>
                    <a:pt x="1203" y="1750"/>
                    <a:pt x="1203" y="1726"/>
                    <a:pt x="1191" y="1703"/>
                  </a:cubicBezTo>
                  <a:lnTo>
                    <a:pt x="1131" y="1572"/>
                  </a:lnTo>
                  <a:cubicBezTo>
                    <a:pt x="1072" y="1453"/>
                    <a:pt x="1036" y="1298"/>
                    <a:pt x="1036" y="1167"/>
                  </a:cubicBezTo>
                  <a:cubicBezTo>
                    <a:pt x="1036" y="702"/>
                    <a:pt x="1405" y="345"/>
                    <a:pt x="1857" y="345"/>
                  </a:cubicBezTo>
                  <a:close/>
                  <a:moveTo>
                    <a:pt x="1726" y="3417"/>
                  </a:moveTo>
                  <a:cubicBezTo>
                    <a:pt x="1869" y="3489"/>
                    <a:pt x="2048" y="3512"/>
                    <a:pt x="2227" y="3536"/>
                  </a:cubicBezTo>
                  <a:lnTo>
                    <a:pt x="2274" y="3536"/>
                  </a:lnTo>
                  <a:cubicBezTo>
                    <a:pt x="2465" y="3536"/>
                    <a:pt x="2643" y="3489"/>
                    <a:pt x="2822" y="3429"/>
                  </a:cubicBezTo>
                  <a:lnTo>
                    <a:pt x="2822" y="3655"/>
                  </a:lnTo>
                  <a:cubicBezTo>
                    <a:pt x="2822" y="3691"/>
                    <a:pt x="2834" y="3750"/>
                    <a:pt x="2834" y="3798"/>
                  </a:cubicBezTo>
                  <a:lnTo>
                    <a:pt x="2274" y="4227"/>
                  </a:lnTo>
                  <a:lnTo>
                    <a:pt x="1703" y="3798"/>
                  </a:lnTo>
                  <a:cubicBezTo>
                    <a:pt x="1726" y="3750"/>
                    <a:pt x="1726" y="3715"/>
                    <a:pt x="1726" y="3655"/>
                  </a:cubicBezTo>
                  <a:lnTo>
                    <a:pt x="1726" y="3417"/>
                  </a:lnTo>
                  <a:close/>
                  <a:moveTo>
                    <a:pt x="1857" y="0"/>
                  </a:moveTo>
                  <a:cubicBezTo>
                    <a:pt x="1215" y="0"/>
                    <a:pt x="691" y="524"/>
                    <a:pt x="691" y="1167"/>
                  </a:cubicBezTo>
                  <a:cubicBezTo>
                    <a:pt x="691" y="1357"/>
                    <a:pt x="738" y="1548"/>
                    <a:pt x="834" y="1715"/>
                  </a:cubicBezTo>
                  <a:lnTo>
                    <a:pt x="869" y="1810"/>
                  </a:lnTo>
                  <a:lnTo>
                    <a:pt x="869" y="2072"/>
                  </a:lnTo>
                  <a:cubicBezTo>
                    <a:pt x="869" y="2536"/>
                    <a:pt x="1084" y="2941"/>
                    <a:pt x="1405" y="3215"/>
                  </a:cubicBezTo>
                  <a:lnTo>
                    <a:pt x="1405" y="3667"/>
                  </a:lnTo>
                  <a:cubicBezTo>
                    <a:pt x="1405" y="3739"/>
                    <a:pt x="1369" y="3810"/>
                    <a:pt x="1286" y="3846"/>
                  </a:cubicBezTo>
                  <a:lnTo>
                    <a:pt x="441" y="4155"/>
                  </a:lnTo>
                  <a:cubicBezTo>
                    <a:pt x="179" y="4262"/>
                    <a:pt x="0" y="4512"/>
                    <a:pt x="0" y="4810"/>
                  </a:cubicBezTo>
                  <a:lnTo>
                    <a:pt x="0" y="6048"/>
                  </a:lnTo>
                  <a:cubicBezTo>
                    <a:pt x="0" y="6132"/>
                    <a:pt x="72" y="6215"/>
                    <a:pt x="155" y="6215"/>
                  </a:cubicBezTo>
                  <a:cubicBezTo>
                    <a:pt x="250" y="6215"/>
                    <a:pt x="322" y="6132"/>
                    <a:pt x="322" y="6048"/>
                  </a:cubicBezTo>
                  <a:lnTo>
                    <a:pt x="322" y="4810"/>
                  </a:lnTo>
                  <a:cubicBezTo>
                    <a:pt x="322" y="4655"/>
                    <a:pt x="417" y="4524"/>
                    <a:pt x="560" y="4465"/>
                  </a:cubicBezTo>
                  <a:lnTo>
                    <a:pt x="1405" y="4155"/>
                  </a:lnTo>
                  <a:cubicBezTo>
                    <a:pt x="1453" y="4143"/>
                    <a:pt x="1500" y="4108"/>
                    <a:pt x="1524" y="4084"/>
                  </a:cubicBezTo>
                  <a:lnTo>
                    <a:pt x="2119" y="4524"/>
                  </a:lnTo>
                  <a:lnTo>
                    <a:pt x="2119" y="6036"/>
                  </a:lnTo>
                  <a:cubicBezTo>
                    <a:pt x="2119" y="6120"/>
                    <a:pt x="2203" y="6191"/>
                    <a:pt x="2286" y="6191"/>
                  </a:cubicBezTo>
                  <a:cubicBezTo>
                    <a:pt x="2369" y="6191"/>
                    <a:pt x="2453" y="6120"/>
                    <a:pt x="2453" y="6036"/>
                  </a:cubicBezTo>
                  <a:lnTo>
                    <a:pt x="2453" y="4512"/>
                  </a:lnTo>
                  <a:lnTo>
                    <a:pt x="3048" y="4072"/>
                  </a:lnTo>
                  <a:cubicBezTo>
                    <a:pt x="3084" y="4096"/>
                    <a:pt x="3120" y="4108"/>
                    <a:pt x="3167" y="4143"/>
                  </a:cubicBezTo>
                  <a:lnTo>
                    <a:pt x="4012" y="4453"/>
                  </a:lnTo>
                  <a:cubicBezTo>
                    <a:pt x="4155" y="4512"/>
                    <a:pt x="4251" y="4643"/>
                    <a:pt x="4251" y="4798"/>
                  </a:cubicBezTo>
                  <a:lnTo>
                    <a:pt x="4251" y="6036"/>
                  </a:lnTo>
                  <a:cubicBezTo>
                    <a:pt x="4251" y="6120"/>
                    <a:pt x="4322" y="6191"/>
                    <a:pt x="4417" y="6191"/>
                  </a:cubicBezTo>
                  <a:cubicBezTo>
                    <a:pt x="4501" y="6191"/>
                    <a:pt x="4572" y="6120"/>
                    <a:pt x="4572" y="6036"/>
                  </a:cubicBezTo>
                  <a:lnTo>
                    <a:pt x="4572" y="4798"/>
                  </a:lnTo>
                  <a:cubicBezTo>
                    <a:pt x="4584" y="4512"/>
                    <a:pt x="4382" y="4251"/>
                    <a:pt x="4120" y="4143"/>
                  </a:cubicBezTo>
                  <a:lnTo>
                    <a:pt x="3274" y="3834"/>
                  </a:lnTo>
                  <a:cubicBezTo>
                    <a:pt x="3191" y="3798"/>
                    <a:pt x="3155" y="3727"/>
                    <a:pt x="3155" y="3655"/>
                  </a:cubicBezTo>
                  <a:lnTo>
                    <a:pt x="3155" y="3215"/>
                  </a:lnTo>
                  <a:cubicBezTo>
                    <a:pt x="3179" y="3191"/>
                    <a:pt x="3227" y="3155"/>
                    <a:pt x="3250" y="3131"/>
                  </a:cubicBezTo>
                  <a:cubicBezTo>
                    <a:pt x="3536" y="2858"/>
                    <a:pt x="3691" y="2500"/>
                    <a:pt x="3691" y="2119"/>
                  </a:cubicBezTo>
                  <a:lnTo>
                    <a:pt x="3691" y="1810"/>
                  </a:lnTo>
                  <a:lnTo>
                    <a:pt x="3727" y="1715"/>
                  </a:lnTo>
                  <a:cubicBezTo>
                    <a:pt x="3822" y="1548"/>
                    <a:pt x="3870" y="1357"/>
                    <a:pt x="3870" y="1167"/>
                  </a:cubicBezTo>
                  <a:lnTo>
                    <a:pt x="3870" y="167"/>
                  </a:lnTo>
                  <a:cubicBezTo>
                    <a:pt x="3870" y="71"/>
                    <a:pt x="3786" y="0"/>
                    <a:pt x="370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sp>
          <p:nvSpPr>
            <p:cNvPr id="55" name="Google Shape;3643;p53">
              <a:extLst>
                <a:ext uri="{FF2B5EF4-FFF2-40B4-BE49-F238E27FC236}">
                  <a16:creationId xmlns:a16="http://schemas.microsoft.com/office/drawing/2014/main" id="{751A078A-329B-42B3-ACE7-D5D03D0F90EE}"/>
                </a:ext>
              </a:extLst>
            </p:cNvPr>
            <p:cNvSpPr/>
            <p:nvPr/>
          </p:nvSpPr>
          <p:spPr>
            <a:xfrm>
              <a:off x="7340324" y="2291486"/>
              <a:ext cx="10630" cy="38702"/>
            </a:xfrm>
            <a:custGeom>
              <a:avLst/>
              <a:gdLst/>
              <a:ahLst/>
              <a:cxnLst/>
              <a:rect l="l" t="t" r="r" b="b"/>
              <a:pathLst>
                <a:path w="334" h="1216" extrusionOk="0">
                  <a:moveTo>
                    <a:pt x="167" y="1"/>
                  </a:moveTo>
                  <a:cubicBezTo>
                    <a:pt x="84" y="1"/>
                    <a:pt x="0" y="72"/>
                    <a:pt x="0" y="167"/>
                  </a:cubicBezTo>
                  <a:lnTo>
                    <a:pt x="0" y="1060"/>
                  </a:lnTo>
                  <a:cubicBezTo>
                    <a:pt x="0" y="1144"/>
                    <a:pt x="84" y="1215"/>
                    <a:pt x="167" y="1215"/>
                  </a:cubicBezTo>
                  <a:cubicBezTo>
                    <a:pt x="262" y="1215"/>
                    <a:pt x="334" y="1144"/>
                    <a:pt x="334" y="1060"/>
                  </a:cubicBezTo>
                  <a:lnTo>
                    <a:pt x="334" y="167"/>
                  </a:lnTo>
                  <a:cubicBezTo>
                    <a:pt x="334" y="72"/>
                    <a:pt x="262" y="1"/>
                    <a:pt x="1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sp>
          <p:nvSpPr>
            <p:cNvPr id="56" name="Google Shape;3644;p53">
              <a:extLst>
                <a:ext uri="{FF2B5EF4-FFF2-40B4-BE49-F238E27FC236}">
                  <a16:creationId xmlns:a16="http://schemas.microsoft.com/office/drawing/2014/main" id="{AB869589-4FD0-4DAE-87C3-16B618BA7BFA}"/>
                </a:ext>
              </a:extLst>
            </p:cNvPr>
            <p:cNvSpPr/>
            <p:nvPr/>
          </p:nvSpPr>
          <p:spPr>
            <a:xfrm>
              <a:off x="7419511" y="2291486"/>
              <a:ext cx="10630" cy="38702"/>
            </a:xfrm>
            <a:custGeom>
              <a:avLst/>
              <a:gdLst/>
              <a:ahLst/>
              <a:cxnLst/>
              <a:rect l="l" t="t" r="r" b="b"/>
              <a:pathLst>
                <a:path w="334" h="1216" extrusionOk="0">
                  <a:moveTo>
                    <a:pt x="167" y="1"/>
                  </a:moveTo>
                  <a:cubicBezTo>
                    <a:pt x="72" y="1"/>
                    <a:pt x="1" y="72"/>
                    <a:pt x="1" y="167"/>
                  </a:cubicBezTo>
                  <a:lnTo>
                    <a:pt x="1" y="1060"/>
                  </a:lnTo>
                  <a:cubicBezTo>
                    <a:pt x="1" y="1144"/>
                    <a:pt x="72" y="1215"/>
                    <a:pt x="167" y="1215"/>
                  </a:cubicBezTo>
                  <a:cubicBezTo>
                    <a:pt x="251" y="1215"/>
                    <a:pt x="334" y="1144"/>
                    <a:pt x="334" y="1060"/>
                  </a:cubicBezTo>
                  <a:lnTo>
                    <a:pt x="334" y="167"/>
                  </a:lnTo>
                  <a:cubicBezTo>
                    <a:pt x="334" y="72"/>
                    <a:pt x="251" y="1"/>
                    <a:pt x="1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sp>
          <p:nvSpPr>
            <p:cNvPr id="57" name="Google Shape;3645;p53">
              <a:extLst>
                <a:ext uri="{FF2B5EF4-FFF2-40B4-BE49-F238E27FC236}">
                  <a16:creationId xmlns:a16="http://schemas.microsoft.com/office/drawing/2014/main" id="{EE5BCDCB-AC0F-4F69-A95C-4B1B865D0205}"/>
                </a:ext>
              </a:extLst>
            </p:cNvPr>
            <p:cNvSpPr/>
            <p:nvPr/>
          </p:nvSpPr>
          <p:spPr>
            <a:xfrm>
              <a:off x="7153878" y="1969392"/>
              <a:ext cx="225498" cy="188355"/>
            </a:xfrm>
            <a:custGeom>
              <a:avLst/>
              <a:gdLst/>
              <a:ahLst/>
              <a:cxnLst/>
              <a:rect l="l" t="t" r="r" b="b"/>
              <a:pathLst>
                <a:path w="7085" h="5918" extrusionOk="0">
                  <a:moveTo>
                    <a:pt x="2441" y="4227"/>
                  </a:moveTo>
                  <a:lnTo>
                    <a:pt x="2346" y="4608"/>
                  </a:lnTo>
                  <a:lnTo>
                    <a:pt x="2132" y="4608"/>
                  </a:lnTo>
                  <a:cubicBezTo>
                    <a:pt x="1917" y="4608"/>
                    <a:pt x="1751" y="4442"/>
                    <a:pt x="1751" y="4239"/>
                  </a:cubicBezTo>
                  <a:lnTo>
                    <a:pt x="1751" y="4227"/>
                  </a:lnTo>
                  <a:close/>
                  <a:moveTo>
                    <a:pt x="5668" y="310"/>
                  </a:moveTo>
                  <a:cubicBezTo>
                    <a:pt x="5882" y="310"/>
                    <a:pt x="6037" y="477"/>
                    <a:pt x="6037" y="679"/>
                  </a:cubicBezTo>
                  <a:lnTo>
                    <a:pt x="6037" y="3525"/>
                  </a:lnTo>
                  <a:cubicBezTo>
                    <a:pt x="6037" y="3739"/>
                    <a:pt x="5882" y="3894"/>
                    <a:pt x="5668" y="3894"/>
                  </a:cubicBezTo>
                  <a:lnTo>
                    <a:pt x="4251" y="3894"/>
                  </a:lnTo>
                  <a:cubicBezTo>
                    <a:pt x="4227" y="3894"/>
                    <a:pt x="4179" y="3918"/>
                    <a:pt x="4156" y="3930"/>
                  </a:cubicBezTo>
                  <a:lnTo>
                    <a:pt x="2572" y="5084"/>
                  </a:lnTo>
                  <a:lnTo>
                    <a:pt x="2810" y="4108"/>
                  </a:lnTo>
                  <a:cubicBezTo>
                    <a:pt x="2822" y="4061"/>
                    <a:pt x="2810" y="4001"/>
                    <a:pt x="2786" y="3953"/>
                  </a:cubicBezTo>
                  <a:cubicBezTo>
                    <a:pt x="2751" y="3918"/>
                    <a:pt x="2703" y="3894"/>
                    <a:pt x="2644" y="3894"/>
                  </a:cubicBezTo>
                  <a:lnTo>
                    <a:pt x="703" y="3894"/>
                  </a:lnTo>
                  <a:cubicBezTo>
                    <a:pt x="489" y="3894"/>
                    <a:pt x="322" y="3739"/>
                    <a:pt x="322" y="3525"/>
                  </a:cubicBezTo>
                  <a:lnTo>
                    <a:pt x="322" y="679"/>
                  </a:lnTo>
                  <a:cubicBezTo>
                    <a:pt x="322" y="477"/>
                    <a:pt x="489" y="310"/>
                    <a:pt x="703" y="310"/>
                  </a:cubicBezTo>
                  <a:close/>
                  <a:moveTo>
                    <a:pt x="6382" y="1036"/>
                  </a:moveTo>
                  <a:cubicBezTo>
                    <a:pt x="6585" y="1036"/>
                    <a:pt x="6751" y="1203"/>
                    <a:pt x="6751" y="1417"/>
                  </a:cubicBezTo>
                  <a:lnTo>
                    <a:pt x="6751" y="4251"/>
                  </a:lnTo>
                  <a:lnTo>
                    <a:pt x="6739" y="4251"/>
                  </a:lnTo>
                  <a:cubicBezTo>
                    <a:pt x="6739" y="4465"/>
                    <a:pt x="6573" y="4632"/>
                    <a:pt x="6370" y="4632"/>
                  </a:cubicBezTo>
                  <a:lnTo>
                    <a:pt x="4953" y="4632"/>
                  </a:lnTo>
                  <a:cubicBezTo>
                    <a:pt x="4906" y="4632"/>
                    <a:pt x="4870" y="4644"/>
                    <a:pt x="4822" y="4692"/>
                  </a:cubicBezTo>
                  <a:cubicBezTo>
                    <a:pt x="4787" y="4727"/>
                    <a:pt x="4775" y="4775"/>
                    <a:pt x="4787" y="4823"/>
                  </a:cubicBezTo>
                  <a:lnTo>
                    <a:pt x="4906" y="5501"/>
                  </a:lnTo>
                  <a:lnTo>
                    <a:pt x="3691" y="4692"/>
                  </a:lnTo>
                  <a:lnTo>
                    <a:pt x="4299" y="4239"/>
                  </a:lnTo>
                  <a:lnTo>
                    <a:pt x="5668" y="4239"/>
                  </a:lnTo>
                  <a:cubicBezTo>
                    <a:pt x="6049" y="4239"/>
                    <a:pt x="6370" y="3930"/>
                    <a:pt x="6370" y="3537"/>
                  </a:cubicBezTo>
                  <a:lnTo>
                    <a:pt x="6370" y="1036"/>
                  </a:lnTo>
                  <a:close/>
                  <a:moveTo>
                    <a:pt x="703" y="1"/>
                  </a:moveTo>
                  <a:cubicBezTo>
                    <a:pt x="310" y="1"/>
                    <a:pt x="0" y="310"/>
                    <a:pt x="0" y="703"/>
                  </a:cubicBezTo>
                  <a:lnTo>
                    <a:pt x="0" y="3537"/>
                  </a:lnTo>
                  <a:cubicBezTo>
                    <a:pt x="0" y="3930"/>
                    <a:pt x="310" y="4239"/>
                    <a:pt x="703" y="4239"/>
                  </a:cubicBezTo>
                  <a:lnTo>
                    <a:pt x="1405" y="4239"/>
                  </a:lnTo>
                  <a:lnTo>
                    <a:pt x="1405" y="4251"/>
                  </a:lnTo>
                  <a:cubicBezTo>
                    <a:pt x="1405" y="4644"/>
                    <a:pt x="1727" y="4954"/>
                    <a:pt x="2108" y="4954"/>
                  </a:cubicBezTo>
                  <a:lnTo>
                    <a:pt x="2263" y="4954"/>
                  </a:lnTo>
                  <a:lnTo>
                    <a:pt x="2203" y="5227"/>
                  </a:lnTo>
                  <a:cubicBezTo>
                    <a:pt x="2167" y="5323"/>
                    <a:pt x="2215" y="5430"/>
                    <a:pt x="2298" y="5489"/>
                  </a:cubicBezTo>
                  <a:cubicBezTo>
                    <a:pt x="2346" y="5525"/>
                    <a:pt x="2394" y="5537"/>
                    <a:pt x="2453" y="5537"/>
                  </a:cubicBezTo>
                  <a:cubicBezTo>
                    <a:pt x="2513" y="5537"/>
                    <a:pt x="2560" y="5525"/>
                    <a:pt x="2596" y="5489"/>
                  </a:cubicBezTo>
                  <a:lnTo>
                    <a:pt x="3334" y="4954"/>
                  </a:lnTo>
                  <a:lnTo>
                    <a:pt x="3489" y="4954"/>
                  </a:lnTo>
                  <a:lnTo>
                    <a:pt x="4882" y="5882"/>
                  </a:lnTo>
                  <a:cubicBezTo>
                    <a:pt x="4918" y="5906"/>
                    <a:pt x="4965" y="5918"/>
                    <a:pt x="5013" y="5918"/>
                  </a:cubicBezTo>
                  <a:cubicBezTo>
                    <a:pt x="5061" y="5918"/>
                    <a:pt x="5096" y="5906"/>
                    <a:pt x="5144" y="5882"/>
                  </a:cubicBezTo>
                  <a:cubicBezTo>
                    <a:pt x="5239" y="5823"/>
                    <a:pt x="5287" y="5727"/>
                    <a:pt x="5263" y="5620"/>
                  </a:cubicBezTo>
                  <a:lnTo>
                    <a:pt x="5168" y="4954"/>
                  </a:lnTo>
                  <a:lnTo>
                    <a:pt x="6382" y="4954"/>
                  </a:lnTo>
                  <a:cubicBezTo>
                    <a:pt x="6763" y="4954"/>
                    <a:pt x="7085" y="4644"/>
                    <a:pt x="7085" y="4251"/>
                  </a:cubicBezTo>
                  <a:lnTo>
                    <a:pt x="7085" y="1417"/>
                  </a:lnTo>
                  <a:cubicBezTo>
                    <a:pt x="7085" y="1024"/>
                    <a:pt x="6775" y="715"/>
                    <a:pt x="6382" y="715"/>
                  </a:cubicBezTo>
                  <a:cubicBezTo>
                    <a:pt x="6370" y="310"/>
                    <a:pt x="6061" y="1"/>
                    <a:pt x="566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sp>
          <p:nvSpPr>
            <p:cNvPr id="58" name="Google Shape;3646;p53">
              <a:extLst>
                <a:ext uri="{FF2B5EF4-FFF2-40B4-BE49-F238E27FC236}">
                  <a16:creationId xmlns:a16="http://schemas.microsoft.com/office/drawing/2014/main" id="{3AA8BA00-0C5B-4CCC-9DFF-0B75C4860180}"/>
                </a:ext>
              </a:extLst>
            </p:cNvPr>
            <p:cNvSpPr/>
            <p:nvPr/>
          </p:nvSpPr>
          <p:spPr>
            <a:xfrm>
              <a:off x="7193663" y="2003511"/>
              <a:ext cx="27308" cy="10248"/>
            </a:xfrm>
            <a:custGeom>
              <a:avLst/>
              <a:gdLst/>
              <a:ahLst/>
              <a:cxnLst/>
              <a:rect l="l" t="t" r="r" b="b"/>
              <a:pathLst>
                <a:path w="858" h="322" extrusionOk="0">
                  <a:moveTo>
                    <a:pt x="167" y="0"/>
                  </a:moveTo>
                  <a:cubicBezTo>
                    <a:pt x="72" y="0"/>
                    <a:pt x="1" y="72"/>
                    <a:pt x="1" y="167"/>
                  </a:cubicBezTo>
                  <a:cubicBezTo>
                    <a:pt x="1" y="250"/>
                    <a:pt x="72" y="322"/>
                    <a:pt x="167" y="322"/>
                  </a:cubicBezTo>
                  <a:lnTo>
                    <a:pt x="703" y="322"/>
                  </a:lnTo>
                  <a:cubicBezTo>
                    <a:pt x="786" y="322"/>
                    <a:pt x="858" y="250"/>
                    <a:pt x="858" y="167"/>
                  </a:cubicBezTo>
                  <a:cubicBezTo>
                    <a:pt x="858" y="72"/>
                    <a:pt x="786" y="0"/>
                    <a:pt x="70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sp>
          <p:nvSpPr>
            <p:cNvPr id="59" name="Google Shape;3647;p53">
              <a:extLst>
                <a:ext uri="{FF2B5EF4-FFF2-40B4-BE49-F238E27FC236}">
                  <a16:creationId xmlns:a16="http://schemas.microsoft.com/office/drawing/2014/main" id="{BAB53E3B-45F1-4AC8-B28D-AED515A90A19}"/>
                </a:ext>
              </a:extLst>
            </p:cNvPr>
            <p:cNvSpPr/>
            <p:nvPr/>
          </p:nvSpPr>
          <p:spPr>
            <a:xfrm>
              <a:off x="7233065" y="2003511"/>
              <a:ext cx="83802" cy="10248"/>
            </a:xfrm>
            <a:custGeom>
              <a:avLst/>
              <a:gdLst/>
              <a:ahLst/>
              <a:cxnLst/>
              <a:rect l="l" t="t" r="r" b="b"/>
              <a:pathLst>
                <a:path w="2633" h="322" extrusionOk="0">
                  <a:moveTo>
                    <a:pt x="156" y="0"/>
                  </a:moveTo>
                  <a:cubicBezTo>
                    <a:pt x="72" y="0"/>
                    <a:pt x="1" y="72"/>
                    <a:pt x="1" y="167"/>
                  </a:cubicBezTo>
                  <a:cubicBezTo>
                    <a:pt x="1" y="250"/>
                    <a:pt x="72" y="322"/>
                    <a:pt x="156" y="322"/>
                  </a:cubicBezTo>
                  <a:lnTo>
                    <a:pt x="2465" y="322"/>
                  </a:lnTo>
                  <a:cubicBezTo>
                    <a:pt x="2561" y="322"/>
                    <a:pt x="2632" y="250"/>
                    <a:pt x="2632" y="167"/>
                  </a:cubicBezTo>
                  <a:cubicBezTo>
                    <a:pt x="2632" y="72"/>
                    <a:pt x="2573" y="0"/>
                    <a:pt x="24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sp>
          <p:nvSpPr>
            <p:cNvPr id="60" name="Google Shape;3648;p53">
              <a:extLst>
                <a:ext uri="{FF2B5EF4-FFF2-40B4-BE49-F238E27FC236}">
                  <a16:creationId xmlns:a16="http://schemas.microsoft.com/office/drawing/2014/main" id="{6A8872E4-8E33-4935-B31D-692F17BC7464}"/>
                </a:ext>
              </a:extLst>
            </p:cNvPr>
            <p:cNvSpPr/>
            <p:nvPr/>
          </p:nvSpPr>
          <p:spPr>
            <a:xfrm>
              <a:off x="7193281" y="2031933"/>
              <a:ext cx="123936" cy="10248"/>
            </a:xfrm>
            <a:custGeom>
              <a:avLst/>
              <a:gdLst/>
              <a:ahLst/>
              <a:cxnLst/>
              <a:rect l="l" t="t" r="r" b="b"/>
              <a:pathLst>
                <a:path w="3894" h="322" extrusionOk="0">
                  <a:moveTo>
                    <a:pt x="155" y="0"/>
                  </a:moveTo>
                  <a:cubicBezTo>
                    <a:pt x="72" y="0"/>
                    <a:pt x="1" y="71"/>
                    <a:pt x="1" y="167"/>
                  </a:cubicBezTo>
                  <a:cubicBezTo>
                    <a:pt x="1" y="250"/>
                    <a:pt x="72" y="322"/>
                    <a:pt x="155" y="322"/>
                  </a:cubicBezTo>
                  <a:lnTo>
                    <a:pt x="3715" y="322"/>
                  </a:lnTo>
                  <a:cubicBezTo>
                    <a:pt x="3811" y="322"/>
                    <a:pt x="3882" y="250"/>
                    <a:pt x="3882" y="167"/>
                  </a:cubicBezTo>
                  <a:cubicBezTo>
                    <a:pt x="3894" y="71"/>
                    <a:pt x="3823" y="0"/>
                    <a:pt x="371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sp>
          <p:nvSpPr>
            <p:cNvPr id="61" name="Google Shape;3649;p53">
              <a:extLst>
                <a:ext uri="{FF2B5EF4-FFF2-40B4-BE49-F238E27FC236}">
                  <a16:creationId xmlns:a16="http://schemas.microsoft.com/office/drawing/2014/main" id="{C986010D-E52D-4E81-80D4-5A480B9E65D6}"/>
                </a:ext>
              </a:extLst>
            </p:cNvPr>
            <p:cNvSpPr/>
            <p:nvPr/>
          </p:nvSpPr>
          <p:spPr>
            <a:xfrm>
              <a:off x="7193663" y="2059973"/>
              <a:ext cx="83770" cy="10248"/>
            </a:xfrm>
            <a:custGeom>
              <a:avLst/>
              <a:gdLst/>
              <a:ahLst/>
              <a:cxnLst/>
              <a:rect l="l" t="t" r="r" b="b"/>
              <a:pathLst>
                <a:path w="2632" h="322" extrusionOk="0">
                  <a:moveTo>
                    <a:pt x="167" y="0"/>
                  </a:moveTo>
                  <a:cubicBezTo>
                    <a:pt x="72" y="0"/>
                    <a:pt x="1" y="72"/>
                    <a:pt x="1" y="155"/>
                  </a:cubicBezTo>
                  <a:cubicBezTo>
                    <a:pt x="1" y="250"/>
                    <a:pt x="72" y="322"/>
                    <a:pt x="167" y="322"/>
                  </a:cubicBezTo>
                  <a:lnTo>
                    <a:pt x="2465" y="322"/>
                  </a:lnTo>
                  <a:cubicBezTo>
                    <a:pt x="2560" y="322"/>
                    <a:pt x="2632" y="250"/>
                    <a:pt x="2632" y="155"/>
                  </a:cubicBezTo>
                  <a:cubicBezTo>
                    <a:pt x="2632" y="72"/>
                    <a:pt x="2560" y="0"/>
                    <a:pt x="24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sp>
          <p:nvSpPr>
            <p:cNvPr id="62" name="Google Shape;3650;p53">
              <a:extLst>
                <a:ext uri="{FF2B5EF4-FFF2-40B4-BE49-F238E27FC236}">
                  <a16:creationId xmlns:a16="http://schemas.microsoft.com/office/drawing/2014/main" id="{6F0AF0E7-F33F-439A-8903-55E54872F203}"/>
                </a:ext>
              </a:extLst>
            </p:cNvPr>
            <p:cNvSpPr/>
            <p:nvPr/>
          </p:nvSpPr>
          <p:spPr>
            <a:xfrm>
              <a:off x="7289145" y="2059973"/>
              <a:ext cx="27722" cy="10248"/>
            </a:xfrm>
            <a:custGeom>
              <a:avLst/>
              <a:gdLst/>
              <a:ahLst/>
              <a:cxnLst/>
              <a:rect l="l" t="t" r="r" b="b"/>
              <a:pathLst>
                <a:path w="871" h="322" extrusionOk="0">
                  <a:moveTo>
                    <a:pt x="168" y="0"/>
                  </a:moveTo>
                  <a:cubicBezTo>
                    <a:pt x="84" y="0"/>
                    <a:pt x="1" y="72"/>
                    <a:pt x="1" y="155"/>
                  </a:cubicBezTo>
                  <a:cubicBezTo>
                    <a:pt x="1" y="250"/>
                    <a:pt x="84" y="322"/>
                    <a:pt x="168" y="322"/>
                  </a:cubicBezTo>
                  <a:lnTo>
                    <a:pt x="703" y="322"/>
                  </a:lnTo>
                  <a:cubicBezTo>
                    <a:pt x="799" y="322"/>
                    <a:pt x="870" y="250"/>
                    <a:pt x="870" y="155"/>
                  </a:cubicBezTo>
                  <a:cubicBezTo>
                    <a:pt x="870" y="72"/>
                    <a:pt x="811" y="0"/>
                    <a:pt x="70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grpSp>
      <p:sp>
        <p:nvSpPr>
          <p:cNvPr id="63" name="CaixaDeTexto 62">
            <a:extLst>
              <a:ext uri="{FF2B5EF4-FFF2-40B4-BE49-F238E27FC236}">
                <a16:creationId xmlns:a16="http://schemas.microsoft.com/office/drawing/2014/main" id="{9182527A-B164-4794-830B-92A3A7349125}"/>
              </a:ext>
            </a:extLst>
          </p:cNvPr>
          <p:cNvSpPr txBox="1"/>
          <p:nvPr/>
        </p:nvSpPr>
        <p:spPr>
          <a:xfrm>
            <a:off x="3582238" y="5112032"/>
            <a:ext cx="2658129" cy="246221"/>
          </a:xfrm>
          <a:prstGeom prst="rect">
            <a:avLst/>
          </a:prstGeom>
          <a:noFill/>
        </p:spPr>
        <p:txBody>
          <a:bodyPr wrap="square" rtlCol="0">
            <a:spAutoFit/>
          </a:bodyPr>
          <a:lstStyle/>
          <a:p>
            <a:pPr algn="ctr"/>
            <a:r>
              <a:rPr lang="pt-BR" sz="1000" b="1" dirty="0">
                <a:solidFill>
                  <a:schemeClr val="tx1">
                    <a:lumMod val="50000"/>
                    <a:lumOff val="50000"/>
                  </a:schemeClr>
                </a:solidFill>
                <a:latin typeface="Arial" panose="020B0604020202020204" pitchFamily="34" charset="0"/>
                <a:cs typeface="Arial" panose="020B0604020202020204" pitchFamily="34" charset="0"/>
              </a:rPr>
              <a:t>(Qualidade + Operação)</a:t>
            </a:r>
          </a:p>
        </p:txBody>
      </p:sp>
      <p:sp>
        <p:nvSpPr>
          <p:cNvPr id="68" name="Retângulo: Cantos Arredondados 67">
            <a:extLst>
              <a:ext uri="{FF2B5EF4-FFF2-40B4-BE49-F238E27FC236}">
                <a16:creationId xmlns:a16="http://schemas.microsoft.com/office/drawing/2014/main" id="{DE2F8EFF-F33D-4250-8441-37B57FADC64A}"/>
              </a:ext>
            </a:extLst>
          </p:cNvPr>
          <p:cNvSpPr/>
          <p:nvPr/>
        </p:nvSpPr>
        <p:spPr>
          <a:xfrm>
            <a:off x="9437580" y="2473065"/>
            <a:ext cx="983649" cy="329956"/>
          </a:xfrm>
          <a:prstGeom prst="roundRect">
            <a:avLst/>
          </a:prstGeom>
          <a:solidFill>
            <a:srgbClr val="00B0F0">
              <a:alpha val="33000"/>
            </a:srgbClr>
          </a:solidFill>
          <a:ln>
            <a:noFill/>
          </a:ln>
          <a:effectLst>
            <a:outerShdw blurRad="177800" dist="38100" dir="5400000" sx="107000" sy="107000" algn="t" rotWithShape="0">
              <a:prstClr val="black">
                <a:alpha val="1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65" name="CaixaDeTexto 64">
            <a:extLst>
              <a:ext uri="{FF2B5EF4-FFF2-40B4-BE49-F238E27FC236}">
                <a16:creationId xmlns:a16="http://schemas.microsoft.com/office/drawing/2014/main" id="{C02844A9-7651-4753-B295-E91FA142E752}"/>
              </a:ext>
            </a:extLst>
          </p:cNvPr>
          <p:cNvSpPr txBox="1"/>
          <p:nvPr/>
        </p:nvSpPr>
        <p:spPr>
          <a:xfrm>
            <a:off x="9742550" y="2558103"/>
            <a:ext cx="488503" cy="230832"/>
          </a:xfrm>
          <a:prstGeom prst="rect">
            <a:avLst/>
          </a:prstGeom>
          <a:noFill/>
        </p:spPr>
        <p:txBody>
          <a:bodyPr wrap="square" rtlCol="0">
            <a:spAutoFit/>
          </a:bodyPr>
          <a:lstStyle/>
          <a:p>
            <a:pPr algn="ctr"/>
            <a:r>
              <a:rPr lang="pt-BR" sz="900" b="1" dirty="0">
                <a:solidFill>
                  <a:srgbClr val="00B0F0"/>
                </a:solidFill>
                <a:latin typeface="Arial" panose="020B0604020202020204" pitchFamily="34" charset="0"/>
                <a:cs typeface="Arial" panose="020B0604020202020204" pitchFamily="34" charset="0"/>
              </a:rPr>
              <a:t>81,50</a:t>
            </a:r>
          </a:p>
        </p:txBody>
      </p:sp>
      <p:sp>
        <p:nvSpPr>
          <p:cNvPr id="66" name="CaixaDeTexto 65">
            <a:extLst>
              <a:ext uri="{FF2B5EF4-FFF2-40B4-BE49-F238E27FC236}">
                <a16:creationId xmlns:a16="http://schemas.microsoft.com/office/drawing/2014/main" id="{B6AC2246-F4DE-4F0D-9991-D269E36B8956}"/>
              </a:ext>
            </a:extLst>
          </p:cNvPr>
          <p:cNvSpPr txBox="1"/>
          <p:nvPr/>
        </p:nvSpPr>
        <p:spPr>
          <a:xfrm>
            <a:off x="9639834" y="2458741"/>
            <a:ext cx="693937" cy="184666"/>
          </a:xfrm>
          <a:prstGeom prst="rect">
            <a:avLst/>
          </a:prstGeom>
          <a:noFill/>
        </p:spPr>
        <p:txBody>
          <a:bodyPr wrap="square" rtlCol="0">
            <a:spAutoFit/>
          </a:bodyPr>
          <a:lstStyle/>
          <a:p>
            <a:pPr algn="ctr"/>
            <a:r>
              <a:rPr lang="pt-BR" sz="600" b="1" dirty="0">
                <a:solidFill>
                  <a:srgbClr val="00B0F0"/>
                </a:solidFill>
                <a:latin typeface="Arial" panose="020B0604020202020204" pitchFamily="34" charset="0"/>
                <a:cs typeface="Arial" panose="020B0604020202020204" pitchFamily="34" charset="0"/>
              </a:rPr>
              <a:t>Mês anterior </a:t>
            </a:r>
          </a:p>
        </p:txBody>
      </p:sp>
      <p:sp>
        <p:nvSpPr>
          <p:cNvPr id="72" name="Google Shape;2252;p50">
            <a:extLst>
              <a:ext uri="{FF2B5EF4-FFF2-40B4-BE49-F238E27FC236}">
                <a16:creationId xmlns:a16="http://schemas.microsoft.com/office/drawing/2014/main" id="{DC8ABE9C-FF66-4A29-BC5A-6ACA7897B022}"/>
              </a:ext>
            </a:extLst>
          </p:cNvPr>
          <p:cNvSpPr/>
          <p:nvPr/>
        </p:nvSpPr>
        <p:spPr>
          <a:xfrm>
            <a:off x="9539371" y="2605424"/>
            <a:ext cx="211300" cy="131628"/>
          </a:xfrm>
          <a:custGeom>
            <a:avLst/>
            <a:gdLst/>
            <a:ahLst/>
            <a:cxnLst/>
            <a:rect l="l" t="t" r="r" b="b"/>
            <a:pathLst>
              <a:path w="10419" h="6490" extrusionOk="0">
                <a:moveTo>
                  <a:pt x="2751" y="2905"/>
                </a:moveTo>
                <a:lnTo>
                  <a:pt x="2751" y="6191"/>
                </a:lnTo>
                <a:lnTo>
                  <a:pt x="1429" y="6191"/>
                </a:lnTo>
                <a:lnTo>
                  <a:pt x="1429" y="2905"/>
                </a:lnTo>
                <a:close/>
                <a:moveTo>
                  <a:pt x="5847" y="2084"/>
                </a:moveTo>
                <a:lnTo>
                  <a:pt x="5847" y="6191"/>
                </a:lnTo>
                <a:lnTo>
                  <a:pt x="4525" y="6191"/>
                </a:lnTo>
                <a:lnTo>
                  <a:pt x="4525" y="2084"/>
                </a:lnTo>
                <a:close/>
                <a:moveTo>
                  <a:pt x="8942" y="298"/>
                </a:moveTo>
                <a:lnTo>
                  <a:pt x="8942" y="6191"/>
                </a:lnTo>
                <a:lnTo>
                  <a:pt x="7609" y="6191"/>
                </a:lnTo>
                <a:lnTo>
                  <a:pt x="7609" y="298"/>
                </a:lnTo>
                <a:close/>
                <a:moveTo>
                  <a:pt x="7466" y="0"/>
                </a:moveTo>
                <a:cubicBezTo>
                  <a:pt x="7383" y="0"/>
                  <a:pt x="7323" y="72"/>
                  <a:pt x="7323" y="155"/>
                </a:cubicBezTo>
                <a:lnTo>
                  <a:pt x="7323" y="6191"/>
                </a:lnTo>
                <a:lnTo>
                  <a:pt x="6156" y="6191"/>
                </a:lnTo>
                <a:lnTo>
                  <a:pt x="6156" y="1941"/>
                </a:lnTo>
                <a:cubicBezTo>
                  <a:pt x="6156" y="1846"/>
                  <a:pt x="6085" y="1786"/>
                  <a:pt x="6013" y="1786"/>
                </a:cubicBezTo>
                <a:lnTo>
                  <a:pt x="4370" y="1786"/>
                </a:lnTo>
                <a:cubicBezTo>
                  <a:pt x="4287" y="1786"/>
                  <a:pt x="4227" y="1858"/>
                  <a:pt x="4227" y="1941"/>
                </a:cubicBezTo>
                <a:lnTo>
                  <a:pt x="4227" y="6191"/>
                </a:lnTo>
                <a:lnTo>
                  <a:pt x="3061" y="6191"/>
                </a:lnTo>
                <a:lnTo>
                  <a:pt x="3061" y="2751"/>
                </a:lnTo>
                <a:cubicBezTo>
                  <a:pt x="3061" y="2667"/>
                  <a:pt x="2989" y="2608"/>
                  <a:pt x="2918" y="2608"/>
                </a:cubicBezTo>
                <a:lnTo>
                  <a:pt x="1275" y="2608"/>
                </a:lnTo>
                <a:cubicBezTo>
                  <a:pt x="1191" y="2608"/>
                  <a:pt x="1132" y="2679"/>
                  <a:pt x="1132" y="2751"/>
                </a:cubicBezTo>
                <a:lnTo>
                  <a:pt x="1132" y="6191"/>
                </a:lnTo>
                <a:lnTo>
                  <a:pt x="144" y="6191"/>
                </a:lnTo>
                <a:cubicBezTo>
                  <a:pt x="60" y="6191"/>
                  <a:pt x="1" y="6263"/>
                  <a:pt x="1" y="6346"/>
                </a:cubicBezTo>
                <a:cubicBezTo>
                  <a:pt x="1" y="6430"/>
                  <a:pt x="72" y="6489"/>
                  <a:pt x="144" y="6489"/>
                </a:cubicBezTo>
                <a:lnTo>
                  <a:pt x="10264" y="6489"/>
                </a:lnTo>
                <a:cubicBezTo>
                  <a:pt x="10359" y="6489"/>
                  <a:pt x="10419" y="6418"/>
                  <a:pt x="10419" y="6346"/>
                </a:cubicBezTo>
                <a:cubicBezTo>
                  <a:pt x="10395" y="6251"/>
                  <a:pt x="10323" y="6191"/>
                  <a:pt x="10240" y="6191"/>
                </a:cubicBezTo>
                <a:lnTo>
                  <a:pt x="9252" y="6191"/>
                </a:lnTo>
                <a:lnTo>
                  <a:pt x="9252" y="155"/>
                </a:lnTo>
                <a:cubicBezTo>
                  <a:pt x="9252" y="60"/>
                  <a:pt x="9180" y="0"/>
                  <a:pt x="9109" y="0"/>
                </a:cubicBezTo>
                <a:close/>
              </a:path>
            </a:pathLst>
          </a:custGeom>
          <a:solidFill>
            <a:srgbClr val="00B0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Retângulo: Cantos Arredondados 85">
            <a:extLst>
              <a:ext uri="{FF2B5EF4-FFF2-40B4-BE49-F238E27FC236}">
                <a16:creationId xmlns:a16="http://schemas.microsoft.com/office/drawing/2014/main" id="{9143A6E9-6809-466E-8A9A-B26F01387941}"/>
              </a:ext>
            </a:extLst>
          </p:cNvPr>
          <p:cNvSpPr/>
          <p:nvPr/>
        </p:nvSpPr>
        <p:spPr>
          <a:xfrm>
            <a:off x="9440352" y="2935806"/>
            <a:ext cx="983649" cy="329956"/>
          </a:xfrm>
          <a:prstGeom prst="roundRect">
            <a:avLst/>
          </a:prstGeom>
          <a:solidFill>
            <a:schemeClr val="bg2">
              <a:lumMod val="9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69" name="CaixaDeTexto 68">
            <a:extLst>
              <a:ext uri="{FF2B5EF4-FFF2-40B4-BE49-F238E27FC236}">
                <a16:creationId xmlns:a16="http://schemas.microsoft.com/office/drawing/2014/main" id="{BACBD4EB-8C45-4F25-8447-C28AE2745340}"/>
              </a:ext>
            </a:extLst>
          </p:cNvPr>
          <p:cNvSpPr txBox="1"/>
          <p:nvPr/>
        </p:nvSpPr>
        <p:spPr>
          <a:xfrm>
            <a:off x="9717216" y="3026058"/>
            <a:ext cx="590014" cy="230832"/>
          </a:xfrm>
          <a:prstGeom prst="rect">
            <a:avLst/>
          </a:prstGeom>
          <a:noFill/>
        </p:spPr>
        <p:txBody>
          <a:bodyPr wrap="square" rtlCol="0">
            <a:spAutoFit/>
          </a:bodyPr>
          <a:lstStyle/>
          <a:p>
            <a:pPr algn="ctr"/>
            <a:r>
              <a:rPr lang="pt-BR" sz="900" b="1" dirty="0">
                <a:solidFill>
                  <a:srgbClr val="FF0000"/>
                </a:solidFill>
                <a:latin typeface="Arial" panose="020B0604020202020204" pitchFamily="34" charset="0"/>
                <a:cs typeface="Arial" panose="020B0604020202020204" pitchFamily="34" charset="0"/>
              </a:rPr>
              <a:t>-5,09</a:t>
            </a:r>
          </a:p>
        </p:txBody>
      </p:sp>
      <p:grpSp>
        <p:nvGrpSpPr>
          <p:cNvPr id="73" name="Google Shape;2139;p50">
            <a:extLst>
              <a:ext uri="{FF2B5EF4-FFF2-40B4-BE49-F238E27FC236}">
                <a16:creationId xmlns:a16="http://schemas.microsoft.com/office/drawing/2014/main" id="{CAE335B8-3CA4-4FF0-847E-A163EBF508F9}"/>
              </a:ext>
            </a:extLst>
          </p:cNvPr>
          <p:cNvGrpSpPr/>
          <p:nvPr/>
        </p:nvGrpSpPr>
        <p:grpSpPr>
          <a:xfrm>
            <a:off x="9526403" y="3013610"/>
            <a:ext cx="207026" cy="206636"/>
            <a:chOff x="1421638" y="4125629"/>
            <a:chExt cx="374709" cy="374010"/>
          </a:xfrm>
          <a:solidFill>
            <a:schemeClr val="tx1">
              <a:lumMod val="75000"/>
              <a:lumOff val="25000"/>
            </a:schemeClr>
          </a:solidFill>
        </p:grpSpPr>
        <p:sp>
          <p:nvSpPr>
            <p:cNvPr id="74" name="Google Shape;2140;p50">
              <a:extLst>
                <a:ext uri="{FF2B5EF4-FFF2-40B4-BE49-F238E27FC236}">
                  <a16:creationId xmlns:a16="http://schemas.microsoft.com/office/drawing/2014/main" id="{0E956040-C3F6-4F7E-B01D-AA0390AEA9DC}"/>
                </a:ext>
              </a:extLst>
            </p:cNvPr>
            <p:cNvSpPr/>
            <p:nvPr/>
          </p:nvSpPr>
          <p:spPr>
            <a:xfrm>
              <a:off x="1421638" y="4265954"/>
              <a:ext cx="374709" cy="233685"/>
            </a:xfrm>
            <a:custGeom>
              <a:avLst/>
              <a:gdLst/>
              <a:ahLst/>
              <a:cxnLst/>
              <a:rect l="l" t="t" r="r" b="b"/>
              <a:pathLst>
                <a:path w="11800" h="7359" extrusionOk="0">
                  <a:moveTo>
                    <a:pt x="3180" y="3298"/>
                  </a:moveTo>
                  <a:lnTo>
                    <a:pt x="3180" y="7001"/>
                  </a:lnTo>
                  <a:lnTo>
                    <a:pt x="1691" y="7001"/>
                  </a:lnTo>
                  <a:lnTo>
                    <a:pt x="1691" y="3298"/>
                  </a:lnTo>
                  <a:close/>
                  <a:moveTo>
                    <a:pt x="6680" y="2370"/>
                  </a:moveTo>
                  <a:lnTo>
                    <a:pt x="6680" y="7001"/>
                  </a:lnTo>
                  <a:lnTo>
                    <a:pt x="5192" y="7001"/>
                  </a:lnTo>
                  <a:lnTo>
                    <a:pt x="5192" y="2370"/>
                  </a:lnTo>
                  <a:close/>
                  <a:moveTo>
                    <a:pt x="10180" y="345"/>
                  </a:moveTo>
                  <a:lnTo>
                    <a:pt x="10180" y="7001"/>
                  </a:lnTo>
                  <a:lnTo>
                    <a:pt x="8692" y="7001"/>
                  </a:lnTo>
                  <a:lnTo>
                    <a:pt x="8692" y="345"/>
                  </a:lnTo>
                  <a:close/>
                  <a:moveTo>
                    <a:pt x="8502" y="0"/>
                  </a:moveTo>
                  <a:cubicBezTo>
                    <a:pt x="8406" y="0"/>
                    <a:pt x="8323" y="84"/>
                    <a:pt x="8323" y="179"/>
                  </a:cubicBezTo>
                  <a:lnTo>
                    <a:pt x="8323" y="7001"/>
                  </a:lnTo>
                  <a:lnTo>
                    <a:pt x="7013" y="7001"/>
                  </a:lnTo>
                  <a:lnTo>
                    <a:pt x="7013" y="2203"/>
                  </a:lnTo>
                  <a:cubicBezTo>
                    <a:pt x="7013" y="2120"/>
                    <a:pt x="6930" y="2024"/>
                    <a:pt x="6835" y="2024"/>
                  </a:cubicBezTo>
                  <a:lnTo>
                    <a:pt x="4989" y="2024"/>
                  </a:lnTo>
                  <a:cubicBezTo>
                    <a:pt x="4894" y="2024"/>
                    <a:pt x="4811" y="2108"/>
                    <a:pt x="4811" y="2203"/>
                  </a:cubicBezTo>
                  <a:lnTo>
                    <a:pt x="4811" y="7001"/>
                  </a:lnTo>
                  <a:lnTo>
                    <a:pt x="3501" y="7001"/>
                  </a:lnTo>
                  <a:lnTo>
                    <a:pt x="3501" y="3132"/>
                  </a:lnTo>
                  <a:cubicBezTo>
                    <a:pt x="3501" y="3036"/>
                    <a:pt x="3418" y="2953"/>
                    <a:pt x="3322" y="2953"/>
                  </a:cubicBezTo>
                  <a:lnTo>
                    <a:pt x="1477" y="2953"/>
                  </a:lnTo>
                  <a:cubicBezTo>
                    <a:pt x="1382" y="2953"/>
                    <a:pt x="1298" y="3024"/>
                    <a:pt x="1298" y="3132"/>
                  </a:cubicBezTo>
                  <a:lnTo>
                    <a:pt x="1298" y="7001"/>
                  </a:lnTo>
                  <a:lnTo>
                    <a:pt x="179" y="7001"/>
                  </a:lnTo>
                  <a:cubicBezTo>
                    <a:pt x="84" y="7001"/>
                    <a:pt x="1" y="7073"/>
                    <a:pt x="1" y="7180"/>
                  </a:cubicBezTo>
                  <a:cubicBezTo>
                    <a:pt x="1" y="7287"/>
                    <a:pt x="72" y="7358"/>
                    <a:pt x="179" y="7358"/>
                  </a:cubicBezTo>
                  <a:lnTo>
                    <a:pt x="11597" y="7358"/>
                  </a:lnTo>
                  <a:cubicBezTo>
                    <a:pt x="11681" y="7358"/>
                    <a:pt x="11776" y="7287"/>
                    <a:pt x="11776" y="7180"/>
                  </a:cubicBezTo>
                  <a:cubicBezTo>
                    <a:pt x="11800" y="7073"/>
                    <a:pt x="11728" y="7001"/>
                    <a:pt x="11633" y="7001"/>
                  </a:cubicBezTo>
                  <a:lnTo>
                    <a:pt x="10526" y="7001"/>
                  </a:lnTo>
                  <a:lnTo>
                    <a:pt x="10526" y="179"/>
                  </a:lnTo>
                  <a:cubicBezTo>
                    <a:pt x="10526" y="95"/>
                    <a:pt x="10442" y="0"/>
                    <a:pt x="10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2141;p50">
              <a:extLst>
                <a:ext uri="{FF2B5EF4-FFF2-40B4-BE49-F238E27FC236}">
                  <a16:creationId xmlns:a16="http://schemas.microsoft.com/office/drawing/2014/main" id="{6213F634-69C5-45D1-B0CA-B369B824C994}"/>
                </a:ext>
              </a:extLst>
            </p:cNvPr>
            <p:cNvSpPr/>
            <p:nvPr/>
          </p:nvSpPr>
          <p:spPr>
            <a:xfrm>
              <a:off x="1428052" y="4125629"/>
              <a:ext cx="356958" cy="215585"/>
            </a:xfrm>
            <a:custGeom>
              <a:avLst/>
              <a:gdLst/>
              <a:ahLst/>
              <a:cxnLst/>
              <a:rect l="l" t="t" r="r" b="b"/>
              <a:pathLst>
                <a:path w="11241" h="6789" extrusionOk="0">
                  <a:moveTo>
                    <a:pt x="10668" y="0"/>
                  </a:moveTo>
                  <a:cubicBezTo>
                    <a:pt x="10653" y="0"/>
                    <a:pt x="10637" y="1"/>
                    <a:pt x="10621" y="2"/>
                  </a:cubicBezTo>
                  <a:lnTo>
                    <a:pt x="9145" y="181"/>
                  </a:lnTo>
                  <a:cubicBezTo>
                    <a:pt x="8847" y="216"/>
                    <a:pt x="8633" y="490"/>
                    <a:pt x="8669" y="788"/>
                  </a:cubicBezTo>
                  <a:cubicBezTo>
                    <a:pt x="8691" y="1064"/>
                    <a:pt x="8938" y="1268"/>
                    <a:pt x="9211" y="1268"/>
                  </a:cubicBezTo>
                  <a:cubicBezTo>
                    <a:pt x="9232" y="1268"/>
                    <a:pt x="9254" y="1267"/>
                    <a:pt x="9276" y="1264"/>
                  </a:cubicBezTo>
                  <a:lnTo>
                    <a:pt x="9395" y="1252"/>
                  </a:lnTo>
                  <a:lnTo>
                    <a:pt x="9395" y="1252"/>
                  </a:lnTo>
                  <a:cubicBezTo>
                    <a:pt x="7597" y="3348"/>
                    <a:pt x="5442" y="4443"/>
                    <a:pt x="3918" y="4979"/>
                  </a:cubicBezTo>
                  <a:cubicBezTo>
                    <a:pt x="2025" y="5657"/>
                    <a:pt x="561" y="5717"/>
                    <a:pt x="537" y="5717"/>
                  </a:cubicBezTo>
                  <a:cubicBezTo>
                    <a:pt x="239" y="5729"/>
                    <a:pt x="1" y="5967"/>
                    <a:pt x="25" y="6265"/>
                  </a:cubicBezTo>
                  <a:cubicBezTo>
                    <a:pt x="37" y="6562"/>
                    <a:pt x="275" y="6789"/>
                    <a:pt x="561" y="6789"/>
                  </a:cubicBezTo>
                  <a:lnTo>
                    <a:pt x="572" y="6789"/>
                  </a:lnTo>
                  <a:cubicBezTo>
                    <a:pt x="632" y="6789"/>
                    <a:pt x="2192" y="6729"/>
                    <a:pt x="4263" y="6003"/>
                  </a:cubicBezTo>
                  <a:cubicBezTo>
                    <a:pt x="5418" y="5586"/>
                    <a:pt x="6514" y="5050"/>
                    <a:pt x="7490" y="4383"/>
                  </a:cubicBezTo>
                  <a:cubicBezTo>
                    <a:pt x="7561" y="4324"/>
                    <a:pt x="7597" y="4217"/>
                    <a:pt x="7538" y="4145"/>
                  </a:cubicBezTo>
                  <a:cubicBezTo>
                    <a:pt x="7501" y="4093"/>
                    <a:pt x="7445" y="4065"/>
                    <a:pt x="7391" y="4065"/>
                  </a:cubicBezTo>
                  <a:cubicBezTo>
                    <a:pt x="7358" y="4065"/>
                    <a:pt x="7326" y="4075"/>
                    <a:pt x="7299" y="4098"/>
                  </a:cubicBezTo>
                  <a:cubicBezTo>
                    <a:pt x="6335" y="4753"/>
                    <a:pt x="5275" y="5288"/>
                    <a:pt x="4144" y="5693"/>
                  </a:cubicBezTo>
                  <a:cubicBezTo>
                    <a:pt x="2132" y="6408"/>
                    <a:pt x="632" y="6467"/>
                    <a:pt x="561" y="6467"/>
                  </a:cubicBezTo>
                  <a:cubicBezTo>
                    <a:pt x="453" y="6467"/>
                    <a:pt x="358" y="6372"/>
                    <a:pt x="358" y="6265"/>
                  </a:cubicBezTo>
                  <a:cubicBezTo>
                    <a:pt x="358" y="6169"/>
                    <a:pt x="441" y="6074"/>
                    <a:pt x="561" y="6062"/>
                  </a:cubicBezTo>
                  <a:cubicBezTo>
                    <a:pt x="572" y="6062"/>
                    <a:pt x="2085" y="6003"/>
                    <a:pt x="4037" y="5300"/>
                  </a:cubicBezTo>
                  <a:cubicBezTo>
                    <a:pt x="5680" y="4717"/>
                    <a:pt x="8026" y="3514"/>
                    <a:pt x="9943" y="1133"/>
                  </a:cubicBezTo>
                  <a:cubicBezTo>
                    <a:pt x="10035" y="1018"/>
                    <a:pt x="9949" y="847"/>
                    <a:pt x="9813" y="847"/>
                  </a:cubicBezTo>
                  <a:cubicBezTo>
                    <a:pt x="9809" y="847"/>
                    <a:pt x="9804" y="847"/>
                    <a:pt x="9800" y="847"/>
                  </a:cubicBezTo>
                  <a:lnTo>
                    <a:pt x="9252" y="931"/>
                  </a:lnTo>
                  <a:cubicBezTo>
                    <a:pt x="9244" y="932"/>
                    <a:pt x="9236" y="932"/>
                    <a:pt x="9228" y="932"/>
                  </a:cubicBezTo>
                  <a:cubicBezTo>
                    <a:pt x="9139" y="932"/>
                    <a:pt x="9049" y="874"/>
                    <a:pt x="9038" y="776"/>
                  </a:cubicBezTo>
                  <a:cubicBezTo>
                    <a:pt x="9014" y="657"/>
                    <a:pt x="9085" y="550"/>
                    <a:pt x="9204" y="538"/>
                  </a:cubicBezTo>
                  <a:lnTo>
                    <a:pt x="10681" y="359"/>
                  </a:lnTo>
                  <a:cubicBezTo>
                    <a:pt x="10688" y="358"/>
                    <a:pt x="10696" y="358"/>
                    <a:pt x="10703" y="358"/>
                  </a:cubicBezTo>
                  <a:cubicBezTo>
                    <a:pt x="10812" y="358"/>
                    <a:pt x="10895" y="438"/>
                    <a:pt x="10895" y="550"/>
                  </a:cubicBezTo>
                  <a:lnTo>
                    <a:pt x="10895" y="2026"/>
                  </a:lnTo>
                  <a:cubicBezTo>
                    <a:pt x="10895" y="2133"/>
                    <a:pt x="10812" y="2217"/>
                    <a:pt x="10705" y="2217"/>
                  </a:cubicBezTo>
                  <a:cubicBezTo>
                    <a:pt x="10598" y="2217"/>
                    <a:pt x="10514" y="2133"/>
                    <a:pt x="10514" y="2026"/>
                  </a:cubicBezTo>
                  <a:lnTo>
                    <a:pt x="10514" y="1586"/>
                  </a:lnTo>
                  <a:cubicBezTo>
                    <a:pt x="10514" y="1502"/>
                    <a:pt x="10467" y="1443"/>
                    <a:pt x="10407" y="1419"/>
                  </a:cubicBezTo>
                  <a:cubicBezTo>
                    <a:pt x="10387" y="1409"/>
                    <a:pt x="10368" y="1405"/>
                    <a:pt x="10349" y="1405"/>
                  </a:cubicBezTo>
                  <a:cubicBezTo>
                    <a:pt x="10298" y="1405"/>
                    <a:pt x="10251" y="1435"/>
                    <a:pt x="10217" y="1478"/>
                  </a:cubicBezTo>
                  <a:cubicBezTo>
                    <a:pt x="9574" y="2264"/>
                    <a:pt x="8835" y="2979"/>
                    <a:pt x="8026" y="3610"/>
                  </a:cubicBezTo>
                  <a:cubicBezTo>
                    <a:pt x="7954" y="3669"/>
                    <a:pt x="7942" y="3764"/>
                    <a:pt x="8002" y="3848"/>
                  </a:cubicBezTo>
                  <a:cubicBezTo>
                    <a:pt x="8036" y="3888"/>
                    <a:pt x="8081" y="3910"/>
                    <a:pt x="8129" y="3910"/>
                  </a:cubicBezTo>
                  <a:cubicBezTo>
                    <a:pt x="8166" y="3910"/>
                    <a:pt x="8204" y="3897"/>
                    <a:pt x="8240" y="3872"/>
                  </a:cubicBezTo>
                  <a:cubicBezTo>
                    <a:pt x="8931" y="3336"/>
                    <a:pt x="9585" y="2729"/>
                    <a:pt x="10169" y="2062"/>
                  </a:cubicBezTo>
                  <a:cubicBezTo>
                    <a:pt x="10181" y="2336"/>
                    <a:pt x="10419" y="2574"/>
                    <a:pt x="10705" y="2574"/>
                  </a:cubicBezTo>
                  <a:cubicBezTo>
                    <a:pt x="11002" y="2574"/>
                    <a:pt x="11240" y="2336"/>
                    <a:pt x="11240" y="2038"/>
                  </a:cubicBezTo>
                  <a:lnTo>
                    <a:pt x="11240" y="573"/>
                  </a:lnTo>
                  <a:cubicBezTo>
                    <a:pt x="11240" y="395"/>
                    <a:pt x="11169" y="240"/>
                    <a:pt x="11050" y="133"/>
                  </a:cubicBezTo>
                  <a:cubicBezTo>
                    <a:pt x="10943" y="47"/>
                    <a:pt x="10807" y="0"/>
                    <a:pt x="106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 name="CaixaDeTexto 69">
            <a:extLst>
              <a:ext uri="{FF2B5EF4-FFF2-40B4-BE49-F238E27FC236}">
                <a16:creationId xmlns:a16="http://schemas.microsoft.com/office/drawing/2014/main" id="{396FFDF2-17CD-4FD1-A7F0-E53220611038}"/>
              </a:ext>
            </a:extLst>
          </p:cNvPr>
          <p:cNvSpPr txBox="1"/>
          <p:nvPr/>
        </p:nvSpPr>
        <p:spPr>
          <a:xfrm>
            <a:off x="9445870" y="2916088"/>
            <a:ext cx="969818" cy="184666"/>
          </a:xfrm>
          <a:prstGeom prst="rect">
            <a:avLst/>
          </a:prstGeom>
          <a:noFill/>
        </p:spPr>
        <p:txBody>
          <a:bodyPr wrap="square" rtlCol="0">
            <a:spAutoFit/>
          </a:bodyPr>
          <a:lstStyle/>
          <a:p>
            <a:pPr algn="ctr"/>
            <a:r>
              <a:rPr lang="pt-BR" sz="600" b="1" dirty="0">
                <a:solidFill>
                  <a:schemeClr val="tx1">
                    <a:lumMod val="85000"/>
                    <a:lumOff val="15000"/>
                  </a:schemeClr>
                </a:solidFill>
                <a:latin typeface="Arial" panose="020B0604020202020204" pitchFamily="34" charset="0"/>
                <a:cs typeface="Arial" panose="020B0604020202020204" pitchFamily="34" charset="0"/>
              </a:rPr>
              <a:t>Queda</a:t>
            </a:r>
          </a:p>
        </p:txBody>
      </p:sp>
      <p:sp>
        <p:nvSpPr>
          <p:cNvPr id="96" name="Retângulo: Cantos Arredondados 95">
            <a:extLst>
              <a:ext uri="{FF2B5EF4-FFF2-40B4-BE49-F238E27FC236}">
                <a16:creationId xmlns:a16="http://schemas.microsoft.com/office/drawing/2014/main" id="{2EEE25DB-99F5-4C8F-86C1-D827EA728EF2}"/>
              </a:ext>
            </a:extLst>
          </p:cNvPr>
          <p:cNvSpPr/>
          <p:nvPr/>
        </p:nvSpPr>
        <p:spPr>
          <a:xfrm>
            <a:off x="6002233" y="4096602"/>
            <a:ext cx="983649" cy="329956"/>
          </a:xfrm>
          <a:prstGeom prst="roundRect">
            <a:avLst/>
          </a:prstGeom>
          <a:solidFill>
            <a:srgbClr val="A7E1C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1" name="CaixaDeTexto 90">
            <a:extLst>
              <a:ext uri="{FF2B5EF4-FFF2-40B4-BE49-F238E27FC236}">
                <a16:creationId xmlns:a16="http://schemas.microsoft.com/office/drawing/2014/main" id="{5CD1DE65-5668-42EC-8C03-D363DB0A175C}"/>
              </a:ext>
            </a:extLst>
          </p:cNvPr>
          <p:cNvSpPr txBox="1"/>
          <p:nvPr/>
        </p:nvSpPr>
        <p:spPr>
          <a:xfrm>
            <a:off x="6280053" y="4202410"/>
            <a:ext cx="687166" cy="230832"/>
          </a:xfrm>
          <a:prstGeom prst="rect">
            <a:avLst/>
          </a:prstGeom>
          <a:noFill/>
        </p:spPr>
        <p:txBody>
          <a:bodyPr wrap="square" rtlCol="0">
            <a:spAutoFit/>
          </a:bodyPr>
          <a:lstStyle/>
          <a:p>
            <a:pPr algn="ctr"/>
            <a:r>
              <a:rPr lang="pt-BR" sz="900" b="1" dirty="0">
                <a:solidFill>
                  <a:srgbClr val="00B050"/>
                </a:solidFill>
                <a:latin typeface="Arial" panose="020B0604020202020204" pitchFamily="34" charset="0"/>
                <a:cs typeface="Arial" panose="020B0604020202020204" pitchFamily="34" charset="0"/>
              </a:rPr>
              <a:t>98,40 %</a:t>
            </a:r>
          </a:p>
        </p:txBody>
      </p:sp>
      <p:grpSp>
        <p:nvGrpSpPr>
          <p:cNvPr id="92" name="Google Shape;2139;p50">
            <a:extLst>
              <a:ext uri="{FF2B5EF4-FFF2-40B4-BE49-F238E27FC236}">
                <a16:creationId xmlns:a16="http://schemas.microsoft.com/office/drawing/2014/main" id="{5BFCF830-72A2-40BF-B938-0F06C6710D0B}"/>
              </a:ext>
            </a:extLst>
          </p:cNvPr>
          <p:cNvGrpSpPr/>
          <p:nvPr/>
        </p:nvGrpSpPr>
        <p:grpSpPr>
          <a:xfrm>
            <a:off x="6153277" y="4192259"/>
            <a:ext cx="207026" cy="206636"/>
            <a:chOff x="1421638" y="4125629"/>
            <a:chExt cx="374709" cy="374010"/>
          </a:xfrm>
          <a:solidFill>
            <a:srgbClr val="00B050"/>
          </a:solidFill>
        </p:grpSpPr>
        <p:sp>
          <p:nvSpPr>
            <p:cNvPr id="93" name="Google Shape;2140;p50">
              <a:extLst>
                <a:ext uri="{FF2B5EF4-FFF2-40B4-BE49-F238E27FC236}">
                  <a16:creationId xmlns:a16="http://schemas.microsoft.com/office/drawing/2014/main" id="{1F72AE8B-F832-47E2-9940-D5751A0FD10A}"/>
                </a:ext>
              </a:extLst>
            </p:cNvPr>
            <p:cNvSpPr/>
            <p:nvPr/>
          </p:nvSpPr>
          <p:spPr>
            <a:xfrm>
              <a:off x="1421638" y="4265954"/>
              <a:ext cx="374709" cy="233685"/>
            </a:xfrm>
            <a:custGeom>
              <a:avLst/>
              <a:gdLst/>
              <a:ahLst/>
              <a:cxnLst/>
              <a:rect l="l" t="t" r="r" b="b"/>
              <a:pathLst>
                <a:path w="11800" h="7359" extrusionOk="0">
                  <a:moveTo>
                    <a:pt x="3180" y="3298"/>
                  </a:moveTo>
                  <a:lnTo>
                    <a:pt x="3180" y="7001"/>
                  </a:lnTo>
                  <a:lnTo>
                    <a:pt x="1691" y="7001"/>
                  </a:lnTo>
                  <a:lnTo>
                    <a:pt x="1691" y="3298"/>
                  </a:lnTo>
                  <a:close/>
                  <a:moveTo>
                    <a:pt x="6680" y="2370"/>
                  </a:moveTo>
                  <a:lnTo>
                    <a:pt x="6680" y="7001"/>
                  </a:lnTo>
                  <a:lnTo>
                    <a:pt x="5192" y="7001"/>
                  </a:lnTo>
                  <a:lnTo>
                    <a:pt x="5192" y="2370"/>
                  </a:lnTo>
                  <a:close/>
                  <a:moveTo>
                    <a:pt x="10180" y="345"/>
                  </a:moveTo>
                  <a:lnTo>
                    <a:pt x="10180" y="7001"/>
                  </a:lnTo>
                  <a:lnTo>
                    <a:pt x="8692" y="7001"/>
                  </a:lnTo>
                  <a:lnTo>
                    <a:pt x="8692" y="345"/>
                  </a:lnTo>
                  <a:close/>
                  <a:moveTo>
                    <a:pt x="8502" y="0"/>
                  </a:moveTo>
                  <a:cubicBezTo>
                    <a:pt x="8406" y="0"/>
                    <a:pt x="8323" y="84"/>
                    <a:pt x="8323" y="179"/>
                  </a:cubicBezTo>
                  <a:lnTo>
                    <a:pt x="8323" y="7001"/>
                  </a:lnTo>
                  <a:lnTo>
                    <a:pt x="7013" y="7001"/>
                  </a:lnTo>
                  <a:lnTo>
                    <a:pt x="7013" y="2203"/>
                  </a:lnTo>
                  <a:cubicBezTo>
                    <a:pt x="7013" y="2120"/>
                    <a:pt x="6930" y="2024"/>
                    <a:pt x="6835" y="2024"/>
                  </a:cubicBezTo>
                  <a:lnTo>
                    <a:pt x="4989" y="2024"/>
                  </a:lnTo>
                  <a:cubicBezTo>
                    <a:pt x="4894" y="2024"/>
                    <a:pt x="4811" y="2108"/>
                    <a:pt x="4811" y="2203"/>
                  </a:cubicBezTo>
                  <a:lnTo>
                    <a:pt x="4811" y="7001"/>
                  </a:lnTo>
                  <a:lnTo>
                    <a:pt x="3501" y="7001"/>
                  </a:lnTo>
                  <a:lnTo>
                    <a:pt x="3501" y="3132"/>
                  </a:lnTo>
                  <a:cubicBezTo>
                    <a:pt x="3501" y="3036"/>
                    <a:pt x="3418" y="2953"/>
                    <a:pt x="3322" y="2953"/>
                  </a:cubicBezTo>
                  <a:lnTo>
                    <a:pt x="1477" y="2953"/>
                  </a:lnTo>
                  <a:cubicBezTo>
                    <a:pt x="1382" y="2953"/>
                    <a:pt x="1298" y="3024"/>
                    <a:pt x="1298" y="3132"/>
                  </a:cubicBezTo>
                  <a:lnTo>
                    <a:pt x="1298" y="7001"/>
                  </a:lnTo>
                  <a:lnTo>
                    <a:pt x="179" y="7001"/>
                  </a:lnTo>
                  <a:cubicBezTo>
                    <a:pt x="84" y="7001"/>
                    <a:pt x="1" y="7073"/>
                    <a:pt x="1" y="7180"/>
                  </a:cubicBezTo>
                  <a:cubicBezTo>
                    <a:pt x="1" y="7287"/>
                    <a:pt x="72" y="7358"/>
                    <a:pt x="179" y="7358"/>
                  </a:cubicBezTo>
                  <a:lnTo>
                    <a:pt x="11597" y="7358"/>
                  </a:lnTo>
                  <a:cubicBezTo>
                    <a:pt x="11681" y="7358"/>
                    <a:pt x="11776" y="7287"/>
                    <a:pt x="11776" y="7180"/>
                  </a:cubicBezTo>
                  <a:cubicBezTo>
                    <a:pt x="11800" y="7073"/>
                    <a:pt x="11728" y="7001"/>
                    <a:pt x="11633" y="7001"/>
                  </a:cubicBezTo>
                  <a:lnTo>
                    <a:pt x="10526" y="7001"/>
                  </a:lnTo>
                  <a:lnTo>
                    <a:pt x="10526" y="179"/>
                  </a:lnTo>
                  <a:cubicBezTo>
                    <a:pt x="10526" y="95"/>
                    <a:pt x="10442" y="0"/>
                    <a:pt x="10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2141;p50">
              <a:extLst>
                <a:ext uri="{FF2B5EF4-FFF2-40B4-BE49-F238E27FC236}">
                  <a16:creationId xmlns:a16="http://schemas.microsoft.com/office/drawing/2014/main" id="{8A69BAD6-A7A3-49EB-847B-57F4FCFD09E1}"/>
                </a:ext>
              </a:extLst>
            </p:cNvPr>
            <p:cNvSpPr/>
            <p:nvPr/>
          </p:nvSpPr>
          <p:spPr>
            <a:xfrm>
              <a:off x="1428052" y="4125629"/>
              <a:ext cx="356958" cy="215585"/>
            </a:xfrm>
            <a:custGeom>
              <a:avLst/>
              <a:gdLst/>
              <a:ahLst/>
              <a:cxnLst/>
              <a:rect l="l" t="t" r="r" b="b"/>
              <a:pathLst>
                <a:path w="11241" h="6789" extrusionOk="0">
                  <a:moveTo>
                    <a:pt x="10668" y="0"/>
                  </a:moveTo>
                  <a:cubicBezTo>
                    <a:pt x="10653" y="0"/>
                    <a:pt x="10637" y="1"/>
                    <a:pt x="10621" y="2"/>
                  </a:cubicBezTo>
                  <a:lnTo>
                    <a:pt x="9145" y="181"/>
                  </a:lnTo>
                  <a:cubicBezTo>
                    <a:pt x="8847" y="216"/>
                    <a:pt x="8633" y="490"/>
                    <a:pt x="8669" y="788"/>
                  </a:cubicBezTo>
                  <a:cubicBezTo>
                    <a:pt x="8691" y="1064"/>
                    <a:pt x="8938" y="1268"/>
                    <a:pt x="9211" y="1268"/>
                  </a:cubicBezTo>
                  <a:cubicBezTo>
                    <a:pt x="9232" y="1268"/>
                    <a:pt x="9254" y="1267"/>
                    <a:pt x="9276" y="1264"/>
                  </a:cubicBezTo>
                  <a:lnTo>
                    <a:pt x="9395" y="1252"/>
                  </a:lnTo>
                  <a:lnTo>
                    <a:pt x="9395" y="1252"/>
                  </a:lnTo>
                  <a:cubicBezTo>
                    <a:pt x="7597" y="3348"/>
                    <a:pt x="5442" y="4443"/>
                    <a:pt x="3918" y="4979"/>
                  </a:cubicBezTo>
                  <a:cubicBezTo>
                    <a:pt x="2025" y="5657"/>
                    <a:pt x="561" y="5717"/>
                    <a:pt x="537" y="5717"/>
                  </a:cubicBezTo>
                  <a:cubicBezTo>
                    <a:pt x="239" y="5729"/>
                    <a:pt x="1" y="5967"/>
                    <a:pt x="25" y="6265"/>
                  </a:cubicBezTo>
                  <a:cubicBezTo>
                    <a:pt x="37" y="6562"/>
                    <a:pt x="275" y="6789"/>
                    <a:pt x="561" y="6789"/>
                  </a:cubicBezTo>
                  <a:lnTo>
                    <a:pt x="572" y="6789"/>
                  </a:lnTo>
                  <a:cubicBezTo>
                    <a:pt x="632" y="6789"/>
                    <a:pt x="2192" y="6729"/>
                    <a:pt x="4263" y="6003"/>
                  </a:cubicBezTo>
                  <a:cubicBezTo>
                    <a:pt x="5418" y="5586"/>
                    <a:pt x="6514" y="5050"/>
                    <a:pt x="7490" y="4383"/>
                  </a:cubicBezTo>
                  <a:cubicBezTo>
                    <a:pt x="7561" y="4324"/>
                    <a:pt x="7597" y="4217"/>
                    <a:pt x="7538" y="4145"/>
                  </a:cubicBezTo>
                  <a:cubicBezTo>
                    <a:pt x="7501" y="4093"/>
                    <a:pt x="7445" y="4065"/>
                    <a:pt x="7391" y="4065"/>
                  </a:cubicBezTo>
                  <a:cubicBezTo>
                    <a:pt x="7358" y="4065"/>
                    <a:pt x="7326" y="4075"/>
                    <a:pt x="7299" y="4098"/>
                  </a:cubicBezTo>
                  <a:cubicBezTo>
                    <a:pt x="6335" y="4753"/>
                    <a:pt x="5275" y="5288"/>
                    <a:pt x="4144" y="5693"/>
                  </a:cubicBezTo>
                  <a:cubicBezTo>
                    <a:pt x="2132" y="6408"/>
                    <a:pt x="632" y="6467"/>
                    <a:pt x="561" y="6467"/>
                  </a:cubicBezTo>
                  <a:cubicBezTo>
                    <a:pt x="453" y="6467"/>
                    <a:pt x="358" y="6372"/>
                    <a:pt x="358" y="6265"/>
                  </a:cubicBezTo>
                  <a:cubicBezTo>
                    <a:pt x="358" y="6169"/>
                    <a:pt x="441" y="6074"/>
                    <a:pt x="561" y="6062"/>
                  </a:cubicBezTo>
                  <a:cubicBezTo>
                    <a:pt x="572" y="6062"/>
                    <a:pt x="2085" y="6003"/>
                    <a:pt x="4037" y="5300"/>
                  </a:cubicBezTo>
                  <a:cubicBezTo>
                    <a:pt x="5680" y="4717"/>
                    <a:pt x="8026" y="3514"/>
                    <a:pt x="9943" y="1133"/>
                  </a:cubicBezTo>
                  <a:cubicBezTo>
                    <a:pt x="10035" y="1018"/>
                    <a:pt x="9949" y="847"/>
                    <a:pt x="9813" y="847"/>
                  </a:cubicBezTo>
                  <a:cubicBezTo>
                    <a:pt x="9809" y="847"/>
                    <a:pt x="9804" y="847"/>
                    <a:pt x="9800" y="847"/>
                  </a:cubicBezTo>
                  <a:lnTo>
                    <a:pt x="9252" y="931"/>
                  </a:lnTo>
                  <a:cubicBezTo>
                    <a:pt x="9244" y="932"/>
                    <a:pt x="9236" y="932"/>
                    <a:pt x="9228" y="932"/>
                  </a:cubicBezTo>
                  <a:cubicBezTo>
                    <a:pt x="9139" y="932"/>
                    <a:pt x="9049" y="874"/>
                    <a:pt x="9038" y="776"/>
                  </a:cubicBezTo>
                  <a:cubicBezTo>
                    <a:pt x="9014" y="657"/>
                    <a:pt x="9085" y="550"/>
                    <a:pt x="9204" y="538"/>
                  </a:cubicBezTo>
                  <a:lnTo>
                    <a:pt x="10681" y="359"/>
                  </a:lnTo>
                  <a:cubicBezTo>
                    <a:pt x="10688" y="358"/>
                    <a:pt x="10696" y="358"/>
                    <a:pt x="10703" y="358"/>
                  </a:cubicBezTo>
                  <a:cubicBezTo>
                    <a:pt x="10812" y="358"/>
                    <a:pt x="10895" y="438"/>
                    <a:pt x="10895" y="550"/>
                  </a:cubicBezTo>
                  <a:lnTo>
                    <a:pt x="10895" y="2026"/>
                  </a:lnTo>
                  <a:cubicBezTo>
                    <a:pt x="10895" y="2133"/>
                    <a:pt x="10812" y="2217"/>
                    <a:pt x="10705" y="2217"/>
                  </a:cubicBezTo>
                  <a:cubicBezTo>
                    <a:pt x="10598" y="2217"/>
                    <a:pt x="10514" y="2133"/>
                    <a:pt x="10514" y="2026"/>
                  </a:cubicBezTo>
                  <a:lnTo>
                    <a:pt x="10514" y="1586"/>
                  </a:lnTo>
                  <a:cubicBezTo>
                    <a:pt x="10514" y="1502"/>
                    <a:pt x="10467" y="1443"/>
                    <a:pt x="10407" y="1419"/>
                  </a:cubicBezTo>
                  <a:cubicBezTo>
                    <a:pt x="10387" y="1409"/>
                    <a:pt x="10368" y="1405"/>
                    <a:pt x="10349" y="1405"/>
                  </a:cubicBezTo>
                  <a:cubicBezTo>
                    <a:pt x="10298" y="1405"/>
                    <a:pt x="10251" y="1435"/>
                    <a:pt x="10217" y="1478"/>
                  </a:cubicBezTo>
                  <a:cubicBezTo>
                    <a:pt x="9574" y="2264"/>
                    <a:pt x="8835" y="2979"/>
                    <a:pt x="8026" y="3610"/>
                  </a:cubicBezTo>
                  <a:cubicBezTo>
                    <a:pt x="7954" y="3669"/>
                    <a:pt x="7942" y="3764"/>
                    <a:pt x="8002" y="3848"/>
                  </a:cubicBezTo>
                  <a:cubicBezTo>
                    <a:pt x="8036" y="3888"/>
                    <a:pt x="8081" y="3910"/>
                    <a:pt x="8129" y="3910"/>
                  </a:cubicBezTo>
                  <a:cubicBezTo>
                    <a:pt x="8166" y="3910"/>
                    <a:pt x="8204" y="3897"/>
                    <a:pt x="8240" y="3872"/>
                  </a:cubicBezTo>
                  <a:cubicBezTo>
                    <a:pt x="8931" y="3336"/>
                    <a:pt x="9585" y="2729"/>
                    <a:pt x="10169" y="2062"/>
                  </a:cubicBezTo>
                  <a:cubicBezTo>
                    <a:pt x="10181" y="2336"/>
                    <a:pt x="10419" y="2574"/>
                    <a:pt x="10705" y="2574"/>
                  </a:cubicBezTo>
                  <a:cubicBezTo>
                    <a:pt x="11002" y="2574"/>
                    <a:pt x="11240" y="2336"/>
                    <a:pt x="11240" y="2038"/>
                  </a:cubicBezTo>
                  <a:lnTo>
                    <a:pt x="11240" y="573"/>
                  </a:lnTo>
                  <a:cubicBezTo>
                    <a:pt x="11240" y="395"/>
                    <a:pt x="11169" y="240"/>
                    <a:pt x="11050" y="133"/>
                  </a:cubicBezTo>
                  <a:cubicBezTo>
                    <a:pt x="10943" y="47"/>
                    <a:pt x="10807" y="0"/>
                    <a:pt x="106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CaixaDeTexto 94">
            <a:extLst>
              <a:ext uri="{FF2B5EF4-FFF2-40B4-BE49-F238E27FC236}">
                <a16:creationId xmlns:a16="http://schemas.microsoft.com/office/drawing/2014/main" id="{5FAD3610-97DE-4BC5-9329-57B2739CA52D}"/>
              </a:ext>
            </a:extLst>
          </p:cNvPr>
          <p:cNvSpPr txBox="1"/>
          <p:nvPr/>
        </p:nvSpPr>
        <p:spPr>
          <a:xfrm>
            <a:off x="6326716" y="4082366"/>
            <a:ext cx="586291" cy="184666"/>
          </a:xfrm>
          <a:prstGeom prst="rect">
            <a:avLst/>
          </a:prstGeom>
          <a:noFill/>
        </p:spPr>
        <p:txBody>
          <a:bodyPr wrap="square" rtlCol="0">
            <a:spAutoFit/>
          </a:bodyPr>
          <a:lstStyle/>
          <a:p>
            <a:pPr algn="ctr"/>
            <a:r>
              <a:rPr lang="pt-BR" sz="600" b="1" dirty="0">
                <a:solidFill>
                  <a:srgbClr val="00B050"/>
                </a:solidFill>
                <a:latin typeface="Arial" panose="020B0604020202020204" pitchFamily="34" charset="0"/>
                <a:cs typeface="Arial" panose="020B0604020202020204" pitchFamily="34" charset="0"/>
              </a:rPr>
              <a:t>Aplicação</a:t>
            </a:r>
          </a:p>
        </p:txBody>
      </p:sp>
      <p:sp>
        <p:nvSpPr>
          <p:cNvPr id="2" name="Retângulo: Cantos Arredondados 1">
            <a:extLst>
              <a:ext uri="{FF2B5EF4-FFF2-40B4-BE49-F238E27FC236}">
                <a16:creationId xmlns:a16="http://schemas.microsoft.com/office/drawing/2014/main" id="{36EE77C0-4E30-1862-0ECB-4C7288CCD410}"/>
              </a:ext>
            </a:extLst>
          </p:cNvPr>
          <p:cNvSpPr/>
          <p:nvPr/>
        </p:nvSpPr>
        <p:spPr>
          <a:xfrm>
            <a:off x="6002233" y="5024973"/>
            <a:ext cx="1909219" cy="329956"/>
          </a:xfrm>
          <a:prstGeom prst="roundRect">
            <a:avLst/>
          </a:prstGeom>
          <a:solidFill>
            <a:srgbClr val="A7E1C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CaixaDeTexto 2">
            <a:extLst>
              <a:ext uri="{FF2B5EF4-FFF2-40B4-BE49-F238E27FC236}">
                <a16:creationId xmlns:a16="http://schemas.microsoft.com/office/drawing/2014/main" id="{8FD816CE-0FCB-4BC9-44E7-C12543401D11}"/>
              </a:ext>
            </a:extLst>
          </p:cNvPr>
          <p:cNvSpPr txBox="1"/>
          <p:nvPr/>
        </p:nvSpPr>
        <p:spPr>
          <a:xfrm>
            <a:off x="6254352" y="5086381"/>
            <a:ext cx="1711739" cy="230832"/>
          </a:xfrm>
          <a:prstGeom prst="rect">
            <a:avLst/>
          </a:prstGeom>
          <a:noFill/>
        </p:spPr>
        <p:txBody>
          <a:bodyPr wrap="square" rtlCol="0">
            <a:spAutoFit/>
          </a:bodyPr>
          <a:lstStyle/>
          <a:p>
            <a:pPr algn="ctr"/>
            <a:r>
              <a:rPr lang="pt-BR" sz="900" b="1" dirty="0">
                <a:solidFill>
                  <a:srgbClr val="00B050"/>
                </a:solidFill>
                <a:latin typeface="Arial" panose="020B0604020202020204" pitchFamily="34" charset="0"/>
                <a:cs typeface="Arial" panose="020B0604020202020204" pitchFamily="34" charset="0"/>
              </a:rPr>
              <a:t> 3 feedbacks justificados</a:t>
            </a:r>
          </a:p>
        </p:txBody>
      </p:sp>
      <p:grpSp>
        <p:nvGrpSpPr>
          <p:cNvPr id="4" name="Google Shape;2139;p50">
            <a:extLst>
              <a:ext uri="{FF2B5EF4-FFF2-40B4-BE49-F238E27FC236}">
                <a16:creationId xmlns:a16="http://schemas.microsoft.com/office/drawing/2014/main" id="{823FB996-414A-CA12-243D-4DB666B86A5E}"/>
              </a:ext>
            </a:extLst>
          </p:cNvPr>
          <p:cNvGrpSpPr/>
          <p:nvPr/>
        </p:nvGrpSpPr>
        <p:grpSpPr>
          <a:xfrm>
            <a:off x="6111490" y="5076482"/>
            <a:ext cx="207026" cy="206636"/>
            <a:chOff x="1421638" y="4125629"/>
            <a:chExt cx="374709" cy="374010"/>
          </a:xfrm>
          <a:solidFill>
            <a:srgbClr val="00B050"/>
          </a:solidFill>
        </p:grpSpPr>
        <p:sp>
          <p:nvSpPr>
            <p:cNvPr id="5" name="Google Shape;2140;p50">
              <a:extLst>
                <a:ext uri="{FF2B5EF4-FFF2-40B4-BE49-F238E27FC236}">
                  <a16:creationId xmlns:a16="http://schemas.microsoft.com/office/drawing/2014/main" id="{2D8F9DED-2EE0-5F5A-FF8E-A3F7C957DE41}"/>
                </a:ext>
              </a:extLst>
            </p:cNvPr>
            <p:cNvSpPr/>
            <p:nvPr/>
          </p:nvSpPr>
          <p:spPr>
            <a:xfrm>
              <a:off x="1421638" y="4265954"/>
              <a:ext cx="374709" cy="233685"/>
            </a:xfrm>
            <a:custGeom>
              <a:avLst/>
              <a:gdLst/>
              <a:ahLst/>
              <a:cxnLst/>
              <a:rect l="l" t="t" r="r" b="b"/>
              <a:pathLst>
                <a:path w="11800" h="7359" extrusionOk="0">
                  <a:moveTo>
                    <a:pt x="3180" y="3298"/>
                  </a:moveTo>
                  <a:lnTo>
                    <a:pt x="3180" y="7001"/>
                  </a:lnTo>
                  <a:lnTo>
                    <a:pt x="1691" y="7001"/>
                  </a:lnTo>
                  <a:lnTo>
                    <a:pt x="1691" y="3298"/>
                  </a:lnTo>
                  <a:close/>
                  <a:moveTo>
                    <a:pt x="6680" y="2370"/>
                  </a:moveTo>
                  <a:lnTo>
                    <a:pt x="6680" y="7001"/>
                  </a:lnTo>
                  <a:lnTo>
                    <a:pt x="5192" y="7001"/>
                  </a:lnTo>
                  <a:lnTo>
                    <a:pt x="5192" y="2370"/>
                  </a:lnTo>
                  <a:close/>
                  <a:moveTo>
                    <a:pt x="10180" y="345"/>
                  </a:moveTo>
                  <a:lnTo>
                    <a:pt x="10180" y="7001"/>
                  </a:lnTo>
                  <a:lnTo>
                    <a:pt x="8692" y="7001"/>
                  </a:lnTo>
                  <a:lnTo>
                    <a:pt x="8692" y="345"/>
                  </a:lnTo>
                  <a:close/>
                  <a:moveTo>
                    <a:pt x="8502" y="0"/>
                  </a:moveTo>
                  <a:cubicBezTo>
                    <a:pt x="8406" y="0"/>
                    <a:pt x="8323" y="84"/>
                    <a:pt x="8323" y="179"/>
                  </a:cubicBezTo>
                  <a:lnTo>
                    <a:pt x="8323" y="7001"/>
                  </a:lnTo>
                  <a:lnTo>
                    <a:pt x="7013" y="7001"/>
                  </a:lnTo>
                  <a:lnTo>
                    <a:pt x="7013" y="2203"/>
                  </a:lnTo>
                  <a:cubicBezTo>
                    <a:pt x="7013" y="2120"/>
                    <a:pt x="6930" y="2024"/>
                    <a:pt x="6835" y="2024"/>
                  </a:cubicBezTo>
                  <a:lnTo>
                    <a:pt x="4989" y="2024"/>
                  </a:lnTo>
                  <a:cubicBezTo>
                    <a:pt x="4894" y="2024"/>
                    <a:pt x="4811" y="2108"/>
                    <a:pt x="4811" y="2203"/>
                  </a:cubicBezTo>
                  <a:lnTo>
                    <a:pt x="4811" y="7001"/>
                  </a:lnTo>
                  <a:lnTo>
                    <a:pt x="3501" y="7001"/>
                  </a:lnTo>
                  <a:lnTo>
                    <a:pt x="3501" y="3132"/>
                  </a:lnTo>
                  <a:cubicBezTo>
                    <a:pt x="3501" y="3036"/>
                    <a:pt x="3418" y="2953"/>
                    <a:pt x="3322" y="2953"/>
                  </a:cubicBezTo>
                  <a:lnTo>
                    <a:pt x="1477" y="2953"/>
                  </a:lnTo>
                  <a:cubicBezTo>
                    <a:pt x="1382" y="2953"/>
                    <a:pt x="1298" y="3024"/>
                    <a:pt x="1298" y="3132"/>
                  </a:cubicBezTo>
                  <a:lnTo>
                    <a:pt x="1298" y="7001"/>
                  </a:lnTo>
                  <a:lnTo>
                    <a:pt x="179" y="7001"/>
                  </a:lnTo>
                  <a:cubicBezTo>
                    <a:pt x="84" y="7001"/>
                    <a:pt x="1" y="7073"/>
                    <a:pt x="1" y="7180"/>
                  </a:cubicBezTo>
                  <a:cubicBezTo>
                    <a:pt x="1" y="7287"/>
                    <a:pt x="72" y="7358"/>
                    <a:pt x="179" y="7358"/>
                  </a:cubicBezTo>
                  <a:lnTo>
                    <a:pt x="11597" y="7358"/>
                  </a:lnTo>
                  <a:cubicBezTo>
                    <a:pt x="11681" y="7358"/>
                    <a:pt x="11776" y="7287"/>
                    <a:pt x="11776" y="7180"/>
                  </a:cubicBezTo>
                  <a:cubicBezTo>
                    <a:pt x="11800" y="7073"/>
                    <a:pt x="11728" y="7001"/>
                    <a:pt x="11633" y="7001"/>
                  </a:cubicBezTo>
                  <a:lnTo>
                    <a:pt x="10526" y="7001"/>
                  </a:lnTo>
                  <a:lnTo>
                    <a:pt x="10526" y="179"/>
                  </a:lnTo>
                  <a:cubicBezTo>
                    <a:pt x="10526" y="95"/>
                    <a:pt x="10442" y="0"/>
                    <a:pt x="10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141;p50">
              <a:extLst>
                <a:ext uri="{FF2B5EF4-FFF2-40B4-BE49-F238E27FC236}">
                  <a16:creationId xmlns:a16="http://schemas.microsoft.com/office/drawing/2014/main" id="{69CE2782-6CCC-BEC6-4407-C6DFECFA46DF}"/>
                </a:ext>
              </a:extLst>
            </p:cNvPr>
            <p:cNvSpPr/>
            <p:nvPr/>
          </p:nvSpPr>
          <p:spPr>
            <a:xfrm>
              <a:off x="1428052" y="4125629"/>
              <a:ext cx="356958" cy="215585"/>
            </a:xfrm>
            <a:custGeom>
              <a:avLst/>
              <a:gdLst/>
              <a:ahLst/>
              <a:cxnLst/>
              <a:rect l="l" t="t" r="r" b="b"/>
              <a:pathLst>
                <a:path w="11241" h="6789" extrusionOk="0">
                  <a:moveTo>
                    <a:pt x="10668" y="0"/>
                  </a:moveTo>
                  <a:cubicBezTo>
                    <a:pt x="10653" y="0"/>
                    <a:pt x="10637" y="1"/>
                    <a:pt x="10621" y="2"/>
                  </a:cubicBezTo>
                  <a:lnTo>
                    <a:pt x="9145" y="181"/>
                  </a:lnTo>
                  <a:cubicBezTo>
                    <a:pt x="8847" y="216"/>
                    <a:pt x="8633" y="490"/>
                    <a:pt x="8669" y="788"/>
                  </a:cubicBezTo>
                  <a:cubicBezTo>
                    <a:pt x="8691" y="1064"/>
                    <a:pt x="8938" y="1268"/>
                    <a:pt x="9211" y="1268"/>
                  </a:cubicBezTo>
                  <a:cubicBezTo>
                    <a:pt x="9232" y="1268"/>
                    <a:pt x="9254" y="1267"/>
                    <a:pt x="9276" y="1264"/>
                  </a:cubicBezTo>
                  <a:lnTo>
                    <a:pt x="9395" y="1252"/>
                  </a:lnTo>
                  <a:lnTo>
                    <a:pt x="9395" y="1252"/>
                  </a:lnTo>
                  <a:cubicBezTo>
                    <a:pt x="7597" y="3348"/>
                    <a:pt x="5442" y="4443"/>
                    <a:pt x="3918" y="4979"/>
                  </a:cubicBezTo>
                  <a:cubicBezTo>
                    <a:pt x="2025" y="5657"/>
                    <a:pt x="561" y="5717"/>
                    <a:pt x="537" y="5717"/>
                  </a:cubicBezTo>
                  <a:cubicBezTo>
                    <a:pt x="239" y="5729"/>
                    <a:pt x="1" y="5967"/>
                    <a:pt x="25" y="6265"/>
                  </a:cubicBezTo>
                  <a:cubicBezTo>
                    <a:pt x="37" y="6562"/>
                    <a:pt x="275" y="6789"/>
                    <a:pt x="561" y="6789"/>
                  </a:cubicBezTo>
                  <a:lnTo>
                    <a:pt x="572" y="6789"/>
                  </a:lnTo>
                  <a:cubicBezTo>
                    <a:pt x="632" y="6789"/>
                    <a:pt x="2192" y="6729"/>
                    <a:pt x="4263" y="6003"/>
                  </a:cubicBezTo>
                  <a:cubicBezTo>
                    <a:pt x="5418" y="5586"/>
                    <a:pt x="6514" y="5050"/>
                    <a:pt x="7490" y="4383"/>
                  </a:cubicBezTo>
                  <a:cubicBezTo>
                    <a:pt x="7561" y="4324"/>
                    <a:pt x="7597" y="4217"/>
                    <a:pt x="7538" y="4145"/>
                  </a:cubicBezTo>
                  <a:cubicBezTo>
                    <a:pt x="7501" y="4093"/>
                    <a:pt x="7445" y="4065"/>
                    <a:pt x="7391" y="4065"/>
                  </a:cubicBezTo>
                  <a:cubicBezTo>
                    <a:pt x="7358" y="4065"/>
                    <a:pt x="7326" y="4075"/>
                    <a:pt x="7299" y="4098"/>
                  </a:cubicBezTo>
                  <a:cubicBezTo>
                    <a:pt x="6335" y="4753"/>
                    <a:pt x="5275" y="5288"/>
                    <a:pt x="4144" y="5693"/>
                  </a:cubicBezTo>
                  <a:cubicBezTo>
                    <a:pt x="2132" y="6408"/>
                    <a:pt x="632" y="6467"/>
                    <a:pt x="561" y="6467"/>
                  </a:cubicBezTo>
                  <a:cubicBezTo>
                    <a:pt x="453" y="6467"/>
                    <a:pt x="358" y="6372"/>
                    <a:pt x="358" y="6265"/>
                  </a:cubicBezTo>
                  <a:cubicBezTo>
                    <a:pt x="358" y="6169"/>
                    <a:pt x="441" y="6074"/>
                    <a:pt x="561" y="6062"/>
                  </a:cubicBezTo>
                  <a:cubicBezTo>
                    <a:pt x="572" y="6062"/>
                    <a:pt x="2085" y="6003"/>
                    <a:pt x="4037" y="5300"/>
                  </a:cubicBezTo>
                  <a:cubicBezTo>
                    <a:pt x="5680" y="4717"/>
                    <a:pt x="8026" y="3514"/>
                    <a:pt x="9943" y="1133"/>
                  </a:cubicBezTo>
                  <a:cubicBezTo>
                    <a:pt x="10035" y="1018"/>
                    <a:pt x="9949" y="847"/>
                    <a:pt x="9813" y="847"/>
                  </a:cubicBezTo>
                  <a:cubicBezTo>
                    <a:pt x="9809" y="847"/>
                    <a:pt x="9804" y="847"/>
                    <a:pt x="9800" y="847"/>
                  </a:cubicBezTo>
                  <a:lnTo>
                    <a:pt x="9252" y="931"/>
                  </a:lnTo>
                  <a:cubicBezTo>
                    <a:pt x="9244" y="932"/>
                    <a:pt x="9236" y="932"/>
                    <a:pt x="9228" y="932"/>
                  </a:cubicBezTo>
                  <a:cubicBezTo>
                    <a:pt x="9139" y="932"/>
                    <a:pt x="9049" y="874"/>
                    <a:pt x="9038" y="776"/>
                  </a:cubicBezTo>
                  <a:cubicBezTo>
                    <a:pt x="9014" y="657"/>
                    <a:pt x="9085" y="550"/>
                    <a:pt x="9204" y="538"/>
                  </a:cubicBezTo>
                  <a:lnTo>
                    <a:pt x="10681" y="359"/>
                  </a:lnTo>
                  <a:cubicBezTo>
                    <a:pt x="10688" y="358"/>
                    <a:pt x="10696" y="358"/>
                    <a:pt x="10703" y="358"/>
                  </a:cubicBezTo>
                  <a:cubicBezTo>
                    <a:pt x="10812" y="358"/>
                    <a:pt x="10895" y="438"/>
                    <a:pt x="10895" y="550"/>
                  </a:cubicBezTo>
                  <a:lnTo>
                    <a:pt x="10895" y="2026"/>
                  </a:lnTo>
                  <a:cubicBezTo>
                    <a:pt x="10895" y="2133"/>
                    <a:pt x="10812" y="2217"/>
                    <a:pt x="10705" y="2217"/>
                  </a:cubicBezTo>
                  <a:cubicBezTo>
                    <a:pt x="10598" y="2217"/>
                    <a:pt x="10514" y="2133"/>
                    <a:pt x="10514" y="2026"/>
                  </a:cubicBezTo>
                  <a:lnTo>
                    <a:pt x="10514" y="1586"/>
                  </a:lnTo>
                  <a:cubicBezTo>
                    <a:pt x="10514" y="1502"/>
                    <a:pt x="10467" y="1443"/>
                    <a:pt x="10407" y="1419"/>
                  </a:cubicBezTo>
                  <a:cubicBezTo>
                    <a:pt x="10387" y="1409"/>
                    <a:pt x="10368" y="1405"/>
                    <a:pt x="10349" y="1405"/>
                  </a:cubicBezTo>
                  <a:cubicBezTo>
                    <a:pt x="10298" y="1405"/>
                    <a:pt x="10251" y="1435"/>
                    <a:pt x="10217" y="1478"/>
                  </a:cubicBezTo>
                  <a:cubicBezTo>
                    <a:pt x="9574" y="2264"/>
                    <a:pt x="8835" y="2979"/>
                    <a:pt x="8026" y="3610"/>
                  </a:cubicBezTo>
                  <a:cubicBezTo>
                    <a:pt x="7954" y="3669"/>
                    <a:pt x="7942" y="3764"/>
                    <a:pt x="8002" y="3848"/>
                  </a:cubicBezTo>
                  <a:cubicBezTo>
                    <a:pt x="8036" y="3888"/>
                    <a:pt x="8081" y="3910"/>
                    <a:pt x="8129" y="3910"/>
                  </a:cubicBezTo>
                  <a:cubicBezTo>
                    <a:pt x="8166" y="3910"/>
                    <a:pt x="8204" y="3897"/>
                    <a:pt x="8240" y="3872"/>
                  </a:cubicBezTo>
                  <a:cubicBezTo>
                    <a:pt x="8931" y="3336"/>
                    <a:pt x="9585" y="2729"/>
                    <a:pt x="10169" y="2062"/>
                  </a:cubicBezTo>
                  <a:cubicBezTo>
                    <a:pt x="10181" y="2336"/>
                    <a:pt x="10419" y="2574"/>
                    <a:pt x="10705" y="2574"/>
                  </a:cubicBezTo>
                  <a:cubicBezTo>
                    <a:pt x="11002" y="2574"/>
                    <a:pt x="11240" y="2336"/>
                    <a:pt x="11240" y="2038"/>
                  </a:cubicBezTo>
                  <a:lnTo>
                    <a:pt x="11240" y="573"/>
                  </a:lnTo>
                  <a:cubicBezTo>
                    <a:pt x="11240" y="395"/>
                    <a:pt x="11169" y="240"/>
                    <a:pt x="11050" y="133"/>
                  </a:cubicBezTo>
                  <a:cubicBezTo>
                    <a:pt x="10943" y="47"/>
                    <a:pt x="10807" y="0"/>
                    <a:pt x="106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Retângulo: Cantos Arredondados 8">
            <a:extLst>
              <a:ext uri="{FF2B5EF4-FFF2-40B4-BE49-F238E27FC236}">
                <a16:creationId xmlns:a16="http://schemas.microsoft.com/office/drawing/2014/main" id="{0400FF7D-DD03-6CA4-6E88-A2F0D9D347BA}"/>
              </a:ext>
            </a:extLst>
          </p:cNvPr>
          <p:cNvSpPr/>
          <p:nvPr/>
        </p:nvSpPr>
        <p:spPr>
          <a:xfrm>
            <a:off x="3115747" y="2550490"/>
            <a:ext cx="1909219" cy="329956"/>
          </a:xfrm>
          <a:prstGeom prst="roundRect">
            <a:avLst/>
          </a:prstGeom>
          <a:solidFill>
            <a:srgbClr val="A7E1C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CaixaDeTexto 9">
            <a:extLst>
              <a:ext uri="{FF2B5EF4-FFF2-40B4-BE49-F238E27FC236}">
                <a16:creationId xmlns:a16="http://schemas.microsoft.com/office/drawing/2014/main" id="{C7674612-BBBE-8DC9-9803-C4FFDA60C5A4}"/>
              </a:ext>
            </a:extLst>
          </p:cNvPr>
          <p:cNvSpPr txBox="1"/>
          <p:nvPr/>
        </p:nvSpPr>
        <p:spPr>
          <a:xfrm>
            <a:off x="3103221" y="2600052"/>
            <a:ext cx="2103510" cy="230832"/>
          </a:xfrm>
          <a:prstGeom prst="rect">
            <a:avLst/>
          </a:prstGeom>
          <a:noFill/>
        </p:spPr>
        <p:txBody>
          <a:bodyPr wrap="square" rtlCol="0">
            <a:spAutoFit/>
          </a:bodyPr>
          <a:lstStyle/>
          <a:p>
            <a:pPr algn="ctr"/>
            <a:r>
              <a:rPr lang="pt-BR" sz="900" b="1" dirty="0">
                <a:solidFill>
                  <a:srgbClr val="00B050"/>
                </a:solidFill>
                <a:latin typeface="Arial" panose="020B0604020202020204" pitchFamily="34" charset="0"/>
                <a:cs typeface="Arial" panose="020B0604020202020204" pitchFamily="34" charset="0"/>
              </a:rPr>
              <a:t> 2 monitorias justificadas</a:t>
            </a:r>
          </a:p>
        </p:txBody>
      </p:sp>
      <p:grpSp>
        <p:nvGrpSpPr>
          <p:cNvPr id="11" name="Google Shape;2139;p50">
            <a:extLst>
              <a:ext uri="{FF2B5EF4-FFF2-40B4-BE49-F238E27FC236}">
                <a16:creationId xmlns:a16="http://schemas.microsoft.com/office/drawing/2014/main" id="{23B17D79-AFB3-34EA-9A3A-417A10FF9660}"/>
              </a:ext>
            </a:extLst>
          </p:cNvPr>
          <p:cNvGrpSpPr/>
          <p:nvPr/>
        </p:nvGrpSpPr>
        <p:grpSpPr>
          <a:xfrm>
            <a:off x="3225004" y="2601999"/>
            <a:ext cx="207026" cy="206636"/>
            <a:chOff x="1421638" y="4125629"/>
            <a:chExt cx="374709" cy="374010"/>
          </a:xfrm>
          <a:solidFill>
            <a:srgbClr val="00B050"/>
          </a:solidFill>
        </p:grpSpPr>
        <p:sp>
          <p:nvSpPr>
            <p:cNvPr id="12" name="Google Shape;2140;p50">
              <a:extLst>
                <a:ext uri="{FF2B5EF4-FFF2-40B4-BE49-F238E27FC236}">
                  <a16:creationId xmlns:a16="http://schemas.microsoft.com/office/drawing/2014/main" id="{8CFFF1D5-D682-3D6C-DBB2-608E7BABE31C}"/>
                </a:ext>
              </a:extLst>
            </p:cNvPr>
            <p:cNvSpPr/>
            <p:nvPr/>
          </p:nvSpPr>
          <p:spPr>
            <a:xfrm>
              <a:off x="1421638" y="4265954"/>
              <a:ext cx="374709" cy="233685"/>
            </a:xfrm>
            <a:custGeom>
              <a:avLst/>
              <a:gdLst/>
              <a:ahLst/>
              <a:cxnLst/>
              <a:rect l="l" t="t" r="r" b="b"/>
              <a:pathLst>
                <a:path w="11800" h="7359" extrusionOk="0">
                  <a:moveTo>
                    <a:pt x="3180" y="3298"/>
                  </a:moveTo>
                  <a:lnTo>
                    <a:pt x="3180" y="7001"/>
                  </a:lnTo>
                  <a:lnTo>
                    <a:pt x="1691" y="7001"/>
                  </a:lnTo>
                  <a:lnTo>
                    <a:pt x="1691" y="3298"/>
                  </a:lnTo>
                  <a:close/>
                  <a:moveTo>
                    <a:pt x="6680" y="2370"/>
                  </a:moveTo>
                  <a:lnTo>
                    <a:pt x="6680" y="7001"/>
                  </a:lnTo>
                  <a:lnTo>
                    <a:pt x="5192" y="7001"/>
                  </a:lnTo>
                  <a:lnTo>
                    <a:pt x="5192" y="2370"/>
                  </a:lnTo>
                  <a:close/>
                  <a:moveTo>
                    <a:pt x="10180" y="345"/>
                  </a:moveTo>
                  <a:lnTo>
                    <a:pt x="10180" y="7001"/>
                  </a:lnTo>
                  <a:lnTo>
                    <a:pt x="8692" y="7001"/>
                  </a:lnTo>
                  <a:lnTo>
                    <a:pt x="8692" y="345"/>
                  </a:lnTo>
                  <a:close/>
                  <a:moveTo>
                    <a:pt x="8502" y="0"/>
                  </a:moveTo>
                  <a:cubicBezTo>
                    <a:pt x="8406" y="0"/>
                    <a:pt x="8323" y="84"/>
                    <a:pt x="8323" y="179"/>
                  </a:cubicBezTo>
                  <a:lnTo>
                    <a:pt x="8323" y="7001"/>
                  </a:lnTo>
                  <a:lnTo>
                    <a:pt x="7013" y="7001"/>
                  </a:lnTo>
                  <a:lnTo>
                    <a:pt x="7013" y="2203"/>
                  </a:lnTo>
                  <a:cubicBezTo>
                    <a:pt x="7013" y="2120"/>
                    <a:pt x="6930" y="2024"/>
                    <a:pt x="6835" y="2024"/>
                  </a:cubicBezTo>
                  <a:lnTo>
                    <a:pt x="4989" y="2024"/>
                  </a:lnTo>
                  <a:cubicBezTo>
                    <a:pt x="4894" y="2024"/>
                    <a:pt x="4811" y="2108"/>
                    <a:pt x="4811" y="2203"/>
                  </a:cubicBezTo>
                  <a:lnTo>
                    <a:pt x="4811" y="7001"/>
                  </a:lnTo>
                  <a:lnTo>
                    <a:pt x="3501" y="7001"/>
                  </a:lnTo>
                  <a:lnTo>
                    <a:pt x="3501" y="3132"/>
                  </a:lnTo>
                  <a:cubicBezTo>
                    <a:pt x="3501" y="3036"/>
                    <a:pt x="3418" y="2953"/>
                    <a:pt x="3322" y="2953"/>
                  </a:cubicBezTo>
                  <a:lnTo>
                    <a:pt x="1477" y="2953"/>
                  </a:lnTo>
                  <a:cubicBezTo>
                    <a:pt x="1382" y="2953"/>
                    <a:pt x="1298" y="3024"/>
                    <a:pt x="1298" y="3132"/>
                  </a:cubicBezTo>
                  <a:lnTo>
                    <a:pt x="1298" y="7001"/>
                  </a:lnTo>
                  <a:lnTo>
                    <a:pt x="179" y="7001"/>
                  </a:lnTo>
                  <a:cubicBezTo>
                    <a:pt x="84" y="7001"/>
                    <a:pt x="1" y="7073"/>
                    <a:pt x="1" y="7180"/>
                  </a:cubicBezTo>
                  <a:cubicBezTo>
                    <a:pt x="1" y="7287"/>
                    <a:pt x="72" y="7358"/>
                    <a:pt x="179" y="7358"/>
                  </a:cubicBezTo>
                  <a:lnTo>
                    <a:pt x="11597" y="7358"/>
                  </a:lnTo>
                  <a:cubicBezTo>
                    <a:pt x="11681" y="7358"/>
                    <a:pt x="11776" y="7287"/>
                    <a:pt x="11776" y="7180"/>
                  </a:cubicBezTo>
                  <a:cubicBezTo>
                    <a:pt x="11800" y="7073"/>
                    <a:pt x="11728" y="7001"/>
                    <a:pt x="11633" y="7001"/>
                  </a:cubicBezTo>
                  <a:lnTo>
                    <a:pt x="10526" y="7001"/>
                  </a:lnTo>
                  <a:lnTo>
                    <a:pt x="10526" y="179"/>
                  </a:lnTo>
                  <a:cubicBezTo>
                    <a:pt x="10526" y="95"/>
                    <a:pt x="10442" y="0"/>
                    <a:pt x="10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141;p50">
              <a:extLst>
                <a:ext uri="{FF2B5EF4-FFF2-40B4-BE49-F238E27FC236}">
                  <a16:creationId xmlns:a16="http://schemas.microsoft.com/office/drawing/2014/main" id="{063B024E-BD60-53DD-4AF2-CC130CA38901}"/>
                </a:ext>
              </a:extLst>
            </p:cNvPr>
            <p:cNvSpPr/>
            <p:nvPr/>
          </p:nvSpPr>
          <p:spPr>
            <a:xfrm>
              <a:off x="1428052" y="4125629"/>
              <a:ext cx="356958" cy="215585"/>
            </a:xfrm>
            <a:custGeom>
              <a:avLst/>
              <a:gdLst/>
              <a:ahLst/>
              <a:cxnLst/>
              <a:rect l="l" t="t" r="r" b="b"/>
              <a:pathLst>
                <a:path w="11241" h="6789" extrusionOk="0">
                  <a:moveTo>
                    <a:pt x="10668" y="0"/>
                  </a:moveTo>
                  <a:cubicBezTo>
                    <a:pt x="10653" y="0"/>
                    <a:pt x="10637" y="1"/>
                    <a:pt x="10621" y="2"/>
                  </a:cubicBezTo>
                  <a:lnTo>
                    <a:pt x="9145" y="181"/>
                  </a:lnTo>
                  <a:cubicBezTo>
                    <a:pt x="8847" y="216"/>
                    <a:pt x="8633" y="490"/>
                    <a:pt x="8669" y="788"/>
                  </a:cubicBezTo>
                  <a:cubicBezTo>
                    <a:pt x="8691" y="1064"/>
                    <a:pt x="8938" y="1268"/>
                    <a:pt x="9211" y="1268"/>
                  </a:cubicBezTo>
                  <a:cubicBezTo>
                    <a:pt x="9232" y="1268"/>
                    <a:pt x="9254" y="1267"/>
                    <a:pt x="9276" y="1264"/>
                  </a:cubicBezTo>
                  <a:lnTo>
                    <a:pt x="9395" y="1252"/>
                  </a:lnTo>
                  <a:lnTo>
                    <a:pt x="9395" y="1252"/>
                  </a:lnTo>
                  <a:cubicBezTo>
                    <a:pt x="7597" y="3348"/>
                    <a:pt x="5442" y="4443"/>
                    <a:pt x="3918" y="4979"/>
                  </a:cubicBezTo>
                  <a:cubicBezTo>
                    <a:pt x="2025" y="5657"/>
                    <a:pt x="561" y="5717"/>
                    <a:pt x="537" y="5717"/>
                  </a:cubicBezTo>
                  <a:cubicBezTo>
                    <a:pt x="239" y="5729"/>
                    <a:pt x="1" y="5967"/>
                    <a:pt x="25" y="6265"/>
                  </a:cubicBezTo>
                  <a:cubicBezTo>
                    <a:pt x="37" y="6562"/>
                    <a:pt x="275" y="6789"/>
                    <a:pt x="561" y="6789"/>
                  </a:cubicBezTo>
                  <a:lnTo>
                    <a:pt x="572" y="6789"/>
                  </a:lnTo>
                  <a:cubicBezTo>
                    <a:pt x="632" y="6789"/>
                    <a:pt x="2192" y="6729"/>
                    <a:pt x="4263" y="6003"/>
                  </a:cubicBezTo>
                  <a:cubicBezTo>
                    <a:pt x="5418" y="5586"/>
                    <a:pt x="6514" y="5050"/>
                    <a:pt x="7490" y="4383"/>
                  </a:cubicBezTo>
                  <a:cubicBezTo>
                    <a:pt x="7561" y="4324"/>
                    <a:pt x="7597" y="4217"/>
                    <a:pt x="7538" y="4145"/>
                  </a:cubicBezTo>
                  <a:cubicBezTo>
                    <a:pt x="7501" y="4093"/>
                    <a:pt x="7445" y="4065"/>
                    <a:pt x="7391" y="4065"/>
                  </a:cubicBezTo>
                  <a:cubicBezTo>
                    <a:pt x="7358" y="4065"/>
                    <a:pt x="7326" y="4075"/>
                    <a:pt x="7299" y="4098"/>
                  </a:cubicBezTo>
                  <a:cubicBezTo>
                    <a:pt x="6335" y="4753"/>
                    <a:pt x="5275" y="5288"/>
                    <a:pt x="4144" y="5693"/>
                  </a:cubicBezTo>
                  <a:cubicBezTo>
                    <a:pt x="2132" y="6408"/>
                    <a:pt x="632" y="6467"/>
                    <a:pt x="561" y="6467"/>
                  </a:cubicBezTo>
                  <a:cubicBezTo>
                    <a:pt x="453" y="6467"/>
                    <a:pt x="358" y="6372"/>
                    <a:pt x="358" y="6265"/>
                  </a:cubicBezTo>
                  <a:cubicBezTo>
                    <a:pt x="358" y="6169"/>
                    <a:pt x="441" y="6074"/>
                    <a:pt x="561" y="6062"/>
                  </a:cubicBezTo>
                  <a:cubicBezTo>
                    <a:pt x="572" y="6062"/>
                    <a:pt x="2085" y="6003"/>
                    <a:pt x="4037" y="5300"/>
                  </a:cubicBezTo>
                  <a:cubicBezTo>
                    <a:pt x="5680" y="4717"/>
                    <a:pt x="8026" y="3514"/>
                    <a:pt x="9943" y="1133"/>
                  </a:cubicBezTo>
                  <a:cubicBezTo>
                    <a:pt x="10035" y="1018"/>
                    <a:pt x="9949" y="847"/>
                    <a:pt x="9813" y="847"/>
                  </a:cubicBezTo>
                  <a:cubicBezTo>
                    <a:pt x="9809" y="847"/>
                    <a:pt x="9804" y="847"/>
                    <a:pt x="9800" y="847"/>
                  </a:cubicBezTo>
                  <a:lnTo>
                    <a:pt x="9252" y="931"/>
                  </a:lnTo>
                  <a:cubicBezTo>
                    <a:pt x="9244" y="932"/>
                    <a:pt x="9236" y="932"/>
                    <a:pt x="9228" y="932"/>
                  </a:cubicBezTo>
                  <a:cubicBezTo>
                    <a:pt x="9139" y="932"/>
                    <a:pt x="9049" y="874"/>
                    <a:pt x="9038" y="776"/>
                  </a:cubicBezTo>
                  <a:cubicBezTo>
                    <a:pt x="9014" y="657"/>
                    <a:pt x="9085" y="550"/>
                    <a:pt x="9204" y="538"/>
                  </a:cubicBezTo>
                  <a:lnTo>
                    <a:pt x="10681" y="359"/>
                  </a:lnTo>
                  <a:cubicBezTo>
                    <a:pt x="10688" y="358"/>
                    <a:pt x="10696" y="358"/>
                    <a:pt x="10703" y="358"/>
                  </a:cubicBezTo>
                  <a:cubicBezTo>
                    <a:pt x="10812" y="358"/>
                    <a:pt x="10895" y="438"/>
                    <a:pt x="10895" y="550"/>
                  </a:cubicBezTo>
                  <a:lnTo>
                    <a:pt x="10895" y="2026"/>
                  </a:lnTo>
                  <a:cubicBezTo>
                    <a:pt x="10895" y="2133"/>
                    <a:pt x="10812" y="2217"/>
                    <a:pt x="10705" y="2217"/>
                  </a:cubicBezTo>
                  <a:cubicBezTo>
                    <a:pt x="10598" y="2217"/>
                    <a:pt x="10514" y="2133"/>
                    <a:pt x="10514" y="2026"/>
                  </a:cubicBezTo>
                  <a:lnTo>
                    <a:pt x="10514" y="1586"/>
                  </a:lnTo>
                  <a:cubicBezTo>
                    <a:pt x="10514" y="1502"/>
                    <a:pt x="10467" y="1443"/>
                    <a:pt x="10407" y="1419"/>
                  </a:cubicBezTo>
                  <a:cubicBezTo>
                    <a:pt x="10387" y="1409"/>
                    <a:pt x="10368" y="1405"/>
                    <a:pt x="10349" y="1405"/>
                  </a:cubicBezTo>
                  <a:cubicBezTo>
                    <a:pt x="10298" y="1405"/>
                    <a:pt x="10251" y="1435"/>
                    <a:pt x="10217" y="1478"/>
                  </a:cubicBezTo>
                  <a:cubicBezTo>
                    <a:pt x="9574" y="2264"/>
                    <a:pt x="8835" y="2979"/>
                    <a:pt x="8026" y="3610"/>
                  </a:cubicBezTo>
                  <a:cubicBezTo>
                    <a:pt x="7954" y="3669"/>
                    <a:pt x="7942" y="3764"/>
                    <a:pt x="8002" y="3848"/>
                  </a:cubicBezTo>
                  <a:cubicBezTo>
                    <a:pt x="8036" y="3888"/>
                    <a:pt x="8081" y="3910"/>
                    <a:pt x="8129" y="3910"/>
                  </a:cubicBezTo>
                  <a:cubicBezTo>
                    <a:pt x="8166" y="3910"/>
                    <a:pt x="8204" y="3897"/>
                    <a:pt x="8240" y="3872"/>
                  </a:cubicBezTo>
                  <a:cubicBezTo>
                    <a:pt x="8931" y="3336"/>
                    <a:pt x="9585" y="2729"/>
                    <a:pt x="10169" y="2062"/>
                  </a:cubicBezTo>
                  <a:cubicBezTo>
                    <a:pt x="10181" y="2336"/>
                    <a:pt x="10419" y="2574"/>
                    <a:pt x="10705" y="2574"/>
                  </a:cubicBezTo>
                  <a:cubicBezTo>
                    <a:pt x="11002" y="2574"/>
                    <a:pt x="11240" y="2336"/>
                    <a:pt x="11240" y="2038"/>
                  </a:cubicBezTo>
                  <a:lnTo>
                    <a:pt x="11240" y="573"/>
                  </a:lnTo>
                  <a:cubicBezTo>
                    <a:pt x="11240" y="395"/>
                    <a:pt x="11169" y="240"/>
                    <a:pt x="11050" y="133"/>
                  </a:cubicBezTo>
                  <a:cubicBezTo>
                    <a:pt x="10943" y="47"/>
                    <a:pt x="10807" y="0"/>
                    <a:pt x="106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930942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Imagem 38">
            <a:extLst>
              <a:ext uri="{FF2B5EF4-FFF2-40B4-BE49-F238E27FC236}">
                <a16:creationId xmlns:a16="http://schemas.microsoft.com/office/drawing/2014/main" id="{8F6A83EB-6687-479D-BD59-51B6B2B8CBF9}"/>
              </a:ext>
            </a:extLst>
          </p:cNvPr>
          <p:cNvPicPr>
            <a:picLocks noChangeAspect="1"/>
          </p:cNvPicPr>
          <p:nvPr/>
        </p:nvPicPr>
        <p:blipFill>
          <a:blip r:embed="rId2">
            <a:alphaModFix amt="4000"/>
          </a:blip>
          <a:stretch>
            <a:fillRect/>
          </a:stretch>
        </p:blipFill>
        <p:spPr>
          <a:xfrm>
            <a:off x="9118521" y="4681854"/>
            <a:ext cx="5030445" cy="5148116"/>
          </a:xfrm>
          <a:prstGeom prst="rect">
            <a:avLst/>
          </a:prstGeom>
          <a:effectLst/>
        </p:spPr>
      </p:pic>
      <p:pic>
        <p:nvPicPr>
          <p:cNvPr id="38" name="Imagem 37">
            <a:extLst>
              <a:ext uri="{FF2B5EF4-FFF2-40B4-BE49-F238E27FC236}">
                <a16:creationId xmlns:a16="http://schemas.microsoft.com/office/drawing/2014/main" id="{DE2A603E-716D-41D5-ABEF-1625839B46A3}"/>
              </a:ext>
            </a:extLst>
          </p:cNvPr>
          <p:cNvPicPr>
            <a:picLocks noChangeAspect="1"/>
          </p:cNvPicPr>
          <p:nvPr/>
        </p:nvPicPr>
        <p:blipFill>
          <a:blip r:embed="rId2">
            <a:alphaModFix amt="4000"/>
          </a:blip>
          <a:stretch>
            <a:fillRect/>
          </a:stretch>
        </p:blipFill>
        <p:spPr>
          <a:xfrm>
            <a:off x="-2128370" y="-2021305"/>
            <a:ext cx="5030445" cy="5148116"/>
          </a:xfrm>
          <a:prstGeom prst="rect">
            <a:avLst/>
          </a:prstGeom>
          <a:effectLst/>
        </p:spPr>
      </p:pic>
      <p:sp>
        <p:nvSpPr>
          <p:cNvPr id="6" name="Título 1">
            <a:extLst>
              <a:ext uri="{FF2B5EF4-FFF2-40B4-BE49-F238E27FC236}">
                <a16:creationId xmlns:a16="http://schemas.microsoft.com/office/drawing/2014/main" id="{F19E4ED5-6191-4819-BC5E-0686AFC2CEAF}"/>
              </a:ext>
            </a:extLst>
          </p:cNvPr>
          <p:cNvSpPr txBox="1">
            <a:spLocks/>
          </p:cNvSpPr>
          <p:nvPr/>
        </p:nvSpPr>
        <p:spPr>
          <a:xfrm>
            <a:off x="5946417" y="431573"/>
            <a:ext cx="5811865"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pt-BR" sz="1600" spc="600" dirty="0">
                <a:solidFill>
                  <a:srgbClr val="9E2289"/>
                </a:solidFill>
                <a:latin typeface="Arial" panose="020B0604020202020204" pitchFamily="34" charset="0"/>
                <a:cs typeface="Arial" panose="020B0604020202020204" pitchFamily="34" charset="0"/>
              </a:rPr>
              <a:t>PREMIUM</a:t>
            </a:r>
          </a:p>
        </p:txBody>
      </p:sp>
      <p:grpSp>
        <p:nvGrpSpPr>
          <p:cNvPr id="20" name="Google Shape;1964;p50">
            <a:extLst>
              <a:ext uri="{FF2B5EF4-FFF2-40B4-BE49-F238E27FC236}">
                <a16:creationId xmlns:a16="http://schemas.microsoft.com/office/drawing/2014/main" id="{644333FE-63B4-42DF-ADFA-AF9177DF58D7}"/>
              </a:ext>
            </a:extLst>
          </p:cNvPr>
          <p:cNvGrpSpPr/>
          <p:nvPr/>
        </p:nvGrpSpPr>
        <p:grpSpPr>
          <a:xfrm flipH="1">
            <a:off x="742950" y="537670"/>
            <a:ext cx="603644" cy="576232"/>
            <a:chOff x="4126815" y="2760704"/>
            <a:chExt cx="380393" cy="363118"/>
          </a:xfrm>
          <a:solidFill>
            <a:srgbClr val="0B5892"/>
          </a:solidFill>
        </p:grpSpPr>
        <p:sp>
          <p:nvSpPr>
            <p:cNvPr id="21" name="Google Shape;1965;p50">
              <a:extLst>
                <a:ext uri="{FF2B5EF4-FFF2-40B4-BE49-F238E27FC236}">
                  <a16:creationId xmlns:a16="http://schemas.microsoft.com/office/drawing/2014/main" id="{C90A8E2B-6430-4128-93A1-80EDBF3E3BED}"/>
                </a:ext>
              </a:extLst>
            </p:cNvPr>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966;p50">
              <a:extLst>
                <a:ext uri="{FF2B5EF4-FFF2-40B4-BE49-F238E27FC236}">
                  <a16:creationId xmlns:a16="http://schemas.microsoft.com/office/drawing/2014/main" id="{C220A82A-DCEF-47A8-9174-5A849CB2B75F}"/>
                </a:ext>
              </a:extLst>
            </p:cNvPr>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967;p50">
              <a:extLst>
                <a:ext uri="{FF2B5EF4-FFF2-40B4-BE49-F238E27FC236}">
                  <a16:creationId xmlns:a16="http://schemas.microsoft.com/office/drawing/2014/main" id="{446DDA74-F73B-4510-BFCE-608659C3FC02}"/>
                </a:ext>
              </a:extLst>
            </p:cNvPr>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968;p50">
              <a:extLst>
                <a:ext uri="{FF2B5EF4-FFF2-40B4-BE49-F238E27FC236}">
                  <a16:creationId xmlns:a16="http://schemas.microsoft.com/office/drawing/2014/main" id="{487DFEED-06C3-4B9B-9B7A-545AAF95F24C}"/>
                </a:ext>
              </a:extLst>
            </p:cNvPr>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Retângulo 28">
            <a:extLst>
              <a:ext uri="{FF2B5EF4-FFF2-40B4-BE49-F238E27FC236}">
                <a16:creationId xmlns:a16="http://schemas.microsoft.com/office/drawing/2014/main" id="{0BBC58FB-2C41-419E-8246-609C9177CDA9}"/>
              </a:ext>
            </a:extLst>
          </p:cNvPr>
          <p:cNvSpPr/>
          <p:nvPr/>
        </p:nvSpPr>
        <p:spPr>
          <a:xfrm>
            <a:off x="-449179" y="6707874"/>
            <a:ext cx="14054469" cy="334610"/>
          </a:xfrm>
          <a:prstGeom prst="rect">
            <a:avLst/>
          </a:prstGeom>
          <a:solidFill>
            <a:srgbClr val="9E22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 name="Imagem 7">
            <a:extLst>
              <a:ext uri="{FF2B5EF4-FFF2-40B4-BE49-F238E27FC236}">
                <a16:creationId xmlns:a16="http://schemas.microsoft.com/office/drawing/2014/main" id="{55CA91AA-A108-4071-B0A7-0374C74EDA09}"/>
              </a:ext>
            </a:extLst>
          </p:cNvPr>
          <p:cNvPicPr>
            <a:picLocks noChangeAspect="1"/>
          </p:cNvPicPr>
          <p:nvPr/>
        </p:nvPicPr>
        <p:blipFill>
          <a:blip r:embed="rId3"/>
          <a:stretch>
            <a:fillRect/>
          </a:stretch>
        </p:blipFill>
        <p:spPr>
          <a:xfrm>
            <a:off x="-124691" y="-20995"/>
            <a:ext cx="12316692" cy="88042"/>
          </a:xfrm>
          <a:prstGeom prst="rect">
            <a:avLst/>
          </a:prstGeom>
        </p:spPr>
      </p:pic>
      <p:sp>
        <p:nvSpPr>
          <p:cNvPr id="18" name="Título 1">
            <a:extLst>
              <a:ext uri="{FF2B5EF4-FFF2-40B4-BE49-F238E27FC236}">
                <a16:creationId xmlns:a16="http://schemas.microsoft.com/office/drawing/2014/main" id="{9BC75932-B40A-460F-B242-8264BFE06926}"/>
              </a:ext>
            </a:extLst>
          </p:cNvPr>
          <p:cNvSpPr txBox="1">
            <a:spLocks/>
          </p:cNvSpPr>
          <p:nvPr/>
        </p:nvSpPr>
        <p:spPr>
          <a:xfrm>
            <a:off x="1366068" y="448718"/>
            <a:ext cx="6453099"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spc="600" dirty="0">
                <a:solidFill>
                  <a:srgbClr val="0B5892"/>
                </a:solidFill>
                <a:latin typeface="Arial" panose="020B0604020202020204" pitchFamily="34" charset="0"/>
                <a:cs typeface="Arial" panose="020B0604020202020204" pitchFamily="34" charset="0"/>
              </a:rPr>
              <a:t>VISÃO POR CICLOS</a:t>
            </a:r>
          </a:p>
        </p:txBody>
      </p:sp>
      <p:sp>
        <p:nvSpPr>
          <p:cNvPr id="19" name="Título 1">
            <a:extLst>
              <a:ext uri="{FF2B5EF4-FFF2-40B4-BE49-F238E27FC236}">
                <a16:creationId xmlns:a16="http://schemas.microsoft.com/office/drawing/2014/main" id="{CB92D9AB-3FEB-47AD-8015-DD30B5F902CE}"/>
              </a:ext>
            </a:extLst>
          </p:cNvPr>
          <p:cNvSpPr txBox="1">
            <a:spLocks/>
          </p:cNvSpPr>
          <p:nvPr/>
        </p:nvSpPr>
        <p:spPr>
          <a:xfrm>
            <a:off x="1400358" y="716411"/>
            <a:ext cx="6950456"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600" spc="300" dirty="0">
                <a:solidFill>
                  <a:srgbClr val="0B5892"/>
                </a:solidFill>
                <a:latin typeface="Arial" panose="020B0604020202020204" pitchFamily="34" charset="0"/>
                <a:cs typeface="Arial" panose="020B0604020202020204" pitchFamily="34" charset="0"/>
              </a:rPr>
              <a:t>Quantidade total de monitorias realizadas</a:t>
            </a:r>
          </a:p>
        </p:txBody>
      </p:sp>
      <p:cxnSp>
        <p:nvCxnSpPr>
          <p:cNvPr id="25" name="Conector reto 24">
            <a:extLst>
              <a:ext uri="{FF2B5EF4-FFF2-40B4-BE49-F238E27FC236}">
                <a16:creationId xmlns:a16="http://schemas.microsoft.com/office/drawing/2014/main" id="{C6F5D155-7AE8-4277-A61A-2EF88BF2DADC}"/>
              </a:ext>
            </a:extLst>
          </p:cNvPr>
          <p:cNvCxnSpPr/>
          <p:nvPr/>
        </p:nvCxnSpPr>
        <p:spPr>
          <a:xfrm>
            <a:off x="725988" y="1185955"/>
            <a:ext cx="9855200" cy="0"/>
          </a:xfrm>
          <a:prstGeom prst="line">
            <a:avLst/>
          </a:prstGeom>
          <a:ln>
            <a:solidFill>
              <a:srgbClr val="0B5892"/>
            </a:solidFill>
          </a:ln>
        </p:spPr>
        <p:style>
          <a:lnRef idx="1">
            <a:schemeClr val="accent1"/>
          </a:lnRef>
          <a:fillRef idx="0">
            <a:schemeClr val="accent1"/>
          </a:fillRef>
          <a:effectRef idx="0">
            <a:schemeClr val="accent1"/>
          </a:effectRef>
          <a:fontRef idx="minor">
            <a:schemeClr val="tx1"/>
          </a:fontRef>
        </p:style>
      </p:cxnSp>
      <p:graphicFrame>
        <p:nvGraphicFramePr>
          <p:cNvPr id="104" name="Gráfico 103">
            <a:extLst>
              <a:ext uri="{FF2B5EF4-FFF2-40B4-BE49-F238E27FC236}">
                <a16:creationId xmlns:a16="http://schemas.microsoft.com/office/drawing/2014/main" id="{7F29A529-8C89-46A4-A733-2C6C8EC952D8}"/>
              </a:ext>
            </a:extLst>
          </p:cNvPr>
          <p:cNvGraphicFramePr/>
          <p:nvPr>
            <p:extLst>
              <p:ext uri="{D42A27DB-BD31-4B8C-83A1-F6EECF244321}">
                <p14:modId xmlns:p14="http://schemas.microsoft.com/office/powerpoint/2010/main" val="1224743998"/>
              </p:ext>
            </p:extLst>
          </p:nvPr>
        </p:nvGraphicFramePr>
        <p:xfrm>
          <a:off x="1147712" y="2006930"/>
          <a:ext cx="4157940" cy="1757030"/>
        </p:xfrm>
        <a:graphic>
          <a:graphicData uri="http://schemas.openxmlformats.org/drawingml/2006/chart">
            <c:chart xmlns:c="http://schemas.openxmlformats.org/drawingml/2006/chart" xmlns:r="http://schemas.openxmlformats.org/officeDocument/2006/relationships" r:id="rId4"/>
          </a:graphicData>
        </a:graphic>
      </p:graphicFrame>
      <p:sp>
        <p:nvSpPr>
          <p:cNvPr id="105" name="CaixaDeTexto 104">
            <a:extLst>
              <a:ext uri="{FF2B5EF4-FFF2-40B4-BE49-F238E27FC236}">
                <a16:creationId xmlns:a16="http://schemas.microsoft.com/office/drawing/2014/main" id="{C6473394-799A-44A9-BA31-CF46E95925AD}"/>
              </a:ext>
            </a:extLst>
          </p:cNvPr>
          <p:cNvSpPr txBox="1"/>
          <p:nvPr/>
        </p:nvSpPr>
        <p:spPr>
          <a:xfrm>
            <a:off x="1294993" y="1638285"/>
            <a:ext cx="3758268" cy="307777"/>
          </a:xfrm>
          <a:prstGeom prst="rect">
            <a:avLst/>
          </a:prstGeom>
          <a:noFill/>
        </p:spPr>
        <p:txBody>
          <a:bodyPr wrap="square" rtlCol="0">
            <a:spAutoFit/>
          </a:bodyPr>
          <a:lstStyle/>
          <a:p>
            <a:pPr algn="ctr"/>
            <a:r>
              <a:rPr lang="pt-BR" sz="1400" b="1" dirty="0">
                <a:solidFill>
                  <a:schemeClr val="tx1">
                    <a:lumMod val="50000"/>
                    <a:lumOff val="50000"/>
                  </a:schemeClr>
                </a:solidFill>
                <a:latin typeface="Arial" panose="020B0604020202020204" pitchFamily="34" charset="0"/>
                <a:cs typeface="Arial" panose="020B0604020202020204" pitchFamily="34" charset="0"/>
              </a:rPr>
              <a:t>Volume de Monitorias </a:t>
            </a:r>
          </a:p>
        </p:txBody>
      </p:sp>
      <p:graphicFrame>
        <p:nvGraphicFramePr>
          <p:cNvPr id="106" name="Tabela 105">
            <a:extLst>
              <a:ext uri="{FF2B5EF4-FFF2-40B4-BE49-F238E27FC236}">
                <a16:creationId xmlns:a16="http://schemas.microsoft.com/office/drawing/2014/main" id="{7DDD1E95-3CD5-466E-99A8-89970A230860}"/>
              </a:ext>
            </a:extLst>
          </p:cNvPr>
          <p:cNvGraphicFramePr>
            <a:graphicFrameLocks noGrp="1"/>
          </p:cNvGraphicFramePr>
          <p:nvPr>
            <p:extLst>
              <p:ext uri="{D42A27DB-BD31-4B8C-83A1-F6EECF244321}">
                <p14:modId xmlns:p14="http://schemas.microsoft.com/office/powerpoint/2010/main" val="3587203161"/>
              </p:ext>
            </p:extLst>
          </p:nvPr>
        </p:nvGraphicFramePr>
        <p:xfrm>
          <a:off x="1415417" y="4643880"/>
          <a:ext cx="3822477" cy="635164"/>
        </p:xfrm>
        <a:graphic>
          <a:graphicData uri="http://schemas.openxmlformats.org/drawingml/2006/table">
            <a:tbl>
              <a:tblPr firstRow="1" bandRow="1">
                <a:tableStyleId>{F2DE63D5-997A-4646-A377-4702673A728D}</a:tableStyleId>
              </a:tblPr>
              <a:tblGrid>
                <a:gridCol w="1274159">
                  <a:extLst>
                    <a:ext uri="{9D8B030D-6E8A-4147-A177-3AD203B41FA5}">
                      <a16:colId xmlns:a16="http://schemas.microsoft.com/office/drawing/2014/main" val="3806050286"/>
                    </a:ext>
                  </a:extLst>
                </a:gridCol>
                <a:gridCol w="1274159">
                  <a:extLst>
                    <a:ext uri="{9D8B030D-6E8A-4147-A177-3AD203B41FA5}">
                      <a16:colId xmlns:a16="http://schemas.microsoft.com/office/drawing/2014/main" val="658273446"/>
                    </a:ext>
                  </a:extLst>
                </a:gridCol>
                <a:gridCol w="1274159">
                  <a:extLst>
                    <a:ext uri="{9D8B030D-6E8A-4147-A177-3AD203B41FA5}">
                      <a16:colId xmlns:a16="http://schemas.microsoft.com/office/drawing/2014/main" val="2373962523"/>
                    </a:ext>
                  </a:extLst>
                </a:gridCol>
              </a:tblGrid>
              <a:tr h="253021">
                <a:tc>
                  <a:txBody>
                    <a:bodyPr/>
                    <a:lstStyle/>
                    <a:p>
                      <a:pPr algn="ctr">
                        <a:lnSpc>
                          <a:spcPct val="150000"/>
                        </a:lnSpc>
                      </a:pPr>
                      <a:r>
                        <a:rPr lang="pt-BR" sz="1000" dirty="0">
                          <a:latin typeface="Arial" panose="020B0604020202020204" pitchFamily="34" charset="0"/>
                          <a:cs typeface="Arial" panose="020B0604020202020204" pitchFamily="34" charset="0"/>
                        </a:rPr>
                        <a:t>Total qualidade</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ysDot"/>
                      <a:round/>
                      <a:headEnd type="none" w="med" len="med"/>
                      <a:tailEnd type="none" w="med" len="med"/>
                    </a:lnB>
                    <a:lnTlToBr w="12700" cmpd="sng">
                      <a:noFill/>
                      <a:prstDash val="solid"/>
                    </a:lnTlToBr>
                    <a:lnBlToTr w="12700" cmpd="sng">
                      <a:noFill/>
                      <a:prstDash val="solid"/>
                    </a:lnBlToTr>
                    <a:solidFill>
                      <a:srgbClr val="9E2289"/>
                    </a:solidFill>
                  </a:tcPr>
                </a:tc>
                <a:tc>
                  <a:txBody>
                    <a:bodyPr/>
                    <a:lstStyle/>
                    <a:p>
                      <a:pPr algn="ctr">
                        <a:lnSpc>
                          <a:spcPct val="150000"/>
                        </a:lnSpc>
                      </a:pPr>
                      <a:r>
                        <a:rPr lang="pt-BR" sz="1000" dirty="0">
                          <a:latin typeface="Arial" panose="020B0604020202020204" pitchFamily="34" charset="0"/>
                          <a:cs typeface="Arial" panose="020B0604020202020204" pitchFamily="34" charset="0"/>
                        </a:rPr>
                        <a:t>Total operação</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ysDot"/>
                      <a:round/>
                      <a:headEnd type="none" w="med" len="med"/>
                      <a:tailEnd type="none" w="med" len="med"/>
                    </a:lnB>
                    <a:lnTlToBr w="12700" cmpd="sng">
                      <a:noFill/>
                      <a:prstDash val="solid"/>
                    </a:lnTlToBr>
                    <a:lnBlToTr w="12700" cmpd="sng">
                      <a:noFill/>
                      <a:prstDash val="solid"/>
                    </a:lnBlToTr>
                    <a:solidFill>
                      <a:srgbClr val="9E2289"/>
                    </a:solidFill>
                  </a:tcPr>
                </a:tc>
                <a:tc>
                  <a:txBody>
                    <a:bodyPr/>
                    <a:lstStyle/>
                    <a:p>
                      <a:pPr marL="0" marR="0" lvl="0" indent="0" algn="ctr" defTabSz="914400" eaLnBrk="1" fontAlgn="auto" latinLnBrk="0" hangingPunct="1">
                        <a:lnSpc>
                          <a:spcPct val="150000"/>
                        </a:lnSpc>
                        <a:spcBef>
                          <a:spcPts val="0"/>
                        </a:spcBef>
                        <a:spcAft>
                          <a:spcPts val="0"/>
                        </a:spcAft>
                        <a:buClrTx/>
                        <a:buSzTx/>
                        <a:buFontTx/>
                        <a:buNone/>
                        <a:tabLst/>
                        <a:defRPr/>
                      </a:pPr>
                      <a:r>
                        <a:rPr lang="pt-BR" sz="1000" dirty="0">
                          <a:latin typeface="Arial" panose="020B0604020202020204" pitchFamily="34" charset="0"/>
                          <a:cs typeface="Arial" panose="020B0604020202020204" pitchFamily="34" charset="0"/>
                        </a:rPr>
                        <a:t>Margem de erro</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ysDot"/>
                      <a:round/>
                      <a:headEnd type="none" w="med" len="med"/>
                      <a:tailEnd type="none" w="med" len="med"/>
                    </a:lnB>
                    <a:lnTlToBr w="12700" cmpd="sng">
                      <a:noFill/>
                      <a:prstDash val="solid"/>
                    </a:lnTlToBr>
                    <a:lnBlToTr w="12700" cmpd="sng">
                      <a:noFill/>
                      <a:prstDash val="solid"/>
                    </a:lnBlToTr>
                    <a:solidFill>
                      <a:srgbClr val="9E2289"/>
                    </a:solidFill>
                  </a:tcPr>
                </a:tc>
                <a:extLst>
                  <a:ext uri="{0D108BD9-81ED-4DB2-BD59-A6C34878D82A}">
                    <a16:rowId xmlns:a16="http://schemas.microsoft.com/office/drawing/2014/main" val="574108456"/>
                  </a:ext>
                </a:extLst>
              </a:tr>
              <a:tr h="343381">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108</a:t>
                      </a:r>
                    </a:p>
                  </a:txBody>
                  <a:tcPr>
                    <a:lnL w="12700" cap="flat" cmpd="sng" algn="ctr">
                      <a:solidFill>
                        <a:schemeClr val="bg1">
                          <a:lumMod val="65000"/>
                        </a:schemeClr>
                      </a:solidFill>
                      <a:prstDash val="sysDot"/>
                      <a:round/>
                      <a:headEnd type="none" w="med" len="med"/>
                      <a:tailEnd type="none" w="med" len="med"/>
                    </a:lnL>
                    <a:lnR w="12700" cap="flat" cmpd="sng" algn="ctr">
                      <a:solidFill>
                        <a:schemeClr val="bg1">
                          <a:lumMod val="65000"/>
                        </a:schemeClr>
                      </a:solid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80</a:t>
                      </a:r>
                    </a:p>
                  </a:txBody>
                  <a:tcPr>
                    <a:lnL w="12700" cap="flat" cmpd="sng" algn="ctr">
                      <a:solidFill>
                        <a:schemeClr val="bg1">
                          <a:lumMod val="65000"/>
                        </a:schemeClr>
                      </a:solidFill>
                      <a:prstDash val="sysDot"/>
                      <a:round/>
                      <a:headEnd type="none" w="med" len="med"/>
                      <a:tailEnd type="none" w="med" len="med"/>
                    </a:lnL>
                    <a:lnR w="12700" cap="flat" cmpd="sng" algn="ctr">
                      <a:solidFill>
                        <a:schemeClr val="bg1">
                          <a:lumMod val="65000"/>
                        </a:schemeClr>
                      </a:solid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a:r>
                        <a:rPr lang="pt-BR" sz="1000" b="0" dirty="0">
                          <a:solidFill>
                            <a:schemeClr val="bg2">
                              <a:lumMod val="25000"/>
                            </a:schemeClr>
                          </a:solidFill>
                          <a:latin typeface="Arial" panose="020B0604020202020204" pitchFamily="34" charset="0"/>
                          <a:cs typeface="Arial" panose="020B0604020202020204" pitchFamily="34" charset="0"/>
                        </a:rPr>
                        <a:t>7%</a:t>
                      </a:r>
                    </a:p>
                  </a:txBody>
                  <a:tcPr>
                    <a:lnL w="12700" cap="flat" cmpd="sng" algn="ctr">
                      <a:solidFill>
                        <a:schemeClr val="bg1">
                          <a:lumMod val="65000"/>
                        </a:schemeClr>
                      </a:solidFill>
                      <a:prstDash val="sysDot"/>
                      <a:round/>
                      <a:headEnd type="none" w="med" len="med"/>
                      <a:tailEnd type="none" w="med" len="med"/>
                    </a:lnL>
                    <a:lnR w="12700" cap="flat" cmpd="sng" algn="ctr">
                      <a:solidFill>
                        <a:schemeClr val="bg1">
                          <a:lumMod val="65000"/>
                        </a:schemeClr>
                      </a:solid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7835773"/>
                  </a:ext>
                </a:extLst>
              </a:tr>
            </a:tbl>
          </a:graphicData>
        </a:graphic>
      </p:graphicFrame>
      <p:cxnSp>
        <p:nvCxnSpPr>
          <p:cNvPr id="11" name="Conector reto 10">
            <a:extLst>
              <a:ext uri="{FF2B5EF4-FFF2-40B4-BE49-F238E27FC236}">
                <a16:creationId xmlns:a16="http://schemas.microsoft.com/office/drawing/2014/main" id="{E66C4CB9-9CD9-49E1-8372-BBBB577F2680}"/>
              </a:ext>
            </a:extLst>
          </p:cNvPr>
          <p:cNvCxnSpPr>
            <a:cxnSpLocks/>
          </p:cNvCxnSpPr>
          <p:nvPr/>
        </p:nvCxnSpPr>
        <p:spPr>
          <a:xfrm>
            <a:off x="6096000" y="1848607"/>
            <a:ext cx="34403" cy="3728788"/>
          </a:xfrm>
          <a:prstGeom prst="line">
            <a:avLst/>
          </a:prstGeom>
          <a:ln>
            <a:solidFill>
              <a:srgbClr val="9E2289"/>
            </a:solidFill>
          </a:ln>
        </p:spPr>
        <p:style>
          <a:lnRef idx="1">
            <a:schemeClr val="accent1"/>
          </a:lnRef>
          <a:fillRef idx="0">
            <a:schemeClr val="accent1"/>
          </a:fillRef>
          <a:effectRef idx="0">
            <a:schemeClr val="accent1"/>
          </a:effectRef>
          <a:fontRef idx="minor">
            <a:schemeClr val="tx1"/>
          </a:fontRef>
        </p:style>
      </p:cxnSp>
      <p:graphicFrame>
        <p:nvGraphicFramePr>
          <p:cNvPr id="26" name="Gráfico 25">
            <a:extLst>
              <a:ext uri="{FF2B5EF4-FFF2-40B4-BE49-F238E27FC236}">
                <a16:creationId xmlns:a16="http://schemas.microsoft.com/office/drawing/2014/main" id="{CE1C9029-2899-4182-87BA-4652FFBC28D4}"/>
              </a:ext>
            </a:extLst>
          </p:cNvPr>
          <p:cNvGraphicFramePr/>
          <p:nvPr>
            <p:extLst>
              <p:ext uri="{D42A27DB-BD31-4B8C-83A1-F6EECF244321}">
                <p14:modId xmlns:p14="http://schemas.microsoft.com/office/powerpoint/2010/main" val="2896249182"/>
              </p:ext>
            </p:extLst>
          </p:nvPr>
        </p:nvGraphicFramePr>
        <p:xfrm>
          <a:off x="6858000" y="2022809"/>
          <a:ext cx="4157940" cy="1757030"/>
        </p:xfrm>
        <a:graphic>
          <a:graphicData uri="http://schemas.openxmlformats.org/drawingml/2006/chart">
            <c:chart xmlns:c="http://schemas.openxmlformats.org/drawingml/2006/chart" xmlns:r="http://schemas.openxmlformats.org/officeDocument/2006/relationships" r:id="rId5"/>
          </a:graphicData>
        </a:graphic>
      </p:graphicFrame>
      <p:sp>
        <p:nvSpPr>
          <p:cNvPr id="27" name="CaixaDeTexto 26">
            <a:extLst>
              <a:ext uri="{FF2B5EF4-FFF2-40B4-BE49-F238E27FC236}">
                <a16:creationId xmlns:a16="http://schemas.microsoft.com/office/drawing/2014/main" id="{6C361242-B178-4979-B54C-68D4AAA5711A}"/>
              </a:ext>
            </a:extLst>
          </p:cNvPr>
          <p:cNvSpPr txBox="1"/>
          <p:nvPr/>
        </p:nvSpPr>
        <p:spPr>
          <a:xfrm>
            <a:off x="6927804" y="1635312"/>
            <a:ext cx="3992681" cy="307777"/>
          </a:xfrm>
          <a:prstGeom prst="rect">
            <a:avLst/>
          </a:prstGeom>
          <a:noFill/>
        </p:spPr>
        <p:txBody>
          <a:bodyPr wrap="square" rtlCol="0">
            <a:spAutoFit/>
          </a:bodyPr>
          <a:lstStyle/>
          <a:p>
            <a:pPr algn="ctr"/>
            <a:r>
              <a:rPr lang="pt-BR" sz="1400" b="1" dirty="0">
                <a:solidFill>
                  <a:schemeClr val="tx1">
                    <a:lumMod val="50000"/>
                    <a:lumOff val="50000"/>
                  </a:schemeClr>
                </a:solidFill>
                <a:latin typeface="Arial" panose="020B0604020202020204" pitchFamily="34" charset="0"/>
                <a:cs typeface="Arial" panose="020B0604020202020204" pitchFamily="34" charset="0"/>
              </a:rPr>
              <a:t>Classificação das Monitorias </a:t>
            </a:r>
          </a:p>
        </p:txBody>
      </p:sp>
      <p:graphicFrame>
        <p:nvGraphicFramePr>
          <p:cNvPr id="28" name="Tabela 27">
            <a:extLst>
              <a:ext uri="{FF2B5EF4-FFF2-40B4-BE49-F238E27FC236}">
                <a16:creationId xmlns:a16="http://schemas.microsoft.com/office/drawing/2014/main" id="{B7DEE6CE-3286-4828-8325-E256C5CEFE90}"/>
              </a:ext>
            </a:extLst>
          </p:cNvPr>
          <p:cNvGraphicFramePr>
            <a:graphicFrameLocks noGrp="1"/>
          </p:cNvGraphicFramePr>
          <p:nvPr>
            <p:extLst>
              <p:ext uri="{D42A27DB-BD31-4B8C-83A1-F6EECF244321}">
                <p14:modId xmlns:p14="http://schemas.microsoft.com/office/powerpoint/2010/main" val="3403682285"/>
              </p:ext>
            </p:extLst>
          </p:nvPr>
        </p:nvGraphicFramePr>
        <p:xfrm>
          <a:off x="7005281" y="4064594"/>
          <a:ext cx="3822477" cy="687769"/>
        </p:xfrm>
        <a:graphic>
          <a:graphicData uri="http://schemas.openxmlformats.org/drawingml/2006/table">
            <a:tbl>
              <a:tblPr firstRow="1" bandRow="1">
                <a:tableStyleId>{F2DE63D5-997A-4646-A377-4702673A728D}</a:tableStyleId>
              </a:tblPr>
              <a:tblGrid>
                <a:gridCol w="1274159">
                  <a:extLst>
                    <a:ext uri="{9D8B030D-6E8A-4147-A177-3AD203B41FA5}">
                      <a16:colId xmlns:a16="http://schemas.microsoft.com/office/drawing/2014/main" val="3806050286"/>
                    </a:ext>
                  </a:extLst>
                </a:gridCol>
                <a:gridCol w="1274159">
                  <a:extLst>
                    <a:ext uri="{9D8B030D-6E8A-4147-A177-3AD203B41FA5}">
                      <a16:colId xmlns:a16="http://schemas.microsoft.com/office/drawing/2014/main" val="658273446"/>
                    </a:ext>
                  </a:extLst>
                </a:gridCol>
                <a:gridCol w="1274159">
                  <a:extLst>
                    <a:ext uri="{9D8B030D-6E8A-4147-A177-3AD203B41FA5}">
                      <a16:colId xmlns:a16="http://schemas.microsoft.com/office/drawing/2014/main" val="2373962523"/>
                    </a:ext>
                  </a:extLst>
                </a:gridCol>
              </a:tblGrid>
              <a:tr h="236601">
                <a:tc>
                  <a:txBody>
                    <a:bodyPr/>
                    <a:lstStyle/>
                    <a:p>
                      <a:pPr algn="ctr">
                        <a:lnSpc>
                          <a:spcPct val="150000"/>
                        </a:lnSpc>
                      </a:pPr>
                      <a:r>
                        <a:rPr lang="pt-BR" sz="1000" dirty="0">
                          <a:latin typeface="Arial" panose="020B0604020202020204" pitchFamily="34" charset="0"/>
                          <a:cs typeface="Arial" panose="020B0604020202020204" pitchFamily="34" charset="0"/>
                        </a:rPr>
                        <a:t>NCG</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ysDot"/>
                      <a:round/>
                      <a:headEnd type="none" w="med" len="med"/>
                      <a:tailEnd type="none" w="med" len="med"/>
                    </a:lnB>
                    <a:lnTlToBr w="12700" cmpd="sng">
                      <a:noFill/>
                      <a:prstDash val="solid"/>
                    </a:lnTlToBr>
                    <a:lnBlToTr w="12700" cmpd="sng">
                      <a:noFill/>
                      <a:prstDash val="solid"/>
                    </a:lnBlToTr>
                    <a:solidFill>
                      <a:srgbClr val="9E2289"/>
                    </a:solidFill>
                  </a:tcPr>
                </a:tc>
                <a:tc>
                  <a:txBody>
                    <a:bodyPr/>
                    <a:lstStyle/>
                    <a:p>
                      <a:pPr algn="ctr">
                        <a:lnSpc>
                          <a:spcPct val="150000"/>
                        </a:lnSpc>
                      </a:pPr>
                      <a:r>
                        <a:rPr lang="pt-BR" sz="1000" dirty="0">
                          <a:latin typeface="Arial" panose="020B0604020202020204" pitchFamily="34" charset="0"/>
                          <a:cs typeface="Arial" panose="020B0604020202020204" pitchFamily="34" charset="0"/>
                        </a:rPr>
                        <a:t>NC</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ysDot"/>
                      <a:round/>
                      <a:headEnd type="none" w="med" len="med"/>
                      <a:tailEnd type="none" w="med" len="med"/>
                    </a:lnB>
                    <a:lnTlToBr w="12700" cmpd="sng">
                      <a:noFill/>
                      <a:prstDash val="solid"/>
                    </a:lnTlToBr>
                    <a:lnBlToTr w="12700" cmpd="sng">
                      <a:noFill/>
                      <a:prstDash val="solid"/>
                    </a:lnBlToTr>
                    <a:solidFill>
                      <a:srgbClr val="9E2289"/>
                    </a:solidFill>
                  </a:tcPr>
                </a:tc>
                <a:tc>
                  <a:txBody>
                    <a:bodyPr/>
                    <a:lstStyle/>
                    <a:p>
                      <a:pPr marL="0" marR="0" lvl="0" indent="0" algn="ctr" defTabSz="914400" eaLnBrk="1" fontAlgn="auto" latinLnBrk="0" hangingPunct="1">
                        <a:lnSpc>
                          <a:spcPct val="150000"/>
                        </a:lnSpc>
                        <a:spcBef>
                          <a:spcPts val="0"/>
                        </a:spcBef>
                        <a:spcAft>
                          <a:spcPts val="0"/>
                        </a:spcAft>
                        <a:buClrTx/>
                        <a:buSzTx/>
                        <a:buFontTx/>
                        <a:buNone/>
                        <a:tabLst/>
                        <a:defRPr/>
                      </a:pPr>
                      <a:r>
                        <a:rPr lang="pt-BR" sz="1000" dirty="0">
                          <a:latin typeface="Arial" panose="020B0604020202020204" pitchFamily="34" charset="0"/>
                          <a:cs typeface="Arial" panose="020B0604020202020204" pitchFamily="34" charset="0"/>
                        </a:rPr>
                        <a:t>Excelência</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ysDot"/>
                      <a:round/>
                      <a:headEnd type="none" w="med" len="med"/>
                      <a:tailEnd type="none" w="med" len="med"/>
                    </a:lnB>
                    <a:lnTlToBr w="12700" cmpd="sng">
                      <a:noFill/>
                      <a:prstDash val="solid"/>
                    </a:lnTlToBr>
                    <a:lnBlToTr w="12700" cmpd="sng">
                      <a:noFill/>
                      <a:prstDash val="solid"/>
                    </a:lnBlToTr>
                    <a:solidFill>
                      <a:srgbClr val="9E2289"/>
                    </a:solidFill>
                  </a:tcPr>
                </a:tc>
                <a:extLst>
                  <a:ext uri="{0D108BD9-81ED-4DB2-BD59-A6C34878D82A}">
                    <a16:rowId xmlns:a16="http://schemas.microsoft.com/office/drawing/2014/main" val="574108456"/>
                  </a:ext>
                </a:extLst>
              </a:tr>
              <a:tr h="395986">
                <a:tc>
                  <a:txBody>
                    <a:bodyPr/>
                    <a:lstStyle/>
                    <a:p>
                      <a:pPr algn="ctr"/>
                      <a:r>
                        <a:rPr lang="pt-BR" sz="1000" dirty="0">
                          <a:solidFill>
                            <a:srgbClr val="595959"/>
                          </a:solidFill>
                          <a:latin typeface="Arial" panose="020B0604020202020204" pitchFamily="34" charset="0"/>
                          <a:cs typeface="Arial" panose="020B0604020202020204" pitchFamily="34" charset="0"/>
                        </a:rPr>
                        <a:t>30 (15,96%)</a:t>
                      </a:r>
                    </a:p>
                  </a:txBody>
                  <a:tcPr>
                    <a:lnL w="12700" cap="flat" cmpd="sng" algn="ctr">
                      <a:solidFill>
                        <a:schemeClr val="bg1">
                          <a:lumMod val="65000"/>
                        </a:schemeClr>
                      </a:solidFill>
                      <a:prstDash val="sysDot"/>
                      <a:round/>
                      <a:headEnd type="none" w="med" len="med"/>
                      <a:tailEnd type="none" w="med" len="med"/>
                    </a:lnL>
                    <a:lnR w="12700" cap="flat" cmpd="sng" algn="ctr">
                      <a:solidFill>
                        <a:schemeClr val="bg1">
                          <a:lumMod val="65000"/>
                        </a:schemeClr>
                      </a:solid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a:r>
                        <a:rPr lang="pt-BR" sz="1000" dirty="0">
                          <a:solidFill>
                            <a:srgbClr val="595959"/>
                          </a:solidFill>
                          <a:latin typeface="Arial" panose="020B0604020202020204" pitchFamily="34" charset="0"/>
                          <a:cs typeface="Arial" panose="020B0604020202020204" pitchFamily="34" charset="0"/>
                        </a:rPr>
                        <a:t>118 (62,77%)</a:t>
                      </a:r>
                    </a:p>
                  </a:txBody>
                  <a:tcPr>
                    <a:lnL w="12700" cap="flat" cmpd="sng" algn="ctr">
                      <a:solidFill>
                        <a:schemeClr val="bg1">
                          <a:lumMod val="65000"/>
                        </a:schemeClr>
                      </a:solidFill>
                      <a:prstDash val="sysDot"/>
                      <a:round/>
                      <a:headEnd type="none" w="med" len="med"/>
                      <a:tailEnd type="none" w="med" len="med"/>
                    </a:lnL>
                    <a:lnR w="12700" cap="flat" cmpd="sng" algn="ctr">
                      <a:solidFill>
                        <a:schemeClr val="bg1">
                          <a:lumMod val="65000"/>
                        </a:schemeClr>
                      </a:solid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a:r>
                        <a:rPr lang="pt-BR" sz="1000" dirty="0">
                          <a:solidFill>
                            <a:srgbClr val="595959"/>
                          </a:solidFill>
                          <a:latin typeface="Arial" panose="020B0604020202020204" pitchFamily="34" charset="0"/>
                          <a:cs typeface="Arial" panose="020B0604020202020204" pitchFamily="34" charset="0"/>
                        </a:rPr>
                        <a:t>40 (21,28%)</a:t>
                      </a:r>
                    </a:p>
                  </a:txBody>
                  <a:tcPr>
                    <a:lnL w="12700" cap="flat" cmpd="sng" algn="ctr">
                      <a:solidFill>
                        <a:schemeClr val="bg1">
                          <a:lumMod val="65000"/>
                        </a:schemeClr>
                      </a:solidFill>
                      <a:prstDash val="sysDot"/>
                      <a:round/>
                      <a:headEnd type="none" w="med" len="med"/>
                      <a:tailEnd type="none" w="med" len="med"/>
                    </a:lnL>
                    <a:lnR w="12700" cap="flat" cmpd="sng" algn="ctr">
                      <a:solidFill>
                        <a:schemeClr val="bg1">
                          <a:lumMod val="65000"/>
                        </a:schemeClr>
                      </a:solid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7835773"/>
                  </a:ext>
                </a:extLst>
              </a:tr>
            </a:tbl>
          </a:graphicData>
        </a:graphic>
      </p:graphicFrame>
      <p:graphicFrame>
        <p:nvGraphicFramePr>
          <p:cNvPr id="30" name="Tabela 29">
            <a:extLst>
              <a:ext uri="{FF2B5EF4-FFF2-40B4-BE49-F238E27FC236}">
                <a16:creationId xmlns:a16="http://schemas.microsoft.com/office/drawing/2014/main" id="{6A7033CE-8E82-41A8-9F6A-4D6F557D3BC8}"/>
              </a:ext>
            </a:extLst>
          </p:cNvPr>
          <p:cNvGraphicFramePr>
            <a:graphicFrameLocks noGrp="1"/>
          </p:cNvGraphicFramePr>
          <p:nvPr>
            <p:extLst>
              <p:ext uri="{D42A27DB-BD31-4B8C-83A1-F6EECF244321}">
                <p14:modId xmlns:p14="http://schemas.microsoft.com/office/powerpoint/2010/main" val="130875603"/>
              </p:ext>
            </p:extLst>
          </p:nvPr>
        </p:nvGraphicFramePr>
        <p:xfrm>
          <a:off x="6801502" y="5088122"/>
          <a:ext cx="4245284" cy="978545"/>
        </p:xfrm>
        <a:graphic>
          <a:graphicData uri="http://schemas.openxmlformats.org/drawingml/2006/table">
            <a:tbl>
              <a:tblPr firstRow="1" bandRow="1">
                <a:tableStyleId>{F2DE63D5-997A-4646-A377-4702673A728D}</a:tableStyleId>
              </a:tblPr>
              <a:tblGrid>
                <a:gridCol w="1061321">
                  <a:extLst>
                    <a:ext uri="{9D8B030D-6E8A-4147-A177-3AD203B41FA5}">
                      <a16:colId xmlns:a16="http://schemas.microsoft.com/office/drawing/2014/main" val="1531427166"/>
                    </a:ext>
                  </a:extLst>
                </a:gridCol>
                <a:gridCol w="1061321">
                  <a:extLst>
                    <a:ext uri="{9D8B030D-6E8A-4147-A177-3AD203B41FA5}">
                      <a16:colId xmlns:a16="http://schemas.microsoft.com/office/drawing/2014/main" val="3806050286"/>
                    </a:ext>
                  </a:extLst>
                </a:gridCol>
                <a:gridCol w="1061321">
                  <a:extLst>
                    <a:ext uri="{9D8B030D-6E8A-4147-A177-3AD203B41FA5}">
                      <a16:colId xmlns:a16="http://schemas.microsoft.com/office/drawing/2014/main" val="658273446"/>
                    </a:ext>
                  </a:extLst>
                </a:gridCol>
                <a:gridCol w="1061321">
                  <a:extLst>
                    <a:ext uri="{9D8B030D-6E8A-4147-A177-3AD203B41FA5}">
                      <a16:colId xmlns:a16="http://schemas.microsoft.com/office/drawing/2014/main" val="2373962523"/>
                    </a:ext>
                  </a:extLst>
                </a:gridCol>
              </a:tblGrid>
              <a:tr h="253021">
                <a:tc>
                  <a:txBody>
                    <a:bodyPr/>
                    <a:lstStyle/>
                    <a:p>
                      <a:pPr algn="ctr">
                        <a:lnSpc>
                          <a:spcPct val="150000"/>
                        </a:lnSpc>
                      </a:pPr>
                      <a:endParaRPr lang="pt-BR" sz="10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6350" cap="flat" cmpd="sng" algn="ctr">
                      <a:solidFill>
                        <a:schemeClr val="tx1">
                          <a:lumMod val="75000"/>
                          <a:lumOff val="25000"/>
                        </a:schemeClr>
                      </a:solidFill>
                      <a:prstDash val="sysDot"/>
                      <a:round/>
                      <a:headEnd type="none" w="med" len="med"/>
                      <a:tailEnd type="none" w="med" len="med"/>
                    </a:lnR>
                    <a:lnT w="12700" cap="flat" cmpd="sng" algn="ctr">
                      <a:noFill/>
                      <a:prstDash val="solid"/>
                      <a:round/>
                      <a:headEnd type="none" w="med" len="med"/>
                      <a:tailEnd type="none" w="med" len="med"/>
                    </a:lnT>
                    <a:lnB w="6350" cap="flat" cmpd="sng" algn="ctr">
                      <a:solidFill>
                        <a:schemeClr val="tx1">
                          <a:lumMod val="75000"/>
                          <a:lumOff val="25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pPr>
                      <a:r>
                        <a:rPr lang="pt-BR" sz="1000" dirty="0">
                          <a:latin typeface="Arial" panose="020B0604020202020204" pitchFamily="34" charset="0"/>
                          <a:cs typeface="Arial" panose="020B0604020202020204" pitchFamily="34" charset="0"/>
                        </a:rPr>
                        <a:t>Excelência</a:t>
                      </a:r>
                    </a:p>
                  </a:txBody>
                  <a:tcPr>
                    <a:lnL w="6350" cap="flat" cmpd="sng" algn="ctr">
                      <a:solidFill>
                        <a:schemeClr val="tx1">
                          <a:lumMod val="75000"/>
                          <a:lumOff val="25000"/>
                        </a:schemeClr>
                      </a:solidFill>
                      <a:prstDash val="sysDot"/>
                      <a:round/>
                      <a:headEnd type="none" w="med" len="med"/>
                      <a:tailEnd type="none" w="med" len="med"/>
                    </a:lnL>
                    <a:lnR w="6350" cap="flat" cmpd="sng" algn="ctr">
                      <a:solidFill>
                        <a:schemeClr val="tx1">
                          <a:lumMod val="75000"/>
                          <a:lumOff val="25000"/>
                        </a:schemeClr>
                      </a:solidFill>
                      <a:prstDash val="sysDot"/>
                      <a:round/>
                      <a:headEnd type="none" w="med" len="med"/>
                      <a:tailEnd type="none" w="med" len="med"/>
                    </a:lnR>
                    <a:lnT w="12700" cap="flat" cmpd="sng" algn="ctr">
                      <a:noFill/>
                      <a:prstDash val="solid"/>
                      <a:round/>
                      <a:headEnd type="none" w="med" len="med"/>
                      <a:tailEnd type="none" w="med" len="med"/>
                    </a:lnT>
                    <a:lnB w="6350" cap="flat" cmpd="sng" algn="ctr">
                      <a:solidFill>
                        <a:schemeClr val="tx1">
                          <a:lumMod val="75000"/>
                          <a:lumOff val="25000"/>
                        </a:schemeClr>
                      </a:solidFill>
                      <a:prstDash val="sysDot"/>
                      <a:round/>
                      <a:headEnd type="none" w="med" len="med"/>
                      <a:tailEnd type="none" w="med" len="med"/>
                    </a:lnB>
                    <a:lnTlToBr w="12700" cmpd="sng">
                      <a:noFill/>
                      <a:prstDash val="solid"/>
                    </a:lnTlToBr>
                    <a:lnBlToTr w="12700" cmpd="sng">
                      <a:noFill/>
                      <a:prstDash val="solid"/>
                    </a:lnBlToTr>
                    <a:solidFill>
                      <a:srgbClr val="9E2289"/>
                    </a:solidFill>
                  </a:tcPr>
                </a:tc>
                <a:tc>
                  <a:txBody>
                    <a:bodyPr/>
                    <a:lstStyle/>
                    <a:p>
                      <a:pPr algn="ctr">
                        <a:lnSpc>
                          <a:spcPct val="150000"/>
                        </a:lnSpc>
                      </a:pPr>
                      <a:r>
                        <a:rPr lang="pt-BR" sz="1000" dirty="0">
                          <a:latin typeface="Arial" panose="020B0604020202020204" pitchFamily="34" charset="0"/>
                          <a:cs typeface="Arial" panose="020B0604020202020204" pitchFamily="34" charset="0"/>
                        </a:rPr>
                        <a:t>NC</a:t>
                      </a:r>
                    </a:p>
                  </a:txBody>
                  <a:tcPr>
                    <a:lnL w="6350" cap="flat" cmpd="sng" algn="ctr">
                      <a:solidFill>
                        <a:schemeClr val="tx1">
                          <a:lumMod val="75000"/>
                          <a:lumOff val="25000"/>
                        </a:schemeClr>
                      </a:solidFill>
                      <a:prstDash val="sysDot"/>
                      <a:round/>
                      <a:headEnd type="none" w="med" len="med"/>
                      <a:tailEnd type="none" w="med" len="med"/>
                    </a:lnL>
                    <a:lnR w="6350" cap="flat" cmpd="sng" algn="ctr">
                      <a:solidFill>
                        <a:schemeClr val="tx1">
                          <a:lumMod val="75000"/>
                          <a:lumOff val="25000"/>
                        </a:schemeClr>
                      </a:solidFill>
                      <a:prstDash val="sysDot"/>
                      <a:round/>
                      <a:headEnd type="none" w="med" len="med"/>
                      <a:tailEnd type="none" w="med" len="med"/>
                    </a:lnR>
                    <a:lnT w="12700" cap="flat" cmpd="sng" algn="ctr">
                      <a:noFill/>
                      <a:prstDash val="solid"/>
                      <a:round/>
                      <a:headEnd type="none" w="med" len="med"/>
                      <a:tailEnd type="none" w="med" len="med"/>
                    </a:lnT>
                    <a:lnB w="6350" cap="flat" cmpd="sng" algn="ctr">
                      <a:solidFill>
                        <a:schemeClr val="tx1">
                          <a:lumMod val="75000"/>
                          <a:lumOff val="25000"/>
                        </a:schemeClr>
                      </a:solidFill>
                      <a:prstDash val="sysDot"/>
                      <a:round/>
                      <a:headEnd type="none" w="med" len="med"/>
                      <a:tailEnd type="none" w="med" len="med"/>
                    </a:lnB>
                    <a:lnTlToBr w="12700" cmpd="sng">
                      <a:noFill/>
                      <a:prstDash val="solid"/>
                    </a:lnTlToBr>
                    <a:lnBlToTr w="12700" cmpd="sng">
                      <a:noFill/>
                      <a:prstDash val="solid"/>
                    </a:lnBlToTr>
                    <a:solidFill>
                      <a:srgbClr val="9E2289"/>
                    </a:solidFill>
                  </a:tcPr>
                </a:tc>
                <a:tc>
                  <a:txBody>
                    <a:bodyPr/>
                    <a:lstStyle/>
                    <a:p>
                      <a:pPr marL="0" marR="0" lvl="0" indent="0" algn="ctr" defTabSz="914400" eaLnBrk="1" fontAlgn="auto" latinLnBrk="0" hangingPunct="1">
                        <a:lnSpc>
                          <a:spcPct val="150000"/>
                        </a:lnSpc>
                        <a:spcBef>
                          <a:spcPts val="0"/>
                        </a:spcBef>
                        <a:spcAft>
                          <a:spcPts val="0"/>
                        </a:spcAft>
                        <a:buClrTx/>
                        <a:buSzTx/>
                        <a:buFontTx/>
                        <a:buNone/>
                        <a:tabLst/>
                        <a:defRPr/>
                      </a:pPr>
                      <a:r>
                        <a:rPr lang="pt-BR" sz="1000" dirty="0">
                          <a:latin typeface="Arial" panose="020B0604020202020204" pitchFamily="34" charset="0"/>
                          <a:cs typeface="Arial" panose="020B0604020202020204" pitchFamily="34" charset="0"/>
                        </a:rPr>
                        <a:t>NCG</a:t>
                      </a:r>
                    </a:p>
                  </a:txBody>
                  <a:tcPr>
                    <a:lnL w="6350" cap="flat" cmpd="sng" algn="ctr">
                      <a:solidFill>
                        <a:schemeClr val="tx1">
                          <a:lumMod val="75000"/>
                          <a:lumOff val="25000"/>
                        </a:schemeClr>
                      </a:solidFill>
                      <a:prstDash val="sysDot"/>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lumMod val="75000"/>
                          <a:lumOff val="25000"/>
                        </a:schemeClr>
                      </a:solidFill>
                      <a:prstDash val="sysDot"/>
                      <a:round/>
                      <a:headEnd type="none" w="med" len="med"/>
                      <a:tailEnd type="none" w="med" len="med"/>
                    </a:lnB>
                    <a:lnTlToBr w="12700" cmpd="sng">
                      <a:noFill/>
                      <a:prstDash val="solid"/>
                    </a:lnTlToBr>
                    <a:lnBlToTr w="12700" cmpd="sng">
                      <a:noFill/>
                      <a:prstDash val="solid"/>
                    </a:lnBlToTr>
                    <a:solidFill>
                      <a:srgbClr val="9E2289"/>
                    </a:solidFill>
                  </a:tcPr>
                </a:tc>
                <a:extLst>
                  <a:ext uri="{0D108BD9-81ED-4DB2-BD59-A6C34878D82A}">
                    <a16:rowId xmlns:a16="http://schemas.microsoft.com/office/drawing/2014/main" val="574108456"/>
                  </a:ext>
                </a:extLst>
              </a:tr>
              <a:tr h="343381">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Operação</a:t>
                      </a:r>
                    </a:p>
                  </a:txBody>
                  <a:tcPr anchor="ctr">
                    <a:lnL w="6350" cap="flat" cmpd="sng" algn="ctr">
                      <a:solidFill>
                        <a:schemeClr val="tx1">
                          <a:lumMod val="75000"/>
                          <a:lumOff val="25000"/>
                        </a:schemeClr>
                      </a:solidFill>
                      <a:prstDash val="sysDot"/>
                      <a:round/>
                      <a:headEnd type="none" w="med" len="med"/>
                      <a:tailEnd type="none" w="med" len="med"/>
                    </a:lnL>
                    <a:lnR w="6350" cap="flat" cmpd="sng" algn="ctr">
                      <a:solidFill>
                        <a:schemeClr val="tx1">
                          <a:lumMod val="75000"/>
                          <a:lumOff val="25000"/>
                        </a:schemeClr>
                      </a:solidFill>
                      <a:prstDash val="sysDot"/>
                      <a:round/>
                      <a:headEnd type="none" w="med" len="med"/>
                      <a:tailEnd type="none" w="med" len="med"/>
                    </a:lnR>
                    <a:lnT w="6350" cap="flat" cmpd="sng" algn="ctr">
                      <a:solidFill>
                        <a:schemeClr val="tx1">
                          <a:lumMod val="75000"/>
                          <a:lumOff val="25000"/>
                        </a:schemeClr>
                      </a:solidFill>
                      <a:prstDash val="sysDot"/>
                      <a:round/>
                      <a:headEnd type="none" w="med" len="med"/>
                      <a:tailEnd type="none" w="med" len="med"/>
                    </a:lnT>
                    <a:lnB w="6350" cap="flat" cmpd="sng" algn="ctr">
                      <a:solidFill>
                        <a:schemeClr val="tx1">
                          <a:lumMod val="75000"/>
                          <a:lumOff val="25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11 (13,75%)</a:t>
                      </a:r>
                    </a:p>
                  </a:txBody>
                  <a:tcPr anchor="ctr">
                    <a:lnL w="6350" cap="flat" cmpd="sng" algn="ctr">
                      <a:solidFill>
                        <a:schemeClr val="tx1">
                          <a:lumMod val="75000"/>
                          <a:lumOff val="25000"/>
                        </a:schemeClr>
                      </a:solidFill>
                      <a:prstDash val="sysDot"/>
                      <a:round/>
                      <a:headEnd type="none" w="med" len="med"/>
                      <a:tailEnd type="none" w="med" len="med"/>
                    </a:lnL>
                    <a:lnR w="6350" cap="flat" cmpd="sng" algn="ctr">
                      <a:solidFill>
                        <a:schemeClr val="tx1">
                          <a:lumMod val="75000"/>
                          <a:lumOff val="25000"/>
                        </a:schemeClr>
                      </a:solidFill>
                      <a:prstDash val="sysDot"/>
                      <a:round/>
                      <a:headEnd type="none" w="med" len="med"/>
                      <a:tailEnd type="none" w="med" len="med"/>
                    </a:lnR>
                    <a:lnT w="6350" cap="flat" cmpd="sng" algn="ctr">
                      <a:solidFill>
                        <a:schemeClr val="tx1">
                          <a:lumMod val="75000"/>
                          <a:lumOff val="25000"/>
                        </a:schemeClr>
                      </a:solidFill>
                      <a:prstDash val="sysDot"/>
                      <a:round/>
                      <a:headEnd type="none" w="med" len="med"/>
                      <a:tailEnd type="none" w="med" len="med"/>
                    </a:lnT>
                    <a:lnB w="6350" cap="flat" cmpd="sng" algn="ctr">
                      <a:solidFill>
                        <a:schemeClr val="tx1">
                          <a:lumMod val="75000"/>
                          <a:lumOff val="25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58 (72,50%)</a:t>
                      </a:r>
                    </a:p>
                  </a:txBody>
                  <a:tcPr anchor="ctr">
                    <a:lnL w="6350" cap="flat" cmpd="sng" algn="ctr">
                      <a:solidFill>
                        <a:schemeClr val="tx1">
                          <a:lumMod val="75000"/>
                          <a:lumOff val="25000"/>
                        </a:schemeClr>
                      </a:solidFill>
                      <a:prstDash val="sysDot"/>
                      <a:round/>
                      <a:headEnd type="none" w="med" len="med"/>
                      <a:tailEnd type="none" w="med" len="med"/>
                    </a:lnL>
                    <a:lnR w="6350" cap="flat" cmpd="sng" algn="ctr">
                      <a:solidFill>
                        <a:schemeClr val="tx1">
                          <a:lumMod val="75000"/>
                          <a:lumOff val="25000"/>
                        </a:schemeClr>
                      </a:solidFill>
                      <a:prstDash val="sysDot"/>
                      <a:round/>
                      <a:headEnd type="none" w="med" len="med"/>
                      <a:tailEnd type="none" w="med" len="med"/>
                    </a:lnR>
                    <a:lnT w="6350" cap="flat" cmpd="sng" algn="ctr">
                      <a:solidFill>
                        <a:schemeClr val="tx1">
                          <a:lumMod val="75000"/>
                          <a:lumOff val="25000"/>
                        </a:schemeClr>
                      </a:solidFill>
                      <a:prstDash val="sysDot"/>
                      <a:round/>
                      <a:headEnd type="none" w="med" len="med"/>
                      <a:tailEnd type="none" w="med" len="med"/>
                    </a:lnT>
                    <a:lnB w="6350" cap="flat" cmpd="sng" algn="ctr">
                      <a:solidFill>
                        <a:schemeClr val="tx1">
                          <a:lumMod val="75000"/>
                          <a:lumOff val="25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11 (13,75%)</a:t>
                      </a:r>
                    </a:p>
                  </a:txBody>
                  <a:tcPr anchor="ctr">
                    <a:lnL w="6350" cap="flat" cmpd="sng" algn="ctr">
                      <a:solidFill>
                        <a:schemeClr val="tx1">
                          <a:lumMod val="75000"/>
                          <a:lumOff val="25000"/>
                        </a:schemeClr>
                      </a:solidFill>
                      <a:prstDash val="sysDot"/>
                      <a:round/>
                      <a:headEnd type="none" w="med" len="med"/>
                      <a:tailEnd type="none" w="med" len="med"/>
                    </a:lnL>
                    <a:lnR w="6350" cap="flat" cmpd="sng" algn="ctr">
                      <a:solidFill>
                        <a:schemeClr val="tx1">
                          <a:lumMod val="75000"/>
                          <a:lumOff val="25000"/>
                        </a:schemeClr>
                      </a:solidFill>
                      <a:prstDash val="sysDot"/>
                      <a:round/>
                      <a:headEnd type="none" w="med" len="med"/>
                      <a:tailEnd type="none" w="med" len="med"/>
                    </a:lnR>
                    <a:lnT w="6350" cap="flat" cmpd="sng" algn="ctr">
                      <a:solidFill>
                        <a:schemeClr val="tx1">
                          <a:lumMod val="75000"/>
                          <a:lumOff val="25000"/>
                        </a:schemeClr>
                      </a:solidFill>
                      <a:prstDash val="sysDot"/>
                      <a:round/>
                      <a:headEnd type="none" w="med" len="med"/>
                      <a:tailEnd type="none" w="med" len="med"/>
                    </a:lnT>
                    <a:lnB w="6350" cap="flat" cmpd="sng" algn="ctr">
                      <a:solidFill>
                        <a:schemeClr val="tx1">
                          <a:lumMod val="75000"/>
                          <a:lumOff val="25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6810871"/>
                  </a:ext>
                </a:extLst>
              </a:tr>
              <a:tr h="343381">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Qualidade</a:t>
                      </a:r>
                    </a:p>
                  </a:txBody>
                  <a:tcPr anchor="ctr">
                    <a:lnL w="6350" cap="flat" cmpd="sng" algn="ctr">
                      <a:solidFill>
                        <a:schemeClr val="tx1">
                          <a:lumMod val="75000"/>
                          <a:lumOff val="25000"/>
                        </a:schemeClr>
                      </a:solidFill>
                      <a:prstDash val="sysDot"/>
                      <a:round/>
                      <a:headEnd type="none" w="med" len="med"/>
                      <a:tailEnd type="none" w="med" len="med"/>
                    </a:lnL>
                    <a:lnR w="6350" cap="flat" cmpd="sng" algn="ctr">
                      <a:solidFill>
                        <a:schemeClr val="tx1">
                          <a:lumMod val="75000"/>
                          <a:lumOff val="25000"/>
                        </a:schemeClr>
                      </a:solidFill>
                      <a:prstDash val="sysDot"/>
                      <a:round/>
                      <a:headEnd type="none" w="med" len="med"/>
                      <a:tailEnd type="none" w="med" len="med"/>
                    </a:lnR>
                    <a:lnT w="6350" cap="flat" cmpd="sng" algn="ctr">
                      <a:solidFill>
                        <a:schemeClr val="tx1">
                          <a:lumMod val="75000"/>
                          <a:lumOff val="25000"/>
                        </a:schemeClr>
                      </a:solidFill>
                      <a:prstDash val="sysDot"/>
                      <a:round/>
                      <a:headEnd type="none" w="med" len="med"/>
                      <a:tailEnd type="none" w="med" len="med"/>
                    </a:lnT>
                    <a:lnB w="6350" cap="flat" cmpd="sng" algn="ctr">
                      <a:solidFill>
                        <a:schemeClr val="tx1">
                          <a:lumMod val="75000"/>
                          <a:lumOff val="25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29 (26,85%)</a:t>
                      </a:r>
                    </a:p>
                  </a:txBody>
                  <a:tcPr anchor="ctr">
                    <a:lnL w="6350" cap="flat" cmpd="sng" algn="ctr">
                      <a:solidFill>
                        <a:schemeClr val="tx1">
                          <a:lumMod val="75000"/>
                          <a:lumOff val="25000"/>
                        </a:schemeClr>
                      </a:solidFill>
                      <a:prstDash val="sysDot"/>
                      <a:round/>
                      <a:headEnd type="none" w="med" len="med"/>
                      <a:tailEnd type="none" w="med" len="med"/>
                    </a:lnL>
                    <a:lnR w="6350" cap="flat" cmpd="sng" algn="ctr">
                      <a:solidFill>
                        <a:schemeClr val="tx1">
                          <a:lumMod val="75000"/>
                          <a:lumOff val="25000"/>
                        </a:schemeClr>
                      </a:solidFill>
                      <a:prstDash val="sysDot"/>
                      <a:round/>
                      <a:headEnd type="none" w="med" len="med"/>
                      <a:tailEnd type="none" w="med" len="med"/>
                    </a:lnR>
                    <a:lnT w="6350" cap="flat" cmpd="sng" algn="ctr">
                      <a:solidFill>
                        <a:schemeClr val="tx1">
                          <a:lumMod val="75000"/>
                          <a:lumOff val="25000"/>
                        </a:schemeClr>
                      </a:solidFill>
                      <a:prstDash val="sysDot"/>
                      <a:round/>
                      <a:headEnd type="none" w="med" len="med"/>
                      <a:tailEnd type="none" w="med" len="med"/>
                    </a:lnT>
                    <a:lnB w="6350" cap="flat" cmpd="sng" algn="ctr">
                      <a:solidFill>
                        <a:schemeClr val="tx1">
                          <a:lumMod val="75000"/>
                          <a:lumOff val="25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60 (55,56%)</a:t>
                      </a:r>
                    </a:p>
                  </a:txBody>
                  <a:tcPr anchor="ctr">
                    <a:lnL w="6350" cap="flat" cmpd="sng" algn="ctr">
                      <a:solidFill>
                        <a:schemeClr val="tx1">
                          <a:lumMod val="75000"/>
                          <a:lumOff val="25000"/>
                        </a:schemeClr>
                      </a:solidFill>
                      <a:prstDash val="sysDot"/>
                      <a:round/>
                      <a:headEnd type="none" w="med" len="med"/>
                      <a:tailEnd type="none" w="med" len="med"/>
                    </a:lnL>
                    <a:lnR w="6350" cap="flat" cmpd="sng" algn="ctr">
                      <a:solidFill>
                        <a:schemeClr val="tx1">
                          <a:lumMod val="75000"/>
                          <a:lumOff val="25000"/>
                        </a:schemeClr>
                      </a:solidFill>
                      <a:prstDash val="sysDot"/>
                      <a:round/>
                      <a:headEnd type="none" w="med" len="med"/>
                      <a:tailEnd type="none" w="med" len="med"/>
                    </a:lnR>
                    <a:lnT w="6350" cap="flat" cmpd="sng" algn="ctr">
                      <a:solidFill>
                        <a:schemeClr val="tx1">
                          <a:lumMod val="75000"/>
                          <a:lumOff val="25000"/>
                        </a:schemeClr>
                      </a:solidFill>
                      <a:prstDash val="sysDot"/>
                      <a:round/>
                      <a:headEnd type="none" w="med" len="med"/>
                      <a:tailEnd type="none" w="med" len="med"/>
                    </a:lnT>
                    <a:lnB w="6350" cap="flat" cmpd="sng" algn="ctr">
                      <a:solidFill>
                        <a:schemeClr val="tx1">
                          <a:lumMod val="75000"/>
                          <a:lumOff val="25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19 (17,59%)</a:t>
                      </a:r>
                    </a:p>
                  </a:txBody>
                  <a:tcPr anchor="ctr">
                    <a:lnL w="6350" cap="flat" cmpd="sng" algn="ctr">
                      <a:solidFill>
                        <a:schemeClr val="tx1">
                          <a:lumMod val="75000"/>
                          <a:lumOff val="25000"/>
                        </a:schemeClr>
                      </a:solidFill>
                      <a:prstDash val="sysDot"/>
                      <a:round/>
                      <a:headEnd type="none" w="med" len="med"/>
                      <a:tailEnd type="none" w="med" len="med"/>
                    </a:lnL>
                    <a:lnR w="6350" cap="flat" cmpd="sng" algn="ctr">
                      <a:solidFill>
                        <a:schemeClr val="tx1">
                          <a:lumMod val="75000"/>
                          <a:lumOff val="25000"/>
                        </a:schemeClr>
                      </a:solidFill>
                      <a:prstDash val="sysDot"/>
                      <a:round/>
                      <a:headEnd type="none" w="med" len="med"/>
                      <a:tailEnd type="none" w="med" len="med"/>
                    </a:lnR>
                    <a:lnT w="6350" cap="flat" cmpd="sng" algn="ctr">
                      <a:solidFill>
                        <a:schemeClr val="tx1">
                          <a:lumMod val="75000"/>
                          <a:lumOff val="25000"/>
                        </a:schemeClr>
                      </a:solidFill>
                      <a:prstDash val="sysDot"/>
                      <a:round/>
                      <a:headEnd type="none" w="med" len="med"/>
                      <a:tailEnd type="none" w="med" len="med"/>
                    </a:lnT>
                    <a:lnB w="6350" cap="flat" cmpd="sng" algn="ctr">
                      <a:solidFill>
                        <a:schemeClr val="tx1">
                          <a:lumMod val="75000"/>
                          <a:lumOff val="25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2121114"/>
                  </a:ext>
                </a:extLst>
              </a:tr>
            </a:tbl>
          </a:graphicData>
        </a:graphic>
      </p:graphicFrame>
      <p:graphicFrame>
        <p:nvGraphicFramePr>
          <p:cNvPr id="31" name="Tabela 30">
            <a:extLst>
              <a:ext uri="{FF2B5EF4-FFF2-40B4-BE49-F238E27FC236}">
                <a16:creationId xmlns:a16="http://schemas.microsoft.com/office/drawing/2014/main" id="{3B97CDBB-6498-41D0-86F7-FBA0E3AAC108}"/>
              </a:ext>
            </a:extLst>
          </p:cNvPr>
          <p:cNvGraphicFramePr>
            <a:graphicFrameLocks noGrp="1"/>
          </p:cNvGraphicFramePr>
          <p:nvPr>
            <p:extLst>
              <p:ext uri="{D42A27DB-BD31-4B8C-83A1-F6EECF244321}">
                <p14:modId xmlns:p14="http://schemas.microsoft.com/office/powerpoint/2010/main" val="866792677"/>
              </p:ext>
            </p:extLst>
          </p:nvPr>
        </p:nvGraphicFramePr>
        <p:xfrm>
          <a:off x="1364242" y="3844898"/>
          <a:ext cx="3867956" cy="635164"/>
        </p:xfrm>
        <a:graphic>
          <a:graphicData uri="http://schemas.openxmlformats.org/drawingml/2006/table">
            <a:tbl>
              <a:tblPr firstRow="1" bandRow="1">
                <a:tableStyleId>{F2DE63D5-997A-4646-A377-4702673A728D}</a:tableStyleId>
              </a:tblPr>
              <a:tblGrid>
                <a:gridCol w="966989">
                  <a:extLst>
                    <a:ext uri="{9D8B030D-6E8A-4147-A177-3AD203B41FA5}">
                      <a16:colId xmlns:a16="http://schemas.microsoft.com/office/drawing/2014/main" val="3806050286"/>
                    </a:ext>
                  </a:extLst>
                </a:gridCol>
                <a:gridCol w="966989">
                  <a:extLst>
                    <a:ext uri="{9D8B030D-6E8A-4147-A177-3AD203B41FA5}">
                      <a16:colId xmlns:a16="http://schemas.microsoft.com/office/drawing/2014/main" val="658273446"/>
                    </a:ext>
                  </a:extLst>
                </a:gridCol>
                <a:gridCol w="966989">
                  <a:extLst>
                    <a:ext uri="{9D8B030D-6E8A-4147-A177-3AD203B41FA5}">
                      <a16:colId xmlns:a16="http://schemas.microsoft.com/office/drawing/2014/main" val="2373962523"/>
                    </a:ext>
                  </a:extLst>
                </a:gridCol>
                <a:gridCol w="966989">
                  <a:extLst>
                    <a:ext uri="{9D8B030D-6E8A-4147-A177-3AD203B41FA5}">
                      <a16:colId xmlns:a16="http://schemas.microsoft.com/office/drawing/2014/main" val="1961687730"/>
                    </a:ext>
                  </a:extLst>
                </a:gridCol>
              </a:tblGrid>
              <a:tr h="253021">
                <a:tc>
                  <a:txBody>
                    <a:bodyPr/>
                    <a:lstStyle/>
                    <a:p>
                      <a:pPr algn="ctr">
                        <a:lnSpc>
                          <a:spcPct val="150000"/>
                        </a:lnSpc>
                      </a:pPr>
                      <a:r>
                        <a:rPr lang="pt-BR" sz="1000" dirty="0">
                          <a:latin typeface="Arial" panose="020B0604020202020204" pitchFamily="34" charset="0"/>
                          <a:cs typeface="Arial" panose="020B0604020202020204" pitchFamily="34" charset="0"/>
                        </a:rPr>
                        <a:t>1° Ciclo</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ysDot"/>
                      <a:round/>
                      <a:headEnd type="none" w="med" len="med"/>
                      <a:tailEnd type="none" w="med" len="med"/>
                    </a:lnB>
                    <a:lnTlToBr w="12700" cmpd="sng">
                      <a:noFill/>
                      <a:prstDash val="solid"/>
                    </a:lnTlToBr>
                    <a:lnBlToTr w="12700" cmpd="sng">
                      <a:noFill/>
                      <a:prstDash val="solid"/>
                    </a:lnBlToTr>
                    <a:solidFill>
                      <a:srgbClr val="9E2289"/>
                    </a:solidFill>
                  </a:tcPr>
                </a:tc>
                <a:tc>
                  <a:txBody>
                    <a:bodyPr/>
                    <a:lstStyle/>
                    <a:p>
                      <a:pPr algn="ctr">
                        <a:lnSpc>
                          <a:spcPct val="150000"/>
                        </a:lnSpc>
                      </a:pPr>
                      <a:r>
                        <a:rPr lang="pt-BR" sz="1000" dirty="0">
                          <a:latin typeface="Arial" panose="020B0604020202020204" pitchFamily="34" charset="0"/>
                          <a:cs typeface="Arial" panose="020B0604020202020204" pitchFamily="34" charset="0"/>
                        </a:rPr>
                        <a:t>2° Ciclo</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ysDot"/>
                      <a:round/>
                      <a:headEnd type="none" w="med" len="med"/>
                      <a:tailEnd type="none" w="med" len="med"/>
                    </a:lnB>
                    <a:lnTlToBr w="12700" cmpd="sng">
                      <a:noFill/>
                      <a:prstDash val="solid"/>
                    </a:lnTlToBr>
                    <a:lnBlToTr w="12700" cmpd="sng">
                      <a:noFill/>
                      <a:prstDash val="solid"/>
                    </a:lnBlToTr>
                    <a:solidFill>
                      <a:srgbClr val="9E2289"/>
                    </a:solidFill>
                  </a:tcPr>
                </a:tc>
                <a:tc>
                  <a:txBody>
                    <a:bodyPr/>
                    <a:lstStyle/>
                    <a:p>
                      <a:pPr algn="ctr">
                        <a:lnSpc>
                          <a:spcPct val="150000"/>
                        </a:lnSpc>
                      </a:pPr>
                      <a:r>
                        <a:rPr lang="pt-BR" sz="1000" dirty="0">
                          <a:latin typeface="Arial" panose="020B0604020202020204" pitchFamily="34" charset="0"/>
                          <a:cs typeface="Arial" panose="020B0604020202020204" pitchFamily="34" charset="0"/>
                        </a:rPr>
                        <a:t>3° Ciclo</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ysDot"/>
                      <a:round/>
                      <a:headEnd type="none" w="med" len="med"/>
                      <a:tailEnd type="none" w="med" len="med"/>
                    </a:lnB>
                    <a:lnTlToBr w="12700" cmpd="sng">
                      <a:noFill/>
                      <a:prstDash val="solid"/>
                    </a:lnTlToBr>
                    <a:lnBlToTr w="12700" cmpd="sng">
                      <a:noFill/>
                      <a:prstDash val="solid"/>
                    </a:lnBlToTr>
                    <a:solidFill>
                      <a:srgbClr val="9E2289"/>
                    </a:solidFill>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pt-BR" sz="1000" dirty="0">
                          <a:latin typeface="Arial" panose="020B0604020202020204" pitchFamily="34" charset="0"/>
                          <a:cs typeface="Arial" panose="020B0604020202020204" pitchFamily="34" charset="0"/>
                        </a:rPr>
                        <a:t>4° Ciclo</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ysDot"/>
                      <a:round/>
                      <a:headEnd type="none" w="med" len="med"/>
                      <a:tailEnd type="none" w="med" len="med"/>
                    </a:lnB>
                    <a:lnTlToBr w="12700" cmpd="sng">
                      <a:noFill/>
                      <a:prstDash val="solid"/>
                    </a:lnTlToBr>
                    <a:lnBlToTr w="12700" cmpd="sng">
                      <a:noFill/>
                      <a:prstDash val="solid"/>
                    </a:lnBlToTr>
                    <a:solidFill>
                      <a:srgbClr val="9E2289"/>
                    </a:solidFill>
                  </a:tcPr>
                </a:tc>
                <a:extLst>
                  <a:ext uri="{0D108BD9-81ED-4DB2-BD59-A6C34878D82A}">
                    <a16:rowId xmlns:a16="http://schemas.microsoft.com/office/drawing/2014/main" val="574108456"/>
                  </a:ext>
                </a:extLst>
              </a:tr>
              <a:tr h="343381">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40</a:t>
                      </a:r>
                    </a:p>
                  </a:txBody>
                  <a:tcPr>
                    <a:lnL w="12700" cap="flat" cmpd="sng" algn="ctr">
                      <a:solidFill>
                        <a:schemeClr val="bg1">
                          <a:lumMod val="65000"/>
                        </a:schemeClr>
                      </a:solidFill>
                      <a:prstDash val="sysDot"/>
                      <a:round/>
                      <a:headEnd type="none" w="med" len="med"/>
                      <a:tailEnd type="none" w="med" len="med"/>
                    </a:lnL>
                    <a:lnR w="12700" cap="flat" cmpd="sng" algn="ctr">
                      <a:solidFill>
                        <a:schemeClr val="bg1">
                          <a:lumMod val="65000"/>
                        </a:schemeClr>
                      </a:solid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56</a:t>
                      </a:r>
                    </a:p>
                  </a:txBody>
                  <a:tcPr>
                    <a:lnL w="12700" cap="flat" cmpd="sng" algn="ctr">
                      <a:solidFill>
                        <a:schemeClr val="bg1">
                          <a:lumMod val="65000"/>
                        </a:schemeClr>
                      </a:solidFill>
                      <a:prstDash val="sysDot"/>
                      <a:round/>
                      <a:headEnd type="none" w="med" len="med"/>
                      <a:tailEnd type="none" w="med" len="med"/>
                    </a:lnL>
                    <a:lnR w="12700" cap="flat" cmpd="sng" algn="ctr">
                      <a:solidFill>
                        <a:schemeClr val="bg1">
                          <a:lumMod val="65000"/>
                        </a:schemeClr>
                      </a:solid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54</a:t>
                      </a:r>
                    </a:p>
                  </a:txBody>
                  <a:tcPr>
                    <a:lnL w="12700" cap="flat" cmpd="sng" algn="ctr">
                      <a:solidFill>
                        <a:schemeClr val="bg1">
                          <a:lumMod val="65000"/>
                        </a:schemeClr>
                      </a:solidFill>
                      <a:prstDash val="sysDot"/>
                      <a:round/>
                      <a:headEnd type="none" w="med" len="med"/>
                      <a:tailEnd type="none" w="med" len="med"/>
                    </a:lnL>
                    <a:lnR w="12700" cap="flat" cmpd="sng" algn="ctr">
                      <a:solidFill>
                        <a:schemeClr val="bg1">
                          <a:lumMod val="65000"/>
                        </a:schemeClr>
                      </a:solid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38</a:t>
                      </a:r>
                    </a:p>
                  </a:txBody>
                  <a:tcPr>
                    <a:lnL w="12700" cap="flat" cmpd="sng" algn="ctr">
                      <a:solidFill>
                        <a:schemeClr val="bg1">
                          <a:lumMod val="65000"/>
                        </a:schemeClr>
                      </a:solidFill>
                      <a:prstDash val="sysDot"/>
                      <a:round/>
                      <a:headEnd type="none" w="med" len="med"/>
                      <a:tailEnd type="none" w="med" len="med"/>
                    </a:lnL>
                    <a:lnR w="12700" cap="flat" cmpd="sng" algn="ctr">
                      <a:solidFill>
                        <a:schemeClr val="bg1">
                          <a:lumMod val="65000"/>
                        </a:schemeClr>
                      </a:solid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7835773"/>
                  </a:ext>
                </a:extLst>
              </a:tr>
            </a:tbl>
          </a:graphicData>
        </a:graphic>
      </p:graphicFrame>
      <p:sp>
        <p:nvSpPr>
          <p:cNvPr id="32" name="Retângulo: Cantos Arredondados 31">
            <a:extLst>
              <a:ext uri="{FF2B5EF4-FFF2-40B4-BE49-F238E27FC236}">
                <a16:creationId xmlns:a16="http://schemas.microsoft.com/office/drawing/2014/main" id="{17DBECB7-43DD-42F7-B94F-49035810FBF0}"/>
              </a:ext>
            </a:extLst>
          </p:cNvPr>
          <p:cNvSpPr/>
          <p:nvPr/>
        </p:nvSpPr>
        <p:spPr>
          <a:xfrm>
            <a:off x="1294993" y="5418202"/>
            <a:ext cx="4402601" cy="1206047"/>
          </a:xfrm>
          <a:prstGeom prst="roundRect">
            <a:avLst/>
          </a:prstGeom>
          <a:solidFill>
            <a:schemeClr val="bg1">
              <a:lumMod val="95000"/>
            </a:schemeClr>
          </a:solidFill>
          <a:ln>
            <a:noFill/>
          </a:ln>
          <a:effectLst>
            <a:outerShdw dist="101600" dir="10740000" algn="t" rotWithShape="0">
              <a:srgbClr val="9E2289"/>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34" name="Google Shape;2124;p50">
            <a:extLst>
              <a:ext uri="{FF2B5EF4-FFF2-40B4-BE49-F238E27FC236}">
                <a16:creationId xmlns:a16="http://schemas.microsoft.com/office/drawing/2014/main" id="{B1AFE1DB-EA5B-47C0-82C4-D56CDB23AF45}"/>
              </a:ext>
            </a:extLst>
          </p:cNvPr>
          <p:cNvGrpSpPr/>
          <p:nvPr/>
        </p:nvGrpSpPr>
        <p:grpSpPr>
          <a:xfrm>
            <a:off x="1430643" y="5589055"/>
            <a:ext cx="286337" cy="286644"/>
            <a:chOff x="4673540" y="3680297"/>
            <a:chExt cx="355434" cy="355815"/>
          </a:xfrm>
        </p:grpSpPr>
        <p:sp>
          <p:nvSpPr>
            <p:cNvPr id="35" name="Google Shape;2125;p50">
              <a:extLst>
                <a:ext uri="{FF2B5EF4-FFF2-40B4-BE49-F238E27FC236}">
                  <a16:creationId xmlns:a16="http://schemas.microsoft.com/office/drawing/2014/main" id="{BDCBC74B-9639-4471-BD0E-47DF9BA58574}"/>
                </a:ext>
              </a:extLst>
            </p:cNvPr>
            <p:cNvSpPr/>
            <p:nvPr/>
          </p:nvSpPr>
          <p:spPr>
            <a:xfrm>
              <a:off x="4673540" y="3680297"/>
              <a:ext cx="355434" cy="355815"/>
            </a:xfrm>
            <a:custGeom>
              <a:avLst/>
              <a:gdLst/>
              <a:ahLst/>
              <a:cxnLst/>
              <a:rect l="l" t="t" r="r" b="b"/>
              <a:pathLst>
                <a:path w="11193" h="11205" extrusionOk="0">
                  <a:moveTo>
                    <a:pt x="2012" y="0"/>
                  </a:moveTo>
                  <a:cubicBezTo>
                    <a:pt x="905" y="0"/>
                    <a:pt x="0" y="893"/>
                    <a:pt x="0" y="2013"/>
                  </a:cubicBezTo>
                  <a:lnTo>
                    <a:pt x="0" y="9192"/>
                  </a:lnTo>
                  <a:cubicBezTo>
                    <a:pt x="0" y="10287"/>
                    <a:pt x="893" y="11204"/>
                    <a:pt x="2012" y="11204"/>
                  </a:cubicBezTo>
                  <a:lnTo>
                    <a:pt x="9180" y="11204"/>
                  </a:lnTo>
                  <a:cubicBezTo>
                    <a:pt x="10287" y="11204"/>
                    <a:pt x="11192" y="10311"/>
                    <a:pt x="11192" y="9192"/>
                  </a:cubicBezTo>
                  <a:lnTo>
                    <a:pt x="11192" y="2013"/>
                  </a:lnTo>
                  <a:cubicBezTo>
                    <a:pt x="11180" y="917"/>
                    <a:pt x="10287" y="0"/>
                    <a:pt x="9180" y="0"/>
                  </a:cubicBezTo>
                  <a:lnTo>
                    <a:pt x="8085" y="0"/>
                  </a:lnTo>
                  <a:cubicBezTo>
                    <a:pt x="7989" y="0"/>
                    <a:pt x="7918" y="84"/>
                    <a:pt x="7918" y="167"/>
                  </a:cubicBezTo>
                  <a:cubicBezTo>
                    <a:pt x="7918" y="262"/>
                    <a:pt x="7989" y="334"/>
                    <a:pt x="8085" y="334"/>
                  </a:cubicBezTo>
                  <a:lnTo>
                    <a:pt x="9180" y="334"/>
                  </a:lnTo>
                  <a:cubicBezTo>
                    <a:pt x="10109" y="334"/>
                    <a:pt x="10847" y="1084"/>
                    <a:pt x="10847" y="2001"/>
                  </a:cubicBezTo>
                  <a:lnTo>
                    <a:pt x="10847" y="9180"/>
                  </a:lnTo>
                  <a:cubicBezTo>
                    <a:pt x="10847" y="10097"/>
                    <a:pt x="10109" y="10847"/>
                    <a:pt x="9180" y="10847"/>
                  </a:cubicBezTo>
                  <a:lnTo>
                    <a:pt x="2012" y="10847"/>
                  </a:lnTo>
                  <a:cubicBezTo>
                    <a:pt x="1084" y="10847"/>
                    <a:pt x="345" y="10097"/>
                    <a:pt x="345" y="9180"/>
                  </a:cubicBezTo>
                  <a:lnTo>
                    <a:pt x="345" y="2001"/>
                  </a:lnTo>
                  <a:cubicBezTo>
                    <a:pt x="345" y="1084"/>
                    <a:pt x="1084" y="334"/>
                    <a:pt x="2012" y="334"/>
                  </a:cubicBezTo>
                  <a:lnTo>
                    <a:pt x="7418" y="334"/>
                  </a:lnTo>
                  <a:cubicBezTo>
                    <a:pt x="7501" y="334"/>
                    <a:pt x="7573" y="262"/>
                    <a:pt x="7573" y="167"/>
                  </a:cubicBezTo>
                  <a:cubicBezTo>
                    <a:pt x="7573" y="84"/>
                    <a:pt x="7501" y="0"/>
                    <a:pt x="7418" y="0"/>
                  </a:cubicBezTo>
                  <a:close/>
                </a:path>
              </a:pathLst>
            </a:custGeom>
            <a:solidFill>
              <a:schemeClr val="lt2"/>
            </a:solidFill>
            <a:ln>
              <a:solidFill>
                <a:srgbClr val="9E2289"/>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126;p50">
              <a:extLst>
                <a:ext uri="{FF2B5EF4-FFF2-40B4-BE49-F238E27FC236}">
                  <a16:creationId xmlns:a16="http://schemas.microsoft.com/office/drawing/2014/main" id="{9DB4F03B-A41D-4C3A-8F9E-3F4DC87DDF74}"/>
                </a:ext>
              </a:extLst>
            </p:cNvPr>
            <p:cNvSpPr/>
            <p:nvPr/>
          </p:nvSpPr>
          <p:spPr>
            <a:xfrm>
              <a:off x="4805864" y="3736630"/>
              <a:ext cx="93042" cy="92661"/>
            </a:xfrm>
            <a:custGeom>
              <a:avLst/>
              <a:gdLst/>
              <a:ahLst/>
              <a:cxnLst/>
              <a:rect l="l" t="t" r="r" b="b"/>
              <a:pathLst>
                <a:path w="2930" h="2918" extrusionOk="0">
                  <a:moveTo>
                    <a:pt x="1477" y="334"/>
                  </a:moveTo>
                  <a:cubicBezTo>
                    <a:pt x="2096" y="334"/>
                    <a:pt x="2608" y="834"/>
                    <a:pt x="2608" y="1465"/>
                  </a:cubicBezTo>
                  <a:cubicBezTo>
                    <a:pt x="2608" y="2084"/>
                    <a:pt x="2096" y="2596"/>
                    <a:pt x="1477" y="2596"/>
                  </a:cubicBezTo>
                  <a:cubicBezTo>
                    <a:pt x="846" y="2596"/>
                    <a:pt x="346" y="2084"/>
                    <a:pt x="346" y="1465"/>
                  </a:cubicBezTo>
                  <a:cubicBezTo>
                    <a:pt x="346" y="834"/>
                    <a:pt x="846" y="334"/>
                    <a:pt x="1477" y="334"/>
                  </a:cubicBezTo>
                  <a:close/>
                  <a:moveTo>
                    <a:pt x="1477" y="0"/>
                  </a:moveTo>
                  <a:cubicBezTo>
                    <a:pt x="667" y="0"/>
                    <a:pt x="12" y="655"/>
                    <a:pt x="12" y="1465"/>
                  </a:cubicBezTo>
                  <a:cubicBezTo>
                    <a:pt x="0" y="2263"/>
                    <a:pt x="655" y="2918"/>
                    <a:pt x="1477" y="2918"/>
                  </a:cubicBezTo>
                  <a:cubicBezTo>
                    <a:pt x="2274" y="2918"/>
                    <a:pt x="2929" y="2263"/>
                    <a:pt x="2929" y="1465"/>
                  </a:cubicBezTo>
                  <a:cubicBezTo>
                    <a:pt x="2929" y="655"/>
                    <a:pt x="2274" y="0"/>
                    <a:pt x="1477" y="0"/>
                  </a:cubicBezTo>
                  <a:close/>
                </a:path>
              </a:pathLst>
            </a:custGeom>
            <a:solidFill>
              <a:schemeClr val="lt2"/>
            </a:solidFill>
            <a:ln>
              <a:solidFill>
                <a:srgbClr val="9E2289"/>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127;p50">
              <a:extLst>
                <a:ext uri="{FF2B5EF4-FFF2-40B4-BE49-F238E27FC236}">
                  <a16:creationId xmlns:a16="http://schemas.microsoft.com/office/drawing/2014/main" id="{E1F5114C-EAF4-4B61-BAF5-133E60381A2D}"/>
                </a:ext>
              </a:extLst>
            </p:cNvPr>
            <p:cNvSpPr/>
            <p:nvPr/>
          </p:nvSpPr>
          <p:spPr>
            <a:xfrm>
              <a:off x="4779380" y="3841358"/>
              <a:ext cx="143723" cy="138801"/>
            </a:xfrm>
            <a:custGeom>
              <a:avLst/>
              <a:gdLst/>
              <a:ahLst/>
              <a:cxnLst/>
              <a:rect l="l" t="t" r="r" b="b"/>
              <a:pathLst>
                <a:path w="4526" h="4371" extrusionOk="0">
                  <a:moveTo>
                    <a:pt x="477" y="1"/>
                  </a:moveTo>
                  <a:cubicBezTo>
                    <a:pt x="215" y="1"/>
                    <a:pt x="1" y="203"/>
                    <a:pt x="1" y="477"/>
                  </a:cubicBezTo>
                  <a:lnTo>
                    <a:pt x="1" y="893"/>
                  </a:lnTo>
                  <a:cubicBezTo>
                    <a:pt x="1" y="1155"/>
                    <a:pt x="203" y="1370"/>
                    <a:pt x="477" y="1370"/>
                  </a:cubicBezTo>
                  <a:lnTo>
                    <a:pt x="763" y="1370"/>
                  </a:lnTo>
                  <a:cubicBezTo>
                    <a:pt x="834" y="1370"/>
                    <a:pt x="906" y="1429"/>
                    <a:pt x="906" y="1513"/>
                  </a:cubicBezTo>
                  <a:lnTo>
                    <a:pt x="906" y="2858"/>
                  </a:lnTo>
                  <a:cubicBezTo>
                    <a:pt x="906" y="2929"/>
                    <a:pt x="846" y="3001"/>
                    <a:pt x="763" y="3001"/>
                  </a:cubicBezTo>
                  <a:lnTo>
                    <a:pt x="572" y="3001"/>
                  </a:lnTo>
                  <a:cubicBezTo>
                    <a:pt x="299" y="3001"/>
                    <a:pt x="96" y="3215"/>
                    <a:pt x="96" y="3477"/>
                  </a:cubicBezTo>
                  <a:lnTo>
                    <a:pt x="96" y="3894"/>
                  </a:lnTo>
                  <a:cubicBezTo>
                    <a:pt x="96" y="4168"/>
                    <a:pt x="299" y="4370"/>
                    <a:pt x="572" y="4370"/>
                  </a:cubicBezTo>
                  <a:lnTo>
                    <a:pt x="4049" y="4370"/>
                  </a:lnTo>
                  <a:cubicBezTo>
                    <a:pt x="4311" y="4370"/>
                    <a:pt x="4525" y="4168"/>
                    <a:pt x="4525" y="3894"/>
                  </a:cubicBezTo>
                  <a:lnTo>
                    <a:pt x="4525" y="3477"/>
                  </a:lnTo>
                  <a:cubicBezTo>
                    <a:pt x="4525" y="3215"/>
                    <a:pt x="4311" y="3001"/>
                    <a:pt x="4049" y="3001"/>
                  </a:cubicBezTo>
                  <a:lnTo>
                    <a:pt x="3859" y="3001"/>
                  </a:lnTo>
                  <a:cubicBezTo>
                    <a:pt x="3787" y="3001"/>
                    <a:pt x="3704" y="2941"/>
                    <a:pt x="3704" y="2858"/>
                  </a:cubicBezTo>
                  <a:lnTo>
                    <a:pt x="3704" y="477"/>
                  </a:lnTo>
                  <a:cubicBezTo>
                    <a:pt x="3704" y="203"/>
                    <a:pt x="3501" y="1"/>
                    <a:pt x="3228" y="1"/>
                  </a:cubicBezTo>
                  <a:lnTo>
                    <a:pt x="1442" y="1"/>
                  </a:lnTo>
                  <a:cubicBezTo>
                    <a:pt x="1358" y="1"/>
                    <a:pt x="1287" y="72"/>
                    <a:pt x="1287" y="155"/>
                  </a:cubicBezTo>
                  <a:cubicBezTo>
                    <a:pt x="1287" y="251"/>
                    <a:pt x="1358" y="322"/>
                    <a:pt x="1442" y="322"/>
                  </a:cubicBezTo>
                  <a:lnTo>
                    <a:pt x="3228" y="322"/>
                  </a:lnTo>
                  <a:cubicBezTo>
                    <a:pt x="3311" y="322"/>
                    <a:pt x="3382" y="382"/>
                    <a:pt x="3382" y="477"/>
                  </a:cubicBezTo>
                  <a:lnTo>
                    <a:pt x="3382" y="2858"/>
                  </a:lnTo>
                  <a:cubicBezTo>
                    <a:pt x="3382" y="3120"/>
                    <a:pt x="3585" y="3334"/>
                    <a:pt x="3859" y="3334"/>
                  </a:cubicBezTo>
                  <a:lnTo>
                    <a:pt x="4049" y="3334"/>
                  </a:lnTo>
                  <a:cubicBezTo>
                    <a:pt x="4121" y="3334"/>
                    <a:pt x="4204" y="3394"/>
                    <a:pt x="4204" y="3477"/>
                  </a:cubicBezTo>
                  <a:lnTo>
                    <a:pt x="4204" y="3894"/>
                  </a:lnTo>
                  <a:cubicBezTo>
                    <a:pt x="4204" y="3965"/>
                    <a:pt x="4132" y="4049"/>
                    <a:pt x="4049" y="4049"/>
                  </a:cubicBezTo>
                  <a:lnTo>
                    <a:pt x="572" y="4049"/>
                  </a:lnTo>
                  <a:cubicBezTo>
                    <a:pt x="489" y="4049"/>
                    <a:pt x="418" y="3989"/>
                    <a:pt x="418" y="3894"/>
                  </a:cubicBezTo>
                  <a:lnTo>
                    <a:pt x="418" y="3477"/>
                  </a:lnTo>
                  <a:cubicBezTo>
                    <a:pt x="418" y="3406"/>
                    <a:pt x="477" y="3334"/>
                    <a:pt x="572" y="3334"/>
                  </a:cubicBezTo>
                  <a:lnTo>
                    <a:pt x="763" y="3334"/>
                  </a:lnTo>
                  <a:cubicBezTo>
                    <a:pt x="1025" y="3334"/>
                    <a:pt x="1239" y="3120"/>
                    <a:pt x="1239" y="2858"/>
                  </a:cubicBezTo>
                  <a:lnTo>
                    <a:pt x="1239" y="1513"/>
                  </a:lnTo>
                  <a:cubicBezTo>
                    <a:pt x="1239" y="1251"/>
                    <a:pt x="1025" y="1036"/>
                    <a:pt x="763" y="1036"/>
                  </a:cubicBezTo>
                  <a:lnTo>
                    <a:pt x="477" y="1036"/>
                  </a:lnTo>
                  <a:cubicBezTo>
                    <a:pt x="406" y="1036"/>
                    <a:pt x="334" y="977"/>
                    <a:pt x="334" y="893"/>
                  </a:cubicBezTo>
                  <a:lnTo>
                    <a:pt x="334" y="477"/>
                  </a:lnTo>
                  <a:cubicBezTo>
                    <a:pt x="334" y="393"/>
                    <a:pt x="394" y="322"/>
                    <a:pt x="477" y="322"/>
                  </a:cubicBezTo>
                  <a:lnTo>
                    <a:pt x="787" y="322"/>
                  </a:lnTo>
                  <a:cubicBezTo>
                    <a:pt x="882" y="322"/>
                    <a:pt x="953" y="251"/>
                    <a:pt x="953" y="155"/>
                  </a:cubicBezTo>
                  <a:cubicBezTo>
                    <a:pt x="953" y="72"/>
                    <a:pt x="882" y="1"/>
                    <a:pt x="787" y="1"/>
                  </a:cubicBezTo>
                  <a:close/>
                </a:path>
              </a:pathLst>
            </a:custGeom>
            <a:solidFill>
              <a:schemeClr val="lt2"/>
            </a:solidFill>
            <a:ln>
              <a:solidFill>
                <a:srgbClr val="9E2289"/>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CaixaDeTexto 1">
            <a:extLst>
              <a:ext uri="{FF2B5EF4-FFF2-40B4-BE49-F238E27FC236}">
                <a16:creationId xmlns:a16="http://schemas.microsoft.com/office/drawing/2014/main" id="{1FF25EE3-7217-94C1-79C6-A21234361E5A}"/>
              </a:ext>
            </a:extLst>
          </p:cNvPr>
          <p:cNvSpPr txBox="1"/>
          <p:nvPr/>
        </p:nvSpPr>
        <p:spPr>
          <a:xfrm>
            <a:off x="1716956" y="5527125"/>
            <a:ext cx="3834605" cy="1015663"/>
          </a:xfrm>
          <a:prstGeom prst="rect">
            <a:avLst/>
          </a:prstGeom>
          <a:noFill/>
        </p:spPr>
        <p:txBody>
          <a:bodyPr wrap="square" rtlCol="0">
            <a:spAutoFit/>
          </a:bodyPr>
          <a:lstStyle/>
          <a:p>
            <a:pPr algn="just"/>
            <a:r>
              <a:rPr lang="pt-BR" sz="1200" dirty="0">
                <a:solidFill>
                  <a:schemeClr val="bg2">
                    <a:lumMod val="50000"/>
                  </a:schemeClr>
                </a:solidFill>
                <a:latin typeface="Arial" panose="020B0604020202020204" pitchFamily="34" charset="0"/>
                <a:cs typeface="Arial" panose="020B0604020202020204" pitchFamily="34" charset="0"/>
              </a:rPr>
              <a:t>Observa-se um bom equilíbrio na distribuição das monitorias entre as áreas ao longo dos ciclos. A exceção ocorreu no 3º ciclo, que apresentou duas monitorias adicionais realizadas pela área de Qualidade, referentes a colaboradores desligados. </a:t>
            </a:r>
          </a:p>
        </p:txBody>
      </p:sp>
    </p:spTree>
    <p:extLst>
      <p:ext uri="{BB962C8B-B14F-4D97-AF65-F5344CB8AC3E}">
        <p14:creationId xmlns:p14="http://schemas.microsoft.com/office/powerpoint/2010/main" val="14781125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Imagem 38">
            <a:extLst>
              <a:ext uri="{FF2B5EF4-FFF2-40B4-BE49-F238E27FC236}">
                <a16:creationId xmlns:a16="http://schemas.microsoft.com/office/drawing/2014/main" id="{8F6A83EB-6687-479D-BD59-51B6B2B8CBF9}"/>
              </a:ext>
            </a:extLst>
          </p:cNvPr>
          <p:cNvPicPr>
            <a:picLocks noChangeAspect="1"/>
          </p:cNvPicPr>
          <p:nvPr/>
        </p:nvPicPr>
        <p:blipFill>
          <a:blip r:embed="rId2">
            <a:alphaModFix amt="4000"/>
          </a:blip>
          <a:stretch>
            <a:fillRect/>
          </a:stretch>
        </p:blipFill>
        <p:spPr>
          <a:xfrm>
            <a:off x="9118521" y="4681854"/>
            <a:ext cx="5030445" cy="5148116"/>
          </a:xfrm>
          <a:prstGeom prst="rect">
            <a:avLst/>
          </a:prstGeom>
          <a:effectLst/>
        </p:spPr>
      </p:pic>
      <p:pic>
        <p:nvPicPr>
          <p:cNvPr id="38" name="Imagem 37">
            <a:extLst>
              <a:ext uri="{FF2B5EF4-FFF2-40B4-BE49-F238E27FC236}">
                <a16:creationId xmlns:a16="http://schemas.microsoft.com/office/drawing/2014/main" id="{DE2A603E-716D-41D5-ABEF-1625839B46A3}"/>
              </a:ext>
            </a:extLst>
          </p:cNvPr>
          <p:cNvPicPr>
            <a:picLocks noChangeAspect="1"/>
          </p:cNvPicPr>
          <p:nvPr/>
        </p:nvPicPr>
        <p:blipFill>
          <a:blip r:embed="rId2">
            <a:alphaModFix amt="4000"/>
          </a:blip>
          <a:stretch>
            <a:fillRect/>
          </a:stretch>
        </p:blipFill>
        <p:spPr>
          <a:xfrm>
            <a:off x="-2128370" y="-2021305"/>
            <a:ext cx="5030445" cy="5148116"/>
          </a:xfrm>
          <a:prstGeom prst="rect">
            <a:avLst/>
          </a:prstGeom>
          <a:effectLst/>
        </p:spPr>
      </p:pic>
      <p:sp>
        <p:nvSpPr>
          <p:cNvPr id="6" name="Título 1">
            <a:extLst>
              <a:ext uri="{FF2B5EF4-FFF2-40B4-BE49-F238E27FC236}">
                <a16:creationId xmlns:a16="http://schemas.microsoft.com/office/drawing/2014/main" id="{F19E4ED5-6191-4819-BC5E-0686AFC2CEAF}"/>
              </a:ext>
            </a:extLst>
          </p:cNvPr>
          <p:cNvSpPr txBox="1">
            <a:spLocks/>
          </p:cNvSpPr>
          <p:nvPr/>
        </p:nvSpPr>
        <p:spPr>
          <a:xfrm>
            <a:off x="5946417" y="431573"/>
            <a:ext cx="5811865"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pt-BR" sz="1600" spc="600" dirty="0">
                <a:solidFill>
                  <a:srgbClr val="9E2289"/>
                </a:solidFill>
                <a:latin typeface="Arial" panose="020B0604020202020204" pitchFamily="34" charset="0"/>
                <a:cs typeface="Arial" panose="020B0604020202020204" pitchFamily="34" charset="0"/>
              </a:rPr>
              <a:t>PREMIUM</a:t>
            </a:r>
          </a:p>
        </p:txBody>
      </p:sp>
      <p:grpSp>
        <p:nvGrpSpPr>
          <p:cNvPr id="20" name="Google Shape;1964;p50">
            <a:extLst>
              <a:ext uri="{FF2B5EF4-FFF2-40B4-BE49-F238E27FC236}">
                <a16:creationId xmlns:a16="http://schemas.microsoft.com/office/drawing/2014/main" id="{644333FE-63B4-42DF-ADFA-AF9177DF58D7}"/>
              </a:ext>
            </a:extLst>
          </p:cNvPr>
          <p:cNvGrpSpPr/>
          <p:nvPr/>
        </p:nvGrpSpPr>
        <p:grpSpPr>
          <a:xfrm flipH="1">
            <a:off x="742950" y="537670"/>
            <a:ext cx="603644" cy="576232"/>
            <a:chOff x="4126815" y="2760704"/>
            <a:chExt cx="380393" cy="363118"/>
          </a:xfrm>
          <a:solidFill>
            <a:srgbClr val="0B5892"/>
          </a:solidFill>
        </p:grpSpPr>
        <p:sp>
          <p:nvSpPr>
            <p:cNvPr id="21" name="Google Shape;1965;p50">
              <a:extLst>
                <a:ext uri="{FF2B5EF4-FFF2-40B4-BE49-F238E27FC236}">
                  <a16:creationId xmlns:a16="http://schemas.microsoft.com/office/drawing/2014/main" id="{C90A8E2B-6430-4128-93A1-80EDBF3E3BED}"/>
                </a:ext>
              </a:extLst>
            </p:cNvPr>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966;p50">
              <a:extLst>
                <a:ext uri="{FF2B5EF4-FFF2-40B4-BE49-F238E27FC236}">
                  <a16:creationId xmlns:a16="http://schemas.microsoft.com/office/drawing/2014/main" id="{C220A82A-DCEF-47A8-9174-5A849CB2B75F}"/>
                </a:ext>
              </a:extLst>
            </p:cNvPr>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967;p50">
              <a:extLst>
                <a:ext uri="{FF2B5EF4-FFF2-40B4-BE49-F238E27FC236}">
                  <a16:creationId xmlns:a16="http://schemas.microsoft.com/office/drawing/2014/main" id="{446DDA74-F73B-4510-BFCE-608659C3FC02}"/>
                </a:ext>
              </a:extLst>
            </p:cNvPr>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968;p50">
              <a:extLst>
                <a:ext uri="{FF2B5EF4-FFF2-40B4-BE49-F238E27FC236}">
                  <a16:creationId xmlns:a16="http://schemas.microsoft.com/office/drawing/2014/main" id="{487DFEED-06C3-4B9B-9B7A-545AAF95F24C}"/>
                </a:ext>
              </a:extLst>
            </p:cNvPr>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Retângulo 28">
            <a:extLst>
              <a:ext uri="{FF2B5EF4-FFF2-40B4-BE49-F238E27FC236}">
                <a16:creationId xmlns:a16="http://schemas.microsoft.com/office/drawing/2014/main" id="{0BBC58FB-2C41-419E-8246-609C9177CDA9}"/>
              </a:ext>
            </a:extLst>
          </p:cNvPr>
          <p:cNvSpPr/>
          <p:nvPr/>
        </p:nvSpPr>
        <p:spPr>
          <a:xfrm>
            <a:off x="-449179" y="6707874"/>
            <a:ext cx="14054469" cy="334610"/>
          </a:xfrm>
          <a:prstGeom prst="rect">
            <a:avLst/>
          </a:prstGeom>
          <a:solidFill>
            <a:srgbClr val="9E22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 name="Imagem 7">
            <a:extLst>
              <a:ext uri="{FF2B5EF4-FFF2-40B4-BE49-F238E27FC236}">
                <a16:creationId xmlns:a16="http://schemas.microsoft.com/office/drawing/2014/main" id="{55CA91AA-A108-4071-B0A7-0374C74EDA09}"/>
              </a:ext>
            </a:extLst>
          </p:cNvPr>
          <p:cNvPicPr>
            <a:picLocks noChangeAspect="1"/>
          </p:cNvPicPr>
          <p:nvPr/>
        </p:nvPicPr>
        <p:blipFill>
          <a:blip r:embed="rId3"/>
          <a:stretch>
            <a:fillRect/>
          </a:stretch>
        </p:blipFill>
        <p:spPr>
          <a:xfrm>
            <a:off x="-124691" y="-20995"/>
            <a:ext cx="12316692" cy="88042"/>
          </a:xfrm>
          <a:prstGeom prst="rect">
            <a:avLst/>
          </a:prstGeom>
        </p:spPr>
      </p:pic>
      <p:sp>
        <p:nvSpPr>
          <p:cNvPr id="18" name="Título 1">
            <a:extLst>
              <a:ext uri="{FF2B5EF4-FFF2-40B4-BE49-F238E27FC236}">
                <a16:creationId xmlns:a16="http://schemas.microsoft.com/office/drawing/2014/main" id="{9BC75932-B40A-460F-B242-8264BFE06926}"/>
              </a:ext>
            </a:extLst>
          </p:cNvPr>
          <p:cNvSpPr txBox="1">
            <a:spLocks/>
          </p:cNvSpPr>
          <p:nvPr/>
        </p:nvSpPr>
        <p:spPr>
          <a:xfrm>
            <a:off x="1366068" y="448718"/>
            <a:ext cx="6453099"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spc="600" dirty="0">
                <a:solidFill>
                  <a:srgbClr val="0B5892"/>
                </a:solidFill>
                <a:latin typeface="Arial" panose="020B0604020202020204" pitchFamily="34" charset="0"/>
                <a:cs typeface="Arial" panose="020B0604020202020204" pitchFamily="34" charset="0"/>
              </a:rPr>
              <a:t>MÉDIA DO CANAL </a:t>
            </a:r>
          </a:p>
        </p:txBody>
      </p:sp>
      <p:sp>
        <p:nvSpPr>
          <p:cNvPr id="19" name="Título 1">
            <a:extLst>
              <a:ext uri="{FF2B5EF4-FFF2-40B4-BE49-F238E27FC236}">
                <a16:creationId xmlns:a16="http://schemas.microsoft.com/office/drawing/2014/main" id="{CB92D9AB-3FEB-47AD-8015-DD30B5F902CE}"/>
              </a:ext>
            </a:extLst>
          </p:cNvPr>
          <p:cNvSpPr txBox="1">
            <a:spLocks/>
          </p:cNvSpPr>
          <p:nvPr/>
        </p:nvSpPr>
        <p:spPr>
          <a:xfrm>
            <a:off x="1400358" y="716411"/>
            <a:ext cx="6950456"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600" spc="300" dirty="0">
                <a:solidFill>
                  <a:srgbClr val="0B5892"/>
                </a:solidFill>
                <a:latin typeface="Arial" panose="020B0604020202020204" pitchFamily="34" charset="0"/>
                <a:cs typeface="Arial" panose="020B0604020202020204" pitchFamily="34" charset="0"/>
              </a:rPr>
              <a:t>Quantidade total de monitorias realizadas</a:t>
            </a:r>
          </a:p>
        </p:txBody>
      </p:sp>
      <p:cxnSp>
        <p:nvCxnSpPr>
          <p:cNvPr id="25" name="Conector reto 24">
            <a:extLst>
              <a:ext uri="{FF2B5EF4-FFF2-40B4-BE49-F238E27FC236}">
                <a16:creationId xmlns:a16="http://schemas.microsoft.com/office/drawing/2014/main" id="{C6F5D155-7AE8-4277-A61A-2EF88BF2DADC}"/>
              </a:ext>
            </a:extLst>
          </p:cNvPr>
          <p:cNvCxnSpPr/>
          <p:nvPr/>
        </p:nvCxnSpPr>
        <p:spPr>
          <a:xfrm>
            <a:off x="725988" y="1185955"/>
            <a:ext cx="9855200" cy="0"/>
          </a:xfrm>
          <a:prstGeom prst="line">
            <a:avLst/>
          </a:prstGeom>
          <a:ln>
            <a:solidFill>
              <a:srgbClr val="0B5892"/>
            </a:solidFill>
          </a:ln>
        </p:spPr>
        <p:style>
          <a:lnRef idx="1">
            <a:schemeClr val="accent1"/>
          </a:lnRef>
          <a:fillRef idx="0">
            <a:schemeClr val="accent1"/>
          </a:fillRef>
          <a:effectRef idx="0">
            <a:schemeClr val="accent1"/>
          </a:effectRef>
          <a:fontRef idx="minor">
            <a:schemeClr val="tx1"/>
          </a:fontRef>
        </p:style>
      </p:cxnSp>
      <p:sp>
        <p:nvSpPr>
          <p:cNvPr id="110" name="CaixaDeTexto 109">
            <a:extLst>
              <a:ext uri="{FF2B5EF4-FFF2-40B4-BE49-F238E27FC236}">
                <a16:creationId xmlns:a16="http://schemas.microsoft.com/office/drawing/2014/main" id="{751BA167-80F5-4834-A5C7-E8ED41135E2E}"/>
              </a:ext>
            </a:extLst>
          </p:cNvPr>
          <p:cNvSpPr txBox="1"/>
          <p:nvPr/>
        </p:nvSpPr>
        <p:spPr>
          <a:xfrm>
            <a:off x="1549613" y="1890202"/>
            <a:ext cx="3720501" cy="307777"/>
          </a:xfrm>
          <a:prstGeom prst="rect">
            <a:avLst/>
          </a:prstGeom>
          <a:noFill/>
        </p:spPr>
        <p:txBody>
          <a:bodyPr wrap="square" rtlCol="0">
            <a:spAutoFit/>
          </a:bodyPr>
          <a:lstStyle/>
          <a:p>
            <a:pPr algn="ctr"/>
            <a:r>
              <a:rPr lang="pt-BR" sz="1400" b="1" dirty="0">
                <a:solidFill>
                  <a:schemeClr val="tx1">
                    <a:lumMod val="50000"/>
                    <a:lumOff val="50000"/>
                  </a:schemeClr>
                </a:solidFill>
                <a:latin typeface="Arial" panose="020B0604020202020204" pitchFamily="34" charset="0"/>
                <a:cs typeface="Arial" panose="020B0604020202020204" pitchFamily="34" charset="0"/>
              </a:rPr>
              <a:t>Médias por ciclos </a:t>
            </a:r>
          </a:p>
        </p:txBody>
      </p:sp>
      <p:graphicFrame>
        <p:nvGraphicFramePr>
          <p:cNvPr id="114" name="Gráfico 113">
            <a:extLst>
              <a:ext uri="{FF2B5EF4-FFF2-40B4-BE49-F238E27FC236}">
                <a16:creationId xmlns:a16="http://schemas.microsoft.com/office/drawing/2014/main" id="{7D3C7095-828E-4C06-BD03-D01C402F70BB}"/>
              </a:ext>
            </a:extLst>
          </p:cNvPr>
          <p:cNvGraphicFramePr/>
          <p:nvPr>
            <p:extLst>
              <p:ext uri="{D42A27DB-BD31-4B8C-83A1-F6EECF244321}">
                <p14:modId xmlns:p14="http://schemas.microsoft.com/office/powerpoint/2010/main" val="3223840054"/>
              </p:ext>
            </p:extLst>
          </p:nvPr>
        </p:nvGraphicFramePr>
        <p:xfrm>
          <a:off x="1341526" y="2455634"/>
          <a:ext cx="4157940" cy="153395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5" name="Gráfico 114">
            <a:extLst>
              <a:ext uri="{FF2B5EF4-FFF2-40B4-BE49-F238E27FC236}">
                <a16:creationId xmlns:a16="http://schemas.microsoft.com/office/drawing/2014/main" id="{E2098B98-DBDA-4BD6-9D64-5C4C6FDA77BF}"/>
              </a:ext>
            </a:extLst>
          </p:cNvPr>
          <p:cNvGraphicFramePr/>
          <p:nvPr>
            <p:extLst>
              <p:ext uri="{D42A27DB-BD31-4B8C-83A1-F6EECF244321}">
                <p14:modId xmlns:p14="http://schemas.microsoft.com/office/powerpoint/2010/main" val="1222316871"/>
              </p:ext>
            </p:extLst>
          </p:nvPr>
        </p:nvGraphicFramePr>
        <p:xfrm>
          <a:off x="6737570" y="2495204"/>
          <a:ext cx="4157940" cy="1681126"/>
        </p:xfrm>
        <a:graphic>
          <a:graphicData uri="http://schemas.openxmlformats.org/drawingml/2006/chart">
            <c:chart xmlns:c="http://schemas.openxmlformats.org/drawingml/2006/chart" xmlns:r="http://schemas.openxmlformats.org/officeDocument/2006/relationships" r:id="rId5"/>
          </a:graphicData>
        </a:graphic>
      </p:graphicFrame>
      <p:sp>
        <p:nvSpPr>
          <p:cNvPr id="31" name="CaixaDeTexto 30">
            <a:extLst>
              <a:ext uri="{FF2B5EF4-FFF2-40B4-BE49-F238E27FC236}">
                <a16:creationId xmlns:a16="http://schemas.microsoft.com/office/drawing/2014/main" id="{8351364F-9B64-4F08-9C15-EDDFE9AC06B3}"/>
              </a:ext>
            </a:extLst>
          </p:cNvPr>
          <p:cNvSpPr txBox="1"/>
          <p:nvPr/>
        </p:nvSpPr>
        <p:spPr>
          <a:xfrm>
            <a:off x="7072510" y="1863435"/>
            <a:ext cx="3720501" cy="307777"/>
          </a:xfrm>
          <a:prstGeom prst="rect">
            <a:avLst/>
          </a:prstGeom>
          <a:noFill/>
        </p:spPr>
        <p:txBody>
          <a:bodyPr wrap="square" rtlCol="0">
            <a:spAutoFit/>
          </a:bodyPr>
          <a:lstStyle/>
          <a:p>
            <a:pPr algn="ctr"/>
            <a:r>
              <a:rPr lang="pt-BR" sz="1400" b="1" dirty="0">
                <a:solidFill>
                  <a:schemeClr val="tx1">
                    <a:lumMod val="50000"/>
                    <a:lumOff val="50000"/>
                  </a:schemeClr>
                </a:solidFill>
                <a:latin typeface="Arial" panose="020B0604020202020204" pitchFamily="34" charset="0"/>
                <a:cs typeface="Arial" panose="020B0604020202020204" pitchFamily="34" charset="0"/>
              </a:rPr>
              <a:t>Operação vs. Qualidade</a:t>
            </a:r>
          </a:p>
        </p:txBody>
      </p:sp>
      <p:cxnSp>
        <p:nvCxnSpPr>
          <p:cNvPr id="26" name="Conector reto 25">
            <a:extLst>
              <a:ext uri="{FF2B5EF4-FFF2-40B4-BE49-F238E27FC236}">
                <a16:creationId xmlns:a16="http://schemas.microsoft.com/office/drawing/2014/main" id="{F978C618-01F7-4633-A987-CCB8366D669E}"/>
              </a:ext>
            </a:extLst>
          </p:cNvPr>
          <p:cNvCxnSpPr>
            <a:cxnSpLocks/>
          </p:cNvCxnSpPr>
          <p:nvPr/>
        </p:nvCxnSpPr>
        <p:spPr>
          <a:xfrm>
            <a:off x="6225549" y="1890202"/>
            <a:ext cx="0" cy="3804662"/>
          </a:xfrm>
          <a:prstGeom prst="line">
            <a:avLst/>
          </a:prstGeom>
          <a:ln>
            <a:solidFill>
              <a:srgbClr val="9E2289"/>
            </a:solidFill>
          </a:ln>
        </p:spPr>
        <p:style>
          <a:lnRef idx="1">
            <a:schemeClr val="accent1"/>
          </a:lnRef>
          <a:fillRef idx="0">
            <a:schemeClr val="accent1"/>
          </a:fillRef>
          <a:effectRef idx="0">
            <a:schemeClr val="accent1"/>
          </a:effectRef>
          <a:fontRef idx="minor">
            <a:schemeClr val="tx1"/>
          </a:fontRef>
        </p:style>
      </p:cxnSp>
      <p:sp>
        <p:nvSpPr>
          <p:cNvPr id="32" name="Retângulo: Cantos Arredondados 31">
            <a:extLst>
              <a:ext uri="{FF2B5EF4-FFF2-40B4-BE49-F238E27FC236}">
                <a16:creationId xmlns:a16="http://schemas.microsoft.com/office/drawing/2014/main" id="{8CA246E3-A58F-4C82-BA91-182CC17EEF1B}"/>
              </a:ext>
            </a:extLst>
          </p:cNvPr>
          <p:cNvSpPr/>
          <p:nvPr/>
        </p:nvSpPr>
        <p:spPr>
          <a:xfrm>
            <a:off x="1346594" y="4446049"/>
            <a:ext cx="4402601" cy="1695539"/>
          </a:xfrm>
          <a:prstGeom prst="roundRect">
            <a:avLst/>
          </a:prstGeom>
          <a:solidFill>
            <a:schemeClr val="bg1">
              <a:lumMod val="95000"/>
            </a:schemeClr>
          </a:solidFill>
          <a:ln>
            <a:noFill/>
          </a:ln>
          <a:effectLst>
            <a:outerShdw dist="101600" dir="10740000" algn="t" rotWithShape="0">
              <a:srgbClr val="9E2289"/>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34" name="Google Shape;2124;p50">
            <a:extLst>
              <a:ext uri="{FF2B5EF4-FFF2-40B4-BE49-F238E27FC236}">
                <a16:creationId xmlns:a16="http://schemas.microsoft.com/office/drawing/2014/main" id="{17C5FCEA-434A-4F2E-BC13-08F9AFE06D99}"/>
              </a:ext>
            </a:extLst>
          </p:cNvPr>
          <p:cNvGrpSpPr/>
          <p:nvPr/>
        </p:nvGrpSpPr>
        <p:grpSpPr>
          <a:xfrm>
            <a:off x="1482244" y="4562393"/>
            <a:ext cx="286337" cy="286644"/>
            <a:chOff x="4673540" y="3680297"/>
            <a:chExt cx="355434" cy="355815"/>
          </a:xfrm>
        </p:grpSpPr>
        <p:sp>
          <p:nvSpPr>
            <p:cNvPr id="35" name="Google Shape;2125;p50">
              <a:extLst>
                <a:ext uri="{FF2B5EF4-FFF2-40B4-BE49-F238E27FC236}">
                  <a16:creationId xmlns:a16="http://schemas.microsoft.com/office/drawing/2014/main" id="{57941490-D7F8-44DD-8C76-50E34A26D7AC}"/>
                </a:ext>
              </a:extLst>
            </p:cNvPr>
            <p:cNvSpPr/>
            <p:nvPr/>
          </p:nvSpPr>
          <p:spPr>
            <a:xfrm>
              <a:off x="4673540" y="3680297"/>
              <a:ext cx="355434" cy="355815"/>
            </a:xfrm>
            <a:custGeom>
              <a:avLst/>
              <a:gdLst/>
              <a:ahLst/>
              <a:cxnLst/>
              <a:rect l="l" t="t" r="r" b="b"/>
              <a:pathLst>
                <a:path w="11193" h="11205" extrusionOk="0">
                  <a:moveTo>
                    <a:pt x="2012" y="0"/>
                  </a:moveTo>
                  <a:cubicBezTo>
                    <a:pt x="905" y="0"/>
                    <a:pt x="0" y="893"/>
                    <a:pt x="0" y="2013"/>
                  </a:cubicBezTo>
                  <a:lnTo>
                    <a:pt x="0" y="9192"/>
                  </a:lnTo>
                  <a:cubicBezTo>
                    <a:pt x="0" y="10287"/>
                    <a:pt x="893" y="11204"/>
                    <a:pt x="2012" y="11204"/>
                  </a:cubicBezTo>
                  <a:lnTo>
                    <a:pt x="9180" y="11204"/>
                  </a:lnTo>
                  <a:cubicBezTo>
                    <a:pt x="10287" y="11204"/>
                    <a:pt x="11192" y="10311"/>
                    <a:pt x="11192" y="9192"/>
                  </a:cubicBezTo>
                  <a:lnTo>
                    <a:pt x="11192" y="2013"/>
                  </a:lnTo>
                  <a:cubicBezTo>
                    <a:pt x="11180" y="917"/>
                    <a:pt x="10287" y="0"/>
                    <a:pt x="9180" y="0"/>
                  </a:cubicBezTo>
                  <a:lnTo>
                    <a:pt x="8085" y="0"/>
                  </a:lnTo>
                  <a:cubicBezTo>
                    <a:pt x="7989" y="0"/>
                    <a:pt x="7918" y="84"/>
                    <a:pt x="7918" y="167"/>
                  </a:cubicBezTo>
                  <a:cubicBezTo>
                    <a:pt x="7918" y="262"/>
                    <a:pt x="7989" y="334"/>
                    <a:pt x="8085" y="334"/>
                  </a:cubicBezTo>
                  <a:lnTo>
                    <a:pt x="9180" y="334"/>
                  </a:lnTo>
                  <a:cubicBezTo>
                    <a:pt x="10109" y="334"/>
                    <a:pt x="10847" y="1084"/>
                    <a:pt x="10847" y="2001"/>
                  </a:cubicBezTo>
                  <a:lnTo>
                    <a:pt x="10847" y="9180"/>
                  </a:lnTo>
                  <a:cubicBezTo>
                    <a:pt x="10847" y="10097"/>
                    <a:pt x="10109" y="10847"/>
                    <a:pt x="9180" y="10847"/>
                  </a:cubicBezTo>
                  <a:lnTo>
                    <a:pt x="2012" y="10847"/>
                  </a:lnTo>
                  <a:cubicBezTo>
                    <a:pt x="1084" y="10847"/>
                    <a:pt x="345" y="10097"/>
                    <a:pt x="345" y="9180"/>
                  </a:cubicBezTo>
                  <a:lnTo>
                    <a:pt x="345" y="2001"/>
                  </a:lnTo>
                  <a:cubicBezTo>
                    <a:pt x="345" y="1084"/>
                    <a:pt x="1084" y="334"/>
                    <a:pt x="2012" y="334"/>
                  </a:cubicBezTo>
                  <a:lnTo>
                    <a:pt x="7418" y="334"/>
                  </a:lnTo>
                  <a:cubicBezTo>
                    <a:pt x="7501" y="334"/>
                    <a:pt x="7573" y="262"/>
                    <a:pt x="7573" y="167"/>
                  </a:cubicBezTo>
                  <a:cubicBezTo>
                    <a:pt x="7573" y="84"/>
                    <a:pt x="7501" y="0"/>
                    <a:pt x="7418" y="0"/>
                  </a:cubicBezTo>
                  <a:close/>
                </a:path>
              </a:pathLst>
            </a:custGeom>
            <a:solidFill>
              <a:schemeClr val="lt2"/>
            </a:solidFill>
            <a:ln>
              <a:solidFill>
                <a:srgbClr val="9E2289"/>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126;p50">
              <a:extLst>
                <a:ext uri="{FF2B5EF4-FFF2-40B4-BE49-F238E27FC236}">
                  <a16:creationId xmlns:a16="http://schemas.microsoft.com/office/drawing/2014/main" id="{FB819ACD-0C88-49C3-AC06-83FEF3198520}"/>
                </a:ext>
              </a:extLst>
            </p:cNvPr>
            <p:cNvSpPr/>
            <p:nvPr/>
          </p:nvSpPr>
          <p:spPr>
            <a:xfrm>
              <a:off x="4805864" y="3736630"/>
              <a:ext cx="93042" cy="92661"/>
            </a:xfrm>
            <a:custGeom>
              <a:avLst/>
              <a:gdLst/>
              <a:ahLst/>
              <a:cxnLst/>
              <a:rect l="l" t="t" r="r" b="b"/>
              <a:pathLst>
                <a:path w="2930" h="2918" extrusionOk="0">
                  <a:moveTo>
                    <a:pt x="1477" y="334"/>
                  </a:moveTo>
                  <a:cubicBezTo>
                    <a:pt x="2096" y="334"/>
                    <a:pt x="2608" y="834"/>
                    <a:pt x="2608" y="1465"/>
                  </a:cubicBezTo>
                  <a:cubicBezTo>
                    <a:pt x="2608" y="2084"/>
                    <a:pt x="2096" y="2596"/>
                    <a:pt x="1477" y="2596"/>
                  </a:cubicBezTo>
                  <a:cubicBezTo>
                    <a:pt x="846" y="2596"/>
                    <a:pt x="346" y="2084"/>
                    <a:pt x="346" y="1465"/>
                  </a:cubicBezTo>
                  <a:cubicBezTo>
                    <a:pt x="346" y="834"/>
                    <a:pt x="846" y="334"/>
                    <a:pt x="1477" y="334"/>
                  </a:cubicBezTo>
                  <a:close/>
                  <a:moveTo>
                    <a:pt x="1477" y="0"/>
                  </a:moveTo>
                  <a:cubicBezTo>
                    <a:pt x="667" y="0"/>
                    <a:pt x="12" y="655"/>
                    <a:pt x="12" y="1465"/>
                  </a:cubicBezTo>
                  <a:cubicBezTo>
                    <a:pt x="0" y="2263"/>
                    <a:pt x="655" y="2918"/>
                    <a:pt x="1477" y="2918"/>
                  </a:cubicBezTo>
                  <a:cubicBezTo>
                    <a:pt x="2274" y="2918"/>
                    <a:pt x="2929" y="2263"/>
                    <a:pt x="2929" y="1465"/>
                  </a:cubicBezTo>
                  <a:cubicBezTo>
                    <a:pt x="2929" y="655"/>
                    <a:pt x="2274" y="0"/>
                    <a:pt x="1477" y="0"/>
                  </a:cubicBezTo>
                  <a:close/>
                </a:path>
              </a:pathLst>
            </a:custGeom>
            <a:solidFill>
              <a:schemeClr val="lt2"/>
            </a:solidFill>
            <a:ln>
              <a:solidFill>
                <a:srgbClr val="9E2289"/>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127;p50">
              <a:extLst>
                <a:ext uri="{FF2B5EF4-FFF2-40B4-BE49-F238E27FC236}">
                  <a16:creationId xmlns:a16="http://schemas.microsoft.com/office/drawing/2014/main" id="{2335789A-9329-4B97-9ED7-E399CF29441E}"/>
                </a:ext>
              </a:extLst>
            </p:cNvPr>
            <p:cNvSpPr/>
            <p:nvPr/>
          </p:nvSpPr>
          <p:spPr>
            <a:xfrm>
              <a:off x="4779380" y="3841358"/>
              <a:ext cx="143723" cy="138801"/>
            </a:xfrm>
            <a:custGeom>
              <a:avLst/>
              <a:gdLst/>
              <a:ahLst/>
              <a:cxnLst/>
              <a:rect l="l" t="t" r="r" b="b"/>
              <a:pathLst>
                <a:path w="4526" h="4371" extrusionOk="0">
                  <a:moveTo>
                    <a:pt x="477" y="1"/>
                  </a:moveTo>
                  <a:cubicBezTo>
                    <a:pt x="215" y="1"/>
                    <a:pt x="1" y="203"/>
                    <a:pt x="1" y="477"/>
                  </a:cubicBezTo>
                  <a:lnTo>
                    <a:pt x="1" y="893"/>
                  </a:lnTo>
                  <a:cubicBezTo>
                    <a:pt x="1" y="1155"/>
                    <a:pt x="203" y="1370"/>
                    <a:pt x="477" y="1370"/>
                  </a:cubicBezTo>
                  <a:lnTo>
                    <a:pt x="763" y="1370"/>
                  </a:lnTo>
                  <a:cubicBezTo>
                    <a:pt x="834" y="1370"/>
                    <a:pt x="906" y="1429"/>
                    <a:pt x="906" y="1513"/>
                  </a:cubicBezTo>
                  <a:lnTo>
                    <a:pt x="906" y="2858"/>
                  </a:lnTo>
                  <a:cubicBezTo>
                    <a:pt x="906" y="2929"/>
                    <a:pt x="846" y="3001"/>
                    <a:pt x="763" y="3001"/>
                  </a:cubicBezTo>
                  <a:lnTo>
                    <a:pt x="572" y="3001"/>
                  </a:lnTo>
                  <a:cubicBezTo>
                    <a:pt x="299" y="3001"/>
                    <a:pt x="96" y="3215"/>
                    <a:pt x="96" y="3477"/>
                  </a:cubicBezTo>
                  <a:lnTo>
                    <a:pt x="96" y="3894"/>
                  </a:lnTo>
                  <a:cubicBezTo>
                    <a:pt x="96" y="4168"/>
                    <a:pt x="299" y="4370"/>
                    <a:pt x="572" y="4370"/>
                  </a:cubicBezTo>
                  <a:lnTo>
                    <a:pt x="4049" y="4370"/>
                  </a:lnTo>
                  <a:cubicBezTo>
                    <a:pt x="4311" y="4370"/>
                    <a:pt x="4525" y="4168"/>
                    <a:pt x="4525" y="3894"/>
                  </a:cubicBezTo>
                  <a:lnTo>
                    <a:pt x="4525" y="3477"/>
                  </a:lnTo>
                  <a:cubicBezTo>
                    <a:pt x="4525" y="3215"/>
                    <a:pt x="4311" y="3001"/>
                    <a:pt x="4049" y="3001"/>
                  </a:cubicBezTo>
                  <a:lnTo>
                    <a:pt x="3859" y="3001"/>
                  </a:lnTo>
                  <a:cubicBezTo>
                    <a:pt x="3787" y="3001"/>
                    <a:pt x="3704" y="2941"/>
                    <a:pt x="3704" y="2858"/>
                  </a:cubicBezTo>
                  <a:lnTo>
                    <a:pt x="3704" y="477"/>
                  </a:lnTo>
                  <a:cubicBezTo>
                    <a:pt x="3704" y="203"/>
                    <a:pt x="3501" y="1"/>
                    <a:pt x="3228" y="1"/>
                  </a:cubicBezTo>
                  <a:lnTo>
                    <a:pt x="1442" y="1"/>
                  </a:lnTo>
                  <a:cubicBezTo>
                    <a:pt x="1358" y="1"/>
                    <a:pt x="1287" y="72"/>
                    <a:pt x="1287" y="155"/>
                  </a:cubicBezTo>
                  <a:cubicBezTo>
                    <a:pt x="1287" y="251"/>
                    <a:pt x="1358" y="322"/>
                    <a:pt x="1442" y="322"/>
                  </a:cubicBezTo>
                  <a:lnTo>
                    <a:pt x="3228" y="322"/>
                  </a:lnTo>
                  <a:cubicBezTo>
                    <a:pt x="3311" y="322"/>
                    <a:pt x="3382" y="382"/>
                    <a:pt x="3382" y="477"/>
                  </a:cubicBezTo>
                  <a:lnTo>
                    <a:pt x="3382" y="2858"/>
                  </a:lnTo>
                  <a:cubicBezTo>
                    <a:pt x="3382" y="3120"/>
                    <a:pt x="3585" y="3334"/>
                    <a:pt x="3859" y="3334"/>
                  </a:cubicBezTo>
                  <a:lnTo>
                    <a:pt x="4049" y="3334"/>
                  </a:lnTo>
                  <a:cubicBezTo>
                    <a:pt x="4121" y="3334"/>
                    <a:pt x="4204" y="3394"/>
                    <a:pt x="4204" y="3477"/>
                  </a:cubicBezTo>
                  <a:lnTo>
                    <a:pt x="4204" y="3894"/>
                  </a:lnTo>
                  <a:cubicBezTo>
                    <a:pt x="4204" y="3965"/>
                    <a:pt x="4132" y="4049"/>
                    <a:pt x="4049" y="4049"/>
                  </a:cubicBezTo>
                  <a:lnTo>
                    <a:pt x="572" y="4049"/>
                  </a:lnTo>
                  <a:cubicBezTo>
                    <a:pt x="489" y="4049"/>
                    <a:pt x="418" y="3989"/>
                    <a:pt x="418" y="3894"/>
                  </a:cubicBezTo>
                  <a:lnTo>
                    <a:pt x="418" y="3477"/>
                  </a:lnTo>
                  <a:cubicBezTo>
                    <a:pt x="418" y="3406"/>
                    <a:pt x="477" y="3334"/>
                    <a:pt x="572" y="3334"/>
                  </a:cubicBezTo>
                  <a:lnTo>
                    <a:pt x="763" y="3334"/>
                  </a:lnTo>
                  <a:cubicBezTo>
                    <a:pt x="1025" y="3334"/>
                    <a:pt x="1239" y="3120"/>
                    <a:pt x="1239" y="2858"/>
                  </a:cubicBezTo>
                  <a:lnTo>
                    <a:pt x="1239" y="1513"/>
                  </a:lnTo>
                  <a:cubicBezTo>
                    <a:pt x="1239" y="1251"/>
                    <a:pt x="1025" y="1036"/>
                    <a:pt x="763" y="1036"/>
                  </a:cubicBezTo>
                  <a:lnTo>
                    <a:pt x="477" y="1036"/>
                  </a:lnTo>
                  <a:cubicBezTo>
                    <a:pt x="406" y="1036"/>
                    <a:pt x="334" y="977"/>
                    <a:pt x="334" y="893"/>
                  </a:cubicBezTo>
                  <a:lnTo>
                    <a:pt x="334" y="477"/>
                  </a:lnTo>
                  <a:cubicBezTo>
                    <a:pt x="334" y="393"/>
                    <a:pt x="394" y="322"/>
                    <a:pt x="477" y="322"/>
                  </a:cubicBezTo>
                  <a:lnTo>
                    <a:pt x="787" y="322"/>
                  </a:lnTo>
                  <a:cubicBezTo>
                    <a:pt x="882" y="322"/>
                    <a:pt x="953" y="251"/>
                    <a:pt x="953" y="155"/>
                  </a:cubicBezTo>
                  <a:cubicBezTo>
                    <a:pt x="953" y="72"/>
                    <a:pt x="882" y="1"/>
                    <a:pt x="787" y="1"/>
                  </a:cubicBezTo>
                  <a:close/>
                </a:path>
              </a:pathLst>
            </a:custGeom>
            <a:solidFill>
              <a:schemeClr val="lt2"/>
            </a:solidFill>
            <a:ln>
              <a:solidFill>
                <a:srgbClr val="9E2289"/>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2" name="Tabela 1">
            <a:extLst>
              <a:ext uri="{FF2B5EF4-FFF2-40B4-BE49-F238E27FC236}">
                <a16:creationId xmlns:a16="http://schemas.microsoft.com/office/drawing/2014/main" id="{7832EE3C-6F91-46D7-247B-6879D0BC3B2A}"/>
              </a:ext>
            </a:extLst>
          </p:cNvPr>
          <p:cNvGraphicFramePr>
            <a:graphicFrameLocks noGrp="1"/>
          </p:cNvGraphicFramePr>
          <p:nvPr>
            <p:extLst>
              <p:ext uri="{D42A27DB-BD31-4B8C-83A1-F6EECF244321}">
                <p14:modId xmlns:p14="http://schemas.microsoft.com/office/powerpoint/2010/main" val="696608407"/>
              </p:ext>
            </p:extLst>
          </p:nvPr>
        </p:nvGraphicFramePr>
        <p:xfrm>
          <a:off x="7216533" y="4607775"/>
          <a:ext cx="3803976" cy="978545"/>
        </p:xfrm>
        <a:graphic>
          <a:graphicData uri="http://schemas.openxmlformats.org/drawingml/2006/table">
            <a:tbl>
              <a:tblPr firstRow="1" bandRow="1">
                <a:tableStyleId>{F2DE63D5-997A-4646-A377-4702673A728D}</a:tableStyleId>
              </a:tblPr>
              <a:tblGrid>
                <a:gridCol w="1267992">
                  <a:extLst>
                    <a:ext uri="{9D8B030D-6E8A-4147-A177-3AD203B41FA5}">
                      <a16:colId xmlns:a16="http://schemas.microsoft.com/office/drawing/2014/main" val="1531427166"/>
                    </a:ext>
                  </a:extLst>
                </a:gridCol>
                <a:gridCol w="1267992">
                  <a:extLst>
                    <a:ext uri="{9D8B030D-6E8A-4147-A177-3AD203B41FA5}">
                      <a16:colId xmlns:a16="http://schemas.microsoft.com/office/drawing/2014/main" val="3806050286"/>
                    </a:ext>
                  </a:extLst>
                </a:gridCol>
                <a:gridCol w="1267992">
                  <a:extLst>
                    <a:ext uri="{9D8B030D-6E8A-4147-A177-3AD203B41FA5}">
                      <a16:colId xmlns:a16="http://schemas.microsoft.com/office/drawing/2014/main" val="658273446"/>
                    </a:ext>
                  </a:extLst>
                </a:gridCol>
              </a:tblGrid>
              <a:tr h="253021">
                <a:tc>
                  <a:txBody>
                    <a:bodyPr/>
                    <a:lstStyle/>
                    <a:p>
                      <a:pPr algn="ctr">
                        <a:lnSpc>
                          <a:spcPct val="150000"/>
                        </a:lnSpc>
                      </a:pPr>
                      <a:endParaRPr lang="pt-BR" sz="1000" dirty="0">
                        <a:latin typeface="Arial" panose="020B0604020202020204" pitchFamily="34" charset="0"/>
                        <a:cs typeface="Arial" panose="020B0604020202020204" pitchFamily="34" charset="0"/>
                      </a:endParaRP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pPr>
                      <a:r>
                        <a:rPr lang="pt-BR" sz="1000" dirty="0">
                          <a:latin typeface="Arial" panose="020B0604020202020204" pitchFamily="34" charset="0"/>
                          <a:cs typeface="Arial" panose="020B0604020202020204" pitchFamily="34" charset="0"/>
                        </a:rPr>
                        <a:t>Média Final</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E2289"/>
                    </a:solidFill>
                  </a:tcPr>
                </a:tc>
                <a:tc>
                  <a:txBody>
                    <a:bodyPr/>
                    <a:lstStyle/>
                    <a:p>
                      <a:pPr algn="ctr">
                        <a:lnSpc>
                          <a:spcPct val="150000"/>
                        </a:lnSpc>
                      </a:pPr>
                      <a:r>
                        <a:rPr lang="pt-BR" sz="1000" dirty="0">
                          <a:latin typeface="Arial" panose="020B0604020202020204" pitchFamily="34" charset="0"/>
                          <a:cs typeface="Arial" panose="020B0604020202020204" pitchFamily="34" charset="0"/>
                        </a:rPr>
                        <a:t>Diferença</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E2289"/>
                    </a:solidFill>
                  </a:tcPr>
                </a:tc>
                <a:extLst>
                  <a:ext uri="{0D108BD9-81ED-4DB2-BD59-A6C34878D82A}">
                    <a16:rowId xmlns:a16="http://schemas.microsoft.com/office/drawing/2014/main" val="574108456"/>
                  </a:ext>
                </a:extLst>
              </a:tr>
              <a:tr h="343381">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Operação</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77,65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1,98</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6810871"/>
                  </a:ext>
                </a:extLst>
              </a:tr>
              <a:tr h="343381">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Qualidade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75,67</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2121114"/>
                  </a:ext>
                </a:extLst>
              </a:tr>
            </a:tbl>
          </a:graphicData>
        </a:graphic>
      </p:graphicFrame>
      <p:sp>
        <p:nvSpPr>
          <p:cNvPr id="3" name="CaixaDeTexto 2">
            <a:extLst>
              <a:ext uri="{FF2B5EF4-FFF2-40B4-BE49-F238E27FC236}">
                <a16:creationId xmlns:a16="http://schemas.microsoft.com/office/drawing/2014/main" id="{6258D405-E3B5-289E-DD09-F233DEC74A5F}"/>
              </a:ext>
            </a:extLst>
          </p:cNvPr>
          <p:cNvSpPr txBox="1"/>
          <p:nvPr/>
        </p:nvSpPr>
        <p:spPr>
          <a:xfrm>
            <a:off x="1789892" y="4607775"/>
            <a:ext cx="3698941" cy="1446550"/>
          </a:xfrm>
          <a:prstGeom prst="rect">
            <a:avLst/>
          </a:prstGeom>
          <a:noFill/>
        </p:spPr>
        <p:txBody>
          <a:bodyPr wrap="square" rtlCol="0">
            <a:spAutoFit/>
          </a:bodyPr>
          <a:lstStyle/>
          <a:p>
            <a:pPr algn="just"/>
            <a:r>
              <a:rPr lang="pt-BR" sz="1100" dirty="0">
                <a:solidFill>
                  <a:srgbClr val="7F7F7F"/>
                </a:solidFill>
                <a:latin typeface="Arial" panose="020B0604020202020204" pitchFamily="34" charset="0"/>
                <a:cs typeface="Arial" panose="020B0604020202020204" pitchFamily="34" charset="0"/>
              </a:rPr>
              <a:t>O Ciclo 3 apresentou a menor média do mês. Esse resultado está relacionado ao período de atuação da operação na análise e adaptação ao processo atual de cancelamento do Serasa Premium, especialmente no fluxo de cancelamento realizado via site. Durante esse período, foi identificado que a adaptação do time ao novo fluxo impactou diretamente a qualidade das avaliações, refletindo na redução da média do ciclo.</a:t>
            </a:r>
          </a:p>
        </p:txBody>
      </p:sp>
    </p:spTree>
    <p:extLst>
      <p:ext uri="{BB962C8B-B14F-4D97-AF65-F5344CB8AC3E}">
        <p14:creationId xmlns:p14="http://schemas.microsoft.com/office/powerpoint/2010/main" val="1544670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Imagem 38">
            <a:extLst>
              <a:ext uri="{FF2B5EF4-FFF2-40B4-BE49-F238E27FC236}">
                <a16:creationId xmlns:a16="http://schemas.microsoft.com/office/drawing/2014/main" id="{8F6A83EB-6687-479D-BD59-51B6B2B8CBF9}"/>
              </a:ext>
            </a:extLst>
          </p:cNvPr>
          <p:cNvPicPr>
            <a:picLocks noChangeAspect="1"/>
          </p:cNvPicPr>
          <p:nvPr/>
        </p:nvPicPr>
        <p:blipFill>
          <a:blip r:embed="rId2">
            <a:alphaModFix amt="4000"/>
          </a:blip>
          <a:stretch>
            <a:fillRect/>
          </a:stretch>
        </p:blipFill>
        <p:spPr>
          <a:xfrm>
            <a:off x="9179320" y="4378349"/>
            <a:ext cx="5030445" cy="5148116"/>
          </a:xfrm>
          <a:prstGeom prst="rect">
            <a:avLst/>
          </a:prstGeom>
          <a:effectLst/>
        </p:spPr>
      </p:pic>
      <p:pic>
        <p:nvPicPr>
          <p:cNvPr id="38" name="Imagem 37">
            <a:extLst>
              <a:ext uri="{FF2B5EF4-FFF2-40B4-BE49-F238E27FC236}">
                <a16:creationId xmlns:a16="http://schemas.microsoft.com/office/drawing/2014/main" id="{DE2A603E-716D-41D5-ABEF-1625839B46A3}"/>
              </a:ext>
            </a:extLst>
          </p:cNvPr>
          <p:cNvPicPr>
            <a:picLocks noChangeAspect="1"/>
          </p:cNvPicPr>
          <p:nvPr/>
        </p:nvPicPr>
        <p:blipFill>
          <a:blip r:embed="rId2">
            <a:alphaModFix amt="4000"/>
          </a:blip>
          <a:stretch>
            <a:fillRect/>
          </a:stretch>
        </p:blipFill>
        <p:spPr>
          <a:xfrm>
            <a:off x="-2128370" y="-2021305"/>
            <a:ext cx="5030445" cy="5148116"/>
          </a:xfrm>
          <a:prstGeom prst="rect">
            <a:avLst/>
          </a:prstGeom>
          <a:effectLst/>
        </p:spPr>
      </p:pic>
      <p:sp>
        <p:nvSpPr>
          <p:cNvPr id="6" name="Título 1">
            <a:extLst>
              <a:ext uri="{FF2B5EF4-FFF2-40B4-BE49-F238E27FC236}">
                <a16:creationId xmlns:a16="http://schemas.microsoft.com/office/drawing/2014/main" id="{F19E4ED5-6191-4819-BC5E-0686AFC2CEAF}"/>
              </a:ext>
            </a:extLst>
          </p:cNvPr>
          <p:cNvSpPr txBox="1">
            <a:spLocks/>
          </p:cNvSpPr>
          <p:nvPr/>
        </p:nvSpPr>
        <p:spPr>
          <a:xfrm>
            <a:off x="5946417" y="431573"/>
            <a:ext cx="5811865"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pt-BR" sz="1600" spc="600" dirty="0">
                <a:solidFill>
                  <a:srgbClr val="9E2289"/>
                </a:solidFill>
                <a:latin typeface="Arial" panose="020B0604020202020204" pitchFamily="34" charset="0"/>
                <a:cs typeface="Arial" panose="020B0604020202020204" pitchFamily="34" charset="0"/>
              </a:rPr>
              <a:t>PREMIUM</a:t>
            </a:r>
          </a:p>
        </p:txBody>
      </p:sp>
      <p:grpSp>
        <p:nvGrpSpPr>
          <p:cNvPr id="20" name="Google Shape;1964;p50">
            <a:extLst>
              <a:ext uri="{FF2B5EF4-FFF2-40B4-BE49-F238E27FC236}">
                <a16:creationId xmlns:a16="http://schemas.microsoft.com/office/drawing/2014/main" id="{644333FE-63B4-42DF-ADFA-AF9177DF58D7}"/>
              </a:ext>
            </a:extLst>
          </p:cNvPr>
          <p:cNvGrpSpPr/>
          <p:nvPr/>
        </p:nvGrpSpPr>
        <p:grpSpPr>
          <a:xfrm flipH="1">
            <a:off x="742950" y="537670"/>
            <a:ext cx="603644" cy="576232"/>
            <a:chOff x="4126815" y="2760704"/>
            <a:chExt cx="380393" cy="363118"/>
          </a:xfrm>
          <a:solidFill>
            <a:srgbClr val="0B5892"/>
          </a:solidFill>
        </p:grpSpPr>
        <p:sp>
          <p:nvSpPr>
            <p:cNvPr id="21" name="Google Shape;1965;p50">
              <a:extLst>
                <a:ext uri="{FF2B5EF4-FFF2-40B4-BE49-F238E27FC236}">
                  <a16:creationId xmlns:a16="http://schemas.microsoft.com/office/drawing/2014/main" id="{C90A8E2B-6430-4128-93A1-80EDBF3E3BED}"/>
                </a:ext>
              </a:extLst>
            </p:cNvPr>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966;p50">
              <a:extLst>
                <a:ext uri="{FF2B5EF4-FFF2-40B4-BE49-F238E27FC236}">
                  <a16:creationId xmlns:a16="http://schemas.microsoft.com/office/drawing/2014/main" id="{C220A82A-DCEF-47A8-9174-5A849CB2B75F}"/>
                </a:ext>
              </a:extLst>
            </p:cNvPr>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967;p50">
              <a:extLst>
                <a:ext uri="{FF2B5EF4-FFF2-40B4-BE49-F238E27FC236}">
                  <a16:creationId xmlns:a16="http://schemas.microsoft.com/office/drawing/2014/main" id="{446DDA74-F73B-4510-BFCE-608659C3FC02}"/>
                </a:ext>
              </a:extLst>
            </p:cNvPr>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968;p50">
              <a:extLst>
                <a:ext uri="{FF2B5EF4-FFF2-40B4-BE49-F238E27FC236}">
                  <a16:creationId xmlns:a16="http://schemas.microsoft.com/office/drawing/2014/main" id="{487DFEED-06C3-4B9B-9B7A-545AAF95F24C}"/>
                </a:ext>
              </a:extLst>
            </p:cNvPr>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Retângulo 28">
            <a:extLst>
              <a:ext uri="{FF2B5EF4-FFF2-40B4-BE49-F238E27FC236}">
                <a16:creationId xmlns:a16="http://schemas.microsoft.com/office/drawing/2014/main" id="{0BBC58FB-2C41-419E-8246-609C9177CDA9}"/>
              </a:ext>
            </a:extLst>
          </p:cNvPr>
          <p:cNvSpPr/>
          <p:nvPr/>
        </p:nvSpPr>
        <p:spPr>
          <a:xfrm>
            <a:off x="-449179" y="6707874"/>
            <a:ext cx="14054469" cy="334610"/>
          </a:xfrm>
          <a:prstGeom prst="rect">
            <a:avLst/>
          </a:prstGeom>
          <a:solidFill>
            <a:srgbClr val="9E22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 name="Imagem 7">
            <a:extLst>
              <a:ext uri="{FF2B5EF4-FFF2-40B4-BE49-F238E27FC236}">
                <a16:creationId xmlns:a16="http://schemas.microsoft.com/office/drawing/2014/main" id="{55CA91AA-A108-4071-B0A7-0374C74EDA09}"/>
              </a:ext>
            </a:extLst>
          </p:cNvPr>
          <p:cNvPicPr>
            <a:picLocks noChangeAspect="1"/>
          </p:cNvPicPr>
          <p:nvPr/>
        </p:nvPicPr>
        <p:blipFill>
          <a:blip r:embed="rId3"/>
          <a:stretch>
            <a:fillRect/>
          </a:stretch>
        </p:blipFill>
        <p:spPr>
          <a:xfrm>
            <a:off x="-124691" y="-20995"/>
            <a:ext cx="12316692" cy="88042"/>
          </a:xfrm>
          <a:prstGeom prst="rect">
            <a:avLst/>
          </a:prstGeom>
        </p:spPr>
      </p:pic>
      <p:sp>
        <p:nvSpPr>
          <p:cNvPr id="18" name="Título 1">
            <a:extLst>
              <a:ext uri="{FF2B5EF4-FFF2-40B4-BE49-F238E27FC236}">
                <a16:creationId xmlns:a16="http://schemas.microsoft.com/office/drawing/2014/main" id="{9BC75932-B40A-460F-B242-8264BFE06926}"/>
              </a:ext>
            </a:extLst>
          </p:cNvPr>
          <p:cNvSpPr txBox="1">
            <a:spLocks/>
          </p:cNvSpPr>
          <p:nvPr/>
        </p:nvSpPr>
        <p:spPr>
          <a:xfrm>
            <a:off x="1366068" y="448718"/>
            <a:ext cx="6453099"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spc="600" dirty="0">
                <a:solidFill>
                  <a:srgbClr val="0B5892"/>
                </a:solidFill>
                <a:latin typeface="Arial" panose="020B0604020202020204" pitchFamily="34" charset="0"/>
                <a:cs typeface="Arial" panose="020B0604020202020204" pitchFamily="34" charset="0"/>
              </a:rPr>
              <a:t>PONTOS OFENSORES</a:t>
            </a:r>
          </a:p>
        </p:txBody>
      </p:sp>
      <p:sp>
        <p:nvSpPr>
          <p:cNvPr id="19" name="Título 1">
            <a:extLst>
              <a:ext uri="{FF2B5EF4-FFF2-40B4-BE49-F238E27FC236}">
                <a16:creationId xmlns:a16="http://schemas.microsoft.com/office/drawing/2014/main" id="{CB92D9AB-3FEB-47AD-8015-DD30B5F902CE}"/>
              </a:ext>
            </a:extLst>
          </p:cNvPr>
          <p:cNvSpPr txBox="1">
            <a:spLocks/>
          </p:cNvSpPr>
          <p:nvPr/>
        </p:nvSpPr>
        <p:spPr>
          <a:xfrm>
            <a:off x="1400358" y="716411"/>
            <a:ext cx="6950456"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600" spc="300" dirty="0">
                <a:solidFill>
                  <a:srgbClr val="0B5892"/>
                </a:solidFill>
                <a:latin typeface="Arial" panose="020B0604020202020204" pitchFamily="34" charset="0"/>
                <a:cs typeface="Arial" panose="020B0604020202020204" pitchFamily="34" charset="0"/>
              </a:rPr>
              <a:t>Quantidade total de monitorias realizadas</a:t>
            </a:r>
          </a:p>
        </p:txBody>
      </p:sp>
      <p:cxnSp>
        <p:nvCxnSpPr>
          <p:cNvPr id="25" name="Conector reto 24">
            <a:extLst>
              <a:ext uri="{FF2B5EF4-FFF2-40B4-BE49-F238E27FC236}">
                <a16:creationId xmlns:a16="http://schemas.microsoft.com/office/drawing/2014/main" id="{C6F5D155-7AE8-4277-A61A-2EF88BF2DADC}"/>
              </a:ext>
            </a:extLst>
          </p:cNvPr>
          <p:cNvCxnSpPr/>
          <p:nvPr/>
        </p:nvCxnSpPr>
        <p:spPr>
          <a:xfrm>
            <a:off x="725988" y="1185955"/>
            <a:ext cx="9855200" cy="0"/>
          </a:xfrm>
          <a:prstGeom prst="line">
            <a:avLst/>
          </a:prstGeom>
          <a:ln>
            <a:solidFill>
              <a:srgbClr val="0B5892"/>
            </a:solidFill>
          </a:ln>
        </p:spPr>
        <p:style>
          <a:lnRef idx="1">
            <a:schemeClr val="accent1"/>
          </a:lnRef>
          <a:fillRef idx="0">
            <a:schemeClr val="accent1"/>
          </a:fillRef>
          <a:effectRef idx="0">
            <a:schemeClr val="accent1"/>
          </a:effectRef>
          <a:fontRef idx="minor">
            <a:schemeClr val="tx1"/>
          </a:fontRef>
        </p:style>
      </p:cxnSp>
      <p:sp>
        <p:nvSpPr>
          <p:cNvPr id="36" name="CaixaDeTexto 35">
            <a:extLst>
              <a:ext uri="{FF2B5EF4-FFF2-40B4-BE49-F238E27FC236}">
                <a16:creationId xmlns:a16="http://schemas.microsoft.com/office/drawing/2014/main" id="{9E459499-C8E1-4C45-B0E3-1FB3AEB91E77}"/>
              </a:ext>
            </a:extLst>
          </p:cNvPr>
          <p:cNvSpPr txBox="1"/>
          <p:nvPr/>
        </p:nvSpPr>
        <p:spPr>
          <a:xfrm>
            <a:off x="1400358" y="1656580"/>
            <a:ext cx="9796729" cy="307777"/>
          </a:xfrm>
          <a:prstGeom prst="rect">
            <a:avLst/>
          </a:prstGeom>
          <a:noFill/>
        </p:spPr>
        <p:txBody>
          <a:bodyPr wrap="square" rtlCol="0">
            <a:spAutoFit/>
          </a:bodyPr>
          <a:lstStyle/>
          <a:p>
            <a:pPr algn="ctr"/>
            <a:r>
              <a:rPr lang="pt-BR" sz="1400" b="1" dirty="0">
                <a:solidFill>
                  <a:schemeClr val="tx1">
                    <a:lumMod val="50000"/>
                    <a:lumOff val="50000"/>
                  </a:schemeClr>
                </a:solidFill>
                <a:latin typeface="Arial" panose="020B0604020202020204" pitchFamily="34" charset="0"/>
                <a:cs typeface="Arial" panose="020B0604020202020204" pitchFamily="34" charset="0"/>
              </a:rPr>
              <a:t>Pontos Ofensores </a:t>
            </a:r>
          </a:p>
        </p:txBody>
      </p:sp>
      <p:graphicFrame>
        <p:nvGraphicFramePr>
          <p:cNvPr id="4" name="Gráfico 3">
            <a:extLst>
              <a:ext uri="{FF2B5EF4-FFF2-40B4-BE49-F238E27FC236}">
                <a16:creationId xmlns:a16="http://schemas.microsoft.com/office/drawing/2014/main" id="{3CAEE7A4-B566-4532-B7CA-983FB0F8E52F}"/>
              </a:ext>
            </a:extLst>
          </p:cNvPr>
          <p:cNvGraphicFramePr/>
          <p:nvPr>
            <p:extLst>
              <p:ext uri="{D42A27DB-BD31-4B8C-83A1-F6EECF244321}">
                <p14:modId xmlns:p14="http://schemas.microsoft.com/office/powerpoint/2010/main" val="2893283359"/>
              </p:ext>
            </p:extLst>
          </p:nvPr>
        </p:nvGraphicFramePr>
        <p:xfrm>
          <a:off x="1224827" y="2029798"/>
          <a:ext cx="10147789" cy="3699383"/>
        </p:xfrm>
        <a:graphic>
          <a:graphicData uri="http://schemas.openxmlformats.org/drawingml/2006/chart">
            <c:chart xmlns:c="http://schemas.openxmlformats.org/drawingml/2006/chart" xmlns:r="http://schemas.openxmlformats.org/officeDocument/2006/relationships" r:id="rId4"/>
          </a:graphicData>
        </a:graphic>
      </p:graphicFrame>
      <p:sp>
        <p:nvSpPr>
          <p:cNvPr id="2" name="CaixaDeTexto 1">
            <a:extLst>
              <a:ext uri="{FF2B5EF4-FFF2-40B4-BE49-F238E27FC236}">
                <a16:creationId xmlns:a16="http://schemas.microsoft.com/office/drawing/2014/main" id="{BA5B0947-96E3-21B2-6133-A98455F2B1FD}"/>
              </a:ext>
            </a:extLst>
          </p:cNvPr>
          <p:cNvSpPr txBox="1"/>
          <p:nvPr/>
        </p:nvSpPr>
        <p:spPr>
          <a:xfrm>
            <a:off x="11197087" y="1810468"/>
            <a:ext cx="994913" cy="3273845"/>
          </a:xfrm>
          <a:prstGeom prst="rect">
            <a:avLst/>
          </a:prstGeom>
          <a:noFill/>
        </p:spPr>
        <p:txBody>
          <a:bodyPr wrap="square" rtlCol="0">
            <a:spAutoFit/>
          </a:bodyPr>
          <a:lstStyle/>
          <a:p>
            <a:pPr>
              <a:lnSpc>
                <a:spcPct val="200000"/>
              </a:lnSpc>
            </a:pPr>
            <a:r>
              <a:rPr lang="pt-BR" sz="1050" dirty="0">
                <a:solidFill>
                  <a:schemeClr val="tx1">
                    <a:lumMod val="75000"/>
                    <a:lumOff val="25000"/>
                  </a:schemeClr>
                </a:solidFill>
                <a:latin typeface="Arial" panose="020B0604020202020204" pitchFamily="34" charset="0"/>
                <a:cs typeface="Arial" panose="020B0604020202020204" pitchFamily="34" charset="0"/>
              </a:rPr>
              <a:t>5,0%</a:t>
            </a:r>
          </a:p>
          <a:p>
            <a:pPr>
              <a:lnSpc>
                <a:spcPct val="200000"/>
              </a:lnSpc>
            </a:pPr>
            <a:r>
              <a:rPr lang="pt-BR" sz="1050" dirty="0">
                <a:solidFill>
                  <a:schemeClr val="tx1">
                    <a:lumMod val="75000"/>
                    <a:lumOff val="25000"/>
                  </a:schemeClr>
                </a:solidFill>
                <a:latin typeface="Arial" panose="020B0604020202020204" pitchFamily="34" charset="0"/>
                <a:cs typeface="Arial" panose="020B0604020202020204" pitchFamily="34" charset="0"/>
              </a:rPr>
              <a:t>5,8%</a:t>
            </a:r>
          </a:p>
          <a:p>
            <a:pPr>
              <a:lnSpc>
                <a:spcPct val="200000"/>
              </a:lnSpc>
            </a:pPr>
            <a:r>
              <a:rPr lang="pt-BR" sz="1050" dirty="0">
                <a:solidFill>
                  <a:schemeClr val="tx1">
                    <a:lumMod val="75000"/>
                    <a:lumOff val="25000"/>
                  </a:schemeClr>
                </a:solidFill>
                <a:latin typeface="Arial" panose="020B0604020202020204" pitchFamily="34" charset="0"/>
                <a:cs typeface="Arial" panose="020B0604020202020204" pitchFamily="34" charset="0"/>
              </a:rPr>
              <a:t>5,8%</a:t>
            </a:r>
          </a:p>
          <a:p>
            <a:pPr>
              <a:lnSpc>
                <a:spcPct val="200000"/>
              </a:lnSpc>
            </a:pPr>
            <a:r>
              <a:rPr lang="pt-BR" sz="1050" dirty="0">
                <a:solidFill>
                  <a:schemeClr val="tx1">
                    <a:lumMod val="75000"/>
                    <a:lumOff val="25000"/>
                  </a:schemeClr>
                </a:solidFill>
                <a:latin typeface="Arial" panose="020B0604020202020204" pitchFamily="34" charset="0"/>
                <a:cs typeface="Arial" panose="020B0604020202020204" pitchFamily="34" charset="0"/>
              </a:rPr>
              <a:t>5,8%</a:t>
            </a:r>
          </a:p>
          <a:p>
            <a:pPr>
              <a:lnSpc>
                <a:spcPct val="200000"/>
              </a:lnSpc>
            </a:pPr>
            <a:r>
              <a:rPr lang="pt-BR" sz="1050" dirty="0">
                <a:solidFill>
                  <a:schemeClr val="tx1">
                    <a:lumMod val="75000"/>
                    <a:lumOff val="25000"/>
                  </a:schemeClr>
                </a:solidFill>
                <a:latin typeface="Arial" panose="020B0604020202020204" pitchFamily="34" charset="0"/>
                <a:cs typeface="Arial" panose="020B0604020202020204" pitchFamily="34" charset="0"/>
              </a:rPr>
              <a:t>6,1%</a:t>
            </a:r>
          </a:p>
          <a:p>
            <a:pPr>
              <a:lnSpc>
                <a:spcPct val="200000"/>
              </a:lnSpc>
            </a:pPr>
            <a:r>
              <a:rPr lang="pt-BR" sz="1050" dirty="0">
                <a:solidFill>
                  <a:schemeClr val="tx1">
                    <a:lumMod val="75000"/>
                    <a:lumOff val="25000"/>
                  </a:schemeClr>
                </a:solidFill>
                <a:latin typeface="Arial" panose="020B0604020202020204" pitchFamily="34" charset="0"/>
                <a:cs typeface="Arial" panose="020B0604020202020204" pitchFamily="34" charset="0"/>
              </a:rPr>
              <a:t>7,6%</a:t>
            </a:r>
          </a:p>
          <a:p>
            <a:pPr>
              <a:lnSpc>
                <a:spcPct val="200000"/>
              </a:lnSpc>
            </a:pPr>
            <a:r>
              <a:rPr lang="pt-BR" sz="1050" dirty="0">
                <a:solidFill>
                  <a:schemeClr val="tx1">
                    <a:lumMod val="75000"/>
                    <a:lumOff val="25000"/>
                  </a:schemeClr>
                </a:solidFill>
                <a:latin typeface="Arial" panose="020B0604020202020204" pitchFamily="34" charset="0"/>
                <a:cs typeface="Arial" panose="020B0604020202020204" pitchFamily="34" charset="0"/>
              </a:rPr>
              <a:t>8,3%</a:t>
            </a:r>
          </a:p>
          <a:p>
            <a:pPr>
              <a:lnSpc>
                <a:spcPct val="200000"/>
              </a:lnSpc>
            </a:pPr>
            <a:r>
              <a:rPr lang="pt-BR" sz="1050" dirty="0">
                <a:solidFill>
                  <a:schemeClr val="tx1">
                    <a:lumMod val="75000"/>
                    <a:lumOff val="25000"/>
                  </a:schemeClr>
                </a:solidFill>
                <a:latin typeface="Arial" panose="020B0604020202020204" pitchFamily="34" charset="0"/>
                <a:cs typeface="Arial" panose="020B0604020202020204" pitchFamily="34" charset="0"/>
              </a:rPr>
              <a:t>9,4%</a:t>
            </a:r>
          </a:p>
          <a:p>
            <a:pPr>
              <a:lnSpc>
                <a:spcPct val="200000"/>
              </a:lnSpc>
            </a:pPr>
            <a:r>
              <a:rPr lang="pt-BR" sz="1050" dirty="0">
                <a:solidFill>
                  <a:schemeClr val="tx1">
                    <a:lumMod val="75000"/>
                    <a:lumOff val="25000"/>
                  </a:schemeClr>
                </a:solidFill>
                <a:latin typeface="Arial" panose="020B0604020202020204" pitchFamily="34" charset="0"/>
                <a:cs typeface="Arial" panose="020B0604020202020204" pitchFamily="34" charset="0"/>
              </a:rPr>
              <a:t>9,7%</a:t>
            </a:r>
          </a:p>
          <a:p>
            <a:pPr>
              <a:lnSpc>
                <a:spcPct val="200000"/>
              </a:lnSpc>
            </a:pPr>
            <a:r>
              <a:rPr lang="pt-BR" sz="1050" dirty="0">
                <a:solidFill>
                  <a:schemeClr val="tx1">
                    <a:lumMod val="75000"/>
                    <a:lumOff val="25000"/>
                  </a:schemeClr>
                </a:solidFill>
                <a:latin typeface="Arial" panose="020B0604020202020204" pitchFamily="34" charset="0"/>
                <a:cs typeface="Arial" panose="020B0604020202020204" pitchFamily="34" charset="0"/>
              </a:rPr>
              <a:t>18,0%</a:t>
            </a:r>
          </a:p>
        </p:txBody>
      </p:sp>
      <p:sp>
        <p:nvSpPr>
          <p:cNvPr id="3" name="Título 1">
            <a:extLst>
              <a:ext uri="{FF2B5EF4-FFF2-40B4-BE49-F238E27FC236}">
                <a16:creationId xmlns:a16="http://schemas.microsoft.com/office/drawing/2014/main" id="{EF226C2B-2521-1B4E-5293-4CDBC9024704}"/>
              </a:ext>
            </a:extLst>
          </p:cNvPr>
          <p:cNvSpPr txBox="1">
            <a:spLocks/>
          </p:cNvSpPr>
          <p:nvPr/>
        </p:nvSpPr>
        <p:spPr>
          <a:xfrm>
            <a:off x="8251372" y="5948511"/>
            <a:ext cx="3594148" cy="37779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pt-BR" sz="1600" spc="600" dirty="0">
                <a:solidFill>
                  <a:srgbClr val="9E2289"/>
                </a:solidFill>
                <a:latin typeface="Arial" panose="020B0604020202020204" pitchFamily="34" charset="0"/>
                <a:cs typeface="Arial" panose="020B0604020202020204" pitchFamily="34" charset="0"/>
              </a:rPr>
              <a:t> </a:t>
            </a:r>
            <a:r>
              <a:rPr lang="pt-BR" sz="1000" spc="300" dirty="0">
                <a:solidFill>
                  <a:srgbClr val="9E2289"/>
                </a:solidFill>
                <a:latin typeface="Arial" panose="020B0604020202020204" pitchFamily="34" charset="0"/>
                <a:cs typeface="Arial" panose="020B0604020202020204" pitchFamily="34" charset="0"/>
              </a:rPr>
              <a:t>Total Apontamentos:278</a:t>
            </a:r>
            <a:endParaRPr lang="pt-BR" sz="1600" spc="300" dirty="0">
              <a:solidFill>
                <a:srgbClr val="9E2289"/>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0225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0C9AC-AA45-D39F-D480-08B36721EF1F}"/>
            </a:ext>
          </a:extLst>
        </p:cNvPr>
        <p:cNvGrpSpPr/>
        <p:nvPr/>
      </p:nvGrpSpPr>
      <p:grpSpPr>
        <a:xfrm>
          <a:off x="0" y="0"/>
          <a:ext cx="0" cy="0"/>
          <a:chOff x="0" y="0"/>
          <a:chExt cx="0" cy="0"/>
        </a:xfrm>
      </p:grpSpPr>
      <p:pic>
        <p:nvPicPr>
          <p:cNvPr id="39" name="Imagem 38">
            <a:extLst>
              <a:ext uri="{FF2B5EF4-FFF2-40B4-BE49-F238E27FC236}">
                <a16:creationId xmlns:a16="http://schemas.microsoft.com/office/drawing/2014/main" id="{C1F668C3-9B2C-436F-BD58-7E3E588557C4}"/>
              </a:ext>
            </a:extLst>
          </p:cNvPr>
          <p:cNvPicPr>
            <a:picLocks noChangeAspect="1"/>
          </p:cNvPicPr>
          <p:nvPr/>
        </p:nvPicPr>
        <p:blipFill>
          <a:blip r:embed="rId2">
            <a:alphaModFix amt="4000"/>
          </a:blip>
          <a:stretch>
            <a:fillRect/>
          </a:stretch>
        </p:blipFill>
        <p:spPr>
          <a:xfrm>
            <a:off x="9157251" y="4596063"/>
            <a:ext cx="5030445" cy="5148116"/>
          </a:xfrm>
          <a:prstGeom prst="rect">
            <a:avLst/>
          </a:prstGeom>
          <a:effectLst/>
        </p:spPr>
      </p:pic>
      <p:pic>
        <p:nvPicPr>
          <p:cNvPr id="38" name="Imagem 37">
            <a:extLst>
              <a:ext uri="{FF2B5EF4-FFF2-40B4-BE49-F238E27FC236}">
                <a16:creationId xmlns:a16="http://schemas.microsoft.com/office/drawing/2014/main" id="{5B63B72C-B48B-A0C5-FDF8-1EBA2CBACE04}"/>
              </a:ext>
            </a:extLst>
          </p:cNvPr>
          <p:cNvPicPr>
            <a:picLocks noChangeAspect="1"/>
          </p:cNvPicPr>
          <p:nvPr/>
        </p:nvPicPr>
        <p:blipFill>
          <a:blip r:embed="rId2">
            <a:alphaModFix amt="4000"/>
          </a:blip>
          <a:stretch>
            <a:fillRect/>
          </a:stretch>
        </p:blipFill>
        <p:spPr>
          <a:xfrm>
            <a:off x="-2128370" y="-2021305"/>
            <a:ext cx="5030445" cy="5148116"/>
          </a:xfrm>
          <a:prstGeom prst="rect">
            <a:avLst/>
          </a:prstGeom>
          <a:effectLst/>
        </p:spPr>
      </p:pic>
      <p:sp>
        <p:nvSpPr>
          <p:cNvPr id="6" name="Título 1">
            <a:extLst>
              <a:ext uri="{FF2B5EF4-FFF2-40B4-BE49-F238E27FC236}">
                <a16:creationId xmlns:a16="http://schemas.microsoft.com/office/drawing/2014/main" id="{37B1AE16-326E-F7D5-9DFC-76C98C9DD3B0}"/>
              </a:ext>
            </a:extLst>
          </p:cNvPr>
          <p:cNvSpPr txBox="1">
            <a:spLocks/>
          </p:cNvSpPr>
          <p:nvPr/>
        </p:nvSpPr>
        <p:spPr>
          <a:xfrm>
            <a:off x="5946417" y="431573"/>
            <a:ext cx="5811865"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pt-BR" sz="1600" spc="600" dirty="0">
                <a:solidFill>
                  <a:srgbClr val="9E2289"/>
                </a:solidFill>
                <a:latin typeface="Arial" panose="020B0604020202020204" pitchFamily="34" charset="0"/>
                <a:cs typeface="Arial" panose="020B0604020202020204" pitchFamily="34" charset="0"/>
              </a:rPr>
              <a:t>PREMIUM</a:t>
            </a:r>
          </a:p>
        </p:txBody>
      </p:sp>
      <p:grpSp>
        <p:nvGrpSpPr>
          <p:cNvPr id="20" name="Google Shape;1964;p50">
            <a:extLst>
              <a:ext uri="{FF2B5EF4-FFF2-40B4-BE49-F238E27FC236}">
                <a16:creationId xmlns:a16="http://schemas.microsoft.com/office/drawing/2014/main" id="{5249CEF6-306E-9B49-A45E-0D003FAFEDC0}"/>
              </a:ext>
            </a:extLst>
          </p:cNvPr>
          <p:cNvGrpSpPr/>
          <p:nvPr/>
        </p:nvGrpSpPr>
        <p:grpSpPr>
          <a:xfrm flipH="1">
            <a:off x="742950" y="537670"/>
            <a:ext cx="603644" cy="576232"/>
            <a:chOff x="4126815" y="2760704"/>
            <a:chExt cx="380393" cy="363118"/>
          </a:xfrm>
          <a:solidFill>
            <a:srgbClr val="0B5892"/>
          </a:solidFill>
        </p:grpSpPr>
        <p:sp>
          <p:nvSpPr>
            <p:cNvPr id="21" name="Google Shape;1965;p50">
              <a:extLst>
                <a:ext uri="{FF2B5EF4-FFF2-40B4-BE49-F238E27FC236}">
                  <a16:creationId xmlns:a16="http://schemas.microsoft.com/office/drawing/2014/main" id="{0419357E-9060-393E-6515-C864C0A42C72}"/>
                </a:ext>
              </a:extLst>
            </p:cNvPr>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966;p50">
              <a:extLst>
                <a:ext uri="{FF2B5EF4-FFF2-40B4-BE49-F238E27FC236}">
                  <a16:creationId xmlns:a16="http://schemas.microsoft.com/office/drawing/2014/main" id="{BF32ED81-2045-B0F3-4309-B5C9CE081BA0}"/>
                </a:ext>
              </a:extLst>
            </p:cNvPr>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967;p50">
              <a:extLst>
                <a:ext uri="{FF2B5EF4-FFF2-40B4-BE49-F238E27FC236}">
                  <a16:creationId xmlns:a16="http://schemas.microsoft.com/office/drawing/2014/main" id="{C0434563-921F-19C8-B4A9-F13DAABB521C}"/>
                </a:ext>
              </a:extLst>
            </p:cNvPr>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968;p50">
              <a:extLst>
                <a:ext uri="{FF2B5EF4-FFF2-40B4-BE49-F238E27FC236}">
                  <a16:creationId xmlns:a16="http://schemas.microsoft.com/office/drawing/2014/main" id="{4D8C942B-606A-50E7-D33F-644ECAE9E6C4}"/>
                </a:ext>
              </a:extLst>
            </p:cNvPr>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Retângulo 28">
            <a:extLst>
              <a:ext uri="{FF2B5EF4-FFF2-40B4-BE49-F238E27FC236}">
                <a16:creationId xmlns:a16="http://schemas.microsoft.com/office/drawing/2014/main" id="{2B5343EA-3849-1F7D-3A10-F60C3C9EAB6B}"/>
              </a:ext>
            </a:extLst>
          </p:cNvPr>
          <p:cNvSpPr/>
          <p:nvPr/>
        </p:nvSpPr>
        <p:spPr>
          <a:xfrm>
            <a:off x="-449179" y="6707874"/>
            <a:ext cx="14054469" cy="334610"/>
          </a:xfrm>
          <a:prstGeom prst="rect">
            <a:avLst/>
          </a:prstGeom>
          <a:solidFill>
            <a:srgbClr val="9E22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 name="Imagem 7">
            <a:extLst>
              <a:ext uri="{FF2B5EF4-FFF2-40B4-BE49-F238E27FC236}">
                <a16:creationId xmlns:a16="http://schemas.microsoft.com/office/drawing/2014/main" id="{7FDC3385-91CC-FD06-ABAF-07B732D5EB90}"/>
              </a:ext>
            </a:extLst>
          </p:cNvPr>
          <p:cNvPicPr>
            <a:picLocks noChangeAspect="1"/>
          </p:cNvPicPr>
          <p:nvPr/>
        </p:nvPicPr>
        <p:blipFill>
          <a:blip r:embed="rId3"/>
          <a:stretch>
            <a:fillRect/>
          </a:stretch>
        </p:blipFill>
        <p:spPr>
          <a:xfrm>
            <a:off x="-124691" y="-20995"/>
            <a:ext cx="12316692" cy="88042"/>
          </a:xfrm>
          <a:prstGeom prst="rect">
            <a:avLst/>
          </a:prstGeom>
        </p:spPr>
      </p:pic>
      <p:sp>
        <p:nvSpPr>
          <p:cNvPr id="18" name="Título 1">
            <a:extLst>
              <a:ext uri="{FF2B5EF4-FFF2-40B4-BE49-F238E27FC236}">
                <a16:creationId xmlns:a16="http://schemas.microsoft.com/office/drawing/2014/main" id="{D1B8B559-44EC-3DAD-6F3F-C545FFB8406D}"/>
              </a:ext>
            </a:extLst>
          </p:cNvPr>
          <p:cNvSpPr txBox="1">
            <a:spLocks/>
          </p:cNvSpPr>
          <p:nvPr/>
        </p:nvSpPr>
        <p:spPr>
          <a:xfrm>
            <a:off x="1366068" y="448718"/>
            <a:ext cx="6453099"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spc="600" dirty="0">
                <a:solidFill>
                  <a:srgbClr val="0B5892"/>
                </a:solidFill>
                <a:latin typeface="Arial" panose="020B0604020202020204" pitchFamily="34" charset="0"/>
                <a:cs typeface="Arial" panose="020B0604020202020204" pitchFamily="34" charset="0"/>
              </a:rPr>
              <a:t>RANKING DE DESEMPENHO</a:t>
            </a:r>
          </a:p>
        </p:txBody>
      </p:sp>
      <p:sp>
        <p:nvSpPr>
          <p:cNvPr id="19" name="Título 1">
            <a:extLst>
              <a:ext uri="{FF2B5EF4-FFF2-40B4-BE49-F238E27FC236}">
                <a16:creationId xmlns:a16="http://schemas.microsoft.com/office/drawing/2014/main" id="{278E860D-11F4-87D2-0BAD-13BA6678E472}"/>
              </a:ext>
            </a:extLst>
          </p:cNvPr>
          <p:cNvSpPr txBox="1">
            <a:spLocks/>
          </p:cNvSpPr>
          <p:nvPr/>
        </p:nvSpPr>
        <p:spPr>
          <a:xfrm>
            <a:off x="1400358" y="716411"/>
            <a:ext cx="6950456"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600" spc="300" dirty="0">
                <a:solidFill>
                  <a:srgbClr val="0B5892"/>
                </a:solidFill>
                <a:latin typeface="Arial" panose="020B0604020202020204" pitchFamily="34" charset="0"/>
                <a:cs typeface="Arial" panose="020B0604020202020204" pitchFamily="34" charset="0"/>
              </a:rPr>
              <a:t>Quantidade total de monitorias realizadas</a:t>
            </a:r>
          </a:p>
        </p:txBody>
      </p:sp>
      <p:cxnSp>
        <p:nvCxnSpPr>
          <p:cNvPr id="25" name="Conector reto 24">
            <a:extLst>
              <a:ext uri="{FF2B5EF4-FFF2-40B4-BE49-F238E27FC236}">
                <a16:creationId xmlns:a16="http://schemas.microsoft.com/office/drawing/2014/main" id="{21AC18D1-A2A2-D35E-EF3A-A5FDC7B12F84}"/>
              </a:ext>
            </a:extLst>
          </p:cNvPr>
          <p:cNvCxnSpPr/>
          <p:nvPr/>
        </p:nvCxnSpPr>
        <p:spPr>
          <a:xfrm>
            <a:off x="725988" y="1185955"/>
            <a:ext cx="9855200" cy="0"/>
          </a:xfrm>
          <a:prstGeom prst="line">
            <a:avLst/>
          </a:prstGeom>
          <a:ln>
            <a:solidFill>
              <a:srgbClr val="0B5892"/>
            </a:solidFill>
          </a:ln>
        </p:spPr>
        <p:style>
          <a:lnRef idx="1">
            <a:schemeClr val="accent1"/>
          </a:lnRef>
          <a:fillRef idx="0">
            <a:schemeClr val="accent1"/>
          </a:fillRef>
          <a:effectRef idx="0">
            <a:schemeClr val="accent1"/>
          </a:effectRef>
          <a:fontRef idx="minor">
            <a:schemeClr val="tx1"/>
          </a:fontRef>
        </p:style>
      </p:cxnSp>
      <p:sp>
        <p:nvSpPr>
          <p:cNvPr id="65" name="Retângulo: Cantos Arredondados 64">
            <a:extLst>
              <a:ext uri="{FF2B5EF4-FFF2-40B4-BE49-F238E27FC236}">
                <a16:creationId xmlns:a16="http://schemas.microsoft.com/office/drawing/2014/main" id="{B8840F8C-E112-257A-03F2-CCC27CA0C6A1}"/>
              </a:ext>
            </a:extLst>
          </p:cNvPr>
          <p:cNvSpPr/>
          <p:nvPr/>
        </p:nvSpPr>
        <p:spPr>
          <a:xfrm>
            <a:off x="1105368" y="1808181"/>
            <a:ext cx="4910336" cy="2137417"/>
          </a:xfrm>
          <a:prstGeom prst="roundRect">
            <a:avLst/>
          </a:prstGeom>
          <a:solidFill>
            <a:schemeClr val="bg1">
              <a:lumMod val="95000"/>
            </a:schemeClr>
          </a:solidFill>
          <a:ln>
            <a:noFill/>
          </a:ln>
          <a:effectLst>
            <a:outerShdw dist="101600" dir="10740000" algn="t" rotWithShape="0">
              <a:srgbClr val="9E2289"/>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CaixaDeTexto 1">
            <a:extLst>
              <a:ext uri="{FF2B5EF4-FFF2-40B4-BE49-F238E27FC236}">
                <a16:creationId xmlns:a16="http://schemas.microsoft.com/office/drawing/2014/main" id="{03571090-7DAD-9387-01DB-07803C85BB3E}"/>
              </a:ext>
            </a:extLst>
          </p:cNvPr>
          <p:cNvSpPr txBox="1"/>
          <p:nvPr/>
        </p:nvSpPr>
        <p:spPr>
          <a:xfrm>
            <a:off x="1431436" y="1336969"/>
            <a:ext cx="6064238" cy="307777"/>
          </a:xfrm>
          <a:prstGeom prst="rect">
            <a:avLst/>
          </a:prstGeom>
          <a:noFill/>
        </p:spPr>
        <p:txBody>
          <a:bodyPr wrap="square" rtlCol="0">
            <a:spAutoFit/>
          </a:bodyPr>
          <a:lstStyle/>
          <a:p>
            <a:r>
              <a:rPr lang="pt-BR" sz="1400" b="1" dirty="0">
                <a:solidFill>
                  <a:schemeClr val="tx1">
                    <a:lumMod val="50000"/>
                    <a:lumOff val="50000"/>
                  </a:schemeClr>
                </a:solidFill>
                <a:latin typeface="Arial" panose="020B0604020202020204" pitchFamily="34" charset="0"/>
                <a:cs typeface="Arial" panose="020B0604020202020204" pitchFamily="34" charset="0"/>
              </a:rPr>
              <a:t>Análises dos Pontos Ofensores</a:t>
            </a:r>
          </a:p>
        </p:txBody>
      </p:sp>
      <p:sp>
        <p:nvSpPr>
          <p:cNvPr id="4" name="CaixaDeTexto 3">
            <a:extLst>
              <a:ext uri="{FF2B5EF4-FFF2-40B4-BE49-F238E27FC236}">
                <a16:creationId xmlns:a16="http://schemas.microsoft.com/office/drawing/2014/main" id="{38EC6A7F-FA90-F373-4A5D-86F6865E7F39}"/>
              </a:ext>
            </a:extLst>
          </p:cNvPr>
          <p:cNvSpPr txBox="1"/>
          <p:nvPr/>
        </p:nvSpPr>
        <p:spPr>
          <a:xfrm>
            <a:off x="1366068" y="2265632"/>
            <a:ext cx="4305335" cy="1166153"/>
          </a:xfrm>
          <a:prstGeom prst="rect">
            <a:avLst/>
          </a:prstGeom>
          <a:noFill/>
        </p:spPr>
        <p:txBody>
          <a:bodyPr wrap="square" rtlCol="0">
            <a:spAutoFit/>
          </a:bodyPr>
          <a:lstStyle/>
          <a:p>
            <a:pPr algn="just">
              <a:lnSpc>
                <a:spcPct val="150000"/>
              </a:lnSpc>
            </a:pPr>
            <a:r>
              <a:rPr lang="pt-BR" sz="1200" dirty="0">
                <a:solidFill>
                  <a:schemeClr val="bg2">
                    <a:lumMod val="50000"/>
                  </a:schemeClr>
                </a:solidFill>
                <a:latin typeface="Arial" panose="020B0604020202020204" pitchFamily="34" charset="0"/>
                <a:cs typeface="Arial" panose="020B0604020202020204" pitchFamily="34" charset="0"/>
              </a:rPr>
              <a:t>Os principais assuntos do mês estão concentrados em:</a:t>
            </a:r>
          </a:p>
          <a:p>
            <a:pPr marL="171450" indent="-171450" algn="just">
              <a:lnSpc>
                <a:spcPct val="150000"/>
              </a:lnSpc>
              <a:buFont typeface="Arial" panose="020B0604020202020204" pitchFamily="34" charset="0"/>
              <a:buChar char="•"/>
            </a:pPr>
            <a:r>
              <a:rPr lang="pt-BR" sz="1200" dirty="0">
                <a:solidFill>
                  <a:schemeClr val="bg2">
                    <a:lumMod val="50000"/>
                  </a:schemeClr>
                </a:solidFill>
                <a:latin typeface="Arial" panose="020B0604020202020204" pitchFamily="34" charset="0"/>
                <a:cs typeface="Arial" panose="020B0604020202020204" pitchFamily="34" charset="0"/>
              </a:rPr>
              <a:t>Negativação – Pagou e não atualizou</a:t>
            </a:r>
          </a:p>
          <a:p>
            <a:pPr marL="171450" indent="-171450" algn="just">
              <a:lnSpc>
                <a:spcPct val="150000"/>
              </a:lnSpc>
              <a:buFont typeface="Arial" panose="020B0604020202020204" pitchFamily="34" charset="0"/>
              <a:buChar char="•"/>
            </a:pPr>
            <a:r>
              <a:rPr lang="pt-BR" sz="1200" dirty="0">
                <a:solidFill>
                  <a:schemeClr val="bg2">
                    <a:lumMod val="50000"/>
                  </a:schemeClr>
                </a:solidFill>
                <a:latin typeface="Arial" panose="020B0604020202020204" pitchFamily="34" charset="0"/>
                <a:cs typeface="Arial" panose="020B0604020202020204" pitchFamily="34" charset="0"/>
              </a:rPr>
              <a:t>Preenchimento do campo Novo Parceiros</a:t>
            </a:r>
          </a:p>
          <a:p>
            <a:pPr marL="171450" indent="-171450" algn="just">
              <a:lnSpc>
                <a:spcPct val="150000"/>
              </a:lnSpc>
              <a:buFont typeface="Arial" panose="020B0604020202020204" pitchFamily="34" charset="0"/>
              <a:buChar char="•"/>
            </a:pPr>
            <a:r>
              <a:rPr lang="pt-BR" sz="1200" dirty="0">
                <a:solidFill>
                  <a:schemeClr val="bg2">
                    <a:lumMod val="50000"/>
                  </a:schemeClr>
                </a:solidFill>
                <a:latin typeface="Arial" panose="020B0604020202020204" pitchFamily="34" charset="0"/>
                <a:cs typeface="Arial" panose="020B0604020202020204" pitchFamily="34" charset="0"/>
              </a:rPr>
              <a:t>Cancelamentos do Serasa Premium. </a:t>
            </a:r>
          </a:p>
        </p:txBody>
      </p:sp>
      <p:sp>
        <p:nvSpPr>
          <p:cNvPr id="27" name="Retângulo: Cantos Arredondados 26">
            <a:extLst>
              <a:ext uri="{FF2B5EF4-FFF2-40B4-BE49-F238E27FC236}">
                <a16:creationId xmlns:a16="http://schemas.microsoft.com/office/drawing/2014/main" id="{8371966E-EFD4-6A6D-0D94-8A9CA2A6A12E}"/>
              </a:ext>
            </a:extLst>
          </p:cNvPr>
          <p:cNvSpPr/>
          <p:nvPr/>
        </p:nvSpPr>
        <p:spPr>
          <a:xfrm>
            <a:off x="6461881" y="1762711"/>
            <a:ext cx="4910336" cy="2137417"/>
          </a:xfrm>
          <a:prstGeom prst="roundRect">
            <a:avLst/>
          </a:prstGeom>
          <a:solidFill>
            <a:schemeClr val="bg1">
              <a:lumMod val="95000"/>
            </a:schemeClr>
          </a:solidFill>
          <a:ln>
            <a:noFill/>
          </a:ln>
          <a:effectLst>
            <a:outerShdw dist="101600" dir="10740000" algn="t" rotWithShape="0">
              <a:srgbClr val="9E2289"/>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2" name="Retângulo: Cantos Arredondados 41">
            <a:extLst>
              <a:ext uri="{FF2B5EF4-FFF2-40B4-BE49-F238E27FC236}">
                <a16:creationId xmlns:a16="http://schemas.microsoft.com/office/drawing/2014/main" id="{1772F783-92E0-FBF6-DCC7-1B2A8E453ECD}"/>
              </a:ext>
            </a:extLst>
          </p:cNvPr>
          <p:cNvSpPr/>
          <p:nvPr/>
        </p:nvSpPr>
        <p:spPr>
          <a:xfrm>
            <a:off x="4006713" y="4377174"/>
            <a:ext cx="4910336" cy="2137417"/>
          </a:xfrm>
          <a:prstGeom prst="roundRect">
            <a:avLst/>
          </a:prstGeom>
          <a:solidFill>
            <a:schemeClr val="bg1">
              <a:lumMod val="95000"/>
            </a:schemeClr>
          </a:solidFill>
          <a:ln>
            <a:noFill/>
          </a:ln>
          <a:effectLst>
            <a:outerShdw dist="101600" dir="10740000" algn="t" rotWithShape="0">
              <a:srgbClr val="9E2289"/>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3" name="CaixaDeTexto 42">
            <a:extLst>
              <a:ext uri="{FF2B5EF4-FFF2-40B4-BE49-F238E27FC236}">
                <a16:creationId xmlns:a16="http://schemas.microsoft.com/office/drawing/2014/main" id="{996ECD65-7A77-66DF-3EF5-00E46B510A50}"/>
              </a:ext>
            </a:extLst>
          </p:cNvPr>
          <p:cNvSpPr txBox="1"/>
          <p:nvPr/>
        </p:nvSpPr>
        <p:spPr>
          <a:xfrm>
            <a:off x="2073135" y="1651196"/>
            <a:ext cx="3287486" cy="307777"/>
          </a:xfrm>
          <a:prstGeom prst="rect">
            <a:avLst/>
          </a:prstGeom>
          <a:solidFill>
            <a:srgbClr val="D8CDF6"/>
          </a:solidFill>
        </p:spPr>
        <p:txBody>
          <a:bodyPr wrap="square" rtlCol="0">
            <a:spAutoFit/>
          </a:bodyPr>
          <a:lstStyle/>
          <a:p>
            <a:pPr algn="ctr"/>
            <a:r>
              <a:rPr lang="pt-BR" sz="1400" b="1" dirty="0">
                <a:solidFill>
                  <a:srgbClr val="9E2289"/>
                </a:solidFill>
                <a:latin typeface="Arial" panose="020B0604020202020204" pitchFamily="34" charset="0"/>
                <a:cs typeface="Arial" panose="020B0604020202020204" pitchFamily="34" charset="0"/>
              </a:rPr>
              <a:t>Tabulação: </a:t>
            </a:r>
          </a:p>
        </p:txBody>
      </p:sp>
      <p:sp>
        <p:nvSpPr>
          <p:cNvPr id="52" name="CaixaDeTexto 51">
            <a:extLst>
              <a:ext uri="{FF2B5EF4-FFF2-40B4-BE49-F238E27FC236}">
                <a16:creationId xmlns:a16="http://schemas.microsoft.com/office/drawing/2014/main" id="{EB2A2710-E561-1FE0-5028-298EBB4DEB40}"/>
              </a:ext>
            </a:extLst>
          </p:cNvPr>
          <p:cNvSpPr txBox="1"/>
          <p:nvPr/>
        </p:nvSpPr>
        <p:spPr>
          <a:xfrm>
            <a:off x="6764381" y="2274628"/>
            <a:ext cx="4305335" cy="1166153"/>
          </a:xfrm>
          <a:prstGeom prst="rect">
            <a:avLst/>
          </a:prstGeom>
          <a:noFill/>
        </p:spPr>
        <p:txBody>
          <a:bodyPr wrap="square" rtlCol="0">
            <a:spAutoFit/>
          </a:bodyPr>
          <a:lstStyle/>
          <a:p>
            <a:pPr algn="just">
              <a:lnSpc>
                <a:spcPct val="150000"/>
              </a:lnSpc>
            </a:pPr>
            <a:r>
              <a:rPr lang="pt-BR" sz="1200" dirty="0">
                <a:solidFill>
                  <a:schemeClr val="bg2">
                    <a:lumMod val="50000"/>
                  </a:schemeClr>
                </a:solidFill>
                <a:latin typeface="Arial" panose="020B0604020202020204" pitchFamily="34" charset="0"/>
                <a:cs typeface="Arial" panose="020B0604020202020204" pitchFamily="34" charset="0"/>
              </a:rPr>
              <a:t>Os principais assuntos do mês estão concentrados em:</a:t>
            </a:r>
          </a:p>
          <a:p>
            <a:pPr marL="171450" indent="-171450" algn="just">
              <a:lnSpc>
                <a:spcPct val="150000"/>
              </a:lnSpc>
              <a:buFont typeface="Arial" panose="020B0604020202020204" pitchFamily="34" charset="0"/>
              <a:buChar char="•"/>
            </a:pPr>
            <a:r>
              <a:rPr lang="pt-BR" sz="1200" dirty="0">
                <a:solidFill>
                  <a:schemeClr val="bg2">
                    <a:lumMod val="50000"/>
                  </a:schemeClr>
                </a:solidFill>
                <a:latin typeface="Arial" panose="020B0604020202020204" pitchFamily="34" charset="0"/>
                <a:cs typeface="Arial" panose="020B0604020202020204" pitchFamily="34" charset="0"/>
              </a:rPr>
              <a:t>Informações de contato</a:t>
            </a:r>
          </a:p>
          <a:p>
            <a:pPr marL="171450" indent="-171450" algn="just">
              <a:lnSpc>
                <a:spcPct val="150000"/>
              </a:lnSpc>
              <a:buFont typeface="Arial" panose="020B0604020202020204" pitchFamily="34" charset="0"/>
              <a:buChar char="•"/>
            </a:pPr>
            <a:r>
              <a:rPr lang="pt-BR" sz="1200" dirty="0">
                <a:solidFill>
                  <a:schemeClr val="bg2">
                    <a:lumMod val="50000"/>
                  </a:schemeClr>
                </a:solidFill>
                <a:latin typeface="Arial" panose="020B0604020202020204" pitchFamily="34" charset="0"/>
                <a:cs typeface="Arial" panose="020B0604020202020204" pitchFamily="34" charset="0"/>
              </a:rPr>
              <a:t>Cancelamento Premium (Contratação Site/Hotsite)</a:t>
            </a:r>
          </a:p>
          <a:p>
            <a:pPr marL="171450" indent="-171450" algn="just">
              <a:lnSpc>
                <a:spcPct val="150000"/>
              </a:lnSpc>
              <a:buFont typeface="Arial" panose="020B0604020202020204" pitchFamily="34" charset="0"/>
              <a:buChar char="•"/>
            </a:pPr>
            <a:r>
              <a:rPr lang="pt-BR" sz="1200" dirty="0">
                <a:solidFill>
                  <a:schemeClr val="bg2">
                    <a:lumMod val="50000"/>
                  </a:schemeClr>
                </a:solidFill>
                <a:latin typeface="Arial" panose="020B0604020202020204" pitchFamily="34" charset="0"/>
                <a:cs typeface="Arial" panose="020B0604020202020204" pitchFamily="34" charset="0"/>
              </a:rPr>
              <a:t>NPS (Utilização de texto alternativo)</a:t>
            </a:r>
          </a:p>
        </p:txBody>
      </p:sp>
      <p:sp>
        <p:nvSpPr>
          <p:cNvPr id="53" name="CaixaDeTexto 52">
            <a:extLst>
              <a:ext uri="{FF2B5EF4-FFF2-40B4-BE49-F238E27FC236}">
                <a16:creationId xmlns:a16="http://schemas.microsoft.com/office/drawing/2014/main" id="{1CD3FA34-5EA8-7929-88E1-B8EDDC71891D}"/>
              </a:ext>
            </a:extLst>
          </p:cNvPr>
          <p:cNvSpPr txBox="1"/>
          <p:nvPr/>
        </p:nvSpPr>
        <p:spPr>
          <a:xfrm>
            <a:off x="4265625" y="4937954"/>
            <a:ext cx="4276796" cy="1166153"/>
          </a:xfrm>
          <a:prstGeom prst="rect">
            <a:avLst/>
          </a:prstGeom>
          <a:noFill/>
        </p:spPr>
        <p:txBody>
          <a:bodyPr wrap="square" rtlCol="0">
            <a:spAutoFit/>
          </a:bodyPr>
          <a:lstStyle/>
          <a:p>
            <a:pPr marL="171450" indent="-171450" algn="just">
              <a:lnSpc>
                <a:spcPct val="150000"/>
              </a:lnSpc>
              <a:buFont typeface="Arial" panose="020B0604020202020204" pitchFamily="34" charset="0"/>
              <a:buChar char="•"/>
            </a:pPr>
            <a:r>
              <a:rPr lang="pt-BR" sz="1200" dirty="0">
                <a:solidFill>
                  <a:schemeClr val="bg2">
                    <a:lumMod val="50000"/>
                  </a:schemeClr>
                </a:solidFill>
                <a:latin typeface="Arial" panose="020B0604020202020204" pitchFamily="34" charset="0"/>
                <a:cs typeface="Arial" panose="020B0604020202020204" pitchFamily="34" charset="0"/>
              </a:rPr>
              <a:t>Não retornar ao consumidor após 60s de espera</a:t>
            </a:r>
          </a:p>
          <a:p>
            <a:pPr marL="171450" indent="-171450" algn="just">
              <a:lnSpc>
                <a:spcPct val="150000"/>
              </a:lnSpc>
              <a:buFont typeface="Arial" panose="020B0604020202020204" pitchFamily="34" charset="0"/>
              <a:buChar char="•"/>
            </a:pPr>
            <a:r>
              <a:rPr lang="pt-BR" sz="1200" dirty="0">
                <a:solidFill>
                  <a:schemeClr val="bg2">
                    <a:lumMod val="50000"/>
                  </a:schemeClr>
                </a:solidFill>
                <a:latin typeface="Arial" panose="020B0604020202020204" pitchFamily="34" charset="0"/>
                <a:cs typeface="Arial" panose="020B0604020202020204" pitchFamily="34" charset="0"/>
              </a:rPr>
              <a:t>Longos períodos sem interação durante consulta/registro</a:t>
            </a:r>
          </a:p>
          <a:p>
            <a:pPr marL="171450" indent="-171450" algn="just">
              <a:lnSpc>
                <a:spcPct val="150000"/>
              </a:lnSpc>
              <a:buFont typeface="Arial" panose="020B0604020202020204" pitchFamily="34" charset="0"/>
              <a:buChar char="•"/>
            </a:pPr>
            <a:r>
              <a:rPr lang="pt-BR" sz="1200" dirty="0">
                <a:solidFill>
                  <a:schemeClr val="bg2">
                    <a:lumMod val="50000"/>
                  </a:schemeClr>
                </a:solidFill>
                <a:latin typeface="Arial" panose="020B0604020202020204" pitchFamily="34" charset="0"/>
                <a:cs typeface="Arial" panose="020B0604020202020204" pitchFamily="34" charset="0"/>
              </a:rPr>
              <a:t>Necessidade de posicionar o consumidor sobre o andamento</a:t>
            </a:r>
          </a:p>
        </p:txBody>
      </p:sp>
      <p:sp>
        <p:nvSpPr>
          <p:cNvPr id="72" name="CaixaDeTexto 71">
            <a:extLst>
              <a:ext uri="{FF2B5EF4-FFF2-40B4-BE49-F238E27FC236}">
                <a16:creationId xmlns:a16="http://schemas.microsoft.com/office/drawing/2014/main" id="{00E292E3-C419-767D-AAED-308D30874DDD}"/>
              </a:ext>
            </a:extLst>
          </p:cNvPr>
          <p:cNvSpPr txBox="1"/>
          <p:nvPr/>
        </p:nvSpPr>
        <p:spPr>
          <a:xfrm>
            <a:off x="7473078" y="1585684"/>
            <a:ext cx="3287486" cy="307777"/>
          </a:xfrm>
          <a:prstGeom prst="rect">
            <a:avLst/>
          </a:prstGeom>
          <a:solidFill>
            <a:srgbClr val="D8CDF6"/>
          </a:solidFill>
        </p:spPr>
        <p:txBody>
          <a:bodyPr wrap="square" rtlCol="0">
            <a:spAutoFit/>
          </a:bodyPr>
          <a:lstStyle/>
          <a:p>
            <a:pPr algn="ctr"/>
            <a:r>
              <a:rPr lang="pt-BR" sz="1400" b="1" dirty="0">
                <a:solidFill>
                  <a:srgbClr val="9E2289"/>
                </a:solidFill>
                <a:latin typeface="Arial" panose="020B0604020202020204" pitchFamily="34" charset="0"/>
                <a:cs typeface="Arial" panose="020B0604020202020204" pitchFamily="34" charset="0"/>
              </a:rPr>
              <a:t>Atenção e Interesse: </a:t>
            </a:r>
          </a:p>
        </p:txBody>
      </p:sp>
      <p:sp>
        <p:nvSpPr>
          <p:cNvPr id="30" name="CaixaDeTexto 29">
            <a:extLst>
              <a:ext uri="{FF2B5EF4-FFF2-40B4-BE49-F238E27FC236}">
                <a16:creationId xmlns:a16="http://schemas.microsoft.com/office/drawing/2014/main" id="{2DDACC62-FC89-C97F-E8D2-719D30FCB702}"/>
              </a:ext>
            </a:extLst>
          </p:cNvPr>
          <p:cNvSpPr txBox="1"/>
          <p:nvPr/>
        </p:nvSpPr>
        <p:spPr>
          <a:xfrm>
            <a:off x="4716379" y="4115564"/>
            <a:ext cx="3826042" cy="523220"/>
          </a:xfrm>
          <a:prstGeom prst="rect">
            <a:avLst/>
          </a:prstGeom>
          <a:solidFill>
            <a:srgbClr val="D8CDF6"/>
          </a:solidFill>
        </p:spPr>
        <p:txBody>
          <a:bodyPr wrap="square" rtlCol="0">
            <a:spAutoFit/>
          </a:bodyPr>
          <a:lstStyle/>
          <a:p>
            <a:pPr algn="ctr"/>
            <a:r>
              <a:rPr lang="pt-BR" sz="1400" b="1" dirty="0">
                <a:solidFill>
                  <a:srgbClr val="9E2289"/>
                </a:solidFill>
                <a:latin typeface="Arial" panose="020B0604020202020204" pitchFamily="34" charset="0"/>
                <a:cs typeface="Arial" panose="020B0604020202020204" pitchFamily="34" charset="0"/>
              </a:rPr>
              <a:t>Demora maior de 60s para retornar o contato:</a:t>
            </a:r>
          </a:p>
        </p:txBody>
      </p:sp>
    </p:spTree>
    <p:extLst>
      <p:ext uri="{BB962C8B-B14F-4D97-AF65-F5344CB8AC3E}">
        <p14:creationId xmlns:p14="http://schemas.microsoft.com/office/powerpoint/2010/main" val="389351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Imagem 38">
            <a:extLst>
              <a:ext uri="{FF2B5EF4-FFF2-40B4-BE49-F238E27FC236}">
                <a16:creationId xmlns:a16="http://schemas.microsoft.com/office/drawing/2014/main" id="{8F6A83EB-6687-479D-BD59-51B6B2B8CBF9}"/>
              </a:ext>
            </a:extLst>
          </p:cNvPr>
          <p:cNvPicPr>
            <a:picLocks noChangeAspect="1"/>
          </p:cNvPicPr>
          <p:nvPr/>
        </p:nvPicPr>
        <p:blipFill>
          <a:blip r:embed="rId2">
            <a:alphaModFix amt="4000"/>
          </a:blip>
          <a:stretch>
            <a:fillRect/>
          </a:stretch>
        </p:blipFill>
        <p:spPr>
          <a:xfrm>
            <a:off x="9157251" y="4596063"/>
            <a:ext cx="5030445" cy="5148116"/>
          </a:xfrm>
          <a:prstGeom prst="rect">
            <a:avLst/>
          </a:prstGeom>
          <a:effectLst/>
        </p:spPr>
      </p:pic>
      <p:pic>
        <p:nvPicPr>
          <p:cNvPr id="38" name="Imagem 37">
            <a:extLst>
              <a:ext uri="{FF2B5EF4-FFF2-40B4-BE49-F238E27FC236}">
                <a16:creationId xmlns:a16="http://schemas.microsoft.com/office/drawing/2014/main" id="{DE2A603E-716D-41D5-ABEF-1625839B46A3}"/>
              </a:ext>
            </a:extLst>
          </p:cNvPr>
          <p:cNvPicPr>
            <a:picLocks noChangeAspect="1"/>
          </p:cNvPicPr>
          <p:nvPr/>
        </p:nvPicPr>
        <p:blipFill>
          <a:blip r:embed="rId2">
            <a:alphaModFix amt="4000"/>
          </a:blip>
          <a:stretch>
            <a:fillRect/>
          </a:stretch>
        </p:blipFill>
        <p:spPr>
          <a:xfrm>
            <a:off x="-2128370" y="-2021305"/>
            <a:ext cx="5030445" cy="5148116"/>
          </a:xfrm>
          <a:prstGeom prst="rect">
            <a:avLst/>
          </a:prstGeom>
          <a:effectLst/>
        </p:spPr>
      </p:pic>
      <p:grpSp>
        <p:nvGrpSpPr>
          <p:cNvPr id="20" name="Google Shape;1964;p50">
            <a:extLst>
              <a:ext uri="{FF2B5EF4-FFF2-40B4-BE49-F238E27FC236}">
                <a16:creationId xmlns:a16="http://schemas.microsoft.com/office/drawing/2014/main" id="{644333FE-63B4-42DF-ADFA-AF9177DF58D7}"/>
              </a:ext>
            </a:extLst>
          </p:cNvPr>
          <p:cNvGrpSpPr/>
          <p:nvPr/>
        </p:nvGrpSpPr>
        <p:grpSpPr>
          <a:xfrm flipH="1">
            <a:off x="742950" y="537670"/>
            <a:ext cx="603644" cy="576232"/>
            <a:chOff x="4126815" y="2760704"/>
            <a:chExt cx="380393" cy="363118"/>
          </a:xfrm>
          <a:solidFill>
            <a:srgbClr val="0B5892"/>
          </a:solidFill>
        </p:grpSpPr>
        <p:sp>
          <p:nvSpPr>
            <p:cNvPr id="21" name="Google Shape;1965;p50">
              <a:extLst>
                <a:ext uri="{FF2B5EF4-FFF2-40B4-BE49-F238E27FC236}">
                  <a16:creationId xmlns:a16="http://schemas.microsoft.com/office/drawing/2014/main" id="{C90A8E2B-6430-4128-93A1-80EDBF3E3BED}"/>
                </a:ext>
              </a:extLst>
            </p:cNvPr>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966;p50">
              <a:extLst>
                <a:ext uri="{FF2B5EF4-FFF2-40B4-BE49-F238E27FC236}">
                  <a16:creationId xmlns:a16="http://schemas.microsoft.com/office/drawing/2014/main" id="{C220A82A-DCEF-47A8-9174-5A849CB2B75F}"/>
                </a:ext>
              </a:extLst>
            </p:cNvPr>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967;p50">
              <a:extLst>
                <a:ext uri="{FF2B5EF4-FFF2-40B4-BE49-F238E27FC236}">
                  <a16:creationId xmlns:a16="http://schemas.microsoft.com/office/drawing/2014/main" id="{446DDA74-F73B-4510-BFCE-608659C3FC02}"/>
                </a:ext>
              </a:extLst>
            </p:cNvPr>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968;p50">
              <a:extLst>
                <a:ext uri="{FF2B5EF4-FFF2-40B4-BE49-F238E27FC236}">
                  <a16:creationId xmlns:a16="http://schemas.microsoft.com/office/drawing/2014/main" id="{487DFEED-06C3-4B9B-9B7A-545AAF95F24C}"/>
                </a:ext>
              </a:extLst>
            </p:cNvPr>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Retângulo 28">
            <a:extLst>
              <a:ext uri="{FF2B5EF4-FFF2-40B4-BE49-F238E27FC236}">
                <a16:creationId xmlns:a16="http://schemas.microsoft.com/office/drawing/2014/main" id="{0BBC58FB-2C41-419E-8246-609C9177CDA9}"/>
              </a:ext>
            </a:extLst>
          </p:cNvPr>
          <p:cNvSpPr/>
          <p:nvPr/>
        </p:nvSpPr>
        <p:spPr>
          <a:xfrm>
            <a:off x="-449179" y="6707874"/>
            <a:ext cx="14054469" cy="334610"/>
          </a:xfrm>
          <a:prstGeom prst="rect">
            <a:avLst/>
          </a:prstGeom>
          <a:solidFill>
            <a:srgbClr val="9E22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 name="Imagem 7">
            <a:extLst>
              <a:ext uri="{FF2B5EF4-FFF2-40B4-BE49-F238E27FC236}">
                <a16:creationId xmlns:a16="http://schemas.microsoft.com/office/drawing/2014/main" id="{55CA91AA-A108-4071-B0A7-0374C74EDA09}"/>
              </a:ext>
            </a:extLst>
          </p:cNvPr>
          <p:cNvPicPr>
            <a:picLocks noChangeAspect="1"/>
          </p:cNvPicPr>
          <p:nvPr/>
        </p:nvPicPr>
        <p:blipFill>
          <a:blip r:embed="rId3"/>
          <a:stretch>
            <a:fillRect/>
          </a:stretch>
        </p:blipFill>
        <p:spPr>
          <a:xfrm>
            <a:off x="-124691" y="-20995"/>
            <a:ext cx="12316692" cy="88042"/>
          </a:xfrm>
          <a:prstGeom prst="rect">
            <a:avLst/>
          </a:prstGeom>
        </p:spPr>
      </p:pic>
      <p:sp>
        <p:nvSpPr>
          <p:cNvPr id="18" name="Título 1">
            <a:extLst>
              <a:ext uri="{FF2B5EF4-FFF2-40B4-BE49-F238E27FC236}">
                <a16:creationId xmlns:a16="http://schemas.microsoft.com/office/drawing/2014/main" id="{9BC75932-B40A-460F-B242-8264BFE06926}"/>
              </a:ext>
            </a:extLst>
          </p:cNvPr>
          <p:cNvSpPr txBox="1">
            <a:spLocks/>
          </p:cNvSpPr>
          <p:nvPr/>
        </p:nvSpPr>
        <p:spPr>
          <a:xfrm>
            <a:off x="1366068" y="448718"/>
            <a:ext cx="6453099"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spc="600" dirty="0">
                <a:solidFill>
                  <a:srgbClr val="0B5892"/>
                </a:solidFill>
                <a:latin typeface="Arial" panose="020B0604020202020204" pitchFamily="34" charset="0"/>
                <a:cs typeface="Arial" panose="020B0604020202020204" pitchFamily="34" charset="0"/>
              </a:rPr>
              <a:t>APLICAÇÃO DE FEEDBACKS</a:t>
            </a:r>
          </a:p>
        </p:txBody>
      </p:sp>
      <p:sp>
        <p:nvSpPr>
          <p:cNvPr id="19" name="Título 1">
            <a:extLst>
              <a:ext uri="{FF2B5EF4-FFF2-40B4-BE49-F238E27FC236}">
                <a16:creationId xmlns:a16="http://schemas.microsoft.com/office/drawing/2014/main" id="{CB92D9AB-3FEB-47AD-8015-DD30B5F902CE}"/>
              </a:ext>
            </a:extLst>
          </p:cNvPr>
          <p:cNvSpPr txBox="1">
            <a:spLocks/>
          </p:cNvSpPr>
          <p:nvPr/>
        </p:nvSpPr>
        <p:spPr>
          <a:xfrm>
            <a:off x="1400358" y="716411"/>
            <a:ext cx="6950456"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600" spc="300" dirty="0">
                <a:solidFill>
                  <a:srgbClr val="0B5892"/>
                </a:solidFill>
                <a:latin typeface="Arial" panose="020B0604020202020204" pitchFamily="34" charset="0"/>
                <a:cs typeface="Arial" panose="020B0604020202020204" pitchFamily="34" charset="0"/>
              </a:rPr>
              <a:t>Quantidade total de monitorias realizadas</a:t>
            </a:r>
          </a:p>
        </p:txBody>
      </p:sp>
      <p:cxnSp>
        <p:nvCxnSpPr>
          <p:cNvPr id="25" name="Conector reto 24">
            <a:extLst>
              <a:ext uri="{FF2B5EF4-FFF2-40B4-BE49-F238E27FC236}">
                <a16:creationId xmlns:a16="http://schemas.microsoft.com/office/drawing/2014/main" id="{C6F5D155-7AE8-4277-A61A-2EF88BF2DADC}"/>
              </a:ext>
            </a:extLst>
          </p:cNvPr>
          <p:cNvCxnSpPr/>
          <p:nvPr/>
        </p:nvCxnSpPr>
        <p:spPr>
          <a:xfrm>
            <a:off x="725988" y="1185955"/>
            <a:ext cx="9855200" cy="0"/>
          </a:xfrm>
          <a:prstGeom prst="line">
            <a:avLst/>
          </a:prstGeom>
          <a:ln>
            <a:solidFill>
              <a:srgbClr val="0B5892"/>
            </a:solidFill>
          </a:ln>
        </p:spPr>
        <p:style>
          <a:lnRef idx="1">
            <a:schemeClr val="accent1"/>
          </a:lnRef>
          <a:fillRef idx="0">
            <a:schemeClr val="accent1"/>
          </a:fillRef>
          <a:effectRef idx="0">
            <a:schemeClr val="accent1"/>
          </a:effectRef>
          <a:fontRef idx="minor">
            <a:schemeClr val="tx1"/>
          </a:fontRef>
        </p:style>
      </p:cxnSp>
      <p:cxnSp>
        <p:nvCxnSpPr>
          <p:cNvPr id="28" name="Conector reto 27">
            <a:extLst>
              <a:ext uri="{FF2B5EF4-FFF2-40B4-BE49-F238E27FC236}">
                <a16:creationId xmlns:a16="http://schemas.microsoft.com/office/drawing/2014/main" id="{AF530EC9-E21D-4CE2-9C84-D2A18F828C6C}"/>
              </a:ext>
            </a:extLst>
          </p:cNvPr>
          <p:cNvCxnSpPr>
            <a:cxnSpLocks/>
          </p:cNvCxnSpPr>
          <p:nvPr/>
        </p:nvCxnSpPr>
        <p:spPr>
          <a:xfrm>
            <a:off x="5981468" y="1848607"/>
            <a:ext cx="34403" cy="3728788"/>
          </a:xfrm>
          <a:prstGeom prst="line">
            <a:avLst/>
          </a:prstGeom>
          <a:ln>
            <a:solidFill>
              <a:srgbClr val="9E2289"/>
            </a:solidFill>
          </a:ln>
        </p:spPr>
        <p:style>
          <a:lnRef idx="1">
            <a:schemeClr val="accent1"/>
          </a:lnRef>
          <a:fillRef idx="0">
            <a:schemeClr val="accent1"/>
          </a:fillRef>
          <a:effectRef idx="0">
            <a:schemeClr val="accent1"/>
          </a:effectRef>
          <a:fontRef idx="minor">
            <a:schemeClr val="tx1"/>
          </a:fontRef>
        </p:style>
      </p:cxnSp>
      <p:graphicFrame>
        <p:nvGraphicFramePr>
          <p:cNvPr id="30" name="Gráfico 29">
            <a:extLst>
              <a:ext uri="{FF2B5EF4-FFF2-40B4-BE49-F238E27FC236}">
                <a16:creationId xmlns:a16="http://schemas.microsoft.com/office/drawing/2014/main" id="{71DC83F7-0B9A-49E0-8FF4-1656C753BDC0}"/>
              </a:ext>
            </a:extLst>
          </p:cNvPr>
          <p:cNvGraphicFramePr/>
          <p:nvPr>
            <p:extLst>
              <p:ext uri="{D42A27DB-BD31-4B8C-83A1-F6EECF244321}">
                <p14:modId xmlns:p14="http://schemas.microsoft.com/office/powerpoint/2010/main" val="3793143865"/>
              </p:ext>
            </p:extLst>
          </p:nvPr>
        </p:nvGraphicFramePr>
        <p:xfrm>
          <a:off x="6521594" y="1625248"/>
          <a:ext cx="4825219" cy="2405576"/>
        </p:xfrm>
        <a:graphic>
          <a:graphicData uri="http://schemas.openxmlformats.org/drawingml/2006/chart">
            <c:chart xmlns:c="http://schemas.openxmlformats.org/drawingml/2006/chart" xmlns:r="http://schemas.openxmlformats.org/officeDocument/2006/relationships" r:id="rId4"/>
          </a:graphicData>
        </a:graphic>
      </p:graphicFrame>
      <p:sp>
        <p:nvSpPr>
          <p:cNvPr id="31" name="CaixaDeTexto 30">
            <a:extLst>
              <a:ext uri="{FF2B5EF4-FFF2-40B4-BE49-F238E27FC236}">
                <a16:creationId xmlns:a16="http://schemas.microsoft.com/office/drawing/2014/main" id="{82A0E21E-D797-4B82-AA4B-7C5E92F466F2}"/>
              </a:ext>
            </a:extLst>
          </p:cNvPr>
          <p:cNvSpPr txBox="1"/>
          <p:nvPr/>
        </p:nvSpPr>
        <p:spPr>
          <a:xfrm>
            <a:off x="7034775" y="1697194"/>
            <a:ext cx="3992681" cy="307777"/>
          </a:xfrm>
          <a:prstGeom prst="rect">
            <a:avLst/>
          </a:prstGeom>
          <a:noFill/>
        </p:spPr>
        <p:txBody>
          <a:bodyPr wrap="square" rtlCol="0">
            <a:spAutoFit/>
          </a:bodyPr>
          <a:lstStyle/>
          <a:p>
            <a:pPr algn="ctr"/>
            <a:r>
              <a:rPr lang="pt-BR" sz="1400" b="1" dirty="0">
                <a:solidFill>
                  <a:schemeClr val="tx1">
                    <a:lumMod val="50000"/>
                    <a:lumOff val="50000"/>
                  </a:schemeClr>
                </a:solidFill>
                <a:latin typeface="Arial" panose="020B0604020202020204" pitchFamily="34" charset="0"/>
                <a:cs typeface="Arial" panose="020B0604020202020204" pitchFamily="34" charset="0"/>
              </a:rPr>
              <a:t>Cumprimento do SLA - NCG</a:t>
            </a:r>
          </a:p>
        </p:txBody>
      </p:sp>
      <p:graphicFrame>
        <p:nvGraphicFramePr>
          <p:cNvPr id="32" name="Gráfico 31">
            <a:extLst>
              <a:ext uri="{FF2B5EF4-FFF2-40B4-BE49-F238E27FC236}">
                <a16:creationId xmlns:a16="http://schemas.microsoft.com/office/drawing/2014/main" id="{72CA1D9F-992B-4BC8-97CA-826DA8198092}"/>
              </a:ext>
            </a:extLst>
          </p:cNvPr>
          <p:cNvGraphicFramePr/>
          <p:nvPr>
            <p:extLst>
              <p:ext uri="{D42A27DB-BD31-4B8C-83A1-F6EECF244321}">
                <p14:modId xmlns:p14="http://schemas.microsoft.com/office/powerpoint/2010/main" val="1739355456"/>
              </p:ext>
            </p:extLst>
          </p:nvPr>
        </p:nvGraphicFramePr>
        <p:xfrm>
          <a:off x="845187" y="1697194"/>
          <a:ext cx="4825219" cy="2405576"/>
        </p:xfrm>
        <a:graphic>
          <a:graphicData uri="http://schemas.openxmlformats.org/drawingml/2006/chart">
            <c:chart xmlns:c="http://schemas.openxmlformats.org/drawingml/2006/chart" xmlns:r="http://schemas.openxmlformats.org/officeDocument/2006/relationships" r:id="rId5"/>
          </a:graphicData>
        </a:graphic>
      </p:graphicFrame>
      <p:sp>
        <p:nvSpPr>
          <p:cNvPr id="33" name="CaixaDeTexto 32">
            <a:extLst>
              <a:ext uri="{FF2B5EF4-FFF2-40B4-BE49-F238E27FC236}">
                <a16:creationId xmlns:a16="http://schemas.microsoft.com/office/drawing/2014/main" id="{417A71CF-78F9-4EE7-A121-79E5C8E39F2B}"/>
              </a:ext>
            </a:extLst>
          </p:cNvPr>
          <p:cNvSpPr txBox="1"/>
          <p:nvPr/>
        </p:nvSpPr>
        <p:spPr>
          <a:xfrm>
            <a:off x="1418916" y="1774955"/>
            <a:ext cx="3992681" cy="307777"/>
          </a:xfrm>
          <a:prstGeom prst="rect">
            <a:avLst/>
          </a:prstGeom>
          <a:noFill/>
        </p:spPr>
        <p:txBody>
          <a:bodyPr wrap="square" rtlCol="0">
            <a:spAutoFit/>
          </a:bodyPr>
          <a:lstStyle/>
          <a:p>
            <a:pPr algn="ctr"/>
            <a:r>
              <a:rPr lang="pt-BR" sz="1400" b="1" dirty="0">
                <a:solidFill>
                  <a:schemeClr val="tx1">
                    <a:lumMod val="50000"/>
                    <a:lumOff val="50000"/>
                  </a:schemeClr>
                </a:solidFill>
                <a:latin typeface="Arial" panose="020B0604020202020204" pitchFamily="34" charset="0"/>
                <a:cs typeface="Arial" panose="020B0604020202020204" pitchFamily="34" charset="0"/>
              </a:rPr>
              <a:t>Cumprimento do SLA – NC                                                                                                                                                                                                    </a:t>
            </a:r>
          </a:p>
        </p:txBody>
      </p:sp>
      <p:sp>
        <p:nvSpPr>
          <p:cNvPr id="26" name="Retângulo: Cantos Arredondados 25">
            <a:extLst>
              <a:ext uri="{FF2B5EF4-FFF2-40B4-BE49-F238E27FC236}">
                <a16:creationId xmlns:a16="http://schemas.microsoft.com/office/drawing/2014/main" id="{330A12FB-989E-42A9-A3F0-B8234CB2550E}"/>
              </a:ext>
            </a:extLst>
          </p:cNvPr>
          <p:cNvSpPr/>
          <p:nvPr/>
        </p:nvSpPr>
        <p:spPr>
          <a:xfrm>
            <a:off x="1198996" y="4328581"/>
            <a:ext cx="4402601" cy="1248814"/>
          </a:xfrm>
          <a:prstGeom prst="roundRect">
            <a:avLst/>
          </a:prstGeom>
          <a:solidFill>
            <a:schemeClr val="bg1">
              <a:lumMod val="95000"/>
            </a:schemeClr>
          </a:solidFill>
          <a:ln>
            <a:noFill/>
          </a:ln>
          <a:effectLst>
            <a:outerShdw dist="101600" dir="10740000" algn="t" rotWithShape="0">
              <a:srgbClr val="9E2289"/>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4" name="Retângulo: Cantos Arredondados 33">
            <a:extLst>
              <a:ext uri="{FF2B5EF4-FFF2-40B4-BE49-F238E27FC236}">
                <a16:creationId xmlns:a16="http://schemas.microsoft.com/office/drawing/2014/main" id="{48B36F2A-D988-4E04-8C57-90B32EEB49F2}"/>
              </a:ext>
            </a:extLst>
          </p:cNvPr>
          <p:cNvSpPr/>
          <p:nvPr/>
        </p:nvSpPr>
        <p:spPr>
          <a:xfrm>
            <a:off x="6732902" y="4328581"/>
            <a:ext cx="4402601" cy="1064686"/>
          </a:xfrm>
          <a:prstGeom prst="roundRect">
            <a:avLst/>
          </a:prstGeom>
          <a:solidFill>
            <a:schemeClr val="bg1">
              <a:lumMod val="95000"/>
            </a:schemeClr>
          </a:solidFill>
          <a:ln>
            <a:noFill/>
          </a:ln>
          <a:effectLst>
            <a:outerShdw dist="101600" dir="10740000" algn="t" rotWithShape="0">
              <a:srgbClr val="9E2289"/>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37" name="Google Shape;2124;p50">
            <a:extLst>
              <a:ext uri="{FF2B5EF4-FFF2-40B4-BE49-F238E27FC236}">
                <a16:creationId xmlns:a16="http://schemas.microsoft.com/office/drawing/2014/main" id="{BA21E970-1083-4D19-A248-A58FF28D0D8C}"/>
              </a:ext>
            </a:extLst>
          </p:cNvPr>
          <p:cNvGrpSpPr/>
          <p:nvPr/>
        </p:nvGrpSpPr>
        <p:grpSpPr>
          <a:xfrm>
            <a:off x="1334646" y="4444924"/>
            <a:ext cx="286337" cy="286644"/>
            <a:chOff x="4673540" y="3680297"/>
            <a:chExt cx="355434" cy="355815"/>
          </a:xfrm>
          <a:solidFill>
            <a:srgbClr val="9E2289"/>
          </a:solidFill>
        </p:grpSpPr>
        <p:sp>
          <p:nvSpPr>
            <p:cNvPr id="40" name="Google Shape;2125;p50">
              <a:extLst>
                <a:ext uri="{FF2B5EF4-FFF2-40B4-BE49-F238E27FC236}">
                  <a16:creationId xmlns:a16="http://schemas.microsoft.com/office/drawing/2014/main" id="{C0E45B05-9ECE-4D6F-B19D-CFD6B90F52E8}"/>
                </a:ext>
              </a:extLst>
            </p:cNvPr>
            <p:cNvSpPr/>
            <p:nvPr/>
          </p:nvSpPr>
          <p:spPr>
            <a:xfrm>
              <a:off x="4673540" y="3680297"/>
              <a:ext cx="355434" cy="355815"/>
            </a:xfrm>
            <a:custGeom>
              <a:avLst/>
              <a:gdLst/>
              <a:ahLst/>
              <a:cxnLst/>
              <a:rect l="l" t="t" r="r" b="b"/>
              <a:pathLst>
                <a:path w="11193" h="11205" extrusionOk="0">
                  <a:moveTo>
                    <a:pt x="2012" y="0"/>
                  </a:moveTo>
                  <a:cubicBezTo>
                    <a:pt x="905" y="0"/>
                    <a:pt x="0" y="893"/>
                    <a:pt x="0" y="2013"/>
                  </a:cubicBezTo>
                  <a:lnTo>
                    <a:pt x="0" y="9192"/>
                  </a:lnTo>
                  <a:cubicBezTo>
                    <a:pt x="0" y="10287"/>
                    <a:pt x="893" y="11204"/>
                    <a:pt x="2012" y="11204"/>
                  </a:cubicBezTo>
                  <a:lnTo>
                    <a:pt x="9180" y="11204"/>
                  </a:lnTo>
                  <a:cubicBezTo>
                    <a:pt x="10287" y="11204"/>
                    <a:pt x="11192" y="10311"/>
                    <a:pt x="11192" y="9192"/>
                  </a:cubicBezTo>
                  <a:lnTo>
                    <a:pt x="11192" y="2013"/>
                  </a:lnTo>
                  <a:cubicBezTo>
                    <a:pt x="11180" y="917"/>
                    <a:pt x="10287" y="0"/>
                    <a:pt x="9180" y="0"/>
                  </a:cubicBezTo>
                  <a:lnTo>
                    <a:pt x="8085" y="0"/>
                  </a:lnTo>
                  <a:cubicBezTo>
                    <a:pt x="7989" y="0"/>
                    <a:pt x="7918" y="84"/>
                    <a:pt x="7918" y="167"/>
                  </a:cubicBezTo>
                  <a:cubicBezTo>
                    <a:pt x="7918" y="262"/>
                    <a:pt x="7989" y="334"/>
                    <a:pt x="8085" y="334"/>
                  </a:cubicBezTo>
                  <a:lnTo>
                    <a:pt x="9180" y="334"/>
                  </a:lnTo>
                  <a:cubicBezTo>
                    <a:pt x="10109" y="334"/>
                    <a:pt x="10847" y="1084"/>
                    <a:pt x="10847" y="2001"/>
                  </a:cubicBezTo>
                  <a:lnTo>
                    <a:pt x="10847" y="9180"/>
                  </a:lnTo>
                  <a:cubicBezTo>
                    <a:pt x="10847" y="10097"/>
                    <a:pt x="10109" y="10847"/>
                    <a:pt x="9180" y="10847"/>
                  </a:cubicBezTo>
                  <a:lnTo>
                    <a:pt x="2012" y="10847"/>
                  </a:lnTo>
                  <a:cubicBezTo>
                    <a:pt x="1084" y="10847"/>
                    <a:pt x="345" y="10097"/>
                    <a:pt x="345" y="9180"/>
                  </a:cubicBezTo>
                  <a:lnTo>
                    <a:pt x="345" y="2001"/>
                  </a:lnTo>
                  <a:cubicBezTo>
                    <a:pt x="345" y="1084"/>
                    <a:pt x="1084" y="334"/>
                    <a:pt x="2012" y="334"/>
                  </a:cubicBezTo>
                  <a:lnTo>
                    <a:pt x="7418" y="334"/>
                  </a:lnTo>
                  <a:cubicBezTo>
                    <a:pt x="7501" y="334"/>
                    <a:pt x="7573" y="262"/>
                    <a:pt x="7573" y="167"/>
                  </a:cubicBezTo>
                  <a:cubicBezTo>
                    <a:pt x="7573" y="84"/>
                    <a:pt x="7501" y="0"/>
                    <a:pt x="7418" y="0"/>
                  </a:cubicBezTo>
                  <a:close/>
                </a:path>
              </a:pathLst>
            </a:custGeom>
            <a:grpFill/>
            <a:ln>
              <a:solidFill>
                <a:srgbClr val="9E2289"/>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126;p50">
              <a:extLst>
                <a:ext uri="{FF2B5EF4-FFF2-40B4-BE49-F238E27FC236}">
                  <a16:creationId xmlns:a16="http://schemas.microsoft.com/office/drawing/2014/main" id="{F5684C49-3999-483A-99DE-E39763B2DEAA}"/>
                </a:ext>
              </a:extLst>
            </p:cNvPr>
            <p:cNvSpPr/>
            <p:nvPr/>
          </p:nvSpPr>
          <p:spPr>
            <a:xfrm>
              <a:off x="4805864" y="3736630"/>
              <a:ext cx="93042" cy="92661"/>
            </a:xfrm>
            <a:custGeom>
              <a:avLst/>
              <a:gdLst/>
              <a:ahLst/>
              <a:cxnLst/>
              <a:rect l="l" t="t" r="r" b="b"/>
              <a:pathLst>
                <a:path w="2930" h="2918" extrusionOk="0">
                  <a:moveTo>
                    <a:pt x="1477" y="334"/>
                  </a:moveTo>
                  <a:cubicBezTo>
                    <a:pt x="2096" y="334"/>
                    <a:pt x="2608" y="834"/>
                    <a:pt x="2608" y="1465"/>
                  </a:cubicBezTo>
                  <a:cubicBezTo>
                    <a:pt x="2608" y="2084"/>
                    <a:pt x="2096" y="2596"/>
                    <a:pt x="1477" y="2596"/>
                  </a:cubicBezTo>
                  <a:cubicBezTo>
                    <a:pt x="846" y="2596"/>
                    <a:pt x="346" y="2084"/>
                    <a:pt x="346" y="1465"/>
                  </a:cubicBezTo>
                  <a:cubicBezTo>
                    <a:pt x="346" y="834"/>
                    <a:pt x="846" y="334"/>
                    <a:pt x="1477" y="334"/>
                  </a:cubicBezTo>
                  <a:close/>
                  <a:moveTo>
                    <a:pt x="1477" y="0"/>
                  </a:moveTo>
                  <a:cubicBezTo>
                    <a:pt x="667" y="0"/>
                    <a:pt x="12" y="655"/>
                    <a:pt x="12" y="1465"/>
                  </a:cubicBezTo>
                  <a:cubicBezTo>
                    <a:pt x="0" y="2263"/>
                    <a:pt x="655" y="2918"/>
                    <a:pt x="1477" y="2918"/>
                  </a:cubicBezTo>
                  <a:cubicBezTo>
                    <a:pt x="2274" y="2918"/>
                    <a:pt x="2929" y="2263"/>
                    <a:pt x="2929" y="1465"/>
                  </a:cubicBezTo>
                  <a:cubicBezTo>
                    <a:pt x="2929" y="655"/>
                    <a:pt x="2274" y="0"/>
                    <a:pt x="1477" y="0"/>
                  </a:cubicBezTo>
                  <a:close/>
                </a:path>
              </a:pathLst>
            </a:custGeom>
            <a:grpFill/>
            <a:ln>
              <a:solidFill>
                <a:srgbClr val="9E2289"/>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127;p50">
              <a:extLst>
                <a:ext uri="{FF2B5EF4-FFF2-40B4-BE49-F238E27FC236}">
                  <a16:creationId xmlns:a16="http://schemas.microsoft.com/office/drawing/2014/main" id="{1EAA21D1-CDF8-45B7-B1CB-5AA4B6475E59}"/>
                </a:ext>
              </a:extLst>
            </p:cNvPr>
            <p:cNvSpPr/>
            <p:nvPr/>
          </p:nvSpPr>
          <p:spPr>
            <a:xfrm>
              <a:off x="4779380" y="3841358"/>
              <a:ext cx="143723" cy="138801"/>
            </a:xfrm>
            <a:custGeom>
              <a:avLst/>
              <a:gdLst/>
              <a:ahLst/>
              <a:cxnLst/>
              <a:rect l="l" t="t" r="r" b="b"/>
              <a:pathLst>
                <a:path w="4526" h="4371" extrusionOk="0">
                  <a:moveTo>
                    <a:pt x="477" y="1"/>
                  </a:moveTo>
                  <a:cubicBezTo>
                    <a:pt x="215" y="1"/>
                    <a:pt x="1" y="203"/>
                    <a:pt x="1" y="477"/>
                  </a:cubicBezTo>
                  <a:lnTo>
                    <a:pt x="1" y="893"/>
                  </a:lnTo>
                  <a:cubicBezTo>
                    <a:pt x="1" y="1155"/>
                    <a:pt x="203" y="1370"/>
                    <a:pt x="477" y="1370"/>
                  </a:cubicBezTo>
                  <a:lnTo>
                    <a:pt x="763" y="1370"/>
                  </a:lnTo>
                  <a:cubicBezTo>
                    <a:pt x="834" y="1370"/>
                    <a:pt x="906" y="1429"/>
                    <a:pt x="906" y="1513"/>
                  </a:cubicBezTo>
                  <a:lnTo>
                    <a:pt x="906" y="2858"/>
                  </a:lnTo>
                  <a:cubicBezTo>
                    <a:pt x="906" y="2929"/>
                    <a:pt x="846" y="3001"/>
                    <a:pt x="763" y="3001"/>
                  </a:cubicBezTo>
                  <a:lnTo>
                    <a:pt x="572" y="3001"/>
                  </a:lnTo>
                  <a:cubicBezTo>
                    <a:pt x="299" y="3001"/>
                    <a:pt x="96" y="3215"/>
                    <a:pt x="96" y="3477"/>
                  </a:cubicBezTo>
                  <a:lnTo>
                    <a:pt x="96" y="3894"/>
                  </a:lnTo>
                  <a:cubicBezTo>
                    <a:pt x="96" y="4168"/>
                    <a:pt x="299" y="4370"/>
                    <a:pt x="572" y="4370"/>
                  </a:cubicBezTo>
                  <a:lnTo>
                    <a:pt x="4049" y="4370"/>
                  </a:lnTo>
                  <a:cubicBezTo>
                    <a:pt x="4311" y="4370"/>
                    <a:pt x="4525" y="4168"/>
                    <a:pt x="4525" y="3894"/>
                  </a:cubicBezTo>
                  <a:lnTo>
                    <a:pt x="4525" y="3477"/>
                  </a:lnTo>
                  <a:cubicBezTo>
                    <a:pt x="4525" y="3215"/>
                    <a:pt x="4311" y="3001"/>
                    <a:pt x="4049" y="3001"/>
                  </a:cubicBezTo>
                  <a:lnTo>
                    <a:pt x="3859" y="3001"/>
                  </a:lnTo>
                  <a:cubicBezTo>
                    <a:pt x="3787" y="3001"/>
                    <a:pt x="3704" y="2941"/>
                    <a:pt x="3704" y="2858"/>
                  </a:cubicBezTo>
                  <a:lnTo>
                    <a:pt x="3704" y="477"/>
                  </a:lnTo>
                  <a:cubicBezTo>
                    <a:pt x="3704" y="203"/>
                    <a:pt x="3501" y="1"/>
                    <a:pt x="3228" y="1"/>
                  </a:cubicBezTo>
                  <a:lnTo>
                    <a:pt x="1442" y="1"/>
                  </a:lnTo>
                  <a:cubicBezTo>
                    <a:pt x="1358" y="1"/>
                    <a:pt x="1287" y="72"/>
                    <a:pt x="1287" y="155"/>
                  </a:cubicBezTo>
                  <a:cubicBezTo>
                    <a:pt x="1287" y="251"/>
                    <a:pt x="1358" y="322"/>
                    <a:pt x="1442" y="322"/>
                  </a:cubicBezTo>
                  <a:lnTo>
                    <a:pt x="3228" y="322"/>
                  </a:lnTo>
                  <a:cubicBezTo>
                    <a:pt x="3311" y="322"/>
                    <a:pt x="3382" y="382"/>
                    <a:pt x="3382" y="477"/>
                  </a:cubicBezTo>
                  <a:lnTo>
                    <a:pt x="3382" y="2858"/>
                  </a:lnTo>
                  <a:cubicBezTo>
                    <a:pt x="3382" y="3120"/>
                    <a:pt x="3585" y="3334"/>
                    <a:pt x="3859" y="3334"/>
                  </a:cubicBezTo>
                  <a:lnTo>
                    <a:pt x="4049" y="3334"/>
                  </a:lnTo>
                  <a:cubicBezTo>
                    <a:pt x="4121" y="3334"/>
                    <a:pt x="4204" y="3394"/>
                    <a:pt x="4204" y="3477"/>
                  </a:cubicBezTo>
                  <a:lnTo>
                    <a:pt x="4204" y="3894"/>
                  </a:lnTo>
                  <a:cubicBezTo>
                    <a:pt x="4204" y="3965"/>
                    <a:pt x="4132" y="4049"/>
                    <a:pt x="4049" y="4049"/>
                  </a:cubicBezTo>
                  <a:lnTo>
                    <a:pt x="572" y="4049"/>
                  </a:lnTo>
                  <a:cubicBezTo>
                    <a:pt x="489" y="4049"/>
                    <a:pt x="418" y="3989"/>
                    <a:pt x="418" y="3894"/>
                  </a:cubicBezTo>
                  <a:lnTo>
                    <a:pt x="418" y="3477"/>
                  </a:lnTo>
                  <a:cubicBezTo>
                    <a:pt x="418" y="3406"/>
                    <a:pt x="477" y="3334"/>
                    <a:pt x="572" y="3334"/>
                  </a:cubicBezTo>
                  <a:lnTo>
                    <a:pt x="763" y="3334"/>
                  </a:lnTo>
                  <a:cubicBezTo>
                    <a:pt x="1025" y="3334"/>
                    <a:pt x="1239" y="3120"/>
                    <a:pt x="1239" y="2858"/>
                  </a:cubicBezTo>
                  <a:lnTo>
                    <a:pt x="1239" y="1513"/>
                  </a:lnTo>
                  <a:cubicBezTo>
                    <a:pt x="1239" y="1251"/>
                    <a:pt x="1025" y="1036"/>
                    <a:pt x="763" y="1036"/>
                  </a:cubicBezTo>
                  <a:lnTo>
                    <a:pt x="477" y="1036"/>
                  </a:lnTo>
                  <a:cubicBezTo>
                    <a:pt x="406" y="1036"/>
                    <a:pt x="334" y="977"/>
                    <a:pt x="334" y="893"/>
                  </a:cubicBezTo>
                  <a:lnTo>
                    <a:pt x="334" y="477"/>
                  </a:lnTo>
                  <a:cubicBezTo>
                    <a:pt x="334" y="393"/>
                    <a:pt x="394" y="322"/>
                    <a:pt x="477" y="322"/>
                  </a:cubicBezTo>
                  <a:lnTo>
                    <a:pt x="787" y="322"/>
                  </a:lnTo>
                  <a:cubicBezTo>
                    <a:pt x="882" y="322"/>
                    <a:pt x="953" y="251"/>
                    <a:pt x="953" y="155"/>
                  </a:cubicBezTo>
                  <a:cubicBezTo>
                    <a:pt x="953" y="72"/>
                    <a:pt x="882" y="1"/>
                    <a:pt x="787" y="1"/>
                  </a:cubicBezTo>
                  <a:close/>
                </a:path>
              </a:pathLst>
            </a:custGeom>
            <a:grpFill/>
            <a:ln>
              <a:solidFill>
                <a:srgbClr val="9E2289"/>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 name="Google Shape;2124;p50">
            <a:extLst>
              <a:ext uri="{FF2B5EF4-FFF2-40B4-BE49-F238E27FC236}">
                <a16:creationId xmlns:a16="http://schemas.microsoft.com/office/drawing/2014/main" id="{D0FAFFC4-532D-4944-8A3C-56F7C4162B0A}"/>
              </a:ext>
            </a:extLst>
          </p:cNvPr>
          <p:cNvGrpSpPr/>
          <p:nvPr/>
        </p:nvGrpSpPr>
        <p:grpSpPr>
          <a:xfrm>
            <a:off x="6841356" y="4431352"/>
            <a:ext cx="286337" cy="286644"/>
            <a:chOff x="4673540" y="3680297"/>
            <a:chExt cx="355434" cy="355815"/>
          </a:xfrm>
        </p:grpSpPr>
        <p:sp>
          <p:nvSpPr>
            <p:cNvPr id="44" name="Google Shape;2125;p50">
              <a:extLst>
                <a:ext uri="{FF2B5EF4-FFF2-40B4-BE49-F238E27FC236}">
                  <a16:creationId xmlns:a16="http://schemas.microsoft.com/office/drawing/2014/main" id="{A214FCD6-1CC8-458A-A1FF-6BC1E84BCDD5}"/>
                </a:ext>
              </a:extLst>
            </p:cNvPr>
            <p:cNvSpPr/>
            <p:nvPr/>
          </p:nvSpPr>
          <p:spPr>
            <a:xfrm>
              <a:off x="4673540" y="3680297"/>
              <a:ext cx="355434" cy="355815"/>
            </a:xfrm>
            <a:custGeom>
              <a:avLst/>
              <a:gdLst/>
              <a:ahLst/>
              <a:cxnLst/>
              <a:rect l="l" t="t" r="r" b="b"/>
              <a:pathLst>
                <a:path w="11193" h="11205" extrusionOk="0">
                  <a:moveTo>
                    <a:pt x="2012" y="0"/>
                  </a:moveTo>
                  <a:cubicBezTo>
                    <a:pt x="905" y="0"/>
                    <a:pt x="0" y="893"/>
                    <a:pt x="0" y="2013"/>
                  </a:cubicBezTo>
                  <a:lnTo>
                    <a:pt x="0" y="9192"/>
                  </a:lnTo>
                  <a:cubicBezTo>
                    <a:pt x="0" y="10287"/>
                    <a:pt x="893" y="11204"/>
                    <a:pt x="2012" y="11204"/>
                  </a:cubicBezTo>
                  <a:lnTo>
                    <a:pt x="9180" y="11204"/>
                  </a:lnTo>
                  <a:cubicBezTo>
                    <a:pt x="10287" y="11204"/>
                    <a:pt x="11192" y="10311"/>
                    <a:pt x="11192" y="9192"/>
                  </a:cubicBezTo>
                  <a:lnTo>
                    <a:pt x="11192" y="2013"/>
                  </a:lnTo>
                  <a:cubicBezTo>
                    <a:pt x="11180" y="917"/>
                    <a:pt x="10287" y="0"/>
                    <a:pt x="9180" y="0"/>
                  </a:cubicBezTo>
                  <a:lnTo>
                    <a:pt x="8085" y="0"/>
                  </a:lnTo>
                  <a:cubicBezTo>
                    <a:pt x="7989" y="0"/>
                    <a:pt x="7918" y="84"/>
                    <a:pt x="7918" y="167"/>
                  </a:cubicBezTo>
                  <a:cubicBezTo>
                    <a:pt x="7918" y="262"/>
                    <a:pt x="7989" y="334"/>
                    <a:pt x="8085" y="334"/>
                  </a:cubicBezTo>
                  <a:lnTo>
                    <a:pt x="9180" y="334"/>
                  </a:lnTo>
                  <a:cubicBezTo>
                    <a:pt x="10109" y="334"/>
                    <a:pt x="10847" y="1084"/>
                    <a:pt x="10847" y="2001"/>
                  </a:cubicBezTo>
                  <a:lnTo>
                    <a:pt x="10847" y="9180"/>
                  </a:lnTo>
                  <a:cubicBezTo>
                    <a:pt x="10847" y="10097"/>
                    <a:pt x="10109" y="10847"/>
                    <a:pt x="9180" y="10847"/>
                  </a:cubicBezTo>
                  <a:lnTo>
                    <a:pt x="2012" y="10847"/>
                  </a:lnTo>
                  <a:cubicBezTo>
                    <a:pt x="1084" y="10847"/>
                    <a:pt x="345" y="10097"/>
                    <a:pt x="345" y="9180"/>
                  </a:cubicBezTo>
                  <a:lnTo>
                    <a:pt x="345" y="2001"/>
                  </a:lnTo>
                  <a:cubicBezTo>
                    <a:pt x="345" y="1084"/>
                    <a:pt x="1084" y="334"/>
                    <a:pt x="2012" y="334"/>
                  </a:cubicBezTo>
                  <a:lnTo>
                    <a:pt x="7418" y="334"/>
                  </a:lnTo>
                  <a:cubicBezTo>
                    <a:pt x="7501" y="334"/>
                    <a:pt x="7573" y="262"/>
                    <a:pt x="7573" y="167"/>
                  </a:cubicBezTo>
                  <a:cubicBezTo>
                    <a:pt x="7573" y="84"/>
                    <a:pt x="7501" y="0"/>
                    <a:pt x="7418" y="0"/>
                  </a:cubicBezTo>
                  <a:close/>
                </a:path>
              </a:pathLst>
            </a:custGeom>
            <a:solidFill>
              <a:schemeClr val="lt2"/>
            </a:solidFill>
            <a:ln>
              <a:solidFill>
                <a:srgbClr val="9E2289"/>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126;p50">
              <a:extLst>
                <a:ext uri="{FF2B5EF4-FFF2-40B4-BE49-F238E27FC236}">
                  <a16:creationId xmlns:a16="http://schemas.microsoft.com/office/drawing/2014/main" id="{FBC3B93A-416F-4BE1-9B72-00921D37499F}"/>
                </a:ext>
              </a:extLst>
            </p:cNvPr>
            <p:cNvSpPr/>
            <p:nvPr/>
          </p:nvSpPr>
          <p:spPr>
            <a:xfrm>
              <a:off x="4805864" y="3736630"/>
              <a:ext cx="93042" cy="92661"/>
            </a:xfrm>
            <a:custGeom>
              <a:avLst/>
              <a:gdLst/>
              <a:ahLst/>
              <a:cxnLst/>
              <a:rect l="l" t="t" r="r" b="b"/>
              <a:pathLst>
                <a:path w="2930" h="2918" extrusionOk="0">
                  <a:moveTo>
                    <a:pt x="1477" y="334"/>
                  </a:moveTo>
                  <a:cubicBezTo>
                    <a:pt x="2096" y="334"/>
                    <a:pt x="2608" y="834"/>
                    <a:pt x="2608" y="1465"/>
                  </a:cubicBezTo>
                  <a:cubicBezTo>
                    <a:pt x="2608" y="2084"/>
                    <a:pt x="2096" y="2596"/>
                    <a:pt x="1477" y="2596"/>
                  </a:cubicBezTo>
                  <a:cubicBezTo>
                    <a:pt x="846" y="2596"/>
                    <a:pt x="346" y="2084"/>
                    <a:pt x="346" y="1465"/>
                  </a:cubicBezTo>
                  <a:cubicBezTo>
                    <a:pt x="346" y="834"/>
                    <a:pt x="846" y="334"/>
                    <a:pt x="1477" y="334"/>
                  </a:cubicBezTo>
                  <a:close/>
                  <a:moveTo>
                    <a:pt x="1477" y="0"/>
                  </a:moveTo>
                  <a:cubicBezTo>
                    <a:pt x="667" y="0"/>
                    <a:pt x="12" y="655"/>
                    <a:pt x="12" y="1465"/>
                  </a:cubicBezTo>
                  <a:cubicBezTo>
                    <a:pt x="0" y="2263"/>
                    <a:pt x="655" y="2918"/>
                    <a:pt x="1477" y="2918"/>
                  </a:cubicBezTo>
                  <a:cubicBezTo>
                    <a:pt x="2274" y="2918"/>
                    <a:pt x="2929" y="2263"/>
                    <a:pt x="2929" y="1465"/>
                  </a:cubicBezTo>
                  <a:cubicBezTo>
                    <a:pt x="2929" y="655"/>
                    <a:pt x="2274" y="0"/>
                    <a:pt x="1477" y="0"/>
                  </a:cubicBezTo>
                  <a:close/>
                </a:path>
              </a:pathLst>
            </a:custGeom>
            <a:solidFill>
              <a:schemeClr val="lt2"/>
            </a:solidFill>
            <a:ln>
              <a:solidFill>
                <a:srgbClr val="9E2289"/>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127;p50">
              <a:extLst>
                <a:ext uri="{FF2B5EF4-FFF2-40B4-BE49-F238E27FC236}">
                  <a16:creationId xmlns:a16="http://schemas.microsoft.com/office/drawing/2014/main" id="{35BE008B-FDBB-4300-A39B-CDA792EE33F4}"/>
                </a:ext>
              </a:extLst>
            </p:cNvPr>
            <p:cNvSpPr/>
            <p:nvPr/>
          </p:nvSpPr>
          <p:spPr>
            <a:xfrm>
              <a:off x="4779380" y="3841358"/>
              <a:ext cx="143723" cy="138801"/>
            </a:xfrm>
            <a:custGeom>
              <a:avLst/>
              <a:gdLst/>
              <a:ahLst/>
              <a:cxnLst/>
              <a:rect l="l" t="t" r="r" b="b"/>
              <a:pathLst>
                <a:path w="4526" h="4371" extrusionOk="0">
                  <a:moveTo>
                    <a:pt x="477" y="1"/>
                  </a:moveTo>
                  <a:cubicBezTo>
                    <a:pt x="215" y="1"/>
                    <a:pt x="1" y="203"/>
                    <a:pt x="1" y="477"/>
                  </a:cubicBezTo>
                  <a:lnTo>
                    <a:pt x="1" y="893"/>
                  </a:lnTo>
                  <a:cubicBezTo>
                    <a:pt x="1" y="1155"/>
                    <a:pt x="203" y="1370"/>
                    <a:pt x="477" y="1370"/>
                  </a:cubicBezTo>
                  <a:lnTo>
                    <a:pt x="763" y="1370"/>
                  </a:lnTo>
                  <a:cubicBezTo>
                    <a:pt x="834" y="1370"/>
                    <a:pt x="906" y="1429"/>
                    <a:pt x="906" y="1513"/>
                  </a:cubicBezTo>
                  <a:lnTo>
                    <a:pt x="906" y="2858"/>
                  </a:lnTo>
                  <a:cubicBezTo>
                    <a:pt x="906" y="2929"/>
                    <a:pt x="846" y="3001"/>
                    <a:pt x="763" y="3001"/>
                  </a:cubicBezTo>
                  <a:lnTo>
                    <a:pt x="572" y="3001"/>
                  </a:lnTo>
                  <a:cubicBezTo>
                    <a:pt x="299" y="3001"/>
                    <a:pt x="96" y="3215"/>
                    <a:pt x="96" y="3477"/>
                  </a:cubicBezTo>
                  <a:lnTo>
                    <a:pt x="96" y="3894"/>
                  </a:lnTo>
                  <a:cubicBezTo>
                    <a:pt x="96" y="4168"/>
                    <a:pt x="299" y="4370"/>
                    <a:pt x="572" y="4370"/>
                  </a:cubicBezTo>
                  <a:lnTo>
                    <a:pt x="4049" y="4370"/>
                  </a:lnTo>
                  <a:cubicBezTo>
                    <a:pt x="4311" y="4370"/>
                    <a:pt x="4525" y="4168"/>
                    <a:pt x="4525" y="3894"/>
                  </a:cubicBezTo>
                  <a:lnTo>
                    <a:pt x="4525" y="3477"/>
                  </a:lnTo>
                  <a:cubicBezTo>
                    <a:pt x="4525" y="3215"/>
                    <a:pt x="4311" y="3001"/>
                    <a:pt x="4049" y="3001"/>
                  </a:cubicBezTo>
                  <a:lnTo>
                    <a:pt x="3859" y="3001"/>
                  </a:lnTo>
                  <a:cubicBezTo>
                    <a:pt x="3787" y="3001"/>
                    <a:pt x="3704" y="2941"/>
                    <a:pt x="3704" y="2858"/>
                  </a:cubicBezTo>
                  <a:lnTo>
                    <a:pt x="3704" y="477"/>
                  </a:lnTo>
                  <a:cubicBezTo>
                    <a:pt x="3704" y="203"/>
                    <a:pt x="3501" y="1"/>
                    <a:pt x="3228" y="1"/>
                  </a:cubicBezTo>
                  <a:lnTo>
                    <a:pt x="1442" y="1"/>
                  </a:lnTo>
                  <a:cubicBezTo>
                    <a:pt x="1358" y="1"/>
                    <a:pt x="1287" y="72"/>
                    <a:pt x="1287" y="155"/>
                  </a:cubicBezTo>
                  <a:cubicBezTo>
                    <a:pt x="1287" y="251"/>
                    <a:pt x="1358" y="322"/>
                    <a:pt x="1442" y="322"/>
                  </a:cubicBezTo>
                  <a:lnTo>
                    <a:pt x="3228" y="322"/>
                  </a:lnTo>
                  <a:cubicBezTo>
                    <a:pt x="3311" y="322"/>
                    <a:pt x="3382" y="382"/>
                    <a:pt x="3382" y="477"/>
                  </a:cubicBezTo>
                  <a:lnTo>
                    <a:pt x="3382" y="2858"/>
                  </a:lnTo>
                  <a:cubicBezTo>
                    <a:pt x="3382" y="3120"/>
                    <a:pt x="3585" y="3334"/>
                    <a:pt x="3859" y="3334"/>
                  </a:cubicBezTo>
                  <a:lnTo>
                    <a:pt x="4049" y="3334"/>
                  </a:lnTo>
                  <a:cubicBezTo>
                    <a:pt x="4121" y="3334"/>
                    <a:pt x="4204" y="3394"/>
                    <a:pt x="4204" y="3477"/>
                  </a:cubicBezTo>
                  <a:lnTo>
                    <a:pt x="4204" y="3894"/>
                  </a:lnTo>
                  <a:cubicBezTo>
                    <a:pt x="4204" y="3965"/>
                    <a:pt x="4132" y="4049"/>
                    <a:pt x="4049" y="4049"/>
                  </a:cubicBezTo>
                  <a:lnTo>
                    <a:pt x="572" y="4049"/>
                  </a:lnTo>
                  <a:cubicBezTo>
                    <a:pt x="489" y="4049"/>
                    <a:pt x="418" y="3989"/>
                    <a:pt x="418" y="3894"/>
                  </a:cubicBezTo>
                  <a:lnTo>
                    <a:pt x="418" y="3477"/>
                  </a:lnTo>
                  <a:cubicBezTo>
                    <a:pt x="418" y="3406"/>
                    <a:pt x="477" y="3334"/>
                    <a:pt x="572" y="3334"/>
                  </a:cubicBezTo>
                  <a:lnTo>
                    <a:pt x="763" y="3334"/>
                  </a:lnTo>
                  <a:cubicBezTo>
                    <a:pt x="1025" y="3334"/>
                    <a:pt x="1239" y="3120"/>
                    <a:pt x="1239" y="2858"/>
                  </a:cubicBezTo>
                  <a:lnTo>
                    <a:pt x="1239" y="1513"/>
                  </a:lnTo>
                  <a:cubicBezTo>
                    <a:pt x="1239" y="1251"/>
                    <a:pt x="1025" y="1036"/>
                    <a:pt x="763" y="1036"/>
                  </a:cubicBezTo>
                  <a:lnTo>
                    <a:pt x="477" y="1036"/>
                  </a:lnTo>
                  <a:cubicBezTo>
                    <a:pt x="406" y="1036"/>
                    <a:pt x="334" y="977"/>
                    <a:pt x="334" y="893"/>
                  </a:cubicBezTo>
                  <a:lnTo>
                    <a:pt x="334" y="477"/>
                  </a:lnTo>
                  <a:cubicBezTo>
                    <a:pt x="334" y="393"/>
                    <a:pt x="394" y="322"/>
                    <a:pt x="477" y="322"/>
                  </a:cubicBezTo>
                  <a:lnTo>
                    <a:pt x="787" y="322"/>
                  </a:lnTo>
                  <a:cubicBezTo>
                    <a:pt x="882" y="322"/>
                    <a:pt x="953" y="251"/>
                    <a:pt x="953" y="155"/>
                  </a:cubicBezTo>
                  <a:cubicBezTo>
                    <a:pt x="953" y="72"/>
                    <a:pt x="882" y="1"/>
                    <a:pt x="787" y="1"/>
                  </a:cubicBezTo>
                  <a:close/>
                </a:path>
              </a:pathLst>
            </a:custGeom>
            <a:solidFill>
              <a:schemeClr val="lt2"/>
            </a:solidFill>
            <a:ln>
              <a:solidFill>
                <a:srgbClr val="9E2289"/>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Título 1">
            <a:extLst>
              <a:ext uri="{FF2B5EF4-FFF2-40B4-BE49-F238E27FC236}">
                <a16:creationId xmlns:a16="http://schemas.microsoft.com/office/drawing/2014/main" id="{577E8A60-1835-4FCD-837C-73BC2A9AD627}"/>
              </a:ext>
            </a:extLst>
          </p:cNvPr>
          <p:cNvSpPr txBox="1">
            <a:spLocks/>
          </p:cNvSpPr>
          <p:nvPr/>
        </p:nvSpPr>
        <p:spPr>
          <a:xfrm>
            <a:off x="5946417" y="431573"/>
            <a:ext cx="5811865"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pt-BR" sz="1600" spc="600" dirty="0">
                <a:solidFill>
                  <a:srgbClr val="9E2289"/>
                </a:solidFill>
                <a:latin typeface="Arial" panose="020B0604020202020204" pitchFamily="34" charset="0"/>
                <a:cs typeface="Arial" panose="020B0604020202020204" pitchFamily="34" charset="0"/>
              </a:rPr>
              <a:t>PREMIUM</a:t>
            </a:r>
          </a:p>
        </p:txBody>
      </p:sp>
      <p:sp>
        <p:nvSpPr>
          <p:cNvPr id="2" name="CaixaDeTexto 1">
            <a:extLst>
              <a:ext uri="{FF2B5EF4-FFF2-40B4-BE49-F238E27FC236}">
                <a16:creationId xmlns:a16="http://schemas.microsoft.com/office/drawing/2014/main" id="{441E3223-682A-4939-83D8-39F6ACCFE5C8}"/>
              </a:ext>
            </a:extLst>
          </p:cNvPr>
          <p:cNvSpPr txBox="1"/>
          <p:nvPr/>
        </p:nvSpPr>
        <p:spPr>
          <a:xfrm>
            <a:off x="1430951" y="3067197"/>
            <a:ext cx="548639" cy="200055"/>
          </a:xfrm>
          <a:prstGeom prst="rect">
            <a:avLst/>
          </a:prstGeom>
          <a:noFill/>
        </p:spPr>
        <p:txBody>
          <a:bodyPr wrap="square" rtlCol="0">
            <a:spAutoFit/>
          </a:bodyPr>
          <a:lstStyle/>
          <a:p>
            <a:pPr algn="ctr"/>
            <a:r>
              <a:rPr lang="pt-BR" sz="700" dirty="0">
                <a:solidFill>
                  <a:schemeClr val="bg1">
                    <a:lumMod val="95000"/>
                  </a:schemeClr>
                </a:solidFill>
                <a:latin typeface="Arial" panose="020B0604020202020204" pitchFamily="34" charset="0"/>
                <a:cs typeface="Arial" panose="020B0604020202020204" pitchFamily="34" charset="0"/>
              </a:rPr>
              <a:t>95,24%</a:t>
            </a:r>
          </a:p>
        </p:txBody>
      </p:sp>
      <p:sp>
        <p:nvSpPr>
          <p:cNvPr id="49" name="CaixaDeTexto 48">
            <a:extLst>
              <a:ext uri="{FF2B5EF4-FFF2-40B4-BE49-F238E27FC236}">
                <a16:creationId xmlns:a16="http://schemas.microsoft.com/office/drawing/2014/main" id="{F6C5A69C-DD2C-4D95-87C8-7359364F248D}"/>
              </a:ext>
            </a:extLst>
          </p:cNvPr>
          <p:cNvSpPr txBox="1"/>
          <p:nvPr/>
        </p:nvSpPr>
        <p:spPr>
          <a:xfrm>
            <a:off x="2437632" y="2888030"/>
            <a:ext cx="548639" cy="200055"/>
          </a:xfrm>
          <a:prstGeom prst="rect">
            <a:avLst/>
          </a:prstGeom>
          <a:noFill/>
        </p:spPr>
        <p:txBody>
          <a:bodyPr wrap="square" rtlCol="0">
            <a:spAutoFit/>
          </a:bodyPr>
          <a:lstStyle/>
          <a:p>
            <a:pPr algn="ctr"/>
            <a:r>
              <a:rPr lang="pt-BR" sz="700" dirty="0">
                <a:solidFill>
                  <a:schemeClr val="bg1">
                    <a:lumMod val="95000"/>
                  </a:schemeClr>
                </a:solidFill>
                <a:latin typeface="Arial" panose="020B0604020202020204" pitchFamily="34" charset="0"/>
                <a:cs typeface="Arial" panose="020B0604020202020204" pitchFamily="34" charset="0"/>
              </a:rPr>
              <a:t>89,74%</a:t>
            </a:r>
          </a:p>
        </p:txBody>
      </p:sp>
      <p:sp>
        <p:nvSpPr>
          <p:cNvPr id="50" name="CaixaDeTexto 49">
            <a:extLst>
              <a:ext uri="{FF2B5EF4-FFF2-40B4-BE49-F238E27FC236}">
                <a16:creationId xmlns:a16="http://schemas.microsoft.com/office/drawing/2014/main" id="{8A268145-E0CC-445E-A1CD-E37CDE3A7C17}"/>
              </a:ext>
            </a:extLst>
          </p:cNvPr>
          <p:cNvSpPr txBox="1"/>
          <p:nvPr/>
        </p:nvSpPr>
        <p:spPr>
          <a:xfrm>
            <a:off x="3485534" y="2888029"/>
            <a:ext cx="548639" cy="200055"/>
          </a:xfrm>
          <a:prstGeom prst="rect">
            <a:avLst/>
          </a:prstGeom>
          <a:noFill/>
        </p:spPr>
        <p:txBody>
          <a:bodyPr wrap="square" rtlCol="0">
            <a:spAutoFit/>
          </a:bodyPr>
          <a:lstStyle/>
          <a:p>
            <a:pPr algn="ctr"/>
            <a:r>
              <a:rPr lang="pt-BR" sz="700" dirty="0">
                <a:solidFill>
                  <a:schemeClr val="bg1">
                    <a:lumMod val="95000"/>
                  </a:schemeClr>
                </a:solidFill>
                <a:latin typeface="Arial" panose="020B0604020202020204" pitchFamily="34" charset="0"/>
                <a:cs typeface="Arial" panose="020B0604020202020204" pitchFamily="34" charset="0"/>
              </a:rPr>
              <a:t>94,29%</a:t>
            </a:r>
          </a:p>
        </p:txBody>
      </p:sp>
      <p:sp>
        <p:nvSpPr>
          <p:cNvPr id="52" name="CaixaDeTexto 51">
            <a:extLst>
              <a:ext uri="{FF2B5EF4-FFF2-40B4-BE49-F238E27FC236}">
                <a16:creationId xmlns:a16="http://schemas.microsoft.com/office/drawing/2014/main" id="{AB0C40D9-14A4-46FB-BF06-6E20526213A5}"/>
              </a:ext>
            </a:extLst>
          </p:cNvPr>
          <p:cNvSpPr txBox="1"/>
          <p:nvPr/>
        </p:nvSpPr>
        <p:spPr>
          <a:xfrm>
            <a:off x="4489557" y="3129181"/>
            <a:ext cx="548639" cy="200055"/>
          </a:xfrm>
          <a:prstGeom prst="rect">
            <a:avLst/>
          </a:prstGeom>
          <a:noFill/>
        </p:spPr>
        <p:txBody>
          <a:bodyPr wrap="square" rtlCol="0">
            <a:spAutoFit/>
          </a:bodyPr>
          <a:lstStyle/>
          <a:p>
            <a:pPr algn="ctr"/>
            <a:r>
              <a:rPr lang="pt-BR" sz="700" dirty="0">
                <a:solidFill>
                  <a:schemeClr val="bg1">
                    <a:lumMod val="95000"/>
                  </a:schemeClr>
                </a:solidFill>
                <a:latin typeface="Arial" panose="020B0604020202020204" pitchFamily="34" charset="0"/>
                <a:cs typeface="Arial" panose="020B0604020202020204" pitchFamily="34" charset="0"/>
              </a:rPr>
              <a:t>95,65%</a:t>
            </a:r>
          </a:p>
        </p:txBody>
      </p:sp>
      <p:sp>
        <p:nvSpPr>
          <p:cNvPr id="53" name="CaixaDeTexto 52">
            <a:extLst>
              <a:ext uri="{FF2B5EF4-FFF2-40B4-BE49-F238E27FC236}">
                <a16:creationId xmlns:a16="http://schemas.microsoft.com/office/drawing/2014/main" id="{AC208A39-C276-464C-A0E9-03CD98C11E3E}"/>
              </a:ext>
            </a:extLst>
          </p:cNvPr>
          <p:cNvSpPr txBox="1"/>
          <p:nvPr/>
        </p:nvSpPr>
        <p:spPr>
          <a:xfrm>
            <a:off x="7120285" y="3023214"/>
            <a:ext cx="548639" cy="200055"/>
          </a:xfrm>
          <a:prstGeom prst="rect">
            <a:avLst/>
          </a:prstGeom>
          <a:noFill/>
        </p:spPr>
        <p:txBody>
          <a:bodyPr wrap="square" rtlCol="0">
            <a:spAutoFit/>
          </a:bodyPr>
          <a:lstStyle/>
          <a:p>
            <a:pPr algn="ctr"/>
            <a:r>
              <a:rPr lang="pt-BR" sz="700" dirty="0">
                <a:solidFill>
                  <a:schemeClr val="bg1">
                    <a:lumMod val="95000"/>
                  </a:schemeClr>
                </a:solidFill>
                <a:latin typeface="Arial" panose="020B0604020202020204" pitchFamily="34" charset="0"/>
                <a:cs typeface="Arial" panose="020B0604020202020204" pitchFamily="34" charset="0"/>
              </a:rPr>
              <a:t>85,71%</a:t>
            </a:r>
          </a:p>
        </p:txBody>
      </p:sp>
      <p:sp>
        <p:nvSpPr>
          <p:cNvPr id="55" name="CaixaDeTexto 54">
            <a:extLst>
              <a:ext uri="{FF2B5EF4-FFF2-40B4-BE49-F238E27FC236}">
                <a16:creationId xmlns:a16="http://schemas.microsoft.com/office/drawing/2014/main" id="{43FBF2E7-C5CB-4AAF-B7D1-EBA8E3ACF88D}"/>
              </a:ext>
            </a:extLst>
          </p:cNvPr>
          <p:cNvSpPr txBox="1"/>
          <p:nvPr/>
        </p:nvSpPr>
        <p:spPr>
          <a:xfrm>
            <a:off x="8199093" y="2672151"/>
            <a:ext cx="548639" cy="200055"/>
          </a:xfrm>
          <a:prstGeom prst="rect">
            <a:avLst/>
          </a:prstGeom>
          <a:noFill/>
        </p:spPr>
        <p:txBody>
          <a:bodyPr wrap="square" rtlCol="0">
            <a:spAutoFit/>
          </a:bodyPr>
          <a:lstStyle/>
          <a:p>
            <a:pPr algn="ctr"/>
            <a:r>
              <a:rPr lang="pt-BR" sz="700" dirty="0">
                <a:solidFill>
                  <a:schemeClr val="bg1">
                    <a:lumMod val="95000"/>
                  </a:schemeClr>
                </a:solidFill>
                <a:latin typeface="Arial" panose="020B0604020202020204" pitchFamily="34" charset="0"/>
                <a:cs typeface="Arial" panose="020B0604020202020204" pitchFamily="34" charset="0"/>
              </a:rPr>
              <a:t>83,33%</a:t>
            </a:r>
          </a:p>
        </p:txBody>
      </p:sp>
      <p:sp>
        <p:nvSpPr>
          <p:cNvPr id="56" name="CaixaDeTexto 55">
            <a:extLst>
              <a:ext uri="{FF2B5EF4-FFF2-40B4-BE49-F238E27FC236}">
                <a16:creationId xmlns:a16="http://schemas.microsoft.com/office/drawing/2014/main" id="{6F1E3665-6D31-4193-9A45-121A9E0376AB}"/>
              </a:ext>
            </a:extLst>
          </p:cNvPr>
          <p:cNvSpPr txBox="1"/>
          <p:nvPr/>
        </p:nvSpPr>
        <p:spPr>
          <a:xfrm>
            <a:off x="9116655" y="2974929"/>
            <a:ext cx="548639" cy="200055"/>
          </a:xfrm>
          <a:prstGeom prst="rect">
            <a:avLst/>
          </a:prstGeom>
          <a:noFill/>
        </p:spPr>
        <p:txBody>
          <a:bodyPr wrap="square" rtlCol="0">
            <a:spAutoFit/>
          </a:bodyPr>
          <a:lstStyle/>
          <a:p>
            <a:pPr algn="ctr"/>
            <a:r>
              <a:rPr lang="pt-BR" sz="700" dirty="0">
                <a:solidFill>
                  <a:schemeClr val="bg1">
                    <a:lumMod val="95000"/>
                  </a:schemeClr>
                </a:solidFill>
                <a:latin typeface="Arial" panose="020B0604020202020204" pitchFamily="34" charset="0"/>
                <a:cs typeface="Arial" panose="020B0604020202020204" pitchFamily="34" charset="0"/>
              </a:rPr>
              <a:t>100,00%</a:t>
            </a:r>
          </a:p>
        </p:txBody>
      </p:sp>
      <p:sp>
        <p:nvSpPr>
          <p:cNvPr id="57" name="CaixaDeTexto 56">
            <a:extLst>
              <a:ext uri="{FF2B5EF4-FFF2-40B4-BE49-F238E27FC236}">
                <a16:creationId xmlns:a16="http://schemas.microsoft.com/office/drawing/2014/main" id="{9057693E-AAE2-4064-85A6-00D27144A691}"/>
              </a:ext>
            </a:extLst>
          </p:cNvPr>
          <p:cNvSpPr txBox="1"/>
          <p:nvPr/>
        </p:nvSpPr>
        <p:spPr>
          <a:xfrm>
            <a:off x="10137986" y="3155763"/>
            <a:ext cx="548639" cy="200055"/>
          </a:xfrm>
          <a:prstGeom prst="rect">
            <a:avLst/>
          </a:prstGeom>
          <a:noFill/>
        </p:spPr>
        <p:txBody>
          <a:bodyPr wrap="square" rtlCol="0">
            <a:spAutoFit/>
          </a:bodyPr>
          <a:lstStyle/>
          <a:p>
            <a:pPr algn="ctr"/>
            <a:r>
              <a:rPr lang="pt-BR" sz="700" dirty="0">
                <a:solidFill>
                  <a:schemeClr val="bg1">
                    <a:lumMod val="95000"/>
                  </a:schemeClr>
                </a:solidFill>
                <a:latin typeface="Arial" panose="020B0604020202020204" pitchFamily="34" charset="0"/>
                <a:cs typeface="Arial" panose="020B0604020202020204" pitchFamily="34" charset="0"/>
              </a:rPr>
              <a:t>66,67%</a:t>
            </a:r>
          </a:p>
        </p:txBody>
      </p:sp>
      <p:sp>
        <p:nvSpPr>
          <p:cNvPr id="4" name="CaixaDeTexto 3">
            <a:extLst>
              <a:ext uri="{FF2B5EF4-FFF2-40B4-BE49-F238E27FC236}">
                <a16:creationId xmlns:a16="http://schemas.microsoft.com/office/drawing/2014/main" id="{20CE7AFA-5793-025A-C225-E65AE9DB1682}"/>
              </a:ext>
            </a:extLst>
          </p:cNvPr>
          <p:cNvSpPr txBox="1"/>
          <p:nvPr/>
        </p:nvSpPr>
        <p:spPr>
          <a:xfrm>
            <a:off x="1655928" y="4550305"/>
            <a:ext cx="3676273" cy="830997"/>
          </a:xfrm>
          <a:prstGeom prst="rect">
            <a:avLst/>
          </a:prstGeom>
          <a:noFill/>
        </p:spPr>
        <p:txBody>
          <a:bodyPr wrap="square" rtlCol="0">
            <a:spAutoFit/>
          </a:bodyPr>
          <a:lstStyle/>
          <a:p>
            <a:pPr algn="just"/>
            <a:r>
              <a:rPr lang="pt-BR" sz="1200" dirty="0">
                <a:solidFill>
                  <a:schemeClr val="bg2">
                    <a:lumMod val="50000"/>
                  </a:schemeClr>
                </a:solidFill>
                <a:latin typeface="Arial" panose="020B0604020202020204" pitchFamily="34" charset="0"/>
                <a:cs typeface="Arial" panose="020B0604020202020204" pitchFamily="34" charset="0"/>
              </a:rPr>
              <a:t>O resultado demonstra ótimo resultado com dentro do prazo, representando 87,28% do total. As ocorrências fora do prazo correspondem a 3,39%, enquanto 2,46% estão Justificados.</a:t>
            </a:r>
          </a:p>
        </p:txBody>
      </p:sp>
      <p:sp>
        <p:nvSpPr>
          <p:cNvPr id="7" name="CaixaDeTexto 6">
            <a:extLst>
              <a:ext uri="{FF2B5EF4-FFF2-40B4-BE49-F238E27FC236}">
                <a16:creationId xmlns:a16="http://schemas.microsoft.com/office/drawing/2014/main" id="{96AD261D-B8FE-611A-CBC1-9CFFEE886F93}"/>
              </a:ext>
            </a:extLst>
          </p:cNvPr>
          <p:cNvSpPr txBox="1"/>
          <p:nvPr/>
        </p:nvSpPr>
        <p:spPr>
          <a:xfrm>
            <a:off x="8095324" y="3134743"/>
            <a:ext cx="548639" cy="200055"/>
          </a:xfrm>
          <a:prstGeom prst="rect">
            <a:avLst/>
          </a:prstGeom>
          <a:noFill/>
        </p:spPr>
        <p:txBody>
          <a:bodyPr wrap="square" rtlCol="0">
            <a:spAutoFit/>
          </a:bodyPr>
          <a:lstStyle/>
          <a:p>
            <a:pPr algn="ctr"/>
            <a:r>
              <a:rPr lang="pt-BR" sz="700" dirty="0">
                <a:solidFill>
                  <a:schemeClr val="bg1">
                    <a:lumMod val="95000"/>
                  </a:schemeClr>
                </a:solidFill>
                <a:latin typeface="Arial" panose="020B0604020202020204" pitchFamily="34" charset="0"/>
                <a:cs typeface="Arial" panose="020B0604020202020204" pitchFamily="34" charset="0"/>
              </a:rPr>
              <a:t>100%</a:t>
            </a:r>
          </a:p>
        </p:txBody>
      </p:sp>
      <p:sp>
        <p:nvSpPr>
          <p:cNvPr id="9" name="CaixaDeTexto 8">
            <a:extLst>
              <a:ext uri="{FF2B5EF4-FFF2-40B4-BE49-F238E27FC236}">
                <a16:creationId xmlns:a16="http://schemas.microsoft.com/office/drawing/2014/main" id="{7A3BBEC9-C572-95D6-E041-C507AA3AA278}"/>
              </a:ext>
            </a:extLst>
          </p:cNvPr>
          <p:cNvSpPr txBox="1"/>
          <p:nvPr/>
        </p:nvSpPr>
        <p:spPr>
          <a:xfrm>
            <a:off x="10645771" y="2732486"/>
            <a:ext cx="548639" cy="200055"/>
          </a:xfrm>
          <a:prstGeom prst="rect">
            <a:avLst/>
          </a:prstGeom>
          <a:noFill/>
        </p:spPr>
        <p:txBody>
          <a:bodyPr wrap="square" rtlCol="0">
            <a:spAutoFit/>
          </a:bodyPr>
          <a:lstStyle/>
          <a:p>
            <a:pPr algn="ctr"/>
            <a:r>
              <a:rPr lang="pt-BR" sz="700" dirty="0">
                <a:solidFill>
                  <a:schemeClr val="tx1">
                    <a:lumMod val="85000"/>
                    <a:lumOff val="15000"/>
                  </a:schemeClr>
                </a:solidFill>
                <a:latin typeface="Arial" panose="020B0604020202020204" pitchFamily="34" charset="0"/>
                <a:cs typeface="Arial" panose="020B0604020202020204" pitchFamily="34" charset="0"/>
              </a:rPr>
              <a:t>33,33%</a:t>
            </a:r>
          </a:p>
        </p:txBody>
      </p:sp>
      <p:sp>
        <p:nvSpPr>
          <p:cNvPr id="48" name="CaixaDeTexto 47">
            <a:extLst>
              <a:ext uri="{FF2B5EF4-FFF2-40B4-BE49-F238E27FC236}">
                <a16:creationId xmlns:a16="http://schemas.microsoft.com/office/drawing/2014/main" id="{7F86BF80-5BAE-4AE2-A926-39ACF8FC356C}"/>
              </a:ext>
            </a:extLst>
          </p:cNvPr>
          <p:cNvSpPr txBox="1"/>
          <p:nvPr/>
        </p:nvSpPr>
        <p:spPr>
          <a:xfrm>
            <a:off x="7453093" y="2914733"/>
            <a:ext cx="548639" cy="200055"/>
          </a:xfrm>
          <a:prstGeom prst="rect">
            <a:avLst/>
          </a:prstGeom>
          <a:noFill/>
        </p:spPr>
        <p:txBody>
          <a:bodyPr wrap="square" rtlCol="0">
            <a:spAutoFit/>
          </a:bodyPr>
          <a:lstStyle/>
          <a:p>
            <a:pPr algn="ctr"/>
            <a:r>
              <a:rPr lang="pt-BR" sz="700" dirty="0">
                <a:solidFill>
                  <a:schemeClr val="tx1">
                    <a:lumMod val="85000"/>
                    <a:lumOff val="15000"/>
                  </a:schemeClr>
                </a:solidFill>
                <a:latin typeface="Arial" panose="020B0604020202020204" pitchFamily="34" charset="0"/>
                <a:cs typeface="Arial" panose="020B0604020202020204" pitchFamily="34" charset="0"/>
              </a:rPr>
              <a:t>14,29%</a:t>
            </a:r>
          </a:p>
        </p:txBody>
      </p:sp>
      <p:sp>
        <p:nvSpPr>
          <p:cNvPr id="51" name="CaixaDeTexto 50">
            <a:extLst>
              <a:ext uri="{FF2B5EF4-FFF2-40B4-BE49-F238E27FC236}">
                <a16:creationId xmlns:a16="http://schemas.microsoft.com/office/drawing/2014/main" id="{4D0A4F57-21C5-4ED1-B69E-00B57FF05A2F}"/>
              </a:ext>
            </a:extLst>
          </p:cNvPr>
          <p:cNvSpPr txBox="1"/>
          <p:nvPr/>
        </p:nvSpPr>
        <p:spPr>
          <a:xfrm>
            <a:off x="7243818" y="4488443"/>
            <a:ext cx="3676273" cy="830997"/>
          </a:xfrm>
          <a:prstGeom prst="rect">
            <a:avLst/>
          </a:prstGeom>
          <a:noFill/>
        </p:spPr>
        <p:txBody>
          <a:bodyPr wrap="square" rtlCol="0">
            <a:spAutoFit/>
          </a:bodyPr>
          <a:lstStyle/>
          <a:p>
            <a:pPr algn="just"/>
            <a:r>
              <a:rPr lang="pt-BR" sz="1200" dirty="0">
                <a:solidFill>
                  <a:schemeClr val="bg2">
                    <a:lumMod val="50000"/>
                  </a:schemeClr>
                </a:solidFill>
                <a:latin typeface="Arial" panose="020B0604020202020204" pitchFamily="34" charset="0"/>
                <a:cs typeface="Arial" panose="020B0604020202020204" pitchFamily="34" charset="0"/>
              </a:rPr>
              <a:t>No consolidado, 87,62% das ocorrências foram tratadas dentro do prazo, enquanto 3,33% ficaram fora do prazo e 6,67% foram classificadas como Justificados.</a:t>
            </a:r>
          </a:p>
        </p:txBody>
      </p:sp>
      <p:sp>
        <p:nvSpPr>
          <p:cNvPr id="54" name="CaixaDeTexto 53">
            <a:extLst>
              <a:ext uri="{FF2B5EF4-FFF2-40B4-BE49-F238E27FC236}">
                <a16:creationId xmlns:a16="http://schemas.microsoft.com/office/drawing/2014/main" id="{6C4B3BA5-2EE0-4827-A235-5E014B16E786}"/>
              </a:ext>
            </a:extLst>
          </p:cNvPr>
          <p:cNvSpPr txBox="1"/>
          <p:nvPr/>
        </p:nvSpPr>
        <p:spPr>
          <a:xfrm>
            <a:off x="1987546" y="2911698"/>
            <a:ext cx="548639" cy="200055"/>
          </a:xfrm>
          <a:prstGeom prst="rect">
            <a:avLst/>
          </a:prstGeom>
          <a:noFill/>
        </p:spPr>
        <p:txBody>
          <a:bodyPr wrap="square" rtlCol="0">
            <a:spAutoFit/>
          </a:bodyPr>
          <a:lstStyle/>
          <a:p>
            <a:pPr algn="ctr"/>
            <a:r>
              <a:rPr lang="pt-BR" sz="700" dirty="0">
                <a:solidFill>
                  <a:schemeClr val="tx1">
                    <a:lumMod val="85000"/>
                    <a:lumOff val="15000"/>
                  </a:schemeClr>
                </a:solidFill>
                <a:latin typeface="Arial" panose="020B0604020202020204" pitchFamily="34" charset="0"/>
                <a:cs typeface="Arial" panose="020B0604020202020204" pitchFamily="34" charset="0"/>
              </a:rPr>
              <a:t>4,76%</a:t>
            </a:r>
          </a:p>
        </p:txBody>
      </p:sp>
      <p:sp>
        <p:nvSpPr>
          <p:cNvPr id="58" name="CaixaDeTexto 57">
            <a:extLst>
              <a:ext uri="{FF2B5EF4-FFF2-40B4-BE49-F238E27FC236}">
                <a16:creationId xmlns:a16="http://schemas.microsoft.com/office/drawing/2014/main" id="{4C2053B1-2390-4B48-8A3B-8CBA48F59FBC}"/>
              </a:ext>
            </a:extLst>
          </p:cNvPr>
          <p:cNvSpPr txBox="1"/>
          <p:nvPr/>
        </p:nvSpPr>
        <p:spPr>
          <a:xfrm>
            <a:off x="2821527" y="2832514"/>
            <a:ext cx="548639" cy="200055"/>
          </a:xfrm>
          <a:prstGeom prst="rect">
            <a:avLst/>
          </a:prstGeom>
          <a:noFill/>
        </p:spPr>
        <p:txBody>
          <a:bodyPr wrap="square" rtlCol="0">
            <a:spAutoFit/>
          </a:bodyPr>
          <a:lstStyle/>
          <a:p>
            <a:pPr algn="ctr"/>
            <a:r>
              <a:rPr lang="pt-BR" sz="700" dirty="0">
                <a:solidFill>
                  <a:schemeClr val="tx1">
                    <a:lumMod val="85000"/>
                    <a:lumOff val="15000"/>
                  </a:schemeClr>
                </a:solidFill>
                <a:latin typeface="Arial" panose="020B0604020202020204" pitchFamily="34" charset="0"/>
                <a:cs typeface="Arial" panose="020B0604020202020204" pitchFamily="34" charset="0"/>
              </a:rPr>
              <a:t>10,26%</a:t>
            </a:r>
          </a:p>
        </p:txBody>
      </p:sp>
      <p:sp>
        <p:nvSpPr>
          <p:cNvPr id="59" name="CaixaDeTexto 58">
            <a:extLst>
              <a:ext uri="{FF2B5EF4-FFF2-40B4-BE49-F238E27FC236}">
                <a16:creationId xmlns:a16="http://schemas.microsoft.com/office/drawing/2014/main" id="{9D056A31-C58B-47F9-B8D3-A198D0AF786C}"/>
              </a:ext>
            </a:extLst>
          </p:cNvPr>
          <p:cNvSpPr txBox="1"/>
          <p:nvPr/>
        </p:nvSpPr>
        <p:spPr>
          <a:xfrm>
            <a:off x="4071625" y="2825974"/>
            <a:ext cx="437645" cy="200055"/>
          </a:xfrm>
          <a:prstGeom prst="rect">
            <a:avLst/>
          </a:prstGeom>
          <a:noFill/>
        </p:spPr>
        <p:txBody>
          <a:bodyPr wrap="square" rtlCol="0">
            <a:spAutoFit/>
          </a:bodyPr>
          <a:lstStyle/>
          <a:p>
            <a:pPr algn="ctr"/>
            <a:r>
              <a:rPr lang="pt-BR" sz="700" dirty="0">
                <a:solidFill>
                  <a:schemeClr val="tx1">
                    <a:lumMod val="85000"/>
                    <a:lumOff val="15000"/>
                  </a:schemeClr>
                </a:solidFill>
                <a:latin typeface="Arial" panose="020B0604020202020204" pitchFamily="34" charset="0"/>
                <a:cs typeface="Arial" panose="020B0604020202020204" pitchFamily="34" charset="0"/>
              </a:rPr>
              <a:t>5,71%</a:t>
            </a:r>
          </a:p>
        </p:txBody>
      </p:sp>
      <p:sp>
        <p:nvSpPr>
          <p:cNvPr id="60" name="CaixaDeTexto 59">
            <a:extLst>
              <a:ext uri="{FF2B5EF4-FFF2-40B4-BE49-F238E27FC236}">
                <a16:creationId xmlns:a16="http://schemas.microsoft.com/office/drawing/2014/main" id="{FED32E76-EED7-47A0-9E4E-4AC41DEB6419}"/>
              </a:ext>
            </a:extLst>
          </p:cNvPr>
          <p:cNvSpPr txBox="1"/>
          <p:nvPr/>
        </p:nvSpPr>
        <p:spPr>
          <a:xfrm>
            <a:off x="5067455" y="2759702"/>
            <a:ext cx="437645" cy="200055"/>
          </a:xfrm>
          <a:prstGeom prst="rect">
            <a:avLst/>
          </a:prstGeom>
          <a:noFill/>
        </p:spPr>
        <p:txBody>
          <a:bodyPr wrap="square" rtlCol="0">
            <a:spAutoFit/>
          </a:bodyPr>
          <a:lstStyle/>
          <a:p>
            <a:pPr algn="ctr"/>
            <a:r>
              <a:rPr lang="pt-BR" sz="700" dirty="0">
                <a:solidFill>
                  <a:schemeClr val="tx1">
                    <a:lumMod val="85000"/>
                    <a:lumOff val="15000"/>
                  </a:schemeClr>
                </a:solidFill>
                <a:latin typeface="Arial" panose="020B0604020202020204" pitchFamily="34" charset="0"/>
                <a:cs typeface="Arial" panose="020B0604020202020204" pitchFamily="34" charset="0"/>
              </a:rPr>
              <a:t>4,35%</a:t>
            </a:r>
          </a:p>
        </p:txBody>
      </p:sp>
    </p:spTree>
    <p:extLst>
      <p:ext uri="{BB962C8B-B14F-4D97-AF65-F5344CB8AC3E}">
        <p14:creationId xmlns:p14="http://schemas.microsoft.com/office/powerpoint/2010/main" val="3399462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Imagem 38">
            <a:extLst>
              <a:ext uri="{FF2B5EF4-FFF2-40B4-BE49-F238E27FC236}">
                <a16:creationId xmlns:a16="http://schemas.microsoft.com/office/drawing/2014/main" id="{8F6A83EB-6687-479D-BD59-51B6B2B8CBF9}"/>
              </a:ext>
            </a:extLst>
          </p:cNvPr>
          <p:cNvPicPr>
            <a:picLocks noChangeAspect="1"/>
          </p:cNvPicPr>
          <p:nvPr/>
        </p:nvPicPr>
        <p:blipFill>
          <a:blip r:embed="rId2">
            <a:alphaModFix amt="4000"/>
          </a:blip>
          <a:stretch>
            <a:fillRect/>
          </a:stretch>
        </p:blipFill>
        <p:spPr>
          <a:xfrm>
            <a:off x="9157251" y="4596063"/>
            <a:ext cx="5030445" cy="5148116"/>
          </a:xfrm>
          <a:prstGeom prst="rect">
            <a:avLst/>
          </a:prstGeom>
          <a:effectLst/>
        </p:spPr>
      </p:pic>
      <p:pic>
        <p:nvPicPr>
          <p:cNvPr id="38" name="Imagem 37">
            <a:extLst>
              <a:ext uri="{FF2B5EF4-FFF2-40B4-BE49-F238E27FC236}">
                <a16:creationId xmlns:a16="http://schemas.microsoft.com/office/drawing/2014/main" id="{DE2A603E-716D-41D5-ABEF-1625839B46A3}"/>
              </a:ext>
            </a:extLst>
          </p:cNvPr>
          <p:cNvPicPr>
            <a:picLocks noChangeAspect="1"/>
          </p:cNvPicPr>
          <p:nvPr/>
        </p:nvPicPr>
        <p:blipFill>
          <a:blip r:embed="rId2">
            <a:alphaModFix amt="4000"/>
          </a:blip>
          <a:stretch>
            <a:fillRect/>
          </a:stretch>
        </p:blipFill>
        <p:spPr>
          <a:xfrm>
            <a:off x="-2128370" y="-2021305"/>
            <a:ext cx="5030445" cy="5148116"/>
          </a:xfrm>
          <a:prstGeom prst="rect">
            <a:avLst/>
          </a:prstGeom>
          <a:effectLst/>
        </p:spPr>
      </p:pic>
      <p:sp>
        <p:nvSpPr>
          <p:cNvPr id="6" name="Título 1">
            <a:extLst>
              <a:ext uri="{FF2B5EF4-FFF2-40B4-BE49-F238E27FC236}">
                <a16:creationId xmlns:a16="http://schemas.microsoft.com/office/drawing/2014/main" id="{F19E4ED5-6191-4819-BC5E-0686AFC2CEAF}"/>
              </a:ext>
            </a:extLst>
          </p:cNvPr>
          <p:cNvSpPr txBox="1">
            <a:spLocks/>
          </p:cNvSpPr>
          <p:nvPr/>
        </p:nvSpPr>
        <p:spPr>
          <a:xfrm>
            <a:off x="5946417" y="431573"/>
            <a:ext cx="5811865"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pt-BR" sz="1600" spc="600" dirty="0">
                <a:solidFill>
                  <a:srgbClr val="9E2289"/>
                </a:solidFill>
                <a:latin typeface="Arial" panose="020B0604020202020204" pitchFamily="34" charset="0"/>
                <a:cs typeface="Arial" panose="020B0604020202020204" pitchFamily="34" charset="0"/>
              </a:rPr>
              <a:t>PREMIUM</a:t>
            </a:r>
          </a:p>
        </p:txBody>
      </p:sp>
      <p:grpSp>
        <p:nvGrpSpPr>
          <p:cNvPr id="20" name="Google Shape;1964;p50">
            <a:extLst>
              <a:ext uri="{FF2B5EF4-FFF2-40B4-BE49-F238E27FC236}">
                <a16:creationId xmlns:a16="http://schemas.microsoft.com/office/drawing/2014/main" id="{644333FE-63B4-42DF-ADFA-AF9177DF58D7}"/>
              </a:ext>
            </a:extLst>
          </p:cNvPr>
          <p:cNvGrpSpPr/>
          <p:nvPr/>
        </p:nvGrpSpPr>
        <p:grpSpPr>
          <a:xfrm flipH="1">
            <a:off x="742950" y="537670"/>
            <a:ext cx="603644" cy="576232"/>
            <a:chOff x="4126815" y="2760704"/>
            <a:chExt cx="380393" cy="363118"/>
          </a:xfrm>
          <a:solidFill>
            <a:srgbClr val="0B5892"/>
          </a:solidFill>
        </p:grpSpPr>
        <p:sp>
          <p:nvSpPr>
            <p:cNvPr id="21" name="Google Shape;1965;p50">
              <a:extLst>
                <a:ext uri="{FF2B5EF4-FFF2-40B4-BE49-F238E27FC236}">
                  <a16:creationId xmlns:a16="http://schemas.microsoft.com/office/drawing/2014/main" id="{C90A8E2B-6430-4128-93A1-80EDBF3E3BED}"/>
                </a:ext>
              </a:extLst>
            </p:cNvPr>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966;p50">
              <a:extLst>
                <a:ext uri="{FF2B5EF4-FFF2-40B4-BE49-F238E27FC236}">
                  <a16:creationId xmlns:a16="http://schemas.microsoft.com/office/drawing/2014/main" id="{C220A82A-DCEF-47A8-9174-5A849CB2B75F}"/>
                </a:ext>
              </a:extLst>
            </p:cNvPr>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967;p50">
              <a:extLst>
                <a:ext uri="{FF2B5EF4-FFF2-40B4-BE49-F238E27FC236}">
                  <a16:creationId xmlns:a16="http://schemas.microsoft.com/office/drawing/2014/main" id="{446DDA74-F73B-4510-BFCE-608659C3FC02}"/>
                </a:ext>
              </a:extLst>
            </p:cNvPr>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968;p50">
              <a:extLst>
                <a:ext uri="{FF2B5EF4-FFF2-40B4-BE49-F238E27FC236}">
                  <a16:creationId xmlns:a16="http://schemas.microsoft.com/office/drawing/2014/main" id="{487DFEED-06C3-4B9B-9B7A-545AAF95F24C}"/>
                </a:ext>
              </a:extLst>
            </p:cNvPr>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Retângulo 28">
            <a:extLst>
              <a:ext uri="{FF2B5EF4-FFF2-40B4-BE49-F238E27FC236}">
                <a16:creationId xmlns:a16="http://schemas.microsoft.com/office/drawing/2014/main" id="{0BBC58FB-2C41-419E-8246-609C9177CDA9}"/>
              </a:ext>
            </a:extLst>
          </p:cNvPr>
          <p:cNvSpPr/>
          <p:nvPr/>
        </p:nvSpPr>
        <p:spPr>
          <a:xfrm>
            <a:off x="-449179" y="6707874"/>
            <a:ext cx="14054469" cy="334610"/>
          </a:xfrm>
          <a:prstGeom prst="rect">
            <a:avLst/>
          </a:prstGeom>
          <a:solidFill>
            <a:srgbClr val="9E22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 name="Imagem 7">
            <a:extLst>
              <a:ext uri="{FF2B5EF4-FFF2-40B4-BE49-F238E27FC236}">
                <a16:creationId xmlns:a16="http://schemas.microsoft.com/office/drawing/2014/main" id="{55CA91AA-A108-4071-B0A7-0374C74EDA09}"/>
              </a:ext>
            </a:extLst>
          </p:cNvPr>
          <p:cNvPicPr>
            <a:picLocks noChangeAspect="1"/>
          </p:cNvPicPr>
          <p:nvPr/>
        </p:nvPicPr>
        <p:blipFill>
          <a:blip r:embed="rId3"/>
          <a:stretch>
            <a:fillRect/>
          </a:stretch>
        </p:blipFill>
        <p:spPr>
          <a:xfrm>
            <a:off x="-124691" y="-20995"/>
            <a:ext cx="12316692" cy="88042"/>
          </a:xfrm>
          <a:prstGeom prst="rect">
            <a:avLst/>
          </a:prstGeom>
        </p:spPr>
      </p:pic>
      <p:sp>
        <p:nvSpPr>
          <p:cNvPr id="18" name="Título 1">
            <a:extLst>
              <a:ext uri="{FF2B5EF4-FFF2-40B4-BE49-F238E27FC236}">
                <a16:creationId xmlns:a16="http://schemas.microsoft.com/office/drawing/2014/main" id="{9BC75932-B40A-460F-B242-8264BFE06926}"/>
              </a:ext>
            </a:extLst>
          </p:cNvPr>
          <p:cNvSpPr txBox="1">
            <a:spLocks/>
          </p:cNvSpPr>
          <p:nvPr/>
        </p:nvSpPr>
        <p:spPr>
          <a:xfrm>
            <a:off x="1366068" y="448718"/>
            <a:ext cx="6453099"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spc="600" dirty="0">
                <a:solidFill>
                  <a:srgbClr val="0B5892"/>
                </a:solidFill>
                <a:latin typeface="Arial" panose="020B0604020202020204" pitchFamily="34" charset="0"/>
                <a:cs typeface="Arial" panose="020B0604020202020204" pitchFamily="34" charset="0"/>
              </a:rPr>
              <a:t>RANKING DE DESEMPENHO</a:t>
            </a:r>
          </a:p>
        </p:txBody>
      </p:sp>
      <p:sp>
        <p:nvSpPr>
          <p:cNvPr id="19" name="Título 1">
            <a:extLst>
              <a:ext uri="{FF2B5EF4-FFF2-40B4-BE49-F238E27FC236}">
                <a16:creationId xmlns:a16="http://schemas.microsoft.com/office/drawing/2014/main" id="{CB92D9AB-3FEB-47AD-8015-DD30B5F902CE}"/>
              </a:ext>
            </a:extLst>
          </p:cNvPr>
          <p:cNvSpPr txBox="1">
            <a:spLocks/>
          </p:cNvSpPr>
          <p:nvPr/>
        </p:nvSpPr>
        <p:spPr>
          <a:xfrm>
            <a:off x="1400358" y="716411"/>
            <a:ext cx="6950456"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600" spc="300" dirty="0">
                <a:solidFill>
                  <a:srgbClr val="0B5892"/>
                </a:solidFill>
                <a:latin typeface="Arial" panose="020B0604020202020204" pitchFamily="34" charset="0"/>
                <a:cs typeface="Arial" panose="020B0604020202020204" pitchFamily="34" charset="0"/>
              </a:rPr>
              <a:t>Quantidade total de monitorias realizadas</a:t>
            </a:r>
          </a:p>
        </p:txBody>
      </p:sp>
      <p:cxnSp>
        <p:nvCxnSpPr>
          <p:cNvPr id="25" name="Conector reto 24">
            <a:extLst>
              <a:ext uri="{FF2B5EF4-FFF2-40B4-BE49-F238E27FC236}">
                <a16:creationId xmlns:a16="http://schemas.microsoft.com/office/drawing/2014/main" id="{C6F5D155-7AE8-4277-A61A-2EF88BF2DADC}"/>
              </a:ext>
            </a:extLst>
          </p:cNvPr>
          <p:cNvCxnSpPr/>
          <p:nvPr/>
        </p:nvCxnSpPr>
        <p:spPr>
          <a:xfrm>
            <a:off x="725988" y="1185955"/>
            <a:ext cx="9855200" cy="0"/>
          </a:xfrm>
          <a:prstGeom prst="line">
            <a:avLst/>
          </a:prstGeom>
          <a:ln>
            <a:solidFill>
              <a:srgbClr val="0B5892"/>
            </a:solidFill>
          </a:ln>
        </p:spPr>
        <p:style>
          <a:lnRef idx="1">
            <a:schemeClr val="accent1"/>
          </a:lnRef>
          <a:fillRef idx="0">
            <a:schemeClr val="accent1"/>
          </a:fillRef>
          <a:effectRef idx="0">
            <a:schemeClr val="accent1"/>
          </a:effectRef>
          <a:fontRef idx="minor">
            <a:schemeClr val="tx1"/>
          </a:fontRef>
        </p:style>
      </p:cxnSp>
      <p:graphicFrame>
        <p:nvGraphicFramePr>
          <p:cNvPr id="26" name="Gráfico 25">
            <a:extLst>
              <a:ext uri="{FF2B5EF4-FFF2-40B4-BE49-F238E27FC236}">
                <a16:creationId xmlns:a16="http://schemas.microsoft.com/office/drawing/2014/main" id="{CB343202-015A-4FBE-B942-B99305F6E34B}"/>
              </a:ext>
            </a:extLst>
          </p:cNvPr>
          <p:cNvGraphicFramePr/>
          <p:nvPr>
            <p:extLst>
              <p:ext uri="{D42A27DB-BD31-4B8C-83A1-F6EECF244321}">
                <p14:modId xmlns:p14="http://schemas.microsoft.com/office/powerpoint/2010/main" val="3988422483"/>
              </p:ext>
            </p:extLst>
          </p:nvPr>
        </p:nvGraphicFramePr>
        <p:xfrm>
          <a:off x="643466" y="1549889"/>
          <a:ext cx="5787167" cy="3251200"/>
        </p:xfrm>
        <a:graphic>
          <a:graphicData uri="http://schemas.openxmlformats.org/drawingml/2006/chart">
            <c:chart xmlns:c="http://schemas.openxmlformats.org/drawingml/2006/chart" xmlns:r="http://schemas.openxmlformats.org/officeDocument/2006/relationships" r:id="rId4"/>
          </a:graphicData>
        </a:graphic>
      </p:graphicFrame>
      <p:sp>
        <p:nvSpPr>
          <p:cNvPr id="27" name="Retângulo: Cantos Arredondados 26">
            <a:extLst>
              <a:ext uri="{FF2B5EF4-FFF2-40B4-BE49-F238E27FC236}">
                <a16:creationId xmlns:a16="http://schemas.microsoft.com/office/drawing/2014/main" id="{4ECBC702-8A0A-4D6D-9F12-E545E8615BE2}"/>
              </a:ext>
            </a:extLst>
          </p:cNvPr>
          <p:cNvSpPr/>
          <p:nvPr/>
        </p:nvSpPr>
        <p:spPr>
          <a:xfrm>
            <a:off x="7138142" y="1785132"/>
            <a:ext cx="4128654" cy="1663111"/>
          </a:xfrm>
          <a:prstGeom prst="roundRect">
            <a:avLst/>
          </a:prstGeom>
          <a:solidFill>
            <a:schemeClr val="bg1">
              <a:lumMod val="95000"/>
            </a:schemeClr>
          </a:solidFill>
          <a:ln>
            <a:noFill/>
          </a:ln>
          <a:effectLst>
            <a:outerShdw dist="101600" dir="10740000" algn="t" rotWithShape="0">
              <a:srgbClr val="9E2289"/>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49" name="Google Shape;1944;p50">
            <a:extLst>
              <a:ext uri="{FF2B5EF4-FFF2-40B4-BE49-F238E27FC236}">
                <a16:creationId xmlns:a16="http://schemas.microsoft.com/office/drawing/2014/main" id="{AE3E5632-39EC-498B-8446-16F7B46F0CF4}"/>
              </a:ext>
            </a:extLst>
          </p:cNvPr>
          <p:cNvGrpSpPr/>
          <p:nvPr/>
        </p:nvGrpSpPr>
        <p:grpSpPr>
          <a:xfrm>
            <a:off x="7308880" y="1876791"/>
            <a:ext cx="476316" cy="468384"/>
            <a:chOff x="860940" y="2746477"/>
            <a:chExt cx="371883" cy="365691"/>
          </a:xfrm>
          <a:solidFill>
            <a:srgbClr val="9E2289"/>
          </a:solidFill>
        </p:grpSpPr>
        <p:sp>
          <p:nvSpPr>
            <p:cNvPr id="50" name="Google Shape;1945;p50">
              <a:extLst>
                <a:ext uri="{FF2B5EF4-FFF2-40B4-BE49-F238E27FC236}">
                  <a16:creationId xmlns:a16="http://schemas.microsoft.com/office/drawing/2014/main" id="{F8E576BE-2CD1-4B21-BB2A-FA3D538B5E35}"/>
                </a:ext>
              </a:extLst>
            </p:cNvPr>
            <p:cNvSpPr/>
            <p:nvPr/>
          </p:nvSpPr>
          <p:spPr>
            <a:xfrm>
              <a:off x="908191" y="3026302"/>
              <a:ext cx="30294" cy="28961"/>
            </a:xfrm>
            <a:custGeom>
              <a:avLst/>
              <a:gdLst/>
              <a:ahLst/>
              <a:cxnLst/>
              <a:rect l="l" t="t" r="r" b="b"/>
              <a:pathLst>
                <a:path w="954" h="912" extrusionOk="0">
                  <a:moveTo>
                    <a:pt x="763" y="1"/>
                  </a:moveTo>
                  <a:cubicBezTo>
                    <a:pt x="718" y="1"/>
                    <a:pt x="674" y="16"/>
                    <a:pt x="644" y="45"/>
                  </a:cubicBezTo>
                  <a:lnTo>
                    <a:pt x="60" y="629"/>
                  </a:lnTo>
                  <a:cubicBezTo>
                    <a:pt x="1" y="688"/>
                    <a:pt x="1" y="807"/>
                    <a:pt x="60" y="867"/>
                  </a:cubicBezTo>
                  <a:cubicBezTo>
                    <a:pt x="90" y="897"/>
                    <a:pt x="135" y="911"/>
                    <a:pt x="179" y="911"/>
                  </a:cubicBezTo>
                  <a:cubicBezTo>
                    <a:pt x="224" y="911"/>
                    <a:pt x="269" y="897"/>
                    <a:pt x="299" y="867"/>
                  </a:cubicBezTo>
                  <a:lnTo>
                    <a:pt x="882" y="283"/>
                  </a:lnTo>
                  <a:cubicBezTo>
                    <a:pt x="953" y="224"/>
                    <a:pt x="953" y="105"/>
                    <a:pt x="882" y="45"/>
                  </a:cubicBezTo>
                  <a:cubicBezTo>
                    <a:pt x="852" y="16"/>
                    <a:pt x="807" y="1"/>
                    <a:pt x="76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946;p50">
              <a:extLst>
                <a:ext uri="{FF2B5EF4-FFF2-40B4-BE49-F238E27FC236}">
                  <a16:creationId xmlns:a16="http://schemas.microsoft.com/office/drawing/2014/main" id="{9F68CAA6-59B8-4F64-8643-1935A15F9675}"/>
                </a:ext>
              </a:extLst>
            </p:cNvPr>
            <p:cNvSpPr/>
            <p:nvPr/>
          </p:nvSpPr>
          <p:spPr>
            <a:xfrm>
              <a:off x="943757" y="3061836"/>
              <a:ext cx="30263" cy="28961"/>
            </a:xfrm>
            <a:custGeom>
              <a:avLst/>
              <a:gdLst/>
              <a:ahLst/>
              <a:cxnLst/>
              <a:rect l="l" t="t" r="r" b="b"/>
              <a:pathLst>
                <a:path w="953" h="912" extrusionOk="0">
                  <a:moveTo>
                    <a:pt x="762" y="1"/>
                  </a:moveTo>
                  <a:cubicBezTo>
                    <a:pt x="717" y="1"/>
                    <a:pt x="673" y="16"/>
                    <a:pt x="643" y="46"/>
                  </a:cubicBezTo>
                  <a:lnTo>
                    <a:pt x="60" y="629"/>
                  </a:lnTo>
                  <a:cubicBezTo>
                    <a:pt x="0" y="688"/>
                    <a:pt x="0" y="807"/>
                    <a:pt x="60" y="867"/>
                  </a:cubicBezTo>
                  <a:cubicBezTo>
                    <a:pt x="89" y="897"/>
                    <a:pt x="134" y="912"/>
                    <a:pt x="179" y="912"/>
                  </a:cubicBezTo>
                  <a:cubicBezTo>
                    <a:pt x="223" y="912"/>
                    <a:pt x="268" y="897"/>
                    <a:pt x="298" y="867"/>
                  </a:cubicBezTo>
                  <a:lnTo>
                    <a:pt x="881" y="284"/>
                  </a:lnTo>
                  <a:cubicBezTo>
                    <a:pt x="953" y="224"/>
                    <a:pt x="953" y="105"/>
                    <a:pt x="881" y="46"/>
                  </a:cubicBezTo>
                  <a:cubicBezTo>
                    <a:pt x="851" y="16"/>
                    <a:pt x="807" y="1"/>
                    <a:pt x="7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947;p50">
              <a:extLst>
                <a:ext uri="{FF2B5EF4-FFF2-40B4-BE49-F238E27FC236}">
                  <a16:creationId xmlns:a16="http://schemas.microsoft.com/office/drawing/2014/main" id="{EA4A187D-2E3F-46AA-BEA6-749B97B58F53}"/>
                </a:ext>
              </a:extLst>
            </p:cNvPr>
            <p:cNvSpPr/>
            <p:nvPr/>
          </p:nvSpPr>
          <p:spPr>
            <a:xfrm>
              <a:off x="926355" y="3044085"/>
              <a:ext cx="29881" cy="28579"/>
            </a:xfrm>
            <a:custGeom>
              <a:avLst/>
              <a:gdLst/>
              <a:ahLst/>
              <a:cxnLst/>
              <a:rect l="l" t="t" r="r" b="b"/>
              <a:pathLst>
                <a:path w="941" h="900" extrusionOk="0">
                  <a:moveTo>
                    <a:pt x="762" y="0"/>
                  </a:moveTo>
                  <a:cubicBezTo>
                    <a:pt x="718" y="0"/>
                    <a:pt x="673" y="15"/>
                    <a:pt x="643" y="45"/>
                  </a:cubicBezTo>
                  <a:lnTo>
                    <a:pt x="60" y="616"/>
                  </a:lnTo>
                  <a:cubicBezTo>
                    <a:pt x="0" y="676"/>
                    <a:pt x="0" y="795"/>
                    <a:pt x="60" y="855"/>
                  </a:cubicBezTo>
                  <a:cubicBezTo>
                    <a:pt x="90" y="884"/>
                    <a:pt x="134" y="899"/>
                    <a:pt x="179" y="899"/>
                  </a:cubicBezTo>
                  <a:cubicBezTo>
                    <a:pt x="224" y="899"/>
                    <a:pt x="268" y="884"/>
                    <a:pt x="298" y="855"/>
                  </a:cubicBezTo>
                  <a:lnTo>
                    <a:pt x="881" y="283"/>
                  </a:lnTo>
                  <a:cubicBezTo>
                    <a:pt x="941" y="224"/>
                    <a:pt x="941" y="116"/>
                    <a:pt x="881" y="45"/>
                  </a:cubicBezTo>
                  <a:cubicBezTo>
                    <a:pt x="852" y="15"/>
                    <a:pt x="807" y="0"/>
                    <a:pt x="76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948;p50">
              <a:extLst>
                <a:ext uri="{FF2B5EF4-FFF2-40B4-BE49-F238E27FC236}">
                  <a16:creationId xmlns:a16="http://schemas.microsoft.com/office/drawing/2014/main" id="{85D06B3A-A8F7-4804-B970-45AE95668DED}"/>
                </a:ext>
              </a:extLst>
            </p:cNvPr>
            <p:cNvSpPr/>
            <p:nvPr/>
          </p:nvSpPr>
          <p:spPr>
            <a:xfrm>
              <a:off x="860940" y="2746477"/>
              <a:ext cx="371883" cy="365691"/>
            </a:xfrm>
            <a:custGeom>
              <a:avLst/>
              <a:gdLst/>
              <a:ahLst/>
              <a:cxnLst/>
              <a:rect l="l" t="t" r="r" b="b"/>
              <a:pathLst>
                <a:path w="11711" h="11516" extrusionOk="0">
                  <a:moveTo>
                    <a:pt x="11312" y="344"/>
                  </a:moveTo>
                  <a:lnTo>
                    <a:pt x="10835" y="1987"/>
                  </a:lnTo>
                  <a:lnTo>
                    <a:pt x="9680" y="821"/>
                  </a:lnTo>
                  <a:lnTo>
                    <a:pt x="11312" y="344"/>
                  </a:lnTo>
                  <a:close/>
                  <a:moveTo>
                    <a:pt x="4882" y="3821"/>
                  </a:moveTo>
                  <a:lnTo>
                    <a:pt x="2822" y="5881"/>
                  </a:lnTo>
                  <a:lnTo>
                    <a:pt x="477" y="5690"/>
                  </a:lnTo>
                  <a:cubicBezTo>
                    <a:pt x="453" y="5690"/>
                    <a:pt x="429" y="5643"/>
                    <a:pt x="465" y="5631"/>
                  </a:cubicBezTo>
                  <a:cubicBezTo>
                    <a:pt x="1477" y="4619"/>
                    <a:pt x="2822" y="4000"/>
                    <a:pt x="4227" y="3881"/>
                  </a:cubicBezTo>
                  <a:lnTo>
                    <a:pt x="4882" y="3821"/>
                  </a:lnTo>
                  <a:close/>
                  <a:moveTo>
                    <a:pt x="2894" y="6297"/>
                  </a:moveTo>
                  <a:lnTo>
                    <a:pt x="3811" y="7226"/>
                  </a:lnTo>
                  <a:lnTo>
                    <a:pt x="3477" y="7571"/>
                  </a:lnTo>
                  <a:lnTo>
                    <a:pt x="2549" y="6643"/>
                  </a:lnTo>
                  <a:lnTo>
                    <a:pt x="2894" y="6297"/>
                  </a:lnTo>
                  <a:close/>
                  <a:moveTo>
                    <a:pt x="2727" y="7333"/>
                  </a:moveTo>
                  <a:lnTo>
                    <a:pt x="3203" y="7810"/>
                  </a:lnTo>
                  <a:lnTo>
                    <a:pt x="2799" y="8226"/>
                  </a:lnTo>
                  <a:cubicBezTo>
                    <a:pt x="2787" y="8238"/>
                    <a:pt x="2763" y="8262"/>
                    <a:pt x="2739" y="8298"/>
                  </a:cubicBezTo>
                  <a:lnTo>
                    <a:pt x="2310" y="7869"/>
                  </a:lnTo>
                  <a:cubicBezTo>
                    <a:pt x="2287" y="7833"/>
                    <a:pt x="2287" y="7774"/>
                    <a:pt x="2310" y="7750"/>
                  </a:cubicBezTo>
                  <a:lnTo>
                    <a:pt x="2727" y="7333"/>
                  </a:lnTo>
                  <a:close/>
                  <a:moveTo>
                    <a:pt x="9311" y="916"/>
                  </a:moveTo>
                  <a:lnTo>
                    <a:pt x="10740" y="2345"/>
                  </a:lnTo>
                  <a:lnTo>
                    <a:pt x="10299" y="3821"/>
                  </a:lnTo>
                  <a:lnTo>
                    <a:pt x="5597" y="8524"/>
                  </a:lnTo>
                  <a:lnTo>
                    <a:pt x="4680" y="7595"/>
                  </a:lnTo>
                  <a:lnTo>
                    <a:pt x="6823" y="5452"/>
                  </a:lnTo>
                  <a:cubicBezTo>
                    <a:pt x="6966" y="5309"/>
                    <a:pt x="7001" y="5035"/>
                    <a:pt x="6811" y="4833"/>
                  </a:cubicBezTo>
                  <a:cubicBezTo>
                    <a:pt x="6728" y="4750"/>
                    <a:pt x="6617" y="4708"/>
                    <a:pt x="6506" y="4708"/>
                  </a:cubicBezTo>
                  <a:cubicBezTo>
                    <a:pt x="6394" y="4708"/>
                    <a:pt x="6281" y="4750"/>
                    <a:pt x="6192" y="4833"/>
                  </a:cubicBezTo>
                  <a:lnTo>
                    <a:pt x="4049" y="6976"/>
                  </a:lnTo>
                  <a:lnTo>
                    <a:pt x="3132" y="6047"/>
                  </a:lnTo>
                  <a:lnTo>
                    <a:pt x="7835" y="1344"/>
                  </a:lnTo>
                  <a:lnTo>
                    <a:pt x="9311" y="916"/>
                  </a:lnTo>
                  <a:close/>
                  <a:moveTo>
                    <a:pt x="6495" y="5047"/>
                  </a:moveTo>
                  <a:cubicBezTo>
                    <a:pt x="6522" y="5047"/>
                    <a:pt x="6549" y="5059"/>
                    <a:pt x="6573" y="5083"/>
                  </a:cubicBezTo>
                  <a:cubicBezTo>
                    <a:pt x="6609" y="5131"/>
                    <a:pt x="6609" y="5178"/>
                    <a:pt x="6573" y="5226"/>
                  </a:cubicBezTo>
                  <a:lnTo>
                    <a:pt x="4311" y="7488"/>
                  </a:lnTo>
                  <a:lnTo>
                    <a:pt x="3203" y="8595"/>
                  </a:lnTo>
                  <a:cubicBezTo>
                    <a:pt x="3180" y="8619"/>
                    <a:pt x="3153" y="8631"/>
                    <a:pt x="3127" y="8631"/>
                  </a:cubicBezTo>
                  <a:cubicBezTo>
                    <a:pt x="3102" y="8631"/>
                    <a:pt x="3078" y="8619"/>
                    <a:pt x="3060" y="8595"/>
                  </a:cubicBezTo>
                  <a:cubicBezTo>
                    <a:pt x="3013" y="8548"/>
                    <a:pt x="3013" y="8488"/>
                    <a:pt x="3060" y="8441"/>
                  </a:cubicBezTo>
                  <a:lnTo>
                    <a:pt x="6418" y="5083"/>
                  </a:lnTo>
                  <a:cubicBezTo>
                    <a:pt x="6442" y="5059"/>
                    <a:pt x="6469" y="5047"/>
                    <a:pt x="6495" y="5047"/>
                  </a:cubicBezTo>
                  <a:close/>
                  <a:moveTo>
                    <a:pt x="4430" y="7857"/>
                  </a:moveTo>
                  <a:lnTo>
                    <a:pt x="5346" y="8786"/>
                  </a:lnTo>
                  <a:lnTo>
                    <a:pt x="5001" y="9119"/>
                  </a:lnTo>
                  <a:lnTo>
                    <a:pt x="4989" y="9119"/>
                  </a:lnTo>
                  <a:lnTo>
                    <a:pt x="4084" y="8202"/>
                  </a:lnTo>
                  <a:lnTo>
                    <a:pt x="4430" y="7857"/>
                  </a:lnTo>
                  <a:close/>
                  <a:moveTo>
                    <a:pt x="3846" y="8429"/>
                  </a:moveTo>
                  <a:lnTo>
                    <a:pt x="4323" y="8905"/>
                  </a:lnTo>
                  <a:lnTo>
                    <a:pt x="3906" y="9322"/>
                  </a:lnTo>
                  <a:cubicBezTo>
                    <a:pt x="3894" y="9334"/>
                    <a:pt x="3858" y="9357"/>
                    <a:pt x="3846" y="9357"/>
                  </a:cubicBezTo>
                  <a:cubicBezTo>
                    <a:pt x="3834" y="9357"/>
                    <a:pt x="3811" y="9357"/>
                    <a:pt x="3787" y="9322"/>
                  </a:cubicBezTo>
                  <a:lnTo>
                    <a:pt x="3358" y="8905"/>
                  </a:lnTo>
                  <a:cubicBezTo>
                    <a:pt x="3382" y="8893"/>
                    <a:pt x="3394" y="8881"/>
                    <a:pt x="3430" y="8845"/>
                  </a:cubicBezTo>
                  <a:lnTo>
                    <a:pt x="3846" y="8429"/>
                  </a:lnTo>
                  <a:close/>
                  <a:moveTo>
                    <a:pt x="11322" y="1"/>
                  </a:moveTo>
                  <a:cubicBezTo>
                    <a:pt x="11295" y="1"/>
                    <a:pt x="11267" y="4"/>
                    <a:pt x="11240" y="11"/>
                  </a:cubicBezTo>
                  <a:cubicBezTo>
                    <a:pt x="10514" y="213"/>
                    <a:pt x="8394" y="844"/>
                    <a:pt x="7704" y="1035"/>
                  </a:cubicBezTo>
                  <a:cubicBezTo>
                    <a:pt x="7668" y="1047"/>
                    <a:pt x="7656" y="1059"/>
                    <a:pt x="7621" y="1083"/>
                  </a:cubicBezTo>
                  <a:lnTo>
                    <a:pt x="5263" y="3440"/>
                  </a:lnTo>
                  <a:lnTo>
                    <a:pt x="4203" y="3535"/>
                  </a:lnTo>
                  <a:cubicBezTo>
                    <a:pt x="2703" y="3654"/>
                    <a:pt x="1286" y="4321"/>
                    <a:pt x="227" y="5381"/>
                  </a:cubicBezTo>
                  <a:cubicBezTo>
                    <a:pt x="1" y="5595"/>
                    <a:pt x="143" y="5988"/>
                    <a:pt x="465" y="6024"/>
                  </a:cubicBezTo>
                  <a:lnTo>
                    <a:pt x="2525" y="6190"/>
                  </a:lnTo>
                  <a:lnTo>
                    <a:pt x="2310" y="6405"/>
                  </a:lnTo>
                  <a:cubicBezTo>
                    <a:pt x="2179" y="6536"/>
                    <a:pt x="2179" y="6750"/>
                    <a:pt x="2310" y="6881"/>
                  </a:cubicBezTo>
                  <a:lnTo>
                    <a:pt x="2525" y="7083"/>
                  </a:lnTo>
                  <a:lnTo>
                    <a:pt x="2108" y="7500"/>
                  </a:lnTo>
                  <a:cubicBezTo>
                    <a:pt x="1941" y="7667"/>
                    <a:pt x="1941" y="7941"/>
                    <a:pt x="2108" y="8095"/>
                  </a:cubicBezTo>
                  <a:lnTo>
                    <a:pt x="3561" y="9560"/>
                  </a:lnTo>
                  <a:cubicBezTo>
                    <a:pt x="3644" y="9643"/>
                    <a:pt x="3751" y="9685"/>
                    <a:pt x="3858" y="9685"/>
                  </a:cubicBezTo>
                  <a:cubicBezTo>
                    <a:pt x="3965" y="9685"/>
                    <a:pt x="4073" y="9643"/>
                    <a:pt x="4156" y="9560"/>
                  </a:cubicBezTo>
                  <a:lnTo>
                    <a:pt x="4573" y="9143"/>
                  </a:lnTo>
                  <a:lnTo>
                    <a:pt x="4763" y="9334"/>
                  </a:lnTo>
                  <a:cubicBezTo>
                    <a:pt x="4835" y="9399"/>
                    <a:pt x="4924" y="9432"/>
                    <a:pt x="5015" y="9432"/>
                  </a:cubicBezTo>
                  <a:cubicBezTo>
                    <a:pt x="5105" y="9432"/>
                    <a:pt x="5198" y="9399"/>
                    <a:pt x="5275" y="9334"/>
                  </a:cubicBezTo>
                  <a:lnTo>
                    <a:pt x="5477" y="9131"/>
                  </a:lnTo>
                  <a:lnTo>
                    <a:pt x="5656" y="11179"/>
                  </a:lnTo>
                  <a:cubicBezTo>
                    <a:pt x="5680" y="11334"/>
                    <a:pt x="5763" y="11453"/>
                    <a:pt x="5894" y="11500"/>
                  </a:cubicBezTo>
                  <a:cubicBezTo>
                    <a:pt x="5935" y="11511"/>
                    <a:pt x="5975" y="11516"/>
                    <a:pt x="6015" y="11516"/>
                  </a:cubicBezTo>
                  <a:cubicBezTo>
                    <a:pt x="6115" y="11516"/>
                    <a:pt x="6210" y="11482"/>
                    <a:pt x="6287" y="11405"/>
                  </a:cubicBezTo>
                  <a:cubicBezTo>
                    <a:pt x="6942" y="10750"/>
                    <a:pt x="7430" y="9977"/>
                    <a:pt x="7763" y="9119"/>
                  </a:cubicBezTo>
                  <a:cubicBezTo>
                    <a:pt x="7787" y="9024"/>
                    <a:pt x="7740" y="8941"/>
                    <a:pt x="7656" y="8893"/>
                  </a:cubicBezTo>
                  <a:cubicBezTo>
                    <a:pt x="7635" y="8885"/>
                    <a:pt x="7614" y="8881"/>
                    <a:pt x="7594" y="8881"/>
                  </a:cubicBezTo>
                  <a:cubicBezTo>
                    <a:pt x="7525" y="8881"/>
                    <a:pt x="7467" y="8926"/>
                    <a:pt x="7430" y="9000"/>
                  </a:cubicBezTo>
                  <a:cubicBezTo>
                    <a:pt x="7132" y="9810"/>
                    <a:pt x="6656" y="10560"/>
                    <a:pt x="6037" y="11167"/>
                  </a:cubicBezTo>
                  <a:cubicBezTo>
                    <a:pt x="6027" y="11172"/>
                    <a:pt x="6015" y="11175"/>
                    <a:pt x="6005" y="11175"/>
                  </a:cubicBezTo>
                  <a:cubicBezTo>
                    <a:pt x="5990" y="11175"/>
                    <a:pt x="5978" y="11169"/>
                    <a:pt x="5978" y="11155"/>
                  </a:cubicBezTo>
                  <a:lnTo>
                    <a:pt x="5763" y="8822"/>
                  </a:lnTo>
                  <a:lnTo>
                    <a:pt x="7835" y="6750"/>
                  </a:lnTo>
                  <a:lnTo>
                    <a:pt x="7835" y="6750"/>
                  </a:lnTo>
                  <a:cubicBezTo>
                    <a:pt x="7763" y="7583"/>
                    <a:pt x="7740" y="7810"/>
                    <a:pt x="7656" y="8238"/>
                  </a:cubicBezTo>
                  <a:cubicBezTo>
                    <a:pt x="7644" y="8322"/>
                    <a:pt x="7680" y="8417"/>
                    <a:pt x="7787" y="8441"/>
                  </a:cubicBezTo>
                  <a:cubicBezTo>
                    <a:pt x="7803" y="8445"/>
                    <a:pt x="7819" y="8447"/>
                    <a:pt x="7834" y="8447"/>
                  </a:cubicBezTo>
                  <a:cubicBezTo>
                    <a:pt x="7909" y="8447"/>
                    <a:pt x="7972" y="8399"/>
                    <a:pt x="8002" y="8310"/>
                  </a:cubicBezTo>
                  <a:cubicBezTo>
                    <a:pt x="8121" y="7786"/>
                    <a:pt x="8121" y="7548"/>
                    <a:pt x="8216" y="6393"/>
                  </a:cubicBezTo>
                  <a:lnTo>
                    <a:pt x="10585" y="4023"/>
                  </a:lnTo>
                  <a:cubicBezTo>
                    <a:pt x="10597" y="4011"/>
                    <a:pt x="10621" y="3976"/>
                    <a:pt x="10633" y="3952"/>
                  </a:cubicBezTo>
                  <a:lnTo>
                    <a:pt x="11109" y="2345"/>
                  </a:lnTo>
                  <a:lnTo>
                    <a:pt x="11669" y="404"/>
                  </a:lnTo>
                  <a:cubicBezTo>
                    <a:pt x="11711" y="193"/>
                    <a:pt x="11529" y="1"/>
                    <a:pt x="1132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949;p50">
              <a:extLst>
                <a:ext uri="{FF2B5EF4-FFF2-40B4-BE49-F238E27FC236}">
                  <a16:creationId xmlns:a16="http://schemas.microsoft.com/office/drawing/2014/main" id="{0E034A1A-361D-430B-BD52-6D0AB6ACB680}"/>
                </a:ext>
              </a:extLst>
            </p:cNvPr>
            <p:cNvSpPr/>
            <p:nvPr/>
          </p:nvSpPr>
          <p:spPr>
            <a:xfrm>
              <a:off x="1070396" y="2832057"/>
              <a:ext cx="90406" cy="69035"/>
            </a:xfrm>
            <a:custGeom>
              <a:avLst/>
              <a:gdLst/>
              <a:ahLst/>
              <a:cxnLst/>
              <a:rect l="l" t="t" r="r" b="b"/>
              <a:pathLst>
                <a:path w="2847" h="2174" extrusionOk="0">
                  <a:moveTo>
                    <a:pt x="1730" y="0"/>
                  </a:moveTo>
                  <a:cubicBezTo>
                    <a:pt x="1668" y="0"/>
                    <a:pt x="1610" y="44"/>
                    <a:pt x="1584" y="114"/>
                  </a:cubicBezTo>
                  <a:cubicBezTo>
                    <a:pt x="1537" y="197"/>
                    <a:pt x="1584" y="293"/>
                    <a:pt x="1668" y="328"/>
                  </a:cubicBezTo>
                  <a:cubicBezTo>
                    <a:pt x="2179" y="554"/>
                    <a:pt x="2299" y="1221"/>
                    <a:pt x="1906" y="1614"/>
                  </a:cubicBezTo>
                  <a:cubicBezTo>
                    <a:pt x="1751" y="1769"/>
                    <a:pt x="1551" y="1846"/>
                    <a:pt x="1350" y="1846"/>
                  </a:cubicBezTo>
                  <a:cubicBezTo>
                    <a:pt x="1150" y="1846"/>
                    <a:pt x="947" y="1769"/>
                    <a:pt x="786" y="1614"/>
                  </a:cubicBezTo>
                  <a:cubicBezTo>
                    <a:pt x="405" y="1221"/>
                    <a:pt x="525" y="566"/>
                    <a:pt x="1025" y="328"/>
                  </a:cubicBezTo>
                  <a:cubicBezTo>
                    <a:pt x="1120" y="293"/>
                    <a:pt x="1144" y="197"/>
                    <a:pt x="1120" y="114"/>
                  </a:cubicBezTo>
                  <a:cubicBezTo>
                    <a:pt x="1083" y="41"/>
                    <a:pt x="1019" y="10"/>
                    <a:pt x="954" y="10"/>
                  </a:cubicBezTo>
                  <a:cubicBezTo>
                    <a:pt x="934" y="10"/>
                    <a:pt x="913" y="13"/>
                    <a:pt x="894" y="19"/>
                  </a:cubicBezTo>
                  <a:cubicBezTo>
                    <a:pt x="179" y="352"/>
                    <a:pt x="1" y="1281"/>
                    <a:pt x="572" y="1852"/>
                  </a:cubicBezTo>
                  <a:cubicBezTo>
                    <a:pt x="786" y="2078"/>
                    <a:pt x="1072" y="2174"/>
                    <a:pt x="1370" y="2174"/>
                  </a:cubicBezTo>
                  <a:cubicBezTo>
                    <a:pt x="2334" y="2162"/>
                    <a:pt x="2846" y="947"/>
                    <a:pt x="2132" y="245"/>
                  </a:cubicBezTo>
                  <a:cubicBezTo>
                    <a:pt x="2037" y="150"/>
                    <a:pt x="1918" y="66"/>
                    <a:pt x="1798" y="19"/>
                  </a:cubicBezTo>
                  <a:cubicBezTo>
                    <a:pt x="1776" y="6"/>
                    <a:pt x="1753" y="0"/>
                    <a:pt x="17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 name="CaixaDeTexto 54">
            <a:extLst>
              <a:ext uri="{FF2B5EF4-FFF2-40B4-BE49-F238E27FC236}">
                <a16:creationId xmlns:a16="http://schemas.microsoft.com/office/drawing/2014/main" id="{5151331E-ED22-483C-9A5F-F39D02811185}"/>
              </a:ext>
            </a:extLst>
          </p:cNvPr>
          <p:cNvSpPr txBox="1"/>
          <p:nvPr/>
        </p:nvSpPr>
        <p:spPr>
          <a:xfrm>
            <a:off x="7826628" y="1910489"/>
            <a:ext cx="1498347" cy="307777"/>
          </a:xfrm>
          <a:prstGeom prst="rect">
            <a:avLst/>
          </a:prstGeom>
          <a:solidFill>
            <a:srgbClr val="D8CDF6"/>
          </a:solidFill>
        </p:spPr>
        <p:txBody>
          <a:bodyPr wrap="square" rtlCol="0">
            <a:spAutoFit/>
          </a:bodyPr>
          <a:lstStyle/>
          <a:p>
            <a:r>
              <a:rPr lang="pt-BR" sz="1400" b="1" dirty="0">
                <a:solidFill>
                  <a:srgbClr val="9E2289"/>
                </a:solidFill>
                <a:latin typeface="Arial" panose="020B0604020202020204" pitchFamily="34" charset="0"/>
                <a:cs typeface="Arial" panose="020B0604020202020204" pitchFamily="34" charset="0"/>
              </a:rPr>
              <a:t>Top Promotor</a:t>
            </a:r>
          </a:p>
        </p:txBody>
      </p:sp>
      <p:sp>
        <p:nvSpPr>
          <p:cNvPr id="56" name="CaixaDeTexto 55">
            <a:extLst>
              <a:ext uri="{FF2B5EF4-FFF2-40B4-BE49-F238E27FC236}">
                <a16:creationId xmlns:a16="http://schemas.microsoft.com/office/drawing/2014/main" id="{3D7D8EBC-45F0-466E-AA24-76F7AF55B24C}"/>
              </a:ext>
            </a:extLst>
          </p:cNvPr>
          <p:cNvSpPr txBox="1"/>
          <p:nvPr/>
        </p:nvSpPr>
        <p:spPr>
          <a:xfrm>
            <a:off x="7785196" y="2236917"/>
            <a:ext cx="3104740" cy="1169551"/>
          </a:xfrm>
          <a:prstGeom prst="rect">
            <a:avLst/>
          </a:prstGeom>
          <a:noFill/>
        </p:spPr>
        <p:txBody>
          <a:bodyPr wrap="square" rtlCol="0">
            <a:spAutoFit/>
          </a:bodyPr>
          <a:lstStyle/>
          <a:p>
            <a:r>
              <a:rPr lang="pt-BR" sz="1400" dirty="0">
                <a:solidFill>
                  <a:srgbClr val="9E2289"/>
                </a:solidFill>
                <a:latin typeface="Arial" panose="020B0604020202020204" pitchFamily="34" charset="0"/>
                <a:cs typeface="Arial" panose="020B0604020202020204" pitchFamily="34" charset="0"/>
              </a:rPr>
              <a:t>Isaque Jose Padilha</a:t>
            </a:r>
          </a:p>
          <a:p>
            <a:r>
              <a:rPr lang="pt-BR" sz="1400" dirty="0">
                <a:solidFill>
                  <a:srgbClr val="9E2289"/>
                </a:solidFill>
                <a:latin typeface="Arial" panose="020B0604020202020204" pitchFamily="34" charset="0"/>
                <a:cs typeface="Arial" panose="020B0604020202020204" pitchFamily="34" charset="0"/>
              </a:rPr>
              <a:t>Andressa Kelly Menezes Oliveira</a:t>
            </a:r>
          </a:p>
          <a:p>
            <a:r>
              <a:rPr lang="pt-BR" sz="1400" dirty="0">
                <a:solidFill>
                  <a:srgbClr val="9E2289"/>
                </a:solidFill>
                <a:latin typeface="Arial" panose="020B0604020202020204" pitchFamily="34" charset="0"/>
                <a:cs typeface="Arial" panose="020B0604020202020204" pitchFamily="34" charset="0"/>
              </a:rPr>
              <a:t>Raquel </a:t>
            </a:r>
            <a:r>
              <a:rPr lang="pt-BR" sz="1400" dirty="0" err="1">
                <a:solidFill>
                  <a:srgbClr val="9E2289"/>
                </a:solidFill>
                <a:latin typeface="Arial" panose="020B0604020202020204" pitchFamily="34" charset="0"/>
                <a:cs typeface="Arial" panose="020B0604020202020204" pitchFamily="34" charset="0"/>
              </a:rPr>
              <a:t>Hirt</a:t>
            </a:r>
            <a:r>
              <a:rPr lang="pt-BR" sz="1400" dirty="0">
                <a:solidFill>
                  <a:srgbClr val="9E2289"/>
                </a:solidFill>
                <a:latin typeface="Arial" panose="020B0604020202020204" pitchFamily="34" charset="0"/>
                <a:cs typeface="Arial" panose="020B0604020202020204" pitchFamily="34" charset="0"/>
              </a:rPr>
              <a:t> Rocha</a:t>
            </a:r>
          </a:p>
          <a:p>
            <a:r>
              <a:rPr lang="pt-BR" sz="1400" dirty="0">
                <a:solidFill>
                  <a:srgbClr val="9E2289"/>
                </a:solidFill>
                <a:latin typeface="Arial" panose="020B0604020202020204" pitchFamily="34" charset="0"/>
                <a:cs typeface="Arial" panose="020B0604020202020204" pitchFamily="34" charset="0"/>
              </a:rPr>
              <a:t>Diego Aguiar </a:t>
            </a:r>
            <a:r>
              <a:rPr lang="pt-BR" sz="1400" dirty="0" err="1">
                <a:solidFill>
                  <a:srgbClr val="9E2289"/>
                </a:solidFill>
                <a:latin typeface="Arial" panose="020B0604020202020204" pitchFamily="34" charset="0"/>
                <a:cs typeface="Arial" panose="020B0604020202020204" pitchFamily="34" charset="0"/>
              </a:rPr>
              <a:t>Zegunis</a:t>
            </a:r>
            <a:endParaRPr lang="pt-BR" sz="1400" dirty="0">
              <a:solidFill>
                <a:srgbClr val="9E2289"/>
              </a:solidFill>
              <a:latin typeface="Arial" panose="020B0604020202020204" pitchFamily="34" charset="0"/>
              <a:cs typeface="Arial" panose="020B0604020202020204" pitchFamily="34" charset="0"/>
            </a:endParaRPr>
          </a:p>
          <a:p>
            <a:r>
              <a:rPr lang="pt-BR" sz="1400" dirty="0">
                <a:solidFill>
                  <a:srgbClr val="9E2289"/>
                </a:solidFill>
                <a:latin typeface="Arial" panose="020B0604020202020204" pitchFamily="34" charset="0"/>
                <a:cs typeface="Arial" panose="020B0604020202020204" pitchFamily="34" charset="0"/>
              </a:rPr>
              <a:t>Gabriel </a:t>
            </a:r>
            <a:r>
              <a:rPr lang="pt-BR" sz="1400" dirty="0" err="1">
                <a:solidFill>
                  <a:srgbClr val="9E2289"/>
                </a:solidFill>
                <a:latin typeface="Arial" panose="020B0604020202020204" pitchFamily="34" charset="0"/>
                <a:cs typeface="Arial" panose="020B0604020202020204" pitchFamily="34" charset="0"/>
              </a:rPr>
              <a:t>Fragozo</a:t>
            </a:r>
            <a:r>
              <a:rPr lang="pt-BR" sz="1400" dirty="0">
                <a:solidFill>
                  <a:srgbClr val="9E2289"/>
                </a:solidFill>
                <a:latin typeface="Arial" panose="020B0604020202020204" pitchFamily="34" charset="0"/>
                <a:cs typeface="Arial" panose="020B0604020202020204" pitchFamily="34" charset="0"/>
              </a:rPr>
              <a:t> Da Silva</a:t>
            </a:r>
          </a:p>
        </p:txBody>
      </p:sp>
      <p:sp>
        <p:nvSpPr>
          <p:cNvPr id="65" name="Retângulo: Cantos Arredondados 64">
            <a:extLst>
              <a:ext uri="{FF2B5EF4-FFF2-40B4-BE49-F238E27FC236}">
                <a16:creationId xmlns:a16="http://schemas.microsoft.com/office/drawing/2014/main" id="{BC700C3C-D613-4864-AB92-6017CB7A1E70}"/>
              </a:ext>
            </a:extLst>
          </p:cNvPr>
          <p:cNvSpPr/>
          <p:nvPr/>
        </p:nvSpPr>
        <p:spPr>
          <a:xfrm>
            <a:off x="7138142" y="3715935"/>
            <a:ext cx="4128654" cy="2137417"/>
          </a:xfrm>
          <a:prstGeom prst="roundRect">
            <a:avLst/>
          </a:prstGeom>
          <a:solidFill>
            <a:schemeClr val="bg1">
              <a:lumMod val="95000"/>
            </a:schemeClr>
          </a:solidFill>
          <a:ln>
            <a:noFill/>
          </a:ln>
          <a:effectLst>
            <a:outerShdw dist="101600" dir="10740000" algn="t" rotWithShape="0">
              <a:srgbClr val="9E2289"/>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66" name="Google Shape;1944;p50">
            <a:extLst>
              <a:ext uri="{FF2B5EF4-FFF2-40B4-BE49-F238E27FC236}">
                <a16:creationId xmlns:a16="http://schemas.microsoft.com/office/drawing/2014/main" id="{D992BF29-30A3-4BE4-B7C7-5CC12855C680}"/>
              </a:ext>
            </a:extLst>
          </p:cNvPr>
          <p:cNvGrpSpPr/>
          <p:nvPr/>
        </p:nvGrpSpPr>
        <p:grpSpPr>
          <a:xfrm rot="10417960">
            <a:off x="7308879" y="3900832"/>
            <a:ext cx="476316" cy="468384"/>
            <a:chOff x="860940" y="2746477"/>
            <a:chExt cx="371883" cy="365691"/>
          </a:xfrm>
          <a:solidFill>
            <a:srgbClr val="9E2289"/>
          </a:solidFill>
        </p:grpSpPr>
        <p:sp>
          <p:nvSpPr>
            <p:cNvPr id="67" name="Google Shape;1945;p50">
              <a:extLst>
                <a:ext uri="{FF2B5EF4-FFF2-40B4-BE49-F238E27FC236}">
                  <a16:creationId xmlns:a16="http://schemas.microsoft.com/office/drawing/2014/main" id="{D17A3269-EA0E-4DCD-A7FA-DB45599C4B11}"/>
                </a:ext>
              </a:extLst>
            </p:cNvPr>
            <p:cNvSpPr/>
            <p:nvPr/>
          </p:nvSpPr>
          <p:spPr>
            <a:xfrm>
              <a:off x="908191" y="3026302"/>
              <a:ext cx="30294" cy="28961"/>
            </a:xfrm>
            <a:custGeom>
              <a:avLst/>
              <a:gdLst/>
              <a:ahLst/>
              <a:cxnLst/>
              <a:rect l="l" t="t" r="r" b="b"/>
              <a:pathLst>
                <a:path w="954" h="912" extrusionOk="0">
                  <a:moveTo>
                    <a:pt x="763" y="1"/>
                  </a:moveTo>
                  <a:cubicBezTo>
                    <a:pt x="718" y="1"/>
                    <a:pt x="674" y="16"/>
                    <a:pt x="644" y="45"/>
                  </a:cubicBezTo>
                  <a:lnTo>
                    <a:pt x="60" y="629"/>
                  </a:lnTo>
                  <a:cubicBezTo>
                    <a:pt x="1" y="688"/>
                    <a:pt x="1" y="807"/>
                    <a:pt x="60" y="867"/>
                  </a:cubicBezTo>
                  <a:cubicBezTo>
                    <a:pt x="90" y="897"/>
                    <a:pt x="135" y="911"/>
                    <a:pt x="179" y="911"/>
                  </a:cubicBezTo>
                  <a:cubicBezTo>
                    <a:pt x="224" y="911"/>
                    <a:pt x="269" y="897"/>
                    <a:pt x="299" y="867"/>
                  </a:cubicBezTo>
                  <a:lnTo>
                    <a:pt x="882" y="283"/>
                  </a:lnTo>
                  <a:cubicBezTo>
                    <a:pt x="953" y="224"/>
                    <a:pt x="953" y="105"/>
                    <a:pt x="882" y="45"/>
                  </a:cubicBezTo>
                  <a:cubicBezTo>
                    <a:pt x="852" y="16"/>
                    <a:pt x="807" y="1"/>
                    <a:pt x="76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946;p50">
              <a:extLst>
                <a:ext uri="{FF2B5EF4-FFF2-40B4-BE49-F238E27FC236}">
                  <a16:creationId xmlns:a16="http://schemas.microsoft.com/office/drawing/2014/main" id="{619D078A-CF76-4D11-B528-09456D759EBC}"/>
                </a:ext>
              </a:extLst>
            </p:cNvPr>
            <p:cNvSpPr/>
            <p:nvPr/>
          </p:nvSpPr>
          <p:spPr>
            <a:xfrm>
              <a:off x="943757" y="3061836"/>
              <a:ext cx="30263" cy="28961"/>
            </a:xfrm>
            <a:custGeom>
              <a:avLst/>
              <a:gdLst/>
              <a:ahLst/>
              <a:cxnLst/>
              <a:rect l="l" t="t" r="r" b="b"/>
              <a:pathLst>
                <a:path w="953" h="912" extrusionOk="0">
                  <a:moveTo>
                    <a:pt x="762" y="1"/>
                  </a:moveTo>
                  <a:cubicBezTo>
                    <a:pt x="717" y="1"/>
                    <a:pt x="673" y="16"/>
                    <a:pt x="643" y="46"/>
                  </a:cubicBezTo>
                  <a:lnTo>
                    <a:pt x="60" y="629"/>
                  </a:lnTo>
                  <a:cubicBezTo>
                    <a:pt x="0" y="688"/>
                    <a:pt x="0" y="807"/>
                    <a:pt x="60" y="867"/>
                  </a:cubicBezTo>
                  <a:cubicBezTo>
                    <a:pt x="89" y="897"/>
                    <a:pt x="134" y="912"/>
                    <a:pt x="179" y="912"/>
                  </a:cubicBezTo>
                  <a:cubicBezTo>
                    <a:pt x="223" y="912"/>
                    <a:pt x="268" y="897"/>
                    <a:pt x="298" y="867"/>
                  </a:cubicBezTo>
                  <a:lnTo>
                    <a:pt x="881" y="284"/>
                  </a:lnTo>
                  <a:cubicBezTo>
                    <a:pt x="953" y="224"/>
                    <a:pt x="953" y="105"/>
                    <a:pt x="881" y="46"/>
                  </a:cubicBezTo>
                  <a:cubicBezTo>
                    <a:pt x="851" y="16"/>
                    <a:pt x="807" y="1"/>
                    <a:pt x="7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947;p50">
              <a:extLst>
                <a:ext uri="{FF2B5EF4-FFF2-40B4-BE49-F238E27FC236}">
                  <a16:creationId xmlns:a16="http://schemas.microsoft.com/office/drawing/2014/main" id="{B4EF2116-4816-47AF-A2F4-BF0E390808D8}"/>
                </a:ext>
              </a:extLst>
            </p:cNvPr>
            <p:cNvSpPr/>
            <p:nvPr/>
          </p:nvSpPr>
          <p:spPr>
            <a:xfrm>
              <a:off x="926355" y="3044085"/>
              <a:ext cx="29881" cy="28579"/>
            </a:xfrm>
            <a:custGeom>
              <a:avLst/>
              <a:gdLst/>
              <a:ahLst/>
              <a:cxnLst/>
              <a:rect l="l" t="t" r="r" b="b"/>
              <a:pathLst>
                <a:path w="941" h="900" extrusionOk="0">
                  <a:moveTo>
                    <a:pt x="762" y="0"/>
                  </a:moveTo>
                  <a:cubicBezTo>
                    <a:pt x="718" y="0"/>
                    <a:pt x="673" y="15"/>
                    <a:pt x="643" y="45"/>
                  </a:cubicBezTo>
                  <a:lnTo>
                    <a:pt x="60" y="616"/>
                  </a:lnTo>
                  <a:cubicBezTo>
                    <a:pt x="0" y="676"/>
                    <a:pt x="0" y="795"/>
                    <a:pt x="60" y="855"/>
                  </a:cubicBezTo>
                  <a:cubicBezTo>
                    <a:pt x="90" y="884"/>
                    <a:pt x="134" y="899"/>
                    <a:pt x="179" y="899"/>
                  </a:cubicBezTo>
                  <a:cubicBezTo>
                    <a:pt x="224" y="899"/>
                    <a:pt x="268" y="884"/>
                    <a:pt x="298" y="855"/>
                  </a:cubicBezTo>
                  <a:lnTo>
                    <a:pt x="881" y="283"/>
                  </a:lnTo>
                  <a:cubicBezTo>
                    <a:pt x="941" y="224"/>
                    <a:pt x="941" y="116"/>
                    <a:pt x="881" y="45"/>
                  </a:cubicBezTo>
                  <a:cubicBezTo>
                    <a:pt x="852" y="15"/>
                    <a:pt x="807" y="0"/>
                    <a:pt x="76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948;p50">
              <a:extLst>
                <a:ext uri="{FF2B5EF4-FFF2-40B4-BE49-F238E27FC236}">
                  <a16:creationId xmlns:a16="http://schemas.microsoft.com/office/drawing/2014/main" id="{AF85CE36-5327-4CFD-9945-648968C30A0B}"/>
                </a:ext>
              </a:extLst>
            </p:cNvPr>
            <p:cNvSpPr/>
            <p:nvPr/>
          </p:nvSpPr>
          <p:spPr>
            <a:xfrm>
              <a:off x="860940" y="2746477"/>
              <a:ext cx="371883" cy="365691"/>
            </a:xfrm>
            <a:custGeom>
              <a:avLst/>
              <a:gdLst/>
              <a:ahLst/>
              <a:cxnLst/>
              <a:rect l="l" t="t" r="r" b="b"/>
              <a:pathLst>
                <a:path w="11711" h="11516" extrusionOk="0">
                  <a:moveTo>
                    <a:pt x="11312" y="344"/>
                  </a:moveTo>
                  <a:lnTo>
                    <a:pt x="10835" y="1987"/>
                  </a:lnTo>
                  <a:lnTo>
                    <a:pt x="9680" y="821"/>
                  </a:lnTo>
                  <a:lnTo>
                    <a:pt x="11312" y="344"/>
                  </a:lnTo>
                  <a:close/>
                  <a:moveTo>
                    <a:pt x="4882" y="3821"/>
                  </a:moveTo>
                  <a:lnTo>
                    <a:pt x="2822" y="5881"/>
                  </a:lnTo>
                  <a:lnTo>
                    <a:pt x="477" y="5690"/>
                  </a:lnTo>
                  <a:cubicBezTo>
                    <a:pt x="453" y="5690"/>
                    <a:pt x="429" y="5643"/>
                    <a:pt x="465" y="5631"/>
                  </a:cubicBezTo>
                  <a:cubicBezTo>
                    <a:pt x="1477" y="4619"/>
                    <a:pt x="2822" y="4000"/>
                    <a:pt x="4227" y="3881"/>
                  </a:cubicBezTo>
                  <a:lnTo>
                    <a:pt x="4882" y="3821"/>
                  </a:lnTo>
                  <a:close/>
                  <a:moveTo>
                    <a:pt x="2894" y="6297"/>
                  </a:moveTo>
                  <a:lnTo>
                    <a:pt x="3811" y="7226"/>
                  </a:lnTo>
                  <a:lnTo>
                    <a:pt x="3477" y="7571"/>
                  </a:lnTo>
                  <a:lnTo>
                    <a:pt x="2549" y="6643"/>
                  </a:lnTo>
                  <a:lnTo>
                    <a:pt x="2894" y="6297"/>
                  </a:lnTo>
                  <a:close/>
                  <a:moveTo>
                    <a:pt x="2727" y="7333"/>
                  </a:moveTo>
                  <a:lnTo>
                    <a:pt x="3203" y="7810"/>
                  </a:lnTo>
                  <a:lnTo>
                    <a:pt x="2799" y="8226"/>
                  </a:lnTo>
                  <a:cubicBezTo>
                    <a:pt x="2787" y="8238"/>
                    <a:pt x="2763" y="8262"/>
                    <a:pt x="2739" y="8298"/>
                  </a:cubicBezTo>
                  <a:lnTo>
                    <a:pt x="2310" y="7869"/>
                  </a:lnTo>
                  <a:cubicBezTo>
                    <a:pt x="2287" y="7833"/>
                    <a:pt x="2287" y="7774"/>
                    <a:pt x="2310" y="7750"/>
                  </a:cubicBezTo>
                  <a:lnTo>
                    <a:pt x="2727" y="7333"/>
                  </a:lnTo>
                  <a:close/>
                  <a:moveTo>
                    <a:pt x="9311" y="916"/>
                  </a:moveTo>
                  <a:lnTo>
                    <a:pt x="10740" y="2345"/>
                  </a:lnTo>
                  <a:lnTo>
                    <a:pt x="10299" y="3821"/>
                  </a:lnTo>
                  <a:lnTo>
                    <a:pt x="5597" y="8524"/>
                  </a:lnTo>
                  <a:lnTo>
                    <a:pt x="4680" y="7595"/>
                  </a:lnTo>
                  <a:lnTo>
                    <a:pt x="6823" y="5452"/>
                  </a:lnTo>
                  <a:cubicBezTo>
                    <a:pt x="6966" y="5309"/>
                    <a:pt x="7001" y="5035"/>
                    <a:pt x="6811" y="4833"/>
                  </a:cubicBezTo>
                  <a:cubicBezTo>
                    <a:pt x="6728" y="4750"/>
                    <a:pt x="6617" y="4708"/>
                    <a:pt x="6506" y="4708"/>
                  </a:cubicBezTo>
                  <a:cubicBezTo>
                    <a:pt x="6394" y="4708"/>
                    <a:pt x="6281" y="4750"/>
                    <a:pt x="6192" y="4833"/>
                  </a:cubicBezTo>
                  <a:lnTo>
                    <a:pt x="4049" y="6976"/>
                  </a:lnTo>
                  <a:lnTo>
                    <a:pt x="3132" y="6047"/>
                  </a:lnTo>
                  <a:lnTo>
                    <a:pt x="7835" y="1344"/>
                  </a:lnTo>
                  <a:lnTo>
                    <a:pt x="9311" y="916"/>
                  </a:lnTo>
                  <a:close/>
                  <a:moveTo>
                    <a:pt x="6495" y="5047"/>
                  </a:moveTo>
                  <a:cubicBezTo>
                    <a:pt x="6522" y="5047"/>
                    <a:pt x="6549" y="5059"/>
                    <a:pt x="6573" y="5083"/>
                  </a:cubicBezTo>
                  <a:cubicBezTo>
                    <a:pt x="6609" y="5131"/>
                    <a:pt x="6609" y="5178"/>
                    <a:pt x="6573" y="5226"/>
                  </a:cubicBezTo>
                  <a:lnTo>
                    <a:pt x="4311" y="7488"/>
                  </a:lnTo>
                  <a:lnTo>
                    <a:pt x="3203" y="8595"/>
                  </a:lnTo>
                  <a:cubicBezTo>
                    <a:pt x="3180" y="8619"/>
                    <a:pt x="3153" y="8631"/>
                    <a:pt x="3127" y="8631"/>
                  </a:cubicBezTo>
                  <a:cubicBezTo>
                    <a:pt x="3102" y="8631"/>
                    <a:pt x="3078" y="8619"/>
                    <a:pt x="3060" y="8595"/>
                  </a:cubicBezTo>
                  <a:cubicBezTo>
                    <a:pt x="3013" y="8548"/>
                    <a:pt x="3013" y="8488"/>
                    <a:pt x="3060" y="8441"/>
                  </a:cubicBezTo>
                  <a:lnTo>
                    <a:pt x="6418" y="5083"/>
                  </a:lnTo>
                  <a:cubicBezTo>
                    <a:pt x="6442" y="5059"/>
                    <a:pt x="6469" y="5047"/>
                    <a:pt x="6495" y="5047"/>
                  </a:cubicBezTo>
                  <a:close/>
                  <a:moveTo>
                    <a:pt x="4430" y="7857"/>
                  </a:moveTo>
                  <a:lnTo>
                    <a:pt x="5346" y="8786"/>
                  </a:lnTo>
                  <a:lnTo>
                    <a:pt x="5001" y="9119"/>
                  </a:lnTo>
                  <a:lnTo>
                    <a:pt x="4989" y="9119"/>
                  </a:lnTo>
                  <a:lnTo>
                    <a:pt x="4084" y="8202"/>
                  </a:lnTo>
                  <a:lnTo>
                    <a:pt x="4430" y="7857"/>
                  </a:lnTo>
                  <a:close/>
                  <a:moveTo>
                    <a:pt x="3846" y="8429"/>
                  </a:moveTo>
                  <a:lnTo>
                    <a:pt x="4323" y="8905"/>
                  </a:lnTo>
                  <a:lnTo>
                    <a:pt x="3906" y="9322"/>
                  </a:lnTo>
                  <a:cubicBezTo>
                    <a:pt x="3894" y="9334"/>
                    <a:pt x="3858" y="9357"/>
                    <a:pt x="3846" y="9357"/>
                  </a:cubicBezTo>
                  <a:cubicBezTo>
                    <a:pt x="3834" y="9357"/>
                    <a:pt x="3811" y="9357"/>
                    <a:pt x="3787" y="9322"/>
                  </a:cubicBezTo>
                  <a:lnTo>
                    <a:pt x="3358" y="8905"/>
                  </a:lnTo>
                  <a:cubicBezTo>
                    <a:pt x="3382" y="8893"/>
                    <a:pt x="3394" y="8881"/>
                    <a:pt x="3430" y="8845"/>
                  </a:cubicBezTo>
                  <a:lnTo>
                    <a:pt x="3846" y="8429"/>
                  </a:lnTo>
                  <a:close/>
                  <a:moveTo>
                    <a:pt x="11322" y="1"/>
                  </a:moveTo>
                  <a:cubicBezTo>
                    <a:pt x="11295" y="1"/>
                    <a:pt x="11267" y="4"/>
                    <a:pt x="11240" y="11"/>
                  </a:cubicBezTo>
                  <a:cubicBezTo>
                    <a:pt x="10514" y="213"/>
                    <a:pt x="8394" y="844"/>
                    <a:pt x="7704" y="1035"/>
                  </a:cubicBezTo>
                  <a:cubicBezTo>
                    <a:pt x="7668" y="1047"/>
                    <a:pt x="7656" y="1059"/>
                    <a:pt x="7621" y="1083"/>
                  </a:cubicBezTo>
                  <a:lnTo>
                    <a:pt x="5263" y="3440"/>
                  </a:lnTo>
                  <a:lnTo>
                    <a:pt x="4203" y="3535"/>
                  </a:lnTo>
                  <a:cubicBezTo>
                    <a:pt x="2703" y="3654"/>
                    <a:pt x="1286" y="4321"/>
                    <a:pt x="227" y="5381"/>
                  </a:cubicBezTo>
                  <a:cubicBezTo>
                    <a:pt x="1" y="5595"/>
                    <a:pt x="143" y="5988"/>
                    <a:pt x="465" y="6024"/>
                  </a:cubicBezTo>
                  <a:lnTo>
                    <a:pt x="2525" y="6190"/>
                  </a:lnTo>
                  <a:lnTo>
                    <a:pt x="2310" y="6405"/>
                  </a:lnTo>
                  <a:cubicBezTo>
                    <a:pt x="2179" y="6536"/>
                    <a:pt x="2179" y="6750"/>
                    <a:pt x="2310" y="6881"/>
                  </a:cubicBezTo>
                  <a:lnTo>
                    <a:pt x="2525" y="7083"/>
                  </a:lnTo>
                  <a:lnTo>
                    <a:pt x="2108" y="7500"/>
                  </a:lnTo>
                  <a:cubicBezTo>
                    <a:pt x="1941" y="7667"/>
                    <a:pt x="1941" y="7941"/>
                    <a:pt x="2108" y="8095"/>
                  </a:cubicBezTo>
                  <a:lnTo>
                    <a:pt x="3561" y="9560"/>
                  </a:lnTo>
                  <a:cubicBezTo>
                    <a:pt x="3644" y="9643"/>
                    <a:pt x="3751" y="9685"/>
                    <a:pt x="3858" y="9685"/>
                  </a:cubicBezTo>
                  <a:cubicBezTo>
                    <a:pt x="3965" y="9685"/>
                    <a:pt x="4073" y="9643"/>
                    <a:pt x="4156" y="9560"/>
                  </a:cubicBezTo>
                  <a:lnTo>
                    <a:pt x="4573" y="9143"/>
                  </a:lnTo>
                  <a:lnTo>
                    <a:pt x="4763" y="9334"/>
                  </a:lnTo>
                  <a:cubicBezTo>
                    <a:pt x="4835" y="9399"/>
                    <a:pt x="4924" y="9432"/>
                    <a:pt x="5015" y="9432"/>
                  </a:cubicBezTo>
                  <a:cubicBezTo>
                    <a:pt x="5105" y="9432"/>
                    <a:pt x="5198" y="9399"/>
                    <a:pt x="5275" y="9334"/>
                  </a:cubicBezTo>
                  <a:lnTo>
                    <a:pt x="5477" y="9131"/>
                  </a:lnTo>
                  <a:lnTo>
                    <a:pt x="5656" y="11179"/>
                  </a:lnTo>
                  <a:cubicBezTo>
                    <a:pt x="5680" y="11334"/>
                    <a:pt x="5763" y="11453"/>
                    <a:pt x="5894" y="11500"/>
                  </a:cubicBezTo>
                  <a:cubicBezTo>
                    <a:pt x="5935" y="11511"/>
                    <a:pt x="5975" y="11516"/>
                    <a:pt x="6015" y="11516"/>
                  </a:cubicBezTo>
                  <a:cubicBezTo>
                    <a:pt x="6115" y="11516"/>
                    <a:pt x="6210" y="11482"/>
                    <a:pt x="6287" y="11405"/>
                  </a:cubicBezTo>
                  <a:cubicBezTo>
                    <a:pt x="6942" y="10750"/>
                    <a:pt x="7430" y="9977"/>
                    <a:pt x="7763" y="9119"/>
                  </a:cubicBezTo>
                  <a:cubicBezTo>
                    <a:pt x="7787" y="9024"/>
                    <a:pt x="7740" y="8941"/>
                    <a:pt x="7656" y="8893"/>
                  </a:cubicBezTo>
                  <a:cubicBezTo>
                    <a:pt x="7635" y="8885"/>
                    <a:pt x="7614" y="8881"/>
                    <a:pt x="7594" y="8881"/>
                  </a:cubicBezTo>
                  <a:cubicBezTo>
                    <a:pt x="7525" y="8881"/>
                    <a:pt x="7467" y="8926"/>
                    <a:pt x="7430" y="9000"/>
                  </a:cubicBezTo>
                  <a:cubicBezTo>
                    <a:pt x="7132" y="9810"/>
                    <a:pt x="6656" y="10560"/>
                    <a:pt x="6037" y="11167"/>
                  </a:cubicBezTo>
                  <a:cubicBezTo>
                    <a:pt x="6027" y="11172"/>
                    <a:pt x="6015" y="11175"/>
                    <a:pt x="6005" y="11175"/>
                  </a:cubicBezTo>
                  <a:cubicBezTo>
                    <a:pt x="5990" y="11175"/>
                    <a:pt x="5978" y="11169"/>
                    <a:pt x="5978" y="11155"/>
                  </a:cubicBezTo>
                  <a:lnTo>
                    <a:pt x="5763" y="8822"/>
                  </a:lnTo>
                  <a:lnTo>
                    <a:pt x="7835" y="6750"/>
                  </a:lnTo>
                  <a:lnTo>
                    <a:pt x="7835" y="6750"/>
                  </a:lnTo>
                  <a:cubicBezTo>
                    <a:pt x="7763" y="7583"/>
                    <a:pt x="7740" y="7810"/>
                    <a:pt x="7656" y="8238"/>
                  </a:cubicBezTo>
                  <a:cubicBezTo>
                    <a:pt x="7644" y="8322"/>
                    <a:pt x="7680" y="8417"/>
                    <a:pt x="7787" y="8441"/>
                  </a:cubicBezTo>
                  <a:cubicBezTo>
                    <a:pt x="7803" y="8445"/>
                    <a:pt x="7819" y="8447"/>
                    <a:pt x="7834" y="8447"/>
                  </a:cubicBezTo>
                  <a:cubicBezTo>
                    <a:pt x="7909" y="8447"/>
                    <a:pt x="7972" y="8399"/>
                    <a:pt x="8002" y="8310"/>
                  </a:cubicBezTo>
                  <a:cubicBezTo>
                    <a:pt x="8121" y="7786"/>
                    <a:pt x="8121" y="7548"/>
                    <a:pt x="8216" y="6393"/>
                  </a:cubicBezTo>
                  <a:lnTo>
                    <a:pt x="10585" y="4023"/>
                  </a:lnTo>
                  <a:cubicBezTo>
                    <a:pt x="10597" y="4011"/>
                    <a:pt x="10621" y="3976"/>
                    <a:pt x="10633" y="3952"/>
                  </a:cubicBezTo>
                  <a:lnTo>
                    <a:pt x="11109" y="2345"/>
                  </a:lnTo>
                  <a:lnTo>
                    <a:pt x="11669" y="404"/>
                  </a:lnTo>
                  <a:cubicBezTo>
                    <a:pt x="11711" y="193"/>
                    <a:pt x="11529" y="1"/>
                    <a:pt x="1132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949;p50">
              <a:extLst>
                <a:ext uri="{FF2B5EF4-FFF2-40B4-BE49-F238E27FC236}">
                  <a16:creationId xmlns:a16="http://schemas.microsoft.com/office/drawing/2014/main" id="{220B1891-A6FD-457A-A82D-A2CA406B1689}"/>
                </a:ext>
              </a:extLst>
            </p:cNvPr>
            <p:cNvSpPr/>
            <p:nvPr/>
          </p:nvSpPr>
          <p:spPr>
            <a:xfrm>
              <a:off x="1070396" y="2832057"/>
              <a:ext cx="90406" cy="69035"/>
            </a:xfrm>
            <a:custGeom>
              <a:avLst/>
              <a:gdLst/>
              <a:ahLst/>
              <a:cxnLst/>
              <a:rect l="l" t="t" r="r" b="b"/>
              <a:pathLst>
                <a:path w="2847" h="2174" extrusionOk="0">
                  <a:moveTo>
                    <a:pt x="1730" y="0"/>
                  </a:moveTo>
                  <a:cubicBezTo>
                    <a:pt x="1668" y="0"/>
                    <a:pt x="1610" y="44"/>
                    <a:pt x="1584" y="114"/>
                  </a:cubicBezTo>
                  <a:cubicBezTo>
                    <a:pt x="1537" y="197"/>
                    <a:pt x="1584" y="293"/>
                    <a:pt x="1668" y="328"/>
                  </a:cubicBezTo>
                  <a:cubicBezTo>
                    <a:pt x="2179" y="554"/>
                    <a:pt x="2299" y="1221"/>
                    <a:pt x="1906" y="1614"/>
                  </a:cubicBezTo>
                  <a:cubicBezTo>
                    <a:pt x="1751" y="1769"/>
                    <a:pt x="1551" y="1846"/>
                    <a:pt x="1350" y="1846"/>
                  </a:cubicBezTo>
                  <a:cubicBezTo>
                    <a:pt x="1150" y="1846"/>
                    <a:pt x="947" y="1769"/>
                    <a:pt x="786" y="1614"/>
                  </a:cubicBezTo>
                  <a:cubicBezTo>
                    <a:pt x="405" y="1221"/>
                    <a:pt x="525" y="566"/>
                    <a:pt x="1025" y="328"/>
                  </a:cubicBezTo>
                  <a:cubicBezTo>
                    <a:pt x="1120" y="293"/>
                    <a:pt x="1144" y="197"/>
                    <a:pt x="1120" y="114"/>
                  </a:cubicBezTo>
                  <a:cubicBezTo>
                    <a:pt x="1083" y="41"/>
                    <a:pt x="1019" y="10"/>
                    <a:pt x="954" y="10"/>
                  </a:cubicBezTo>
                  <a:cubicBezTo>
                    <a:pt x="934" y="10"/>
                    <a:pt x="913" y="13"/>
                    <a:pt x="894" y="19"/>
                  </a:cubicBezTo>
                  <a:cubicBezTo>
                    <a:pt x="179" y="352"/>
                    <a:pt x="1" y="1281"/>
                    <a:pt x="572" y="1852"/>
                  </a:cubicBezTo>
                  <a:cubicBezTo>
                    <a:pt x="786" y="2078"/>
                    <a:pt x="1072" y="2174"/>
                    <a:pt x="1370" y="2174"/>
                  </a:cubicBezTo>
                  <a:cubicBezTo>
                    <a:pt x="2334" y="2162"/>
                    <a:pt x="2846" y="947"/>
                    <a:pt x="2132" y="245"/>
                  </a:cubicBezTo>
                  <a:cubicBezTo>
                    <a:pt x="2037" y="150"/>
                    <a:pt x="1918" y="66"/>
                    <a:pt x="1798" y="19"/>
                  </a:cubicBezTo>
                  <a:cubicBezTo>
                    <a:pt x="1776" y="6"/>
                    <a:pt x="1753" y="0"/>
                    <a:pt x="17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 name="CaixaDeTexto 71">
            <a:extLst>
              <a:ext uri="{FF2B5EF4-FFF2-40B4-BE49-F238E27FC236}">
                <a16:creationId xmlns:a16="http://schemas.microsoft.com/office/drawing/2014/main" id="{F549BB60-0BF1-41F3-853E-103F8C42AD2E}"/>
              </a:ext>
            </a:extLst>
          </p:cNvPr>
          <p:cNvSpPr txBox="1"/>
          <p:nvPr/>
        </p:nvSpPr>
        <p:spPr>
          <a:xfrm>
            <a:off x="7834767" y="3910513"/>
            <a:ext cx="1498347" cy="307777"/>
          </a:xfrm>
          <a:prstGeom prst="rect">
            <a:avLst/>
          </a:prstGeom>
          <a:solidFill>
            <a:srgbClr val="D8CDF6"/>
          </a:solidFill>
        </p:spPr>
        <p:txBody>
          <a:bodyPr wrap="square" rtlCol="0">
            <a:spAutoFit/>
          </a:bodyPr>
          <a:lstStyle/>
          <a:p>
            <a:r>
              <a:rPr lang="pt-BR" sz="1400" b="1" dirty="0">
                <a:solidFill>
                  <a:srgbClr val="9E2289"/>
                </a:solidFill>
                <a:latin typeface="Arial" panose="020B0604020202020204" pitchFamily="34" charset="0"/>
                <a:cs typeface="Arial" panose="020B0604020202020204" pitchFamily="34" charset="0"/>
              </a:rPr>
              <a:t>Ofensores</a:t>
            </a:r>
          </a:p>
        </p:txBody>
      </p:sp>
      <p:sp>
        <p:nvSpPr>
          <p:cNvPr id="75" name="Retângulo: Cantos Arredondados 74">
            <a:extLst>
              <a:ext uri="{FF2B5EF4-FFF2-40B4-BE49-F238E27FC236}">
                <a16:creationId xmlns:a16="http://schemas.microsoft.com/office/drawing/2014/main" id="{19F7444E-86B2-4DF8-9BE5-F4C6CFF6FB01}"/>
              </a:ext>
            </a:extLst>
          </p:cNvPr>
          <p:cNvSpPr/>
          <p:nvPr/>
        </p:nvSpPr>
        <p:spPr>
          <a:xfrm>
            <a:off x="742949" y="4840194"/>
            <a:ext cx="5687683" cy="1699151"/>
          </a:xfrm>
          <a:prstGeom prst="roundRect">
            <a:avLst/>
          </a:prstGeom>
          <a:solidFill>
            <a:schemeClr val="bg1">
              <a:lumMod val="95000"/>
            </a:schemeClr>
          </a:solidFill>
          <a:ln>
            <a:noFill/>
          </a:ln>
          <a:effectLst>
            <a:outerShdw dist="101600" dir="10740000" algn="t" rotWithShape="0">
              <a:schemeClr val="tx1">
                <a:lumMod val="65000"/>
                <a:lumOff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76" name="Google Shape;1944;p50">
            <a:extLst>
              <a:ext uri="{FF2B5EF4-FFF2-40B4-BE49-F238E27FC236}">
                <a16:creationId xmlns:a16="http://schemas.microsoft.com/office/drawing/2014/main" id="{23D4F9B8-B03B-4AD5-8AC1-B8C7EEE8B6CA}"/>
              </a:ext>
            </a:extLst>
          </p:cNvPr>
          <p:cNvGrpSpPr/>
          <p:nvPr/>
        </p:nvGrpSpPr>
        <p:grpSpPr>
          <a:xfrm rot="10417960">
            <a:off x="913355" y="4932021"/>
            <a:ext cx="473619" cy="462234"/>
            <a:chOff x="860940" y="2746477"/>
            <a:chExt cx="371883" cy="365691"/>
          </a:xfrm>
          <a:solidFill>
            <a:srgbClr val="595959"/>
          </a:solidFill>
        </p:grpSpPr>
        <p:sp>
          <p:nvSpPr>
            <p:cNvPr id="77" name="Google Shape;1945;p50">
              <a:extLst>
                <a:ext uri="{FF2B5EF4-FFF2-40B4-BE49-F238E27FC236}">
                  <a16:creationId xmlns:a16="http://schemas.microsoft.com/office/drawing/2014/main" id="{71446081-35DF-4E60-A1F2-EEBC3EA75609}"/>
                </a:ext>
              </a:extLst>
            </p:cNvPr>
            <p:cNvSpPr/>
            <p:nvPr/>
          </p:nvSpPr>
          <p:spPr>
            <a:xfrm>
              <a:off x="908191" y="3026302"/>
              <a:ext cx="30294" cy="28961"/>
            </a:xfrm>
            <a:custGeom>
              <a:avLst/>
              <a:gdLst/>
              <a:ahLst/>
              <a:cxnLst/>
              <a:rect l="l" t="t" r="r" b="b"/>
              <a:pathLst>
                <a:path w="954" h="912" extrusionOk="0">
                  <a:moveTo>
                    <a:pt x="763" y="1"/>
                  </a:moveTo>
                  <a:cubicBezTo>
                    <a:pt x="718" y="1"/>
                    <a:pt x="674" y="16"/>
                    <a:pt x="644" y="45"/>
                  </a:cubicBezTo>
                  <a:lnTo>
                    <a:pt x="60" y="629"/>
                  </a:lnTo>
                  <a:cubicBezTo>
                    <a:pt x="1" y="688"/>
                    <a:pt x="1" y="807"/>
                    <a:pt x="60" y="867"/>
                  </a:cubicBezTo>
                  <a:cubicBezTo>
                    <a:pt x="90" y="897"/>
                    <a:pt x="135" y="911"/>
                    <a:pt x="179" y="911"/>
                  </a:cubicBezTo>
                  <a:cubicBezTo>
                    <a:pt x="224" y="911"/>
                    <a:pt x="269" y="897"/>
                    <a:pt x="299" y="867"/>
                  </a:cubicBezTo>
                  <a:lnTo>
                    <a:pt x="882" y="283"/>
                  </a:lnTo>
                  <a:cubicBezTo>
                    <a:pt x="953" y="224"/>
                    <a:pt x="953" y="105"/>
                    <a:pt x="882" y="45"/>
                  </a:cubicBezTo>
                  <a:cubicBezTo>
                    <a:pt x="852" y="16"/>
                    <a:pt x="807" y="1"/>
                    <a:pt x="76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lumMod val="50000"/>
                    <a:lumOff val="50000"/>
                  </a:schemeClr>
                </a:solidFill>
              </a:endParaRPr>
            </a:p>
          </p:txBody>
        </p:sp>
        <p:sp>
          <p:nvSpPr>
            <p:cNvPr id="78" name="Google Shape;1946;p50">
              <a:extLst>
                <a:ext uri="{FF2B5EF4-FFF2-40B4-BE49-F238E27FC236}">
                  <a16:creationId xmlns:a16="http://schemas.microsoft.com/office/drawing/2014/main" id="{B9B62BB4-7A78-4DC4-AD93-62C842D5F6AD}"/>
                </a:ext>
              </a:extLst>
            </p:cNvPr>
            <p:cNvSpPr/>
            <p:nvPr/>
          </p:nvSpPr>
          <p:spPr>
            <a:xfrm>
              <a:off x="943757" y="3061836"/>
              <a:ext cx="30263" cy="28961"/>
            </a:xfrm>
            <a:custGeom>
              <a:avLst/>
              <a:gdLst/>
              <a:ahLst/>
              <a:cxnLst/>
              <a:rect l="l" t="t" r="r" b="b"/>
              <a:pathLst>
                <a:path w="953" h="912" extrusionOk="0">
                  <a:moveTo>
                    <a:pt x="762" y="1"/>
                  </a:moveTo>
                  <a:cubicBezTo>
                    <a:pt x="717" y="1"/>
                    <a:pt x="673" y="16"/>
                    <a:pt x="643" y="46"/>
                  </a:cubicBezTo>
                  <a:lnTo>
                    <a:pt x="60" y="629"/>
                  </a:lnTo>
                  <a:cubicBezTo>
                    <a:pt x="0" y="688"/>
                    <a:pt x="0" y="807"/>
                    <a:pt x="60" y="867"/>
                  </a:cubicBezTo>
                  <a:cubicBezTo>
                    <a:pt x="89" y="897"/>
                    <a:pt x="134" y="912"/>
                    <a:pt x="179" y="912"/>
                  </a:cubicBezTo>
                  <a:cubicBezTo>
                    <a:pt x="223" y="912"/>
                    <a:pt x="268" y="897"/>
                    <a:pt x="298" y="867"/>
                  </a:cubicBezTo>
                  <a:lnTo>
                    <a:pt x="881" y="284"/>
                  </a:lnTo>
                  <a:cubicBezTo>
                    <a:pt x="953" y="224"/>
                    <a:pt x="953" y="105"/>
                    <a:pt x="881" y="46"/>
                  </a:cubicBezTo>
                  <a:cubicBezTo>
                    <a:pt x="851" y="16"/>
                    <a:pt x="807" y="1"/>
                    <a:pt x="7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lumMod val="50000"/>
                    <a:lumOff val="50000"/>
                  </a:schemeClr>
                </a:solidFill>
              </a:endParaRPr>
            </a:p>
          </p:txBody>
        </p:sp>
        <p:sp>
          <p:nvSpPr>
            <p:cNvPr id="79" name="Google Shape;1947;p50">
              <a:extLst>
                <a:ext uri="{FF2B5EF4-FFF2-40B4-BE49-F238E27FC236}">
                  <a16:creationId xmlns:a16="http://schemas.microsoft.com/office/drawing/2014/main" id="{88EC2143-2ECD-4B77-AE77-51D362C72CD8}"/>
                </a:ext>
              </a:extLst>
            </p:cNvPr>
            <p:cNvSpPr/>
            <p:nvPr/>
          </p:nvSpPr>
          <p:spPr>
            <a:xfrm>
              <a:off x="926355" y="3044085"/>
              <a:ext cx="29881" cy="28579"/>
            </a:xfrm>
            <a:custGeom>
              <a:avLst/>
              <a:gdLst/>
              <a:ahLst/>
              <a:cxnLst/>
              <a:rect l="l" t="t" r="r" b="b"/>
              <a:pathLst>
                <a:path w="941" h="900" extrusionOk="0">
                  <a:moveTo>
                    <a:pt x="762" y="0"/>
                  </a:moveTo>
                  <a:cubicBezTo>
                    <a:pt x="718" y="0"/>
                    <a:pt x="673" y="15"/>
                    <a:pt x="643" y="45"/>
                  </a:cubicBezTo>
                  <a:lnTo>
                    <a:pt x="60" y="616"/>
                  </a:lnTo>
                  <a:cubicBezTo>
                    <a:pt x="0" y="676"/>
                    <a:pt x="0" y="795"/>
                    <a:pt x="60" y="855"/>
                  </a:cubicBezTo>
                  <a:cubicBezTo>
                    <a:pt x="90" y="884"/>
                    <a:pt x="134" y="899"/>
                    <a:pt x="179" y="899"/>
                  </a:cubicBezTo>
                  <a:cubicBezTo>
                    <a:pt x="224" y="899"/>
                    <a:pt x="268" y="884"/>
                    <a:pt x="298" y="855"/>
                  </a:cubicBezTo>
                  <a:lnTo>
                    <a:pt x="881" y="283"/>
                  </a:lnTo>
                  <a:cubicBezTo>
                    <a:pt x="941" y="224"/>
                    <a:pt x="941" y="116"/>
                    <a:pt x="881" y="45"/>
                  </a:cubicBezTo>
                  <a:cubicBezTo>
                    <a:pt x="852" y="15"/>
                    <a:pt x="807" y="0"/>
                    <a:pt x="76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lumMod val="50000"/>
                    <a:lumOff val="50000"/>
                  </a:schemeClr>
                </a:solidFill>
              </a:endParaRPr>
            </a:p>
          </p:txBody>
        </p:sp>
        <p:sp>
          <p:nvSpPr>
            <p:cNvPr id="80" name="Google Shape;1948;p50">
              <a:extLst>
                <a:ext uri="{FF2B5EF4-FFF2-40B4-BE49-F238E27FC236}">
                  <a16:creationId xmlns:a16="http://schemas.microsoft.com/office/drawing/2014/main" id="{FA2F7CC1-E87A-4627-92E3-73CD74E11E82}"/>
                </a:ext>
              </a:extLst>
            </p:cNvPr>
            <p:cNvSpPr/>
            <p:nvPr/>
          </p:nvSpPr>
          <p:spPr>
            <a:xfrm>
              <a:off x="860940" y="2746477"/>
              <a:ext cx="371883" cy="365691"/>
            </a:xfrm>
            <a:custGeom>
              <a:avLst/>
              <a:gdLst/>
              <a:ahLst/>
              <a:cxnLst/>
              <a:rect l="l" t="t" r="r" b="b"/>
              <a:pathLst>
                <a:path w="11711" h="11516" extrusionOk="0">
                  <a:moveTo>
                    <a:pt x="11312" y="344"/>
                  </a:moveTo>
                  <a:lnTo>
                    <a:pt x="10835" y="1987"/>
                  </a:lnTo>
                  <a:lnTo>
                    <a:pt x="9680" y="821"/>
                  </a:lnTo>
                  <a:lnTo>
                    <a:pt x="11312" y="344"/>
                  </a:lnTo>
                  <a:close/>
                  <a:moveTo>
                    <a:pt x="4882" y="3821"/>
                  </a:moveTo>
                  <a:lnTo>
                    <a:pt x="2822" y="5881"/>
                  </a:lnTo>
                  <a:lnTo>
                    <a:pt x="477" y="5690"/>
                  </a:lnTo>
                  <a:cubicBezTo>
                    <a:pt x="453" y="5690"/>
                    <a:pt x="429" y="5643"/>
                    <a:pt x="465" y="5631"/>
                  </a:cubicBezTo>
                  <a:cubicBezTo>
                    <a:pt x="1477" y="4619"/>
                    <a:pt x="2822" y="4000"/>
                    <a:pt x="4227" y="3881"/>
                  </a:cubicBezTo>
                  <a:lnTo>
                    <a:pt x="4882" y="3821"/>
                  </a:lnTo>
                  <a:close/>
                  <a:moveTo>
                    <a:pt x="2894" y="6297"/>
                  </a:moveTo>
                  <a:lnTo>
                    <a:pt x="3811" y="7226"/>
                  </a:lnTo>
                  <a:lnTo>
                    <a:pt x="3477" y="7571"/>
                  </a:lnTo>
                  <a:lnTo>
                    <a:pt x="2549" y="6643"/>
                  </a:lnTo>
                  <a:lnTo>
                    <a:pt x="2894" y="6297"/>
                  </a:lnTo>
                  <a:close/>
                  <a:moveTo>
                    <a:pt x="2727" y="7333"/>
                  </a:moveTo>
                  <a:lnTo>
                    <a:pt x="3203" y="7810"/>
                  </a:lnTo>
                  <a:lnTo>
                    <a:pt x="2799" y="8226"/>
                  </a:lnTo>
                  <a:cubicBezTo>
                    <a:pt x="2787" y="8238"/>
                    <a:pt x="2763" y="8262"/>
                    <a:pt x="2739" y="8298"/>
                  </a:cubicBezTo>
                  <a:lnTo>
                    <a:pt x="2310" y="7869"/>
                  </a:lnTo>
                  <a:cubicBezTo>
                    <a:pt x="2287" y="7833"/>
                    <a:pt x="2287" y="7774"/>
                    <a:pt x="2310" y="7750"/>
                  </a:cubicBezTo>
                  <a:lnTo>
                    <a:pt x="2727" y="7333"/>
                  </a:lnTo>
                  <a:close/>
                  <a:moveTo>
                    <a:pt x="9311" y="916"/>
                  </a:moveTo>
                  <a:lnTo>
                    <a:pt x="10740" y="2345"/>
                  </a:lnTo>
                  <a:lnTo>
                    <a:pt x="10299" y="3821"/>
                  </a:lnTo>
                  <a:lnTo>
                    <a:pt x="5597" y="8524"/>
                  </a:lnTo>
                  <a:lnTo>
                    <a:pt x="4680" y="7595"/>
                  </a:lnTo>
                  <a:lnTo>
                    <a:pt x="6823" y="5452"/>
                  </a:lnTo>
                  <a:cubicBezTo>
                    <a:pt x="6966" y="5309"/>
                    <a:pt x="7001" y="5035"/>
                    <a:pt x="6811" y="4833"/>
                  </a:cubicBezTo>
                  <a:cubicBezTo>
                    <a:pt x="6728" y="4750"/>
                    <a:pt x="6617" y="4708"/>
                    <a:pt x="6506" y="4708"/>
                  </a:cubicBezTo>
                  <a:cubicBezTo>
                    <a:pt x="6394" y="4708"/>
                    <a:pt x="6281" y="4750"/>
                    <a:pt x="6192" y="4833"/>
                  </a:cubicBezTo>
                  <a:lnTo>
                    <a:pt x="4049" y="6976"/>
                  </a:lnTo>
                  <a:lnTo>
                    <a:pt x="3132" y="6047"/>
                  </a:lnTo>
                  <a:lnTo>
                    <a:pt x="7835" y="1344"/>
                  </a:lnTo>
                  <a:lnTo>
                    <a:pt x="9311" y="916"/>
                  </a:lnTo>
                  <a:close/>
                  <a:moveTo>
                    <a:pt x="6495" y="5047"/>
                  </a:moveTo>
                  <a:cubicBezTo>
                    <a:pt x="6522" y="5047"/>
                    <a:pt x="6549" y="5059"/>
                    <a:pt x="6573" y="5083"/>
                  </a:cubicBezTo>
                  <a:cubicBezTo>
                    <a:pt x="6609" y="5131"/>
                    <a:pt x="6609" y="5178"/>
                    <a:pt x="6573" y="5226"/>
                  </a:cubicBezTo>
                  <a:lnTo>
                    <a:pt x="4311" y="7488"/>
                  </a:lnTo>
                  <a:lnTo>
                    <a:pt x="3203" y="8595"/>
                  </a:lnTo>
                  <a:cubicBezTo>
                    <a:pt x="3180" y="8619"/>
                    <a:pt x="3153" y="8631"/>
                    <a:pt x="3127" y="8631"/>
                  </a:cubicBezTo>
                  <a:cubicBezTo>
                    <a:pt x="3102" y="8631"/>
                    <a:pt x="3078" y="8619"/>
                    <a:pt x="3060" y="8595"/>
                  </a:cubicBezTo>
                  <a:cubicBezTo>
                    <a:pt x="3013" y="8548"/>
                    <a:pt x="3013" y="8488"/>
                    <a:pt x="3060" y="8441"/>
                  </a:cubicBezTo>
                  <a:lnTo>
                    <a:pt x="6418" y="5083"/>
                  </a:lnTo>
                  <a:cubicBezTo>
                    <a:pt x="6442" y="5059"/>
                    <a:pt x="6469" y="5047"/>
                    <a:pt x="6495" y="5047"/>
                  </a:cubicBezTo>
                  <a:close/>
                  <a:moveTo>
                    <a:pt x="4430" y="7857"/>
                  </a:moveTo>
                  <a:lnTo>
                    <a:pt x="5346" y="8786"/>
                  </a:lnTo>
                  <a:lnTo>
                    <a:pt x="5001" y="9119"/>
                  </a:lnTo>
                  <a:lnTo>
                    <a:pt x="4989" y="9119"/>
                  </a:lnTo>
                  <a:lnTo>
                    <a:pt x="4084" y="8202"/>
                  </a:lnTo>
                  <a:lnTo>
                    <a:pt x="4430" y="7857"/>
                  </a:lnTo>
                  <a:close/>
                  <a:moveTo>
                    <a:pt x="3846" y="8429"/>
                  </a:moveTo>
                  <a:lnTo>
                    <a:pt x="4323" y="8905"/>
                  </a:lnTo>
                  <a:lnTo>
                    <a:pt x="3906" y="9322"/>
                  </a:lnTo>
                  <a:cubicBezTo>
                    <a:pt x="3894" y="9334"/>
                    <a:pt x="3858" y="9357"/>
                    <a:pt x="3846" y="9357"/>
                  </a:cubicBezTo>
                  <a:cubicBezTo>
                    <a:pt x="3834" y="9357"/>
                    <a:pt x="3811" y="9357"/>
                    <a:pt x="3787" y="9322"/>
                  </a:cubicBezTo>
                  <a:lnTo>
                    <a:pt x="3358" y="8905"/>
                  </a:lnTo>
                  <a:cubicBezTo>
                    <a:pt x="3382" y="8893"/>
                    <a:pt x="3394" y="8881"/>
                    <a:pt x="3430" y="8845"/>
                  </a:cubicBezTo>
                  <a:lnTo>
                    <a:pt x="3846" y="8429"/>
                  </a:lnTo>
                  <a:close/>
                  <a:moveTo>
                    <a:pt x="11322" y="1"/>
                  </a:moveTo>
                  <a:cubicBezTo>
                    <a:pt x="11295" y="1"/>
                    <a:pt x="11267" y="4"/>
                    <a:pt x="11240" y="11"/>
                  </a:cubicBezTo>
                  <a:cubicBezTo>
                    <a:pt x="10514" y="213"/>
                    <a:pt x="8394" y="844"/>
                    <a:pt x="7704" y="1035"/>
                  </a:cubicBezTo>
                  <a:cubicBezTo>
                    <a:pt x="7668" y="1047"/>
                    <a:pt x="7656" y="1059"/>
                    <a:pt x="7621" y="1083"/>
                  </a:cubicBezTo>
                  <a:lnTo>
                    <a:pt x="5263" y="3440"/>
                  </a:lnTo>
                  <a:lnTo>
                    <a:pt x="4203" y="3535"/>
                  </a:lnTo>
                  <a:cubicBezTo>
                    <a:pt x="2703" y="3654"/>
                    <a:pt x="1286" y="4321"/>
                    <a:pt x="227" y="5381"/>
                  </a:cubicBezTo>
                  <a:cubicBezTo>
                    <a:pt x="1" y="5595"/>
                    <a:pt x="143" y="5988"/>
                    <a:pt x="465" y="6024"/>
                  </a:cubicBezTo>
                  <a:lnTo>
                    <a:pt x="2525" y="6190"/>
                  </a:lnTo>
                  <a:lnTo>
                    <a:pt x="2310" y="6405"/>
                  </a:lnTo>
                  <a:cubicBezTo>
                    <a:pt x="2179" y="6536"/>
                    <a:pt x="2179" y="6750"/>
                    <a:pt x="2310" y="6881"/>
                  </a:cubicBezTo>
                  <a:lnTo>
                    <a:pt x="2525" y="7083"/>
                  </a:lnTo>
                  <a:lnTo>
                    <a:pt x="2108" y="7500"/>
                  </a:lnTo>
                  <a:cubicBezTo>
                    <a:pt x="1941" y="7667"/>
                    <a:pt x="1941" y="7941"/>
                    <a:pt x="2108" y="8095"/>
                  </a:cubicBezTo>
                  <a:lnTo>
                    <a:pt x="3561" y="9560"/>
                  </a:lnTo>
                  <a:cubicBezTo>
                    <a:pt x="3644" y="9643"/>
                    <a:pt x="3751" y="9685"/>
                    <a:pt x="3858" y="9685"/>
                  </a:cubicBezTo>
                  <a:cubicBezTo>
                    <a:pt x="3965" y="9685"/>
                    <a:pt x="4073" y="9643"/>
                    <a:pt x="4156" y="9560"/>
                  </a:cubicBezTo>
                  <a:lnTo>
                    <a:pt x="4573" y="9143"/>
                  </a:lnTo>
                  <a:lnTo>
                    <a:pt x="4763" y="9334"/>
                  </a:lnTo>
                  <a:cubicBezTo>
                    <a:pt x="4835" y="9399"/>
                    <a:pt x="4924" y="9432"/>
                    <a:pt x="5015" y="9432"/>
                  </a:cubicBezTo>
                  <a:cubicBezTo>
                    <a:pt x="5105" y="9432"/>
                    <a:pt x="5198" y="9399"/>
                    <a:pt x="5275" y="9334"/>
                  </a:cubicBezTo>
                  <a:lnTo>
                    <a:pt x="5477" y="9131"/>
                  </a:lnTo>
                  <a:lnTo>
                    <a:pt x="5656" y="11179"/>
                  </a:lnTo>
                  <a:cubicBezTo>
                    <a:pt x="5680" y="11334"/>
                    <a:pt x="5763" y="11453"/>
                    <a:pt x="5894" y="11500"/>
                  </a:cubicBezTo>
                  <a:cubicBezTo>
                    <a:pt x="5935" y="11511"/>
                    <a:pt x="5975" y="11516"/>
                    <a:pt x="6015" y="11516"/>
                  </a:cubicBezTo>
                  <a:cubicBezTo>
                    <a:pt x="6115" y="11516"/>
                    <a:pt x="6210" y="11482"/>
                    <a:pt x="6287" y="11405"/>
                  </a:cubicBezTo>
                  <a:cubicBezTo>
                    <a:pt x="6942" y="10750"/>
                    <a:pt x="7430" y="9977"/>
                    <a:pt x="7763" y="9119"/>
                  </a:cubicBezTo>
                  <a:cubicBezTo>
                    <a:pt x="7787" y="9024"/>
                    <a:pt x="7740" y="8941"/>
                    <a:pt x="7656" y="8893"/>
                  </a:cubicBezTo>
                  <a:cubicBezTo>
                    <a:pt x="7635" y="8885"/>
                    <a:pt x="7614" y="8881"/>
                    <a:pt x="7594" y="8881"/>
                  </a:cubicBezTo>
                  <a:cubicBezTo>
                    <a:pt x="7525" y="8881"/>
                    <a:pt x="7467" y="8926"/>
                    <a:pt x="7430" y="9000"/>
                  </a:cubicBezTo>
                  <a:cubicBezTo>
                    <a:pt x="7132" y="9810"/>
                    <a:pt x="6656" y="10560"/>
                    <a:pt x="6037" y="11167"/>
                  </a:cubicBezTo>
                  <a:cubicBezTo>
                    <a:pt x="6027" y="11172"/>
                    <a:pt x="6015" y="11175"/>
                    <a:pt x="6005" y="11175"/>
                  </a:cubicBezTo>
                  <a:cubicBezTo>
                    <a:pt x="5990" y="11175"/>
                    <a:pt x="5978" y="11169"/>
                    <a:pt x="5978" y="11155"/>
                  </a:cubicBezTo>
                  <a:lnTo>
                    <a:pt x="5763" y="8822"/>
                  </a:lnTo>
                  <a:lnTo>
                    <a:pt x="7835" y="6750"/>
                  </a:lnTo>
                  <a:lnTo>
                    <a:pt x="7835" y="6750"/>
                  </a:lnTo>
                  <a:cubicBezTo>
                    <a:pt x="7763" y="7583"/>
                    <a:pt x="7740" y="7810"/>
                    <a:pt x="7656" y="8238"/>
                  </a:cubicBezTo>
                  <a:cubicBezTo>
                    <a:pt x="7644" y="8322"/>
                    <a:pt x="7680" y="8417"/>
                    <a:pt x="7787" y="8441"/>
                  </a:cubicBezTo>
                  <a:cubicBezTo>
                    <a:pt x="7803" y="8445"/>
                    <a:pt x="7819" y="8447"/>
                    <a:pt x="7834" y="8447"/>
                  </a:cubicBezTo>
                  <a:cubicBezTo>
                    <a:pt x="7909" y="8447"/>
                    <a:pt x="7972" y="8399"/>
                    <a:pt x="8002" y="8310"/>
                  </a:cubicBezTo>
                  <a:cubicBezTo>
                    <a:pt x="8121" y="7786"/>
                    <a:pt x="8121" y="7548"/>
                    <a:pt x="8216" y="6393"/>
                  </a:cubicBezTo>
                  <a:lnTo>
                    <a:pt x="10585" y="4023"/>
                  </a:lnTo>
                  <a:cubicBezTo>
                    <a:pt x="10597" y="4011"/>
                    <a:pt x="10621" y="3976"/>
                    <a:pt x="10633" y="3952"/>
                  </a:cubicBezTo>
                  <a:lnTo>
                    <a:pt x="11109" y="2345"/>
                  </a:lnTo>
                  <a:lnTo>
                    <a:pt x="11669" y="404"/>
                  </a:lnTo>
                  <a:cubicBezTo>
                    <a:pt x="11711" y="193"/>
                    <a:pt x="11529" y="1"/>
                    <a:pt x="1132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lumMod val="50000"/>
                    <a:lumOff val="50000"/>
                  </a:schemeClr>
                </a:solidFill>
              </a:endParaRPr>
            </a:p>
          </p:txBody>
        </p:sp>
        <p:sp>
          <p:nvSpPr>
            <p:cNvPr id="81" name="Google Shape;1949;p50">
              <a:extLst>
                <a:ext uri="{FF2B5EF4-FFF2-40B4-BE49-F238E27FC236}">
                  <a16:creationId xmlns:a16="http://schemas.microsoft.com/office/drawing/2014/main" id="{70A0C0B0-8C76-4E89-8B6A-4D2C03C94300}"/>
                </a:ext>
              </a:extLst>
            </p:cNvPr>
            <p:cNvSpPr/>
            <p:nvPr/>
          </p:nvSpPr>
          <p:spPr>
            <a:xfrm>
              <a:off x="1070396" y="2832057"/>
              <a:ext cx="90406" cy="69035"/>
            </a:xfrm>
            <a:custGeom>
              <a:avLst/>
              <a:gdLst/>
              <a:ahLst/>
              <a:cxnLst/>
              <a:rect l="l" t="t" r="r" b="b"/>
              <a:pathLst>
                <a:path w="2847" h="2174" extrusionOk="0">
                  <a:moveTo>
                    <a:pt x="1730" y="0"/>
                  </a:moveTo>
                  <a:cubicBezTo>
                    <a:pt x="1668" y="0"/>
                    <a:pt x="1610" y="44"/>
                    <a:pt x="1584" y="114"/>
                  </a:cubicBezTo>
                  <a:cubicBezTo>
                    <a:pt x="1537" y="197"/>
                    <a:pt x="1584" y="293"/>
                    <a:pt x="1668" y="328"/>
                  </a:cubicBezTo>
                  <a:cubicBezTo>
                    <a:pt x="2179" y="554"/>
                    <a:pt x="2299" y="1221"/>
                    <a:pt x="1906" y="1614"/>
                  </a:cubicBezTo>
                  <a:cubicBezTo>
                    <a:pt x="1751" y="1769"/>
                    <a:pt x="1551" y="1846"/>
                    <a:pt x="1350" y="1846"/>
                  </a:cubicBezTo>
                  <a:cubicBezTo>
                    <a:pt x="1150" y="1846"/>
                    <a:pt x="947" y="1769"/>
                    <a:pt x="786" y="1614"/>
                  </a:cubicBezTo>
                  <a:cubicBezTo>
                    <a:pt x="405" y="1221"/>
                    <a:pt x="525" y="566"/>
                    <a:pt x="1025" y="328"/>
                  </a:cubicBezTo>
                  <a:cubicBezTo>
                    <a:pt x="1120" y="293"/>
                    <a:pt x="1144" y="197"/>
                    <a:pt x="1120" y="114"/>
                  </a:cubicBezTo>
                  <a:cubicBezTo>
                    <a:pt x="1083" y="41"/>
                    <a:pt x="1019" y="10"/>
                    <a:pt x="954" y="10"/>
                  </a:cubicBezTo>
                  <a:cubicBezTo>
                    <a:pt x="934" y="10"/>
                    <a:pt x="913" y="13"/>
                    <a:pt x="894" y="19"/>
                  </a:cubicBezTo>
                  <a:cubicBezTo>
                    <a:pt x="179" y="352"/>
                    <a:pt x="1" y="1281"/>
                    <a:pt x="572" y="1852"/>
                  </a:cubicBezTo>
                  <a:cubicBezTo>
                    <a:pt x="786" y="2078"/>
                    <a:pt x="1072" y="2174"/>
                    <a:pt x="1370" y="2174"/>
                  </a:cubicBezTo>
                  <a:cubicBezTo>
                    <a:pt x="2334" y="2162"/>
                    <a:pt x="2846" y="947"/>
                    <a:pt x="2132" y="245"/>
                  </a:cubicBezTo>
                  <a:cubicBezTo>
                    <a:pt x="2037" y="150"/>
                    <a:pt x="1918" y="66"/>
                    <a:pt x="1798" y="19"/>
                  </a:cubicBezTo>
                  <a:cubicBezTo>
                    <a:pt x="1776" y="6"/>
                    <a:pt x="1753" y="0"/>
                    <a:pt x="17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lumMod val="50000"/>
                    <a:lumOff val="50000"/>
                  </a:schemeClr>
                </a:solidFill>
              </a:endParaRPr>
            </a:p>
          </p:txBody>
        </p:sp>
      </p:grpSp>
      <p:sp>
        <p:nvSpPr>
          <p:cNvPr id="82" name="CaixaDeTexto 81">
            <a:extLst>
              <a:ext uri="{FF2B5EF4-FFF2-40B4-BE49-F238E27FC236}">
                <a16:creationId xmlns:a16="http://schemas.microsoft.com/office/drawing/2014/main" id="{A3FBEEA3-F03C-4393-A61C-516C388CADB5}"/>
              </a:ext>
            </a:extLst>
          </p:cNvPr>
          <p:cNvSpPr txBox="1"/>
          <p:nvPr/>
        </p:nvSpPr>
        <p:spPr>
          <a:xfrm>
            <a:off x="1431436" y="4965551"/>
            <a:ext cx="1721709" cy="246221"/>
          </a:xfrm>
          <a:prstGeom prst="rect">
            <a:avLst/>
          </a:prstGeom>
          <a:solidFill>
            <a:schemeClr val="bg1">
              <a:lumMod val="85000"/>
            </a:schemeClr>
          </a:solidFill>
        </p:spPr>
        <p:txBody>
          <a:bodyPr wrap="square" rtlCol="0">
            <a:spAutoFit/>
          </a:bodyPr>
          <a:lstStyle/>
          <a:p>
            <a:r>
              <a:rPr lang="pt-BR" sz="1000" b="1" dirty="0">
                <a:solidFill>
                  <a:schemeClr val="tx1">
                    <a:lumMod val="50000"/>
                    <a:lumOff val="50000"/>
                  </a:schemeClr>
                </a:solidFill>
                <a:latin typeface="Arial" panose="020B0604020202020204" pitchFamily="34" charset="0"/>
                <a:cs typeface="Arial" panose="020B0604020202020204" pitchFamily="34" charset="0"/>
              </a:rPr>
              <a:t>Ofensores - </a:t>
            </a:r>
            <a:r>
              <a:rPr lang="pt-BR" sz="1000" b="1" dirty="0" err="1">
                <a:solidFill>
                  <a:schemeClr val="tx1">
                    <a:lumMod val="50000"/>
                    <a:lumOff val="50000"/>
                  </a:schemeClr>
                </a:solidFill>
                <a:latin typeface="Arial" panose="020B0604020202020204" pitchFamily="34" charset="0"/>
                <a:cs typeface="Arial" panose="020B0604020202020204" pitchFamily="34" charset="0"/>
              </a:rPr>
              <a:t>Jun</a:t>
            </a:r>
            <a:endParaRPr lang="pt-BR" sz="1000" b="1"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118" name="CaixaDeTexto 117">
            <a:extLst>
              <a:ext uri="{FF2B5EF4-FFF2-40B4-BE49-F238E27FC236}">
                <a16:creationId xmlns:a16="http://schemas.microsoft.com/office/drawing/2014/main" id="{06DCEECC-DB26-48D4-AF90-411360D3DEB0}"/>
              </a:ext>
            </a:extLst>
          </p:cNvPr>
          <p:cNvSpPr txBox="1"/>
          <p:nvPr/>
        </p:nvSpPr>
        <p:spPr>
          <a:xfrm>
            <a:off x="10682769" y="2236916"/>
            <a:ext cx="754765" cy="1169551"/>
          </a:xfrm>
          <a:prstGeom prst="rect">
            <a:avLst/>
          </a:prstGeom>
          <a:noFill/>
        </p:spPr>
        <p:txBody>
          <a:bodyPr wrap="square" rtlCol="0">
            <a:spAutoFit/>
          </a:bodyPr>
          <a:lstStyle/>
          <a:p>
            <a:r>
              <a:rPr lang="pt-BR" sz="1400" dirty="0">
                <a:solidFill>
                  <a:srgbClr val="9E2289"/>
                </a:solidFill>
                <a:latin typeface="Arial" panose="020B0604020202020204" pitchFamily="34" charset="0"/>
                <a:cs typeface="Arial" panose="020B0604020202020204" pitchFamily="34" charset="0"/>
              </a:rPr>
              <a:t>96,71</a:t>
            </a:r>
          </a:p>
          <a:p>
            <a:r>
              <a:rPr lang="pt-BR" sz="1400" dirty="0">
                <a:solidFill>
                  <a:srgbClr val="9E2289"/>
                </a:solidFill>
                <a:latin typeface="Arial" panose="020B0604020202020204" pitchFamily="34" charset="0"/>
                <a:cs typeface="Arial" panose="020B0604020202020204" pitchFamily="34" charset="0"/>
              </a:rPr>
              <a:t>95,57</a:t>
            </a:r>
          </a:p>
          <a:p>
            <a:r>
              <a:rPr lang="pt-BR" sz="1400" dirty="0">
                <a:solidFill>
                  <a:srgbClr val="9E2289"/>
                </a:solidFill>
                <a:latin typeface="Arial" panose="020B0604020202020204" pitchFamily="34" charset="0"/>
                <a:cs typeface="Arial" panose="020B0604020202020204" pitchFamily="34" charset="0"/>
              </a:rPr>
              <a:t>95</a:t>
            </a:r>
          </a:p>
          <a:p>
            <a:r>
              <a:rPr lang="pt-BR" sz="1400" dirty="0">
                <a:solidFill>
                  <a:srgbClr val="9E2289"/>
                </a:solidFill>
                <a:latin typeface="Arial" panose="020B0604020202020204" pitchFamily="34" charset="0"/>
                <a:cs typeface="Arial" panose="020B0604020202020204" pitchFamily="34" charset="0"/>
              </a:rPr>
              <a:t>93,14</a:t>
            </a:r>
          </a:p>
          <a:p>
            <a:r>
              <a:rPr lang="pt-BR" sz="1400" dirty="0">
                <a:solidFill>
                  <a:srgbClr val="9E2289"/>
                </a:solidFill>
                <a:latin typeface="Arial" panose="020B0604020202020204" pitchFamily="34" charset="0"/>
                <a:cs typeface="Arial" panose="020B0604020202020204" pitchFamily="34" charset="0"/>
              </a:rPr>
              <a:t>92,29</a:t>
            </a:r>
          </a:p>
        </p:txBody>
      </p:sp>
      <p:sp>
        <p:nvSpPr>
          <p:cNvPr id="2" name="CaixaDeTexto 1">
            <a:extLst>
              <a:ext uri="{FF2B5EF4-FFF2-40B4-BE49-F238E27FC236}">
                <a16:creationId xmlns:a16="http://schemas.microsoft.com/office/drawing/2014/main" id="{30AC90EB-0E35-B2DE-7A42-8B88FBBCD016}"/>
              </a:ext>
            </a:extLst>
          </p:cNvPr>
          <p:cNvSpPr txBox="1"/>
          <p:nvPr/>
        </p:nvSpPr>
        <p:spPr>
          <a:xfrm>
            <a:off x="1431436" y="1336969"/>
            <a:ext cx="3992681" cy="307777"/>
          </a:xfrm>
          <a:prstGeom prst="rect">
            <a:avLst/>
          </a:prstGeom>
          <a:noFill/>
        </p:spPr>
        <p:txBody>
          <a:bodyPr wrap="square" rtlCol="0">
            <a:spAutoFit/>
          </a:bodyPr>
          <a:lstStyle/>
          <a:p>
            <a:pPr algn="ctr"/>
            <a:r>
              <a:rPr lang="pt-BR" sz="1400" b="1" dirty="0">
                <a:solidFill>
                  <a:schemeClr val="tx1">
                    <a:lumMod val="50000"/>
                    <a:lumOff val="50000"/>
                  </a:schemeClr>
                </a:solidFill>
                <a:latin typeface="Arial" panose="020B0604020202020204" pitchFamily="34" charset="0"/>
                <a:cs typeface="Arial" panose="020B0604020202020204" pitchFamily="34" charset="0"/>
              </a:rPr>
              <a:t>Comparativo dos Ofensores (Jun. </a:t>
            </a:r>
            <a:r>
              <a:rPr lang="pt-BR" sz="1400" b="1" dirty="0" err="1">
                <a:solidFill>
                  <a:schemeClr val="tx1">
                    <a:lumMod val="50000"/>
                    <a:lumOff val="50000"/>
                  </a:schemeClr>
                </a:solidFill>
                <a:latin typeface="Arial" panose="020B0604020202020204" pitchFamily="34" charset="0"/>
                <a:cs typeface="Arial" panose="020B0604020202020204" pitchFamily="34" charset="0"/>
              </a:rPr>
              <a:t>Vs</a:t>
            </a:r>
            <a:r>
              <a:rPr lang="pt-BR" sz="1400" b="1" dirty="0">
                <a:solidFill>
                  <a:schemeClr val="tx1">
                    <a:lumMod val="50000"/>
                    <a:lumOff val="50000"/>
                  </a:schemeClr>
                </a:solidFill>
                <a:latin typeface="Arial" panose="020B0604020202020204" pitchFamily="34" charset="0"/>
                <a:cs typeface="Arial" panose="020B0604020202020204" pitchFamily="34" charset="0"/>
              </a:rPr>
              <a:t> Jul.)                                                                                                                                                                                                  </a:t>
            </a:r>
          </a:p>
        </p:txBody>
      </p:sp>
      <p:sp>
        <p:nvSpPr>
          <p:cNvPr id="73" name="CaixaDeTexto 72">
            <a:extLst>
              <a:ext uri="{FF2B5EF4-FFF2-40B4-BE49-F238E27FC236}">
                <a16:creationId xmlns:a16="http://schemas.microsoft.com/office/drawing/2014/main" id="{6E0F3539-E83A-49C9-A0E1-B7C22DEA1CB9}"/>
              </a:ext>
            </a:extLst>
          </p:cNvPr>
          <p:cNvSpPr txBox="1"/>
          <p:nvPr/>
        </p:nvSpPr>
        <p:spPr>
          <a:xfrm>
            <a:off x="1346594" y="5272129"/>
            <a:ext cx="3529527" cy="1015663"/>
          </a:xfrm>
          <a:prstGeom prst="rect">
            <a:avLst/>
          </a:prstGeom>
          <a:noFill/>
        </p:spPr>
        <p:txBody>
          <a:bodyPr wrap="square" rtlCol="0">
            <a:spAutoFit/>
          </a:bodyPr>
          <a:lstStyle/>
          <a:p>
            <a:r>
              <a:rPr lang="pt-BR" sz="1200" dirty="0">
                <a:solidFill>
                  <a:schemeClr val="bg2">
                    <a:lumMod val="50000"/>
                  </a:schemeClr>
                </a:solidFill>
                <a:latin typeface="Arial" panose="020B0604020202020204" pitchFamily="34" charset="0"/>
                <a:cs typeface="Arial" panose="020B0604020202020204" pitchFamily="34" charset="0"/>
              </a:rPr>
              <a:t>Jose Augusto Da Gama Junior</a:t>
            </a:r>
          </a:p>
          <a:p>
            <a:r>
              <a:rPr lang="pt-BR" sz="1200" dirty="0" err="1">
                <a:solidFill>
                  <a:schemeClr val="bg2">
                    <a:lumMod val="50000"/>
                  </a:schemeClr>
                </a:solidFill>
                <a:latin typeface="Arial" panose="020B0604020202020204" pitchFamily="34" charset="0"/>
                <a:cs typeface="Arial" panose="020B0604020202020204" pitchFamily="34" charset="0"/>
              </a:rPr>
              <a:t>Caue</a:t>
            </a:r>
            <a:r>
              <a:rPr lang="pt-BR" sz="1200" dirty="0">
                <a:solidFill>
                  <a:schemeClr val="bg2">
                    <a:lumMod val="50000"/>
                  </a:schemeClr>
                </a:solidFill>
                <a:latin typeface="Arial" panose="020B0604020202020204" pitchFamily="34" charset="0"/>
                <a:cs typeface="Arial" panose="020B0604020202020204" pitchFamily="34" charset="0"/>
              </a:rPr>
              <a:t> Coreia Bento</a:t>
            </a:r>
          </a:p>
          <a:p>
            <a:r>
              <a:rPr lang="pt-BR" sz="1200" dirty="0">
                <a:solidFill>
                  <a:schemeClr val="bg2">
                    <a:lumMod val="50000"/>
                  </a:schemeClr>
                </a:solidFill>
                <a:latin typeface="Arial" panose="020B0604020202020204" pitchFamily="34" charset="0"/>
                <a:cs typeface="Arial" panose="020B0604020202020204" pitchFamily="34" charset="0"/>
              </a:rPr>
              <a:t>Diego Aguiar </a:t>
            </a:r>
            <a:r>
              <a:rPr lang="pt-BR" sz="1200" dirty="0" err="1">
                <a:solidFill>
                  <a:schemeClr val="bg2">
                    <a:lumMod val="50000"/>
                  </a:schemeClr>
                </a:solidFill>
                <a:latin typeface="Arial" panose="020B0604020202020204" pitchFamily="34" charset="0"/>
                <a:cs typeface="Arial" panose="020B0604020202020204" pitchFamily="34" charset="0"/>
              </a:rPr>
              <a:t>Zegunis</a:t>
            </a:r>
            <a:endParaRPr lang="pt-BR" sz="1200" dirty="0">
              <a:solidFill>
                <a:schemeClr val="bg2">
                  <a:lumMod val="50000"/>
                </a:schemeClr>
              </a:solidFill>
              <a:latin typeface="Arial" panose="020B0604020202020204" pitchFamily="34" charset="0"/>
              <a:cs typeface="Arial" panose="020B0604020202020204" pitchFamily="34" charset="0"/>
            </a:endParaRPr>
          </a:p>
          <a:p>
            <a:r>
              <a:rPr lang="pt-BR" sz="1200" dirty="0">
                <a:solidFill>
                  <a:schemeClr val="bg2">
                    <a:lumMod val="50000"/>
                  </a:schemeClr>
                </a:solidFill>
                <a:latin typeface="Arial" panose="020B0604020202020204" pitchFamily="34" charset="0"/>
                <a:cs typeface="Arial" panose="020B0604020202020204" pitchFamily="34" charset="0"/>
              </a:rPr>
              <a:t>Vitor Eduardo da Silva</a:t>
            </a:r>
          </a:p>
          <a:p>
            <a:r>
              <a:rPr lang="pt-BR" sz="1200" dirty="0">
                <a:solidFill>
                  <a:schemeClr val="bg2">
                    <a:lumMod val="50000"/>
                  </a:schemeClr>
                </a:solidFill>
                <a:latin typeface="Arial" panose="020B0604020202020204" pitchFamily="34" charset="0"/>
                <a:cs typeface="Arial" panose="020B0604020202020204" pitchFamily="34" charset="0"/>
              </a:rPr>
              <a:t>Brenda L. </a:t>
            </a:r>
            <a:r>
              <a:rPr lang="pt-BR" sz="1200" dirty="0" err="1">
                <a:solidFill>
                  <a:schemeClr val="bg2">
                    <a:lumMod val="50000"/>
                  </a:schemeClr>
                </a:solidFill>
                <a:latin typeface="Arial" panose="020B0604020202020204" pitchFamily="34" charset="0"/>
                <a:cs typeface="Arial" panose="020B0604020202020204" pitchFamily="34" charset="0"/>
              </a:rPr>
              <a:t>Emmendoerfer</a:t>
            </a:r>
            <a:r>
              <a:rPr lang="pt-BR" sz="1200" dirty="0">
                <a:solidFill>
                  <a:schemeClr val="bg2">
                    <a:lumMod val="50000"/>
                  </a:schemeClr>
                </a:solidFill>
                <a:latin typeface="Arial" panose="020B0604020202020204" pitchFamily="34" charset="0"/>
                <a:cs typeface="Arial" panose="020B0604020202020204" pitchFamily="34" charset="0"/>
              </a:rPr>
              <a:t> Gomes</a:t>
            </a:r>
          </a:p>
        </p:txBody>
      </p:sp>
      <p:sp>
        <p:nvSpPr>
          <p:cNvPr id="57" name="CaixaDeTexto 56">
            <a:extLst>
              <a:ext uri="{FF2B5EF4-FFF2-40B4-BE49-F238E27FC236}">
                <a16:creationId xmlns:a16="http://schemas.microsoft.com/office/drawing/2014/main" id="{B8DE7D5C-496B-42EB-987B-89087C1A5888}"/>
              </a:ext>
            </a:extLst>
          </p:cNvPr>
          <p:cNvSpPr txBox="1"/>
          <p:nvPr/>
        </p:nvSpPr>
        <p:spPr>
          <a:xfrm>
            <a:off x="7785196" y="4344008"/>
            <a:ext cx="3100288" cy="1384995"/>
          </a:xfrm>
          <a:prstGeom prst="rect">
            <a:avLst/>
          </a:prstGeom>
          <a:noFill/>
        </p:spPr>
        <p:txBody>
          <a:bodyPr wrap="square" rtlCol="0">
            <a:spAutoFit/>
          </a:bodyPr>
          <a:lstStyle/>
          <a:p>
            <a:r>
              <a:rPr lang="pt-BR" sz="1400" dirty="0" err="1">
                <a:solidFill>
                  <a:srgbClr val="9E2289"/>
                </a:solidFill>
                <a:latin typeface="Arial" panose="020B0604020202020204" pitchFamily="34" charset="0"/>
                <a:cs typeface="Arial" panose="020B0604020202020204" pitchFamily="34" charset="0"/>
              </a:rPr>
              <a:t>Andre</a:t>
            </a:r>
            <a:r>
              <a:rPr lang="pt-BR" sz="1400" dirty="0">
                <a:solidFill>
                  <a:srgbClr val="9E2289"/>
                </a:solidFill>
                <a:latin typeface="Arial" panose="020B0604020202020204" pitchFamily="34" charset="0"/>
                <a:cs typeface="Arial" panose="020B0604020202020204" pitchFamily="34" charset="0"/>
              </a:rPr>
              <a:t> Luiz Da Silva</a:t>
            </a:r>
          </a:p>
          <a:p>
            <a:r>
              <a:rPr lang="pt-BR" sz="1400" dirty="0">
                <a:solidFill>
                  <a:srgbClr val="9E2289"/>
                </a:solidFill>
                <a:latin typeface="Arial" panose="020B0604020202020204" pitchFamily="34" charset="0"/>
                <a:cs typeface="Arial" panose="020B0604020202020204" pitchFamily="34" charset="0"/>
              </a:rPr>
              <a:t>Vitor Eduardo da Silva</a:t>
            </a:r>
          </a:p>
          <a:p>
            <a:r>
              <a:rPr lang="pt-BR" sz="1400" dirty="0" err="1">
                <a:solidFill>
                  <a:srgbClr val="9E2289"/>
                </a:solidFill>
                <a:latin typeface="Arial" panose="020B0604020202020204" pitchFamily="34" charset="0"/>
                <a:cs typeface="Arial" panose="020B0604020202020204" pitchFamily="34" charset="0"/>
              </a:rPr>
              <a:t>Caue</a:t>
            </a:r>
            <a:r>
              <a:rPr lang="pt-BR" sz="1400" dirty="0">
                <a:solidFill>
                  <a:srgbClr val="9E2289"/>
                </a:solidFill>
                <a:latin typeface="Arial" panose="020B0604020202020204" pitchFamily="34" charset="0"/>
                <a:cs typeface="Arial" panose="020B0604020202020204" pitchFamily="34" charset="0"/>
              </a:rPr>
              <a:t> Coreia Bento</a:t>
            </a:r>
          </a:p>
          <a:p>
            <a:r>
              <a:rPr lang="pt-BR" sz="1400" dirty="0">
                <a:solidFill>
                  <a:srgbClr val="9E2289"/>
                </a:solidFill>
                <a:latin typeface="Arial" panose="020B0604020202020204" pitchFamily="34" charset="0"/>
                <a:cs typeface="Arial" panose="020B0604020202020204" pitchFamily="34" charset="0"/>
              </a:rPr>
              <a:t>Pietra Giovana Floriani</a:t>
            </a:r>
          </a:p>
          <a:p>
            <a:r>
              <a:rPr lang="pt-BR" sz="1400" dirty="0">
                <a:solidFill>
                  <a:srgbClr val="9E2289"/>
                </a:solidFill>
                <a:latin typeface="Arial" panose="020B0604020202020204" pitchFamily="34" charset="0"/>
                <a:cs typeface="Arial" panose="020B0604020202020204" pitchFamily="34" charset="0"/>
              </a:rPr>
              <a:t>Brenda Luana </a:t>
            </a:r>
            <a:r>
              <a:rPr lang="pt-BR" sz="1400" dirty="0" err="1">
                <a:solidFill>
                  <a:srgbClr val="9E2289"/>
                </a:solidFill>
                <a:latin typeface="Arial" panose="020B0604020202020204" pitchFamily="34" charset="0"/>
                <a:cs typeface="Arial" panose="020B0604020202020204" pitchFamily="34" charset="0"/>
              </a:rPr>
              <a:t>E.Gomes</a:t>
            </a:r>
            <a:endParaRPr lang="pt-BR" sz="1400" dirty="0">
              <a:solidFill>
                <a:srgbClr val="9E2289"/>
              </a:solidFill>
              <a:latin typeface="Arial" panose="020B0604020202020204" pitchFamily="34" charset="0"/>
              <a:cs typeface="Arial" panose="020B0604020202020204" pitchFamily="34" charset="0"/>
            </a:endParaRPr>
          </a:p>
          <a:p>
            <a:endParaRPr lang="pt-BR" sz="1400" dirty="0">
              <a:solidFill>
                <a:srgbClr val="9E2289"/>
              </a:solidFill>
              <a:latin typeface="Arial" panose="020B0604020202020204" pitchFamily="34" charset="0"/>
              <a:cs typeface="Arial" panose="020B0604020202020204" pitchFamily="34" charset="0"/>
            </a:endParaRPr>
          </a:p>
        </p:txBody>
      </p:sp>
      <p:sp>
        <p:nvSpPr>
          <p:cNvPr id="58" name="CaixaDeTexto 57">
            <a:extLst>
              <a:ext uri="{FF2B5EF4-FFF2-40B4-BE49-F238E27FC236}">
                <a16:creationId xmlns:a16="http://schemas.microsoft.com/office/drawing/2014/main" id="{201048D8-1F88-4305-917E-A2BE1BAE94D8}"/>
              </a:ext>
            </a:extLst>
          </p:cNvPr>
          <p:cNvSpPr txBox="1"/>
          <p:nvPr/>
        </p:nvSpPr>
        <p:spPr>
          <a:xfrm>
            <a:off x="10678317" y="4344007"/>
            <a:ext cx="754765" cy="1384995"/>
          </a:xfrm>
          <a:prstGeom prst="rect">
            <a:avLst/>
          </a:prstGeom>
          <a:noFill/>
        </p:spPr>
        <p:txBody>
          <a:bodyPr wrap="square" rtlCol="0">
            <a:spAutoFit/>
          </a:bodyPr>
          <a:lstStyle/>
          <a:p>
            <a:r>
              <a:rPr lang="pt-BR" sz="1400" dirty="0">
                <a:solidFill>
                  <a:srgbClr val="9E2289"/>
                </a:solidFill>
                <a:latin typeface="Arial" panose="020B0604020202020204" pitchFamily="34" charset="0"/>
                <a:cs typeface="Arial" panose="020B0604020202020204" pitchFamily="34" charset="0"/>
              </a:rPr>
              <a:t>49,29</a:t>
            </a:r>
          </a:p>
          <a:p>
            <a:r>
              <a:rPr lang="pt-BR" sz="1400" dirty="0">
                <a:solidFill>
                  <a:srgbClr val="9E2289"/>
                </a:solidFill>
                <a:latin typeface="Arial" panose="020B0604020202020204" pitchFamily="34" charset="0"/>
                <a:cs typeface="Arial" panose="020B0604020202020204" pitchFamily="34" charset="0"/>
              </a:rPr>
              <a:t>50,86</a:t>
            </a:r>
          </a:p>
          <a:p>
            <a:r>
              <a:rPr lang="pt-BR" sz="1400" dirty="0">
                <a:solidFill>
                  <a:srgbClr val="9E2289"/>
                </a:solidFill>
                <a:latin typeface="Arial" panose="020B0604020202020204" pitchFamily="34" charset="0"/>
                <a:cs typeface="Arial" panose="020B0604020202020204" pitchFamily="34" charset="0"/>
              </a:rPr>
              <a:t>50,86</a:t>
            </a:r>
          </a:p>
          <a:p>
            <a:r>
              <a:rPr lang="pt-BR" sz="1400" dirty="0">
                <a:solidFill>
                  <a:srgbClr val="9E2289"/>
                </a:solidFill>
                <a:latin typeface="Arial" panose="020B0604020202020204" pitchFamily="34" charset="0"/>
                <a:cs typeface="Arial" panose="020B0604020202020204" pitchFamily="34" charset="0"/>
              </a:rPr>
              <a:t>52,71</a:t>
            </a:r>
          </a:p>
          <a:p>
            <a:r>
              <a:rPr lang="pt-BR" sz="1400" dirty="0">
                <a:solidFill>
                  <a:srgbClr val="9E2289"/>
                </a:solidFill>
                <a:latin typeface="Arial" panose="020B0604020202020204" pitchFamily="34" charset="0"/>
                <a:cs typeface="Arial" panose="020B0604020202020204" pitchFamily="34" charset="0"/>
              </a:rPr>
              <a:t>58,5</a:t>
            </a:r>
          </a:p>
          <a:p>
            <a:endParaRPr lang="pt-BR" sz="1400" dirty="0">
              <a:solidFill>
                <a:srgbClr val="9E2289"/>
              </a:solidFill>
              <a:latin typeface="Arial" panose="020B0604020202020204" pitchFamily="34" charset="0"/>
              <a:cs typeface="Arial" panose="020B0604020202020204" pitchFamily="34" charset="0"/>
            </a:endParaRPr>
          </a:p>
        </p:txBody>
      </p:sp>
      <p:sp>
        <p:nvSpPr>
          <p:cNvPr id="46" name="CaixaDeTexto 45">
            <a:extLst>
              <a:ext uri="{FF2B5EF4-FFF2-40B4-BE49-F238E27FC236}">
                <a16:creationId xmlns:a16="http://schemas.microsoft.com/office/drawing/2014/main" id="{8F283CBC-D796-4108-8C50-E067A9B0A30B}"/>
              </a:ext>
            </a:extLst>
          </p:cNvPr>
          <p:cNvSpPr txBox="1"/>
          <p:nvPr/>
        </p:nvSpPr>
        <p:spPr>
          <a:xfrm>
            <a:off x="4112405" y="5339844"/>
            <a:ext cx="1260085" cy="1015663"/>
          </a:xfrm>
          <a:prstGeom prst="rect">
            <a:avLst/>
          </a:prstGeom>
          <a:noFill/>
        </p:spPr>
        <p:txBody>
          <a:bodyPr wrap="square" rtlCol="0">
            <a:spAutoFit/>
          </a:bodyPr>
          <a:lstStyle/>
          <a:p>
            <a:r>
              <a:rPr lang="pt-BR" sz="1200" dirty="0">
                <a:solidFill>
                  <a:schemeClr val="bg2">
                    <a:lumMod val="50000"/>
                  </a:schemeClr>
                </a:solidFill>
                <a:latin typeface="Arial" panose="020B0604020202020204" pitchFamily="34" charset="0"/>
                <a:cs typeface="Arial" panose="020B0604020202020204" pitchFamily="34" charset="0"/>
              </a:rPr>
              <a:t>65,43</a:t>
            </a:r>
          </a:p>
          <a:p>
            <a:r>
              <a:rPr lang="pt-BR" sz="1200" dirty="0">
                <a:solidFill>
                  <a:schemeClr val="bg2">
                    <a:lumMod val="50000"/>
                  </a:schemeClr>
                </a:solidFill>
                <a:latin typeface="Arial" panose="020B0604020202020204" pitchFamily="34" charset="0"/>
                <a:cs typeface="Arial" panose="020B0604020202020204" pitchFamily="34" charset="0"/>
              </a:rPr>
              <a:t>64,14</a:t>
            </a:r>
          </a:p>
          <a:p>
            <a:r>
              <a:rPr lang="pt-BR" sz="1200" dirty="0">
                <a:solidFill>
                  <a:schemeClr val="bg2">
                    <a:lumMod val="50000"/>
                  </a:schemeClr>
                </a:solidFill>
                <a:latin typeface="Arial" panose="020B0604020202020204" pitchFamily="34" charset="0"/>
                <a:cs typeface="Arial" panose="020B0604020202020204" pitchFamily="34" charset="0"/>
              </a:rPr>
              <a:t>62,29</a:t>
            </a:r>
          </a:p>
          <a:p>
            <a:r>
              <a:rPr lang="pt-BR" sz="1200" dirty="0">
                <a:solidFill>
                  <a:schemeClr val="bg2">
                    <a:lumMod val="50000"/>
                  </a:schemeClr>
                </a:solidFill>
                <a:latin typeface="Arial" panose="020B0604020202020204" pitchFamily="34" charset="0"/>
                <a:cs typeface="Arial" panose="020B0604020202020204" pitchFamily="34" charset="0"/>
              </a:rPr>
              <a:t>61,43</a:t>
            </a:r>
          </a:p>
          <a:p>
            <a:r>
              <a:rPr lang="pt-BR" sz="1200" dirty="0">
                <a:solidFill>
                  <a:schemeClr val="bg2">
                    <a:lumMod val="50000"/>
                  </a:schemeClr>
                </a:solidFill>
                <a:latin typeface="Arial" panose="020B0604020202020204" pitchFamily="34" charset="0"/>
                <a:cs typeface="Arial" panose="020B0604020202020204" pitchFamily="34" charset="0"/>
              </a:rPr>
              <a:t>43,86</a:t>
            </a:r>
          </a:p>
        </p:txBody>
      </p:sp>
    </p:spTree>
    <p:extLst>
      <p:ext uri="{BB962C8B-B14F-4D97-AF65-F5344CB8AC3E}">
        <p14:creationId xmlns:p14="http://schemas.microsoft.com/office/powerpoint/2010/main" val="20055933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784FC-9909-8B9C-8C91-126D86F92094}"/>
            </a:ext>
          </a:extLst>
        </p:cNvPr>
        <p:cNvGrpSpPr/>
        <p:nvPr/>
      </p:nvGrpSpPr>
      <p:grpSpPr>
        <a:xfrm>
          <a:off x="0" y="0"/>
          <a:ext cx="0" cy="0"/>
          <a:chOff x="0" y="0"/>
          <a:chExt cx="0" cy="0"/>
        </a:xfrm>
      </p:grpSpPr>
      <p:pic>
        <p:nvPicPr>
          <p:cNvPr id="39" name="Imagem 38">
            <a:extLst>
              <a:ext uri="{FF2B5EF4-FFF2-40B4-BE49-F238E27FC236}">
                <a16:creationId xmlns:a16="http://schemas.microsoft.com/office/drawing/2014/main" id="{C054657D-421E-AB4D-087C-E127AA5FC400}"/>
              </a:ext>
            </a:extLst>
          </p:cNvPr>
          <p:cNvPicPr>
            <a:picLocks noChangeAspect="1"/>
          </p:cNvPicPr>
          <p:nvPr/>
        </p:nvPicPr>
        <p:blipFill>
          <a:blip r:embed="rId2">
            <a:alphaModFix amt="4000"/>
          </a:blip>
          <a:stretch>
            <a:fillRect/>
          </a:stretch>
        </p:blipFill>
        <p:spPr>
          <a:xfrm>
            <a:off x="9157251" y="4596063"/>
            <a:ext cx="5030445" cy="5148116"/>
          </a:xfrm>
          <a:prstGeom prst="rect">
            <a:avLst/>
          </a:prstGeom>
          <a:effectLst/>
        </p:spPr>
      </p:pic>
      <p:pic>
        <p:nvPicPr>
          <p:cNvPr id="38" name="Imagem 37">
            <a:extLst>
              <a:ext uri="{FF2B5EF4-FFF2-40B4-BE49-F238E27FC236}">
                <a16:creationId xmlns:a16="http://schemas.microsoft.com/office/drawing/2014/main" id="{7EA5E6FE-54D4-6520-6F29-D47E9E7DE050}"/>
              </a:ext>
            </a:extLst>
          </p:cNvPr>
          <p:cNvPicPr>
            <a:picLocks noChangeAspect="1"/>
          </p:cNvPicPr>
          <p:nvPr/>
        </p:nvPicPr>
        <p:blipFill>
          <a:blip r:embed="rId2">
            <a:alphaModFix amt="4000"/>
          </a:blip>
          <a:stretch>
            <a:fillRect/>
          </a:stretch>
        </p:blipFill>
        <p:spPr>
          <a:xfrm>
            <a:off x="-2128370" y="-2021305"/>
            <a:ext cx="5030445" cy="5148116"/>
          </a:xfrm>
          <a:prstGeom prst="rect">
            <a:avLst/>
          </a:prstGeom>
          <a:effectLst/>
        </p:spPr>
      </p:pic>
      <p:sp>
        <p:nvSpPr>
          <p:cNvPr id="6" name="Título 1">
            <a:extLst>
              <a:ext uri="{FF2B5EF4-FFF2-40B4-BE49-F238E27FC236}">
                <a16:creationId xmlns:a16="http://schemas.microsoft.com/office/drawing/2014/main" id="{CFA5D9EA-B142-5B83-4B8E-AF0647ED830A}"/>
              </a:ext>
            </a:extLst>
          </p:cNvPr>
          <p:cNvSpPr txBox="1">
            <a:spLocks/>
          </p:cNvSpPr>
          <p:nvPr/>
        </p:nvSpPr>
        <p:spPr>
          <a:xfrm>
            <a:off x="5946417" y="431573"/>
            <a:ext cx="5811865"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pt-BR" sz="1600" spc="600" dirty="0">
                <a:solidFill>
                  <a:srgbClr val="9E2289"/>
                </a:solidFill>
                <a:latin typeface="Arial" panose="020B0604020202020204" pitchFamily="34" charset="0"/>
                <a:cs typeface="Arial" panose="020B0604020202020204" pitchFamily="34" charset="0"/>
              </a:rPr>
              <a:t>PREMIUM</a:t>
            </a:r>
          </a:p>
        </p:txBody>
      </p:sp>
      <p:grpSp>
        <p:nvGrpSpPr>
          <p:cNvPr id="20" name="Google Shape;1964;p50">
            <a:extLst>
              <a:ext uri="{FF2B5EF4-FFF2-40B4-BE49-F238E27FC236}">
                <a16:creationId xmlns:a16="http://schemas.microsoft.com/office/drawing/2014/main" id="{88458945-2F81-EBC3-CA5E-F9144B25BA63}"/>
              </a:ext>
            </a:extLst>
          </p:cNvPr>
          <p:cNvGrpSpPr/>
          <p:nvPr/>
        </p:nvGrpSpPr>
        <p:grpSpPr>
          <a:xfrm flipH="1">
            <a:off x="742950" y="537670"/>
            <a:ext cx="603644" cy="576232"/>
            <a:chOff x="4126815" y="2760704"/>
            <a:chExt cx="380393" cy="363118"/>
          </a:xfrm>
          <a:solidFill>
            <a:srgbClr val="0B5892"/>
          </a:solidFill>
        </p:grpSpPr>
        <p:sp>
          <p:nvSpPr>
            <p:cNvPr id="21" name="Google Shape;1965;p50">
              <a:extLst>
                <a:ext uri="{FF2B5EF4-FFF2-40B4-BE49-F238E27FC236}">
                  <a16:creationId xmlns:a16="http://schemas.microsoft.com/office/drawing/2014/main" id="{85008324-78CD-B1D4-B3CC-EC882ACC744C}"/>
                </a:ext>
              </a:extLst>
            </p:cNvPr>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966;p50">
              <a:extLst>
                <a:ext uri="{FF2B5EF4-FFF2-40B4-BE49-F238E27FC236}">
                  <a16:creationId xmlns:a16="http://schemas.microsoft.com/office/drawing/2014/main" id="{780651AF-09D0-AE19-7952-708EFB4B9127}"/>
                </a:ext>
              </a:extLst>
            </p:cNvPr>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967;p50">
              <a:extLst>
                <a:ext uri="{FF2B5EF4-FFF2-40B4-BE49-F238E27FC236}">
                  <a16:creationId xmlns:a16="http://schemas.microsoft.com/office/drawing/2014/main" id="{00E6915D-62B4-6AC3-E393-867B81FFB1BD}"/>
                </a:ext>
              </a:extLst>
            </p:cNvPr>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968;p50">
              <a:extLst>
                <a:ext uri="{FF2B5EF4-FFF2-40B4-BE49-F238E27FC236}">
                  <a16:creationId xmlns:a16="http://schemas.microsoft.com/office/drawing/2014/main" id="{2C8F5A76-7D9B-E06B-1C0D-9B35B0EE0E36}"/>
                </a:ext>
              </a:extLst>
            </p:cNvPr>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Retângulo 28">
            <a:extLst>
              <a:ext uri="{FF2B5EF4-FFF2-40B4-BE49-F238E27FC236}">
                <a16:creationId xmlns:a16="http://schemas.microsoft.com/office/drawing/2014/main" id="{4C748098-072B-57C3-AFEF-111626826185}"/>
              </a:ext>
            </a:extLst>
          </p:cNvPr>
          <p:cNvSpPr/>
          <p:nvPr/>
        </p:nvSpPr>
        <p:spPr>
          <a:xfrm>
            <a:off x="-449179" y="6707874"/>
            <a:ext cx="14054469" cy="334610"/>
          </a:xfrm>
          <a:prstGeom prst="rect">
            <a:avLst/>
          </a:prstGeom>
          <a:solidFill>
            <a:srgbClr val="9E22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 name="Imagem 7">
            <a:extLst>
              <a:ext uri="{FF2B5EF4-FFF2-40B4-BE49-F238E27FC236}">
                <a16:creationId xmlns:a16="http://schemas.microsoft.com/office/drawing/2014/main" id="{92EC645A-4BE0-ADC7-D411-0E155D29F71B}"/>
              </a:ext>
            </a:extLst>
          </p:cNvPr>
          <p:cNvPicPr>
            <a:picLocks noChangeAspect="1"/>
          </p:cNvPicPr>
          <p:nvPr/>
        </p:nvPicPr>
        <p:blipFill>
          <a:blip r:embed="rId3"/>
          <a:stretch>
            <a:fillRect/>
          </a:stretch>
        </p:blipFill>
        <p:spPr>
          <a:xfrm>
            <a:off x="-124691" y="-20995"/>
            <a:ext cx="12316692" cy="88042"/>
          </a:xfrm>
          <a:prstGeom prst="rect">
            <a:avLst/>
          </a:prstGeom>
        </p:spPr>
      </p:pic>
      <p:sp>
        <p:nvSpPr>
          <p:cNvPr id="18" name="Título 1">
            <a:extLst>
              <a:ext uri="{FF2B5EF4-FFF2-40B4-BE49-F238E27FC236}">
                <a16:creationId xmlns:a16="http://schemas.microsoft.com/office/drawing/2014/main" id="{9C29E03C-C770-1312-EFA8-90E36C19D7D0}"/>
              </a:ext>
            </a:extLst>
          </p:cNvPr>
          <p:cNvSpPr txBox="1">
            <a:spLocks/>
          </p:cNvSpPr>
          <p:nvPr/>
        </p:nvSpPr>
        <p:spPr>
          <a:xfrm>
            <a:off x="1366068" y="448718"/>
            <a:ext cx="6453099"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spc="600" dirty="0">
                <a:solidFill>
                  <a:srgbClr val="0B5892"/>
                </a:solidFill>
                <a:latin typeface="Arial" panose="020B0604020202020204" pitchFamily="34" charset="0"/>
                <a:cs typeface="Arial" panose="020B0604020202020204" pitchFamily="34" charset="0"/>
              </a:rPr>
              <a:t>RANKING DE DESEMPENHO</a:t>
            </a:r>
          </a:p>
        </p:txBody>
      </p:sp>
      <p:sp>
        <p:nvSpPr>
          <p:cNvPr id="19" name="Título 1">
            <a:extLst>
              <a:ext uri="{FF2B5EF4-FFF2-40B4-BE49-F238E27FC236}">
                <a16:creationId xmlns:a16="http://schemas.microsoft.com/office/drawing/2014/main" id="{324B0165-F499-B464-0054-5A113BD08D40}"/>
              </a:ext>
            </a:extLst>
          </p:cNvPr>
          <p:cNvSpPr txBox="1">
            <a:spLocks/>
          </p:cNvSpPr>
          <p:nvPr/>
        </p:nvSpPr>
        <p:spPr>
          <a:xfrm>
            <a:off x="1400358" y="716411"/>
            <a:ext cx="6950456"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600" spc="300" dirty="0">
                <a:solidFill>
                  <a:srgbClr val="0B5892"/>
                </a:solidFill>
                <a:latin typeface="Arial" panose="020B0604020202020204" pitchFamily="34" charset="0"/>
                <a:cs typeface="Arial" panose="020B0604020202020204" pitchFamily="34" charset="0"/>
              </a:rPr>
              <a:t>Quantidade total de monitorias realizadas</a:t>
            </a:r>
          </a:p>
        </p:txBody>
      </p:sp>
      <p:cxnSp>
        <p:nvCxnSpPr>
          <p:cNvPr id="25" name="Conector reto 24">
            <a:extLst>
              <a:ext uri="{FF2B5EF4-FFF2-40B4-BE49-F238E27FC236}">
                <a16:creationId xmlns:a16="http://schemas.microsoft.com/office/drawing/2014/main" id="{F6EF9449-8688-4D98-07C8-AC4A25CA1CC5}"/>
              </a:ext>
            </a:extLst>
          </p:cNvPr>
          <p:cNvCxnSpPr/>
          <p:nvPr/>
        </p:nvCxnSpPr>
        <p:spPr>
          <a:xfrm>
            <a:off x="725988" y="1185955"/>
            <a:ext cx="9855200" cy="0"/>
          </a:xfrm>
          <a:prstGeom prst="line">
            <a:avLst/>
          </a:prstGeom>
          <a:ln>
            <a:solidFill>
              <a:srgbClr val="0B5892"/>
            </a:solidFill>
          </a:ln>
        </p:spPr>
        <p:style>
          <a:lnRef idx="1">
            <a:schemeClr val="accent1"/>
          </a:lnRef>
          <a:fillRef idx="0">
            <a:schemeClr val="accent1"/>
          </a:fillRef>
          <a:effectRef idx="0">
            <a:schemeClr val="accent1"/>
          </a:effectRef>
          <a:fontRef idx="minor">
            <a:schemeClr val="tx1"/>
          </a:fontRef>
        </p:style>
      </p:cxnSp>
      <p:sp>
        <p:nvSpPr>
          <p:cNvPr id="65" name="Retângulo: Cantos Arredondados 64">
            <a:extLst>
              <a:ext uri="{FF2B5EF4-FFF2-40B4-BE49-F238E27FC236}">
                <a16:creationId xmlns:a16="http://schemas.microsoft.com/office/drawing/2014/main" id="{62D3B431-5A13-52A5-F6DE-10F77F634D99}"/>
              </a:ext>
            </a:extLst>
          </p:cNvPr>
          <p:cNvSpPr/>
          <p:nvPr/>
        </p:nvSpPr>
        <p:spPr>
          <a:xfrm>
            <a:off x="1792763" y="1850617"/>
            <a:ext cx="4310912" cy="2137417"/>
          </a:xfrm>
          <a:prstGeom prst="roundRect">
            <a:avLst/>
          </a:prstGeom>
          <a:solidFill>
            <a:schemeClr val="bg1">
              <a:lumMod val="95000"/>
            </a:schemeClr>
          </a:solidFill>
          <a:ln>
            <a:noFill/>
          </a:ln>
          <a:effectLst>
            <a:outerShdw dist="101600" dir="10740000" algn="t" rotWithShape="0">
              <a:srgbClr val="9E2289"/>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66" name="Google Shape;1944;p50">
            <a:extLst>
              <a:ext uri="{FF2B5EF4-FFF2-40B4-BE49-F238E27FC236}">
                <a16:creationId xmlns:a16="http://schemas.microsoft.com/office/drawing/2014/main" id="{6E1878EA-CEE7-33BC-8E25-20DC76C0D0D1}"/>
              </a:ext>
            </a:extLst>
          </p:cNvPr>
          <p:cNvGrpSpPr/>
          <p:nvPr/>
        </p:nvGrpSpPr>
        <p:grpSpPr>
          <a:xfrm rot="10417960">
            <a:off x="2057787" y="1993078"/>
            <a:ext cx="476316" cy="468384"/>
            <a:chOff x="860940" y="2746477"/>
            <a:chExt cx="371883" cy="365691"/>
          </a:xfrm>
          <a:solidFill>
            <a:srgbClr val="9E2289"/>
          </a:solidFill>
        </p:grpSpPr>
        <p:sp>
          <p:nvSpPr>
            <p:cNvPr id="67" name="Google Shape;1945;p50">
              <a:extLst>
                <a:ext uri="{FF2B5EF4-FFF2-40B4-BE49-F238E27FC236}">
                  <a16:creationId xmlns:a16="http://schemas.microsoft.com/office/drawing/2014/main" id="{8B01C523-743D-4846-BC8E-46E6911266CE}"/>
                </a:ext>
              </a:extLst>
            </p:cNvPr>
            <p:cNvSpPr/>
            <p:nvPr/>
          </p:nvSpPr>
          <p:spPr>
            <a:xfrm>
              <a:off x="908191" y="3026302"/>
              <a:ext cx="30294" cy="28961"/>
            </a:xfrm>
            <a:custGeom>
              <a:avLst/>
              <a:gdLst/>
              <a:ahLst/>
              <a:cxnLst/>
              <a:rect l="l" t="t" r="r" b="b"/>
              <a:pathLst>
                <a:path w="954" h="912" extrusionOk="0">
                  <a:moveTo>
                    <a:pt x="763" y="1"/>
                  </a:moveTo>
                  <a:cubicBezTo>
                    <a:pt x="718" y="1"/>
                    <a:pt x="674" y="16"/>
                    <a:pt x="644" y="45"/>
                  </a:cubicBezTo>
                  <a:lnTo>
                    <a:pt x="60" y="629"/>
                  </a:lnTo>
                  <a:cubicBezTo>
                    <a:pt x="1" y="688"/>
                    <a:pt x="1" y="807"/>
                    <a:pt x="60" y="867"/>
                  </a:cubicBezTo>
                  <a:cubicBezTo>
                    <a:pt x="90" y="897"/>
                    <a:pt x="135" y="911"/>
                    <a:pt x="179" y="911"/>
                  </a:cubicBezTo>
                  <a:cubicBezTo>
                    <a:pt x="224" y="911"/>
                    <a:pt x="269" y="897"/>
                    <a:pt x="299" y="867"/>
                  </a:cubicBezTo>
                  <a:lnTo>
                    <a:pt x="882" y="283"/>
                  </a:lnTo>
                  <a:cubicBezTo>
                    <a:pt x="953" y="224"/>
                    <a:pt x="953" y="105"/>
                    <a:pt x="882" y="45"/>
                  </a:cubicBezTo>
                  <a:cubicBezTo>
                    <a:pt x="852" y="16"/>
                    <a:pt x="807" y="1"/>
                    <a:pt x="76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946;p50">
              <a:extLst>
                <a:ext uri="{FF2B5EF4-FFF2-40B4-BE49-F238E27FC236}">
                  <a16:creationId xmlns:a16="http://schemas.microsoft.com/office/drawing/2014/main" id="{32711DB3-20F8-9014-3C09-3BB7E3B01DD8}"/>
                </a:ext>
              </a:extLst>
            </p:cNvPr>
            <p:cNvSpPr/>
            <p:nvPr/>
          </p:nvSpPr>
          <p:spPr>
            <a:xfrm>
              <a:off x="943757" y="3061836"/>
              <a:ext cx="30263" cy="28961"/>
            </a:xfrm>
            <a:custGeom>
              <a:avLst/>
              <a:gdLst/>
              <a:ahLst/>
              <a:cxnLst/>
              <a:rect l="l" t="t" r="r" b="b"/>
              <a:pathLst>
                <a:path w="953" h="912" extrusionOk="0">
                  <a:moveTo>
                    <a:pt x="762" y="1"/>
                  </a:moveTo>
                  <a:cubicBezTo>
                    <a:pt x="717" y="1"/>
                    <a:pt x="673" y="16"/>
                    <a:pt x="643" y="46"/>
                  </a:cubicBezTo>
                  <a:lnTo>
                    <a:pt x="60" y="629"/>
                  </a:lnTo>
                  <a:cubicBezTo>
                    <a:pt x="0" y="688"/>
                    <a:pt x="0" y="807"/>
                    <a:pt x="60" y="867"/>
                  </a:cubicBezTo>
                  <a:cubicBezTo>
                    <a:pt x="89" y="897"/>
                    <a:pt x="134" y="912"/>
                    <a:pt x="179" y="912"/>
                  </a:cubicBezTo>
                  <a:cubicBezTo>
                    <a:pt x="223" y="912"/>
                    <a:pt x="268" y="897"/>
                    <a:pt x="298" y="867"/>
                  </a:cubicBezTo>
                  <a:lnTo>
                    <a:pt x="881" y="284"/>
                  </a:lnTo>
                  <a:cubicBezTo>
                    <a:pt x="953" y="224"/>
                    <a:pt x="953" y="105"/>
                    <a:pt x="881" y="46"/>
                  </a:cubicBezTo>
                  <a:cubicBezTo>
                    <a:pt x="851" y="16"/>
                    <a:pt x="807" y="1"/>
                    <a:pt x="7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947;p50">
              <a:extLst>
                <a:ext uri="{FF2B5EF4-FFF2-40B4-BE49-F238E27FC236}">
                  <a16:creationId xmlns:a16="http://schemas.microsoft.com/office/drawing/2014/main" id="{B53A57AA-4A50-920B-F1E5-444C60EB5616}"/>
                </a:ext>
              </a:extLst>
            </p:cNvPr>
            <p:cNvSpPr/>
            <p:nvPr/>
          </p:nvSpPr>
          <p:spPr>
            <a:xfrm>
              <a:off x="926355" y="3044085"/>
              <a:ext cx="29881" cy="28579"/>
            </a:xfrm>
            <a:custGeom>
              <a:avLst/>
              <a:gdLst/>
              <a:ahLst/>
              <a:cxnLst/>
              <a:rect l="l" t="t" r="r" b="b"/>
              <a:pathLst>
                <a:path w="941" h="900" extrusionOk="0">
                  <a:moveTo>
                    <a:pt x="762" y="0"/>
                  </a:moveTo>
                  <a:cubicBezTo>
                    <a:pt x="718" y="0"/>
                    <a:pt x="673" y="15"/>
                    <a:pt x="643" y="45"/>
                  </a:cubicBezTo>
                  <a:lnTo>
                    <a:pt x="60" y="616"/>
                  </a:lnTo>
                  <a:cubicBezTo>
                    <a:pt x="0" y="676"/>
                    <a:pt x="0" y="795"/>
                    <a:pt x="60" y="855"/>
                  </a:cubicBezTo>
                  <a:cubicBezTo>
                    <a:pt x="90" y="884"/>
                    <a:pt x="134" y="899"/>
                    <a:pt x="179" y="899"/>
                  </a:cubicBezTo>
                  <a:cubicBezTo>
                    <a:pt x="224" y="899"/>
                    <a:pt x="268" y="884"/>
                    <a:pt x="298" y="855"/>
                  </a:cubicBezTo>
                  <a:lnTo>
                    <a:pt x="881" y="283"/>
                  </a:lnTo>
                  <a:cubicBezTo>
                    <a:pt x="941" y="224"/>
                    <a:pt x="941" y="116"/>
                    <a:pt x="881" y="45"/>
                  </a:cubicBezTo>
                  <a:cubicBezTo>
                    <a:pt x="852" y="15"/>
                    <a:pt x="807" y="0"/>
                    <a:pt x="76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948;p50">
              <a:extLst>
                <a:ext uri="{FF2B5EF4-FFF2-40B4-BE49-F238E27FC236}">
                  <a16:creationId xmlns:a16="http://schemas.microsoft.com/office/drawing/2014/main" id="{50B9AAB0-5F7A-3E37-7667-A4B50F4C4064}"/>
                </a:ext>
              </a:extLst>
            </p:cNvPr>
            <p:cNvSpPr/>
            <p:nvPr/>
          </p:nvSpPr>
          <p:spPr>
            <a:xfrm>
              <a:off x="860940" y="2746477"/>
              <a:ext cx="371883" cy="365691"/>
            </a:xfrm>
            <a:custGeom>
              <a:avLst/>
              <a:gdLst/>
              <a:ahLst/>
              <a:cxnLst/>
              <a:rect l="l" t="t" r="r" b="b"/>
              <a:pathLst>
                <a:path w="11711" h="11516" extrusionOk="0">
                  <a:moveTo>
                    <a:pt x="11312" y="344"/>
                  </a:moveTo>
                  <a:lnTo>
                    <a:pt x="10835" y="1987"/>
                  </a:lnTo>
                  <a:lnTo>
                    <a:pt x="9680" y="821"/>
                  </a:lnTo>
                  <a:lnTo>
                    <a:pt x="11312" y="344"/>
                  </a:lnTo>
                  <a:close/>
                  <a:moveTo>
                    <a:pt x="4882" y="3821"/>
                  </a:moveTo>
                  <a:lnTo>
                    <a:pt x="2822" y="5881"/>
                  </a:lnTo>
                  <a:lnTo>
                    <a:pt x="477" y="5690"/>
                  </a:lnTo>
                  <a:cubicBezTo>
                    <a:pt x="453" y="5690"/>
                    <a:pt x="429" y="5643"/>
                    <a:pt x="465" y="5631"/>
                  </a:cubicBezTo>
                  <a:cubicBezTo>
                    <a:pt x="1477" y="4619"/>
                    <a:pt x="2822" y="4000"/>
                    <a:pt x="4227" y="3881"/>
                  </a:cubicBezTo>
                  <a:lnTo>
                    <a:pt x="4882" y="3821"/>
                  </a:lnTo>
                  <a:close/>
                  <a:moveTo>
                    <a:pt x="2894" y="6297"/>
                  </a:moveTo>
                  <a:lnTo>
                    <a:pt x="3811" y="7226"/>
                  </a:lnTo>
                  <a:lnTo>
                    <a:pt x="3477" y="7571"/>
                  </a:lnTo>
                  <a:lnTo>
                    <a:pt x="2549" y="6643"/>
                  </a:lnTo>
                  <a:lnTo>
                    <a:pt x="2894" y="6297"/>
                  </a:lnTo>
                  <a:close/>
                  <a:moveTo>
                    <a:pt x="2727" y="7333"/>
                  </a:moveTo>
                  <a:lnTo>
                    <a:pt x="3203" y="7810"/>
                  </a:lnTo>
                  <a:lnTo>
                    <a:pt x="2799" y="8226"/>
                  </a:lnTo>
                  <a:cubicBezTo>
                    <a:pt x="2787" y="8238"/>
                    <a:pt x="2763" y="8262"/>
                    <a:pt x="2739" y="8298"/>
                  </a:cubicBezTo>
                  <a:lnTo>
                    <a:pt x="2310" y="7869"/>
                  </a:lnTo>
                  <a:cubicBezTo>
                    <a:pt x="2287" y="7833"/>
                    <a:pt x="2287" y="7774"/>
                    <a:pt x="2310" y="7750"/>
                  </a:cubicBezTo>
                  <a:lnTo>
                    <a:pt x="2727" y="7333"/>
                  </a:lnTo>
                  <a:close/>
                  <a:moveTo>
                    <a:pt x="9311" y="916"/>
                  </a:moveTo>
                  <a:lnTo>
                    <a:pt x="10740" y="2345"/>
                  </a:lnTo>
                  <a:lnTo>
                    <a:pt x="10299" y="3821"/>
                  </a:lnTo>
                  <a:lnTo>
                    <a:pt x="5597" y="8524"/>
                  </a:lnTo>
                  <a:lnTo>
                    <a:pt x="4680" y="7595"/>
                  </a:lnTo>
                  <a:lnTo>
                    <a:pt x="6823" y="5452"/>
                  </a:lnTo>
                  <a:cubicBezTo>
                    <a:pt x="6966" y="5309"/>
                    <a:pt x="7001" y="5035"/>
                    <a:pt x="6811" y="4833"/>
                  </a:cubicBezTo>
                  <a:cubicBezTo>
                    <a:pt x="6728" y="4750"/>
                    <a:pt x="6617" y="4708"/>
                    <a:pt x="6506" y="4708"/>
                  </a:cubicBezTo>
                  <a:cubicBezTo>
                    <a:pt x="6394" y="4708"/>
                    <a:pt x="6281" y="4750"/>
                    <a:pt x="6192" y="4833"/>
                  </a:cubicBezTo>
                  <a:lnTo>
                    <a:pt x="4049" y="6976"/>
                  </a:lnTo>
                  <a:lnTo>
                    <a:pt x="3132" y="6047"/>
                  </a:lnTo>
                  <a:lnTo>
                    <a:pt x="7835" y="1344"/>
                  </a:lnTo>
                  <a:lnTo>
                    <a:pt x="9311" y="916"/>
                  </a:lnTo>
                  <a:close/>
                  <a:moveTo>
                    <a:pt x="6495" y="5047"/>
                  </a:moveTo>
                  <a:cubicBezTo>
                    <a:pt x="6522" y="5047"/>
                    <a:pt x="6549" y="5059"/>
                    <a:pt x="6573" y="5083"/>
                  </a:cubicBezTo>
                  <a:cubicBezTo>
                    <a:pt x="6609" y="5131"/>
                    <a:pt x="6609" y="5178"/>
                    <a:pt x="6573" y="5226"/>
                  </a:cubicBezTo>
                  <a:lnTo>
                    <a:pt x="4311" y="7488"/>
                  </a:lnTo>
                  <a:lnTo>
                    <a:pt x="3203" y="8595"/>
                  </a:lnTo>
                  <a:cubicBezTo>
                    <a:pt x="3180" y="8619"/>
                    <a:pt x="3153" y="8631"/>
                    <a:pt x="3127" y="8631"/>
                  </a:cubicBezTo>
                  <a:cubicBezTo>
                    <a:pt x="3102" y="8631"/>
                    <a:pt x="3078" y="8619"/>
                    <a:pt x="3060" y="8595"/>
                  </a:cubicBezTo>
                  <a:cubicBezTo>
                    <a:pt x="3013" y="8548"/>
                    <a:pt x="3013" y="8488"/>
                    <a:pt x="3060" y="8441"/>
                  </a:cubicBezTo>
                  <a:lnTo>
                    <a:pt x="6418" y="5083"/>
                  </a:lnTo>
                  <a:cubicBezTo>
                    <a:pt x="6442" y="5059"/>
                    <a:pt x="6469" y="5047"/>
                    <a:pt x="6495" y="5047"/>
                  </a:cubicBezTo>
                  <a:close/>
                  <a:moveTo>
                    <a:pt x="4430" y="7857"/>
                  </a:moveTo>
                  <a:lnTo>
                    <a:pt x="5346" y="8786"/>
                  </a:lnTo>
                  <a:lnTo>
                    <a:pt x="5001" y="9119"/>
                  </a:lnTo>
                  <a:lnTo>
                    <a:pt x="4989" y="9119"/>
                  </a:lnTo>
                  <a:lnTo>
                    <a:pt x="4084" y="8202"/>
                  </a:lnTo>
                  <a:lnTo>
                    <a:pt x="4430" y="7857"/>
                  </a:lnTo>
                  <a:close/>
                  <a:moveTo>
                    <a:pt x="3846" y="8429"/>
                  </a:moveTo>
                  <a:lnTo>
                    <a:pt x="4323" y="8905"/>
                  </a:lnTo>
                  <a:lnTo>
                    <a:pt x="3906" y="9322"/>
                  </a:lnTo>
                  <a:cubicBezTo>
                    <a:pt x="3894" y="9334"/>
                    <a:pt x="3858" y="9357"/>
                    <a:pt x="3846" y="9357"/>
                  </a:cubicBezTo>
                  <a:cubicBezTo>
                    <a:pt x="3834" y="9357"/>
                    <a:pt x="3811" y="9357"/>
                    <a:pt x="3787" y="9322"/>
                  </a:cubicBezTo>
                  <a:lnTo>
                    <a:pt x="3358" y="8905"/>
                  </a:lnTo>
                  <a:cubicBezTo>
                    <a:pt x="3382" y="8893"/>
                    <a:pt x="3394" y="8881"/>
                    <a:pt x="3430" y="8845"/>
                  </a:cubicBezTo>
                  <a:lnTo>
                    <a:pt x="3846" y="8429"/>
                  </a:lnTo>
                  <a:close/>
                  <a:moveTo>
                    <a:pt x="11322" y="1"/>
                  </a:moveTo>
                  <a:cubicBezTo>
                    <a:pt x="11295" y="1"/>
                    <a:pt x="11267" y="4"/>
                    <a:pt x="11240" y="11"/>
                  </a:cubicBezTo>
                  <a:cubicBezTo>
                    <a:pt x="10514" y="213"/>
                    <a:pt x="8394" y="844"/>
                    <a:pt x="7704" y="1035"/>
                  </a:cubicBezTo>
                  <a:cubicBezTo>
                    <a:pt x="7668" y="1047"/>
                    <a:pt x="7656" y="1059"/>
                    <a:pt x="7621" y="1083"/>
                  </a:cubicBezTo>
                  <a:lnTo>
                    <a:pt x="5263" y="3440"/>
                  </a:lnTo>
                  <a:lnTo>
                    <a:pt x="4203" y="3535"/>
                  </a:lnTo>
                  <a:cubicBezTo>
                    <a:pt x="2703" y="3654"/>
                    <a:pt x="1286" y="4321"/>
                    <a:pt x="227" y="5381"/>
                  </a:cubicBezTo>
                  <a:cubicBezTo>
                    <a:pt x="1" y="5595"/>
                    <a:pt x="143" y="5988"/>
                    <a:pt x="465" y="6024"/>
                  </a:cubicBezTo>
                  <a:lnTo>
                    <a:pt x="2525" y="6190"/>
                  </a:lnTo>
                  <a:lnTo>
                    <a:pt x="2310" y="6405"/>
                  </a:lnTo>
                  <a:cubicBezTo>
                    <a:pt x="2179" y="6536"/>
                    <a:pt x="2179" y="6750"/>
                    <a:pt x="2310" y="6881"/>
                  </a:cubicBezTo>
                  <a:lnTo>
                    <a:pt x="2525" y="7083"/>
                  </a:lnTo>
                  <a:lnTo>
                    <a:pt x="2108" y="7500"/>
                  </a:lnTo>
                  <a:cubicBezTo>
                    <a:pt x="1941" y="7667"/>
                    <a:pt x="1941" y="7941"/>
                    <a:pt x="2108" y="8095"/>
                  </a:cubicBezTo>
                  <a:lnTo>
                    <a:pt x="3561" y="9560"/>
                  </a:lnTo>
                  <a:cubicBezTo>
                    <a:pt x="3644" y="9643"/>
                    <a:pt x="3751" y="9685"/>
                    <a:pt x="3858" y="9685"/>
                  </a:cubicBezTo>
                  <a:cubicBezTo>
                    <a:pt x="3965" y="9685"/>
                    <a:pt x="4073" y="9643"/>
                    <a:pt x="4156" y="9560"/>
                  </a:cubicBezTo>
                  <a:lnTo>
                    <a:pt x="4573" y="9143"/>
                  </a:lnTo>
                  <a:lnTo>
                    <a:pt x="4763" y="9334"/>
                  </a:lnTo>
                  <a:cubicBezTo>
                    <a:pt x="4835" y="9399"/>
                    <a:pt x="4924" y="9432"/>
                    <a:pt x="5015" y="9432"/>
                  </a:cubicBezTo>
                  <a:cubicBezTo>
                    <a:pt x="5105" y="9432"/>
                    <a:pt x="5198" y="9399"/>
                    <a:pt x="5275" y="9334"/>
                  </a:cubicBezTo>
                  <a:lnTo>
                    <a:pt x="5477" y="9131"/>
                  </a:lnTo>
                  <a:lnTo>
                    <a:pt x="5656" y="11179"/>
                  </a:lnTo>
                  <a:cubicBezTo>
                    <a:pt x="5680" y="11334"/>
                    <a:pt x="5763" y="11453"/>
                    <a:pt x="5894" y="11500"/>
                  </a:cubicBezTo>
                  <a:cubicBezTo>
                    <a:pt x="5935" y="11511"/>
                    <a:pt x="5975" y="11516"/>
                    <a:pt x="6015" y="11516"/>
                  </a:cubicBezTo>
                  <a:cubicBezTo>
                    <a:pt x="6115" y="11516"/>
                    <a:pt x="6210" y="11482"/>
                    <a:pt x="6287" y="11405"/>
                  </a:cubicBezTo>
                  <a:cubicBezTo>
                    <a:pt x="6942" y="10750"/>
                    <a:pt x="7430" y="9977"/>
                    <a:pt x="7763" y="9119"/>
                  </a:cubicBezTo>
                  <a:cubicBezTo>
                    <a:pt x="7787" y="9024"/>
                    <a:pt x="7740" y="8941"/>
                    <a:pt x="7656" y="8893"/>
                  </a:cubicBezTo>
                  <a:cubicBezTo>
                    <a:pt x="7635" y="8885"/>
                    <a:pt x="7614" y="8881"/>
                    <a:pt x="7594" y="8881"/>
                  </a:cubicBezTo>
                  <a:cubicBezTo>
                    <a:pt x="7525" y="8881"/>
                    <a:pt x="7467" y="8926"/>
                    <a:pt x="7430" y="9000"/>
                  </a:cubicBezTo>
                  <a:cubicBezTo>
                    <a:pt x="7132" y="9810"/>
                    <a:pt x="6656" y="10560"/>
                    <a:pt x="6037" y="11167"/>
                  </a:cubicBezTo>
                  <a:cubicBezTo>
                    <a:pt x="6027" y="11172"/>
                    <a:pt x="6015" y="11175"/>
                    <a:pt x="6005" y="11175"/>
                  </a:cubicBezTo>
                  <a:cubicBezTo>
                    <a:pt x="5990" y="11175"/>
                    <a:pt x="5978" y="11169"/>
                    <a:pt x="5978" y="11155"/>
                  </a:cubicBezTo>
                  <a:lnTo>
                    <a:pt x="5763" y="8822"/>
                  </a:lnTo>
                  <a:lnTo>
                    <a:pt x="7835" y="6750"/>
                  </a:lnTo>
                  <a:lnTo>
                    <a:pt x="7835" y="6750"/>
                  </a:lnTo>
                  <a:cubicBezTo>
                    <a:pt x="7763" y="7583"/>
                    <a:pt x="7740" y="7810"/>
                    <a:pt x="7656" y="8238"/>
                  </a:cubicBezTo>
                  <a:cubicBezTo>
                    <a:pt x="7644" y="8322"/>
                    <a:pt x="7680" y="8417"/>
                    <a:pt x="7787" y="8441"/>
                  </a:cubicBezTo>
                  <a:cubicBezTo>
                    <a:pt x="7803" y="8445"/>
                    <a:pt x="7819" y="8447"/>
                    <a:pt x="7834" y="8447"/>
                  </a:cubicBezTo>
                  <a:cubicBezTo>
                    <a:pt x="7909" y="8447"/>
                    <a:pt x="7972" y="8399"/>
                    <a:pt x="8002" y="8310"/>
                  </a:cubicBezTo>
                  <a:cubicBezTo>
                    <a:pt x="8121" y="7786"/>
                    <a:pt x="8121" y="7548"/>
                    <a:pt x="8216" y="6393"/>
                  </a:cubicBezTo>
                  <a:lnTo>
                    <a:pt x="10585" y="4023"/>
                  </a:lnTo>
                  <a:cubicBezTo>
                    <a:pt x="10597" y="4011"/>
                    <a:pt x="10621" y="3976"/>
                    <a:pt x="10633" y="3952"/>
                  </a:cubicBezTo>
                  <a:lnTo>
                    <a:pt x="11109" y="2345"/>
                  </a:lnTo>
                  <a:lnTo>
                    <a:pt x="11669" y="404"/>
                  </a:lnTo>
                  <a:cubicBezTo>
                    <a:pt x="11711" y="193"/>
                    <a:pt x="11529" y="1"/>
                    <a:pt x="1132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949;p50">
              <a:extLst>
                <a:ext uri="{FF2B5EF4-FFF2-40B4-BE49-F238E27FC236}">
                  <a16:creationId xmlns:a16="http://schemas.microsoft.com/office/drawing/2014/main" id="{F43F72A0-271B-BA3E-26AA-294759850974}"/>
                </a:ext>
              </a:extLst>
            </p:cNvPr>
            <p:cNvSpPr/>
            <p:nvPr/>
          </p:nvSpPr>
          <p:spPr>
            <a:xfrm>
              <a:off x="1070396" y="2832057"/>
              <a:ext cx="90406" cy="69035"/>
            </a:xfrm>
            <a:custGeom>
              <a:avLst/>
              <a:gdLst/>
              <a:ahLst/>
              <a:cxnLst/>
              <a:rect l="l" t="t" r="r" b="b"/>
              <a:pathLst>
                <a:path w="2847" h="2174" extrusionOk="0">
                  <a:moveTo>
                    <a:pt x="1730" y="0"/>
                  </a:moveTo>
                  <a:cubicBezTo>
                    <a:pt x="1668" y="0"/>
                    <a:pt x="1610" y="44"/>
                    <a:pt x="1584" y="114"/>
                  </a:cubicBezTo>
                  <a:cubicBezTo>
                    <a:pt x="1537" y="197"/>
                    <a:pt x="1584" y="293"/>
                    <a:pt x="1668" y="328"/>
                  </a:cubicBezTo>
                  <a:cubicBezTo>
                    <a:pt x="2179" y="554"/>
                    <a:pt x="2299" y="1221"/>
                    <a:pt x="1906" y="1614"/>
                  </a:cubicBezTo>
                  <a:cubicBezTo>
                    <a:pt x="1751" y="1769"/>
                    <a:pt x="1551" y="1846"/>
                    <a:pt x="1350" y="1846"/>
                  </a:cubicBezTo>
                  <a:cubicBezTo>
                    <a:pt x="1150" y="1846"/>
                    <a:pt x="947" y="1769"/>
                    <a:pt x="786" y="1614"/>
                  </a:cubicBezTo>
                  <a:cubicBezTo>
                    <a:pt x="405" y="1221"/>
                    <a:pt x="525" y="566"/>
                    <a:pt x="1025" y="328"/>
                  </a:cubicBezTo>
                  <a:cubicBezTo>
                    <a:pt x="1120" y="293"/>
                    <a:pt x="1144" y="197"/>
                    <a:pt x="1120" y="114"/>
                  </a:cubicBezTo>
                  <a:cubicBezTo>
                    <a:pt x="1083" y="41"/>
                    <a:pt x="1019" y="10"/>
                    <a:pt x="954" y="10"/>
                  </a:cubicBezTo>
                  <a:cubicBezTo>
                    <a:pt x="934" y="10"/>
                    <a:pt x="913" y="13"/>
                    <a:pt x="894" y="19"/>
                  </a:cubicBezTo>
                  <a:cubicBezTo>
                    <a:pt x="179" y="352"/>
                    <a:pt x="1" y="1281"/>
                    <a:pt x="572" y="1852"/>
                  </a:cubicBezTo>
                  <a:cubicBezTo>
                    <a:pt x="786" y="2078"/>
                    <a:pt x="1072" y="2174"/>
                    <a:pt x="1370" y="2174"/>
                  </a:cubicBezTo>
                  <a:cubicBezTo>
                    <a:pt x="2334" y="2162"/>
                    <a:pt x="2846" y="947"/>
                    <a:pt x="2132" y="245"/>
                  </a:cubicBezTo>
                  <a:cubicBezTo>
                    <a:pt x="2037" y="150"/>
                    <a:pt x="1918" y="66"/>
                    <a:pt x="1798" y="19"/>
                  </a:cubicBezTo>
                  <a:cubicBezTo>
                    <a:pt x="1776" y="6"/>
                    <a:pt x="1753" y="0"/>
                    <a:pt x="17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 name="CaixaDeTexto 71">
            <a:extLst>
              <a:ext uri="{FF2B5EF4-FFF2-40B4-BE49-F238E27FC236}">
                <a16:creationId xmlns:a16="http://schemas.microsoft.com/office/drawing/2014/main" id="{DE4BE43D-E71B-E6A6-32C6-8D547B2DB1DB}"/>
              </a:ext>
            </a:extLst>
          </p:cNvPr>
          <p:cNvSpPr txBox="1"/>
          <p:nvPr/>
        </p:nvSpPr>
        <p:spPr>
          <a:xfrm>
            <a:off x="2583675" y="2002759"/>
            <a:ext cx="1498347" cy="307777"/>
          </a:xfrm>
          <a:prstGeom prst="rect">
            <a:avLst/>
          </a:prstGeom>
          <a:solidFill>
            <a:srgbClr val="D8CDF6"/>
          </a:solidFill>
        </p:spPr>
        <p:txBody>
          <a:bodyPr wrap="square" rtlCol="0">
            <a:spAutoFit/>
          </a:bodyPr>
          <a:lstStyle/>
          <a:p>
            <a:r>
              <a:rPr lang="pt-BR" sz="1400" b="1" dirty="0">
                <a:solidFill>
                  <a:srgbClr val="9E2289"/>
                </a:solidFill>
                <a:latin typeface="Arial" panose="020B0604020202020204" pitchFamily="34" charset="0"/>
                <a:cs typeface="Arial" panose="020B0604020202020204" pitchFamily="34" charset="0"/>
              </a:rPr>
              <a:t>Ofensores</a:t>
            </a:r>
          </a:p>
        </p:txBody>
      </p:sp>
      <p:sp>
        <p:nvSpPr>
          <p:cNvPr id="2" name="CaixaDeTexto 1">
            <a:extLst>
              <a:ext uri="{FF2B5EF4-FFF2-40B4-BE49-F238E27FC236}">
                <a16:creationId xmlns:a16="http://schemas.microsoft.com/office/drawing/2014/main" id="{0F31D34B-B15C-A0C5-ABC7-09441271666C}"/>
              </a:ext>
            </a:extLst>
          </p:cNvPr>
          <p:cNvSpPr txBox="1"/>
          <p:nvPr/>
        </p:nvSpPr>
        <p:spPr>
          <a:xfrm>
            <a:off x="1431436" y="1336969"/>
            <a:ext cx="6064238" cy="307777"/>
          </a:xfrm>
          <a:prstGeom prst="rect">
            <a:avLst/>
          </a:prstGeom>
          <a:noFill/>
        </p:spPr>
        <p:txBody>
          <a:bodyPr wrap="square" rtlCol="0">
            <a:spAutoFit/>
          </a:bodyPr>
          <a:lstStyle/>
          <a:p>
            <a:r>
              <a:rPr lang="pt-BR" sz="1400" b="1" dirty="0">
                <a:solidFill>
                  <a:schemeClr val="tx1">
                    <a:lumMod val="50000"/>
                    <a:lumOff val="50000"/>
                  </a:schemeClr>
                </a:solidFill>
                <a:latin typeface="Arial" panose="020B0604020202020204" pitchFamily="34" charset="0"/>
                <a:cs typeface="Arial" panose="020B0604020202020204" pitchFamily="34" charset="0"/>
              </a:rPr>
              <a:t>Análises do Perfil dos Ofensores</a:t>
            </a:r>
          </a:p>
        </p:txBody>
      </p:sp>
      <p:sp>
        <p:nvSpPr>
          <p:cNvPr id="3" name="CaixaDeTexto 2">
            <a:extLst>
              <a:ext uri="{FF2B5EF4-FFF2-40B4-BE49-F238E27FC236}">
                <a16:creationId xmlns:a16="http://schemas.microsoft.com/office/drawing/2014/main" id="{861F4374-2BF6-DC08-BF35-21A06B1EE652}"/>
              </a:ext>
            </a:extLst>
          </p:cNvPr>
          <p:cNvSpPr txBox="1"/>
          <p:nvPr/>
        </p:nvSpPr>
        <p:spPr>
          <a:xfrm>
            <a:off x="2408394" y="2458456"/>
            <a:ext cx="3573848" cy="1585049"/>
          </a:xfrm>
          <a:prstGeom prst="rect">
            <a:avLst/>
          </a:prstGeom>
          <a:noFill/>
        </p:spPr>
        <p:txBody>
          <a:bodyPr wrap="square" rtlCol="0">
            <a:spAutoFit/>
          </a:bodyPr>
          <a:lstStyle/>
          <a:p>
            <a:r>
              <a:rPr lang="pt-BR" sz="1200" dirty="0">
                <a:solidFill>
                  <a:srgbClr val="9E2289"/>
                </a:solidFill>
                <a:latin typeface="Arial" panose="020B0604020202020204" pitchFamily="34" charset="0"/>
                <a:cs typeface="Arial" panose="020B0604020202020204" pitchFamily="34" charset="0"/>
              </a:rPr>
              <a:t>André Luiz Da Silva</a:t>
            </a:r>
            <a:br>
              <a:rPr lang="pt-BR" sz="1200" dirty="0">
                <a:solidFill>
                  <a:srgbClr val="9E2289"/>
                </a:solidFill>
                <a:latin typeface="Arial" panose="020B0604020202020204" pitchFamily="34" charset="0"/>
                <a:cs typeface="Arial" panose="020B0604020202020204" pitchFamily="34" charset="0"/>
              </a:rPr>
            </a:br>
            <a:r>
              <a:rPr lang="pt-BR" sz="1200" dirty="0">
                <a:solidFill>
                  <a:schemeClr val="bg2">
                    <a:lumMod val="50000"/>
                  </a:schemeClr>
                </a:solidFill>
                <a:latin typeface="Arial" panose="020B0604020202020204" pitchFamily="34" charset="0"/>
                <a:cs typeface="Arial" panose="020B0604020202020204" pitchFamily="34" charset="0"/>
              </a:rPr>
              <a:t>André Luiz apresentou oportunidades pontuais relacionadas ao cumprimento dos procedimentos e atenção aos detalhes. Possui boa base técnica e histórico positivo, sendo necessário reforçar a consistência na execução das tratativas.</a:t>
            </a:r>
            <a:br>
              <a:rPr lang="pt-BR" sz="1200" dirty="0">
                <a:solidFill>
                  <a:srgbClr val="9E2289"/>
                </a:solidFill>
                <a:latin typeface="Arial" panose="020B0604020202020204" pitchFamily="34" charset="0"/>
                <a:cs typeface="Arial" panose="020B0604020202020204" pitchFamily="34" charset="0"/>
              </a:rPr>
            </a:br>
            <a:br>
              <a:rPr lang="pt-BR" sz="1100" dirty="0">
                <a:solidFill>
                  <a:srgbClr val="9E2289"/>
                </a:solidFill>
                <a:latin typeface="Arial" panose="020B0604020202020204" pitchFamily="34" charset="0"/>
                <a:cs typeface="Arial" panose="020B0604020202020204" pitchFamily="34" charset="0"/>
              </a:rPr>
            </a:br>
            <a:endParaRPr lang="pt-BR" sz="1400" dirty="0">
              <a:solidFill>
                <a:srgbClr val="9E2289"/>
              </a:solidFill>
              <a:latin typeface="Arial" panose="020B0604020202020204" pitchFamily="34" charset="0"/>
              <a:cs typeface="Arial" panose="020B0604020202020204" pitchFamily="34" charset="0"/>
            </a:endParaRPr>
          </a:p>
        </p:txBody>
      </p:sp>
      <p:sp>
        <p:nvSpPr>
          <p:cNvPr id="9" name="Retângulo: Cantos Arredondados 8">
            <a:extLst>
              <a:ext uri="{FF2B5EF4-FFF2-40B4-BE49-F238E27FC236}">
                <a16:creationId xmlns:a16="http://schemas.microsoft.com/office/drawing/2014/main" id="{9CF23C8F-F8F3-9D79-72A2-782B09481343}"/>
              </a:ext>
            </a:extLst>
          </p:cNvPr>
          <p:cNvSpPr/>
          <p:nvPr/>
        </p:nvSpPr>
        <p:spPr>
          <a:xfrm>
            <a:off x="6473717" y="1783674"/>
            <a:ext cx="4310911" cy="2137417"/>
          </a:xfrm>
          <a:prstGeom prst="roundRect">
            <a:avLst/>
          </a:prstGeom>
          <a:solidFill>
            <a:schemeClr val="bg1">
              <a:lumMod val="95000"/>
            </a:schemeClr>
          </a:solidFill>
          <a:ln>
            <a:noFill/>
          </a:ln>
          <a:effectLst>
            <a:outerShdw dist="101600" dir="10740000" algn="t" rotWithShape="0">
              <a:srgbClr val="9E2289"/>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10" name="Google Shape;1944;p50">
            <a:extLst>
              <a:ext uri="{FF2B5EF4-FFF2-40B4-BE49-F238E27FC236}">
                <a16:creationId xmlns:a16="http://schemas.microsoft.com/office/drawing/2014/main" id="{CD2EA645-619F-EE0D-123A-2B87429EF9D9}"/>
              </a:ext>
            </a:extLst>
          </p:cNvPr>
          <p:cNvGrpSpPr/>
          <p:nvPr/>
        </p:nvGrpSpPr>
        <p:grpSpPr>
          <a:xfrm rot="10417960">
            <a:off x="6668106" y="1966166"/>
            <a:ext cx="476316" cy="468384"/>
            <a:chOff x="860940" y="2746477"/>
            <a:chExt cx="371883" cy="365691"/>
          </a:xfrm>
          <a:solidFill>
            <a:srgbClr val="9E2289"/>
          </a:solidFill>
        </p:grpSpPr>
        <p:sp>
          <p:nvSpPr>
            <p:cNvPr id="11" name="Google Shape;1945;p50">
              <a:extLst>
                <a:ext uri="{FF2B5EF4-FFF2-40B4-BE49-F238E27FC236}">
                  <a16:creationId xmlns:a16="http://schemas.microsoft.com/office/drawing/2014/main" id="{BD9AEED8-2BEA-FF42-D4AB-6869695D7EB1}"/>
                </a:ext>
              </a:extLst>
            </p:cNvPr>
            <p:cNvSpPr/>
            <p:nvPr/>
          </p:nvSpPr>
          <p:spPr>
            <a:xfrm>
              <a:off x="908191" y="3026302"/>
              <a:ext cx="30294" cy="28961"/>
            </a:xfrm>
            <a:custGeom>
              <a:avLst/>
              <a:gdLst/>
              <a:ahLst/>
              <a:cxnLst/>
              <a:rect l="l" t="t" r="r" b="b"/>
              <a:pathLst>
                <a:path w="954" h="912" extrusionOk="0">
                  <a:moveTo>
                    <a:pt x="763" y="1"/>
                  </a:moveTo>
                  <a:cubicBezTo>
                    <a:pt x="718" y="1"/>
                    <a:pt x="674" y="16"/>
                    <a:pt x="644" y="45"/>
                  </a:cubicBezTo>
                  <a:lnTo>
                    <a:pt x="60" y="629"/>
                  </a:lnTo>
                  <a:cubicBezTo>
                    <a:pt x="1" y="688"/>
                    <a:pt x="1" y="807"/>
                    <a:pt x="60" y="867"/>
                  </a:cubicBezTo>
                  <a:cubicBezTo>
                    <a:pt x="90" y="897"/>
                    <a:pt x="135" y="911"/>
                    <a:pt x="179" y="911"/>
                  </a:cubicBezTo>
                  <a:cubicBezTo>
                    <a:pt x="224" y="911"/>
                    <a:pt x="269" y="897"/>
                    <a:pt x="299" y="867"/>
                  </a:cubicBezTo>
                  <a:lnTo>
                    <a:pt x="882" y="283"/>
                  </a:lnTo>
                  <a:cubicBezTo>
                    <a:pt x="953" y="224"/>
                    <a:pt x="953" y="105"/>
                    <a:pt x="882" y="45"/>
                  </a:cubicBezTo>
                  <a:cubicBezTo>
                    <a:pt x="852" y="16"/>
                    <a:pt x="807" y="1"/>
                    <a:pt x="76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946;p50">
              <a:extLst>
                <a:ext uri="{FF2B5EF4-FFF2-40B4-BE49-F238E27FC236}">
                  <a16:creationId xmlns:a16="http://schemas.microsoft.com/office/drawing/2014/main" id="{D8FB7B13-BE25-FF4F-96CC-93B75C7C72E7}"/>
                </a:ext>
              </a:extLst>
            </p:cNvPr>
            <p:cNvSpPr/>
            <p:nvPr/>
          </p:nvSpPr>
          <p:spPr>
            <a:xfrm>
              <a:off x="943757" y="3061836"/>
              <a:ext cx="30263" cy="28961"/>
            </a:xfrm>
            <a:custGeom>
              <a:avLst/>
              <a:gdLst/>
              <a:ahLst/>
              <a:cxnLst/>
              <a:rect l="l" t="t" r="r" b="b"/>
              <a:pathLst>
                <a:path w="953" h="912" extrusionOk="0">
                  <a:moveTo>
                    <a:pt x="762" y="1"/>
                  </a:moveTo>
                  <a:cubicBezTo>
                    <a:pt x="717" y="1"/>
                    <a:pt x="673" y="16"/>
                    <a:pt x="643" y="46"/>
                  </a:cubicBezTo>
                  <a:lnTo>
                    <a:pt x="60" y="629"/>
                  </a:lnTo>
                  <a:cubicBezTo>
                    <a:pt x="0" y="688"/>
                    <a:pt x="0" y="807"/>
                    <a:pt x="60" y="867"/>
                  </a:cubicBezTo>
                  <a:cubicBezTo>
                    <a:pt x="89" y="897"/>
                    <a:pt x="134" y="912"/>
                    <a:pt x="179" y="912"/>
                  </a:cubicBezTo>
                  <a:cubicBezTo>
                    <a:pt x="223" y="912"/>
                    <a:pt x="268" y="897"/>
                    <a:pt x="298" y="867"/>
                  </a:cubicBezTo>
                  <a:lnTo>
                    <a:pt x="881" y="284"/>
                  </a:lnTo>
                  <a:cubicBezTo>
                    <a:pt x="953" y="224"/>
                    <a:pt x="953" y="105"/>
                    <a:pt x="881" y="46"/>
                  </a:cubicBezTo>
                  <a:cubicBezTo>
                    <a:pt x="851" y="16"/>
                    <a:pt x="807" y="1"/>
                    <a:pt x="7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947;p50">
              <a:extLst>
                <a:ext uri="{FF2B5EF4-FFF2-40B4-BE49-F238E27FC236}">
                  <a16:creationId xmlns:a16="http://schemas.microsoft.com/office/drawing/2014/main" id="{29ABEF82-D457-2193-C7B7-AF1643E0FA15}"/>
                </a:ext>
              </a:extLst>
            </p:cNvPr>
            <p:cNvSpPr/>
            <p:nvPr/>
          </p:nvSpPr>
          <p:spPr>
            <a:xfrm>
              <a:off x="926355" y="3044085"/>
              <a:ext cx="29881" cy="28579"/>
            </a:xfrm>
            <a:custGeom>
              <a:avLst/>
              <a:gdLst/>
              <a:ahLst/>
              <a:cxnLst/>
              <a:rect l="l" t="t" r="r" b="b"/>
              <a:pathLst>
                <a:path w="941" h="900" extrusionOk="0">
                  <a:moveTo>
                    <a:pt x="762" y="0"/>
                  </a:moveTo>
                  <a:cubicBezTo>
                    <a:pt x="718" y="0"/>
                    <a:pt x="673" y="15"/>
                    <a:pt x="643" y="45"/>
                  </a:cubicBezTo>
                  <a:lnTo>
                    <a:pt x="60" y="616"/>
                  </a:lnTo>
                  <a:cubicBezTo>
                    <a:pt x="0" y="676"/>
                    <a:pt x="0" y="795"/>
                    <a:pt x="60" y="855"/>
                  </a:cubicBezTo>
                  <a:cubicBezTo>
                    <a:pt x="90" y="884"/>
                    <a:pt x="134" y="899"/>
                    <a:pt x="179" y="899"/>
                  </a:cubicBezTo>
                  <a:cubicBezTo>
                    <a:pt x="224" y="899"/>
                    <a:pt x="268" y="884"/>
                    <a:pt x="298" y="855"/>
                  </a:cubicBezTo>
                  <a:lnTo>
                    <a:pt x="881" y="283"/>
                  </a:lnTo>
                  <a:cubicBezTo>
                    <a:pt x="941" y="224"/>
                    <a:pt x="941" y="116"/>
                    <a:pt x="881" y="45"/>
                  </a:cubicBezTo>
                  <a:cubicBezTo>
                    <a:pt x="852" y="15"/>
                    <a:pt x="807" y="0"/>
                    <a:pt x="76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948;p50">
              <a:extLst>
                <a:ext uri="{FF2B5EF4-FFF2-40B4-BE49-F238E27FC236}">
                  <a16:creationId xmlns:a16="http://schemas.microsoft.com/office/drawing/2014/main" id="{79DF49FA-B17F-85B2-39FD-21DB3E5D57DD}"/>
                </a:ext>
              </a:extLst>
            </p:cNvPr>
            <p:cNvSpPr/>
            <p:nvPr/>
          </p:nvSpPr>
          <p:spPr>
            <a:xfrm>
              <a:off x="860940" y="2746477"/>
              <a:ext cx="371883" cy="365691"/>
            </a:xfrm>
            <a:custGeom>
              <a:avLst/>
              <a:gdLst/>
              <a:ahLst/>
              <a:cxnLst/>
              <a:rect l="l" t="t" r="r" b="b"/>
              <a:pathLst>
                <a:path w="11711" h="11516" extrusionOk="0">
                  <a:moveTo>
                    <a:pt x="11312" y="344"/>
                  </a:moveTo>
                  <a:lnTo>
                    <a:pt x="10835" y="1987"/>
                  </a:lnTo>
                  <a:lnTo>
                    <a:pt x="9680" y="821"/>
                  </a:lnTo>
                  <a:lnTo>
                    <a:pt x="11312" y="344"/>
                  </a:lnTo>
                  <a:close/>
                  <a:moveTo>
                    <a:pt x="4882" y="3821"/>
                  </a:moveTo>
                  <a:lnTo>
                    <a:pt x="2822" y="5881"/>
                  </a:lnTo>
                  <a:lnTo>
                    <a:pt x="477" y="5690"/>
                  </a:lnTo>
                  <a:cubicBezTo>
                    <a:pt x="453" y="5690"/>
                    <a:pt x="429" y="5643"/>
                    <a:pt x="465" y="5631"/>
                  </a:cubicBezTo>
                  <a:cubicBezTo>
                    <a:pt x="1477" y="4619"/>
                    <a:pt x="2822" y="4000"/>
                    <a:pt x="4227" y="3881"/>
                  </a:cubicBezTo>
                  <a:lnTo>
                    <a:pt x="4882" y="3821"/>
                  </a:lnTo>
                  <a:close/>
                  <a:moveTo>
                    <a:pt x="2894" y="6297"/>
                  </a:moveTo>
                  <a:lnTo>
                    <a:pt x="3811" y="7226"/>
                  </a:lnTo>
                  <a:lnTo>
                    <a:pt x="3477" y="7571"/>
                  </a:lnTo>
                  <a:lnTo>
                    <a:pt x="2549" y="6643"/>
                  </a:lnTo>
                  <a:lnTo>
                    <a:pt x="2894" y="6297"/>
                  </a:lnTo>
                  <a:close/>
                  <a:moveTo>
                    <a:pt x="2727" y="7333"/>
                  </a:moveTo>
                  <a:lnTo>
                    <a:pt x="3203" y="7810"/>
                  </a:lnTo>
                  <a:lnTo>
                    <a:pt x="2799" y="8226"/>
                  </a:lnTo>
                  <a:cubicBezTo>
                    <a:pt x="2787" y="8238"/>
                    <a:pt x="2763" y="8262"/>
                    <a:pt x="2739" y="8298"/>
                  </a:cubicBezTo>
                  <a:lnTo>
                    <a:pt x="2310" y="7869"/>
                  </a:lnTo>
                  <a:cubicBezTo>
                    <a:pt x="2287" y="7833"/>
                    <a:pt x="2287" y="7774"/>
                    <a:pt x="2310" y="7750"/>
                  </a:cubicBezTo>
                  <a:lnTo>
                    <a:pt x="2727" y="7333"/>
                  </a:lnTo>
                  <a:close/>
                  <a:moveTo>
                    <a:pt x="9311" y="916"/>
                  </a:moveTo>
                  <a:lnTo>
                    <a:pt x="10740" y="2345"/>
                  </a:lnTo>
                  <a:lnTo>
                    <a:pt x="10299" y="3821"/>
                  </a:lnTo>
                  <a:lnTo>
                    <a:pt x="5597" y="8524"/>
                  </a:lnTo>
                  <a:lnTo>
                    <a:pt x="4680" y="7595"/>
                  </a:lnTo>
                  <a:lnTo>
                    <a:pt x="6823" y="5452"/>
                  </a:lnTo>
                  <a:cubicBezTo>
                    <a:pt x="6966" y="5309"/>
                    <a:pt x="7001" y="5035"/>
                    <a:pt x="6811" y="4833"/>
                  </a:cubicBezTo>
                  <a:cubicBezTo>
                    <a:pt x="6728" y="4750"/>
                    <a:pt x="6617" y="4708"/>
                    <a:pt x="6506" y="4708"/>
                  </a:cubicBezTo>
                  <a:cubicBezTo>
                    <a:pt x="6394" y="4708"/>
                    <a:pt x="6281" y="4750"/>
                    <a:pt x="6192" y="4833"/>
                  </a:cubicBezTo>
                  <a:lnTo>
                    <a:pt x="4049" y="6976"/>
                  </a:lnTo>
                  <a:lnTo>
                    <a:pt x="3132" y="6047"/>
                  </a:lnTo>
                  <a:lnTo>
                    <a:pt x="7835" y="1344"/>
                  </a:lnTo>
                  <a:lnTo>
                    <a:pt x="9311" y="916"/>
                  </a:lnTo>
                  <a:close/>
                  <a:moveTo>
                    <a:pt x="6495" y="5047"/>
                  </a:moveTo>
                  <a:cubicBezTo>
                    <a:pt x="6522" y="5047"/>
                    <a:pt x="6549" y="5059"/>
                    <a:pt x="6573" y="5083"/>
                  </a:cubicBezTo>
                  <a:cubicBezTo>
                    <a:pt x="6609" y="5131"/>
                    <a:pt x="6609" y="5178"/>
                    <a:pt x="6573" y="5226"/>
                  </a:cubicBezTo>
                  <a:lnTo>
                    <a:pt x="4311" y="7488"/>
                  </a:lnTo>
                  <a:lnTo>
                    <a:pt x="3203" y="8595"/>
                  </a:lnTo>
                  <a:cubicBezTo>
                    <a:pt x="3180" y="8619"/>
                    <a:pt x="3153" y="8631"/>
                    <a:pt x="3127" y="8631"/>
                  </a:cubicBezTo>
                  <a:cubicBezTo>
                    <a:pt x="3102" y="8631"/>
                    <a:pt x="3078" y="8619"/>
                    <a:pt x="3060" y="8595"/>
                  </a:cubicBezTo>
                  <a:cubicBezTo>
                    <a:pt x="3013" y="8548"/>
                    <a:pt x="3013" y="8488"/>
                    <a:pt x="3060" y="8441"/>
                  </a:cubicBezTo>
                  <a:lnTo>
                    <a:pt x="6418" y="5083"/>
                  </a:lnTo>
                  <a:cubicBezTo>
                    <a:pt x="6442" y="5059"/>
                    <a:pt x="6469" y="5047"/>
                    <a:pt x="6495" y="5047"/>
                  </a:cubicBezTo>
                  <a:close/>
                  <a:moveTo>
                    <a:pt x="4430" y="7857"/>
                  </a:moveTo>
                  <a:lnTo>
                    <a:pt x="5346" y="8786"/>
                  </a:lnTo>
                  <a:lnTo>
                    <a:pt x="5001" y="9119"/>
                  </a:lnTo>
                  <a:lnTo>
                    <a:pt x="4989" y="9119"/>
                  </a:lnTo>
                  <a:lnTo>
                    <a:pt x="4084" y="8202"/>
                  </a:lnTo>
                  <a:lnTo>
                    <a:pt x="4430" y="7857"/>
                  </a:lnTo>
                  <a:close/>
                  <a:moveTo>
                    <a:pt x="3846" y="8429"/>
                  </a:moveTo>
                  <a:lnTo>
                    <a:pt x="4323" y="8905"/>
                  </a:lnTo>
                  <a:lnTo>
                    <a:pt x="3906" y="9322"/>
                  </a:lnTo>
                  <a:cubicBezTo>
                    <a:pt x="3894" y="9334"/>
                    <a:pt x="3858" y="9357"/>
                    <a:pt x="3846" y="9357"/>
                  </a:cubicBezTo>
                  <a:cubicBezTo>
                    <a:pt x="3834" y="9357"/>
                    <a:pt x="3811" y="9357"/>
                    <a:pt x="3787" y="9322"/>
                  </a:cubicBezTo>
                  <a:lnTo>
                    <a:pt x="3358" y="8905"/>
                  </a:lnTo>
                  <a:cubicBezTo>
                    <a:pt x="3382" y="8893"/>
                    <a:pt x="3394" y="8881"/>
                    <a:pt x="3430" y="8845"/>
                  </a:cubicBezTo>
                  <a:lnTo>
                    <a:pt x="3846" y="8429"/>
                  </a:lnTo>
                  <a:close/>
                  <a:moveTo>
                    <a:pt x="11322" y="1"/>
                  </a:moveTo>
                  <a:cubicBezTo>
                    <a:pt x="11295" y="1"/>
                    <a:pt x="11267" y="4"/>
                    <a:pt x="11240" y="11"/>
                  </a:cubicBezTo>
                  <a:cubicBezTo>
                    <a:pt x="10514" y="213"/>
                    <a:pt x="8394" y="844"/>
                    <a:pt x="7704" y="1035"/>
                  </a:cubicBezTo>
                  <a:cubicBezTo>
                    <a:pt x="7668" y="1047"/>
                    <a:pt x="7656" y="1059"/>
                    <a:pt x="7621" y="1083"/>
                  </a:cubicBezTo>
                  <a:lnTo>
                    <a:pt x="5263" y="3440"/>
                  </a:lnTo>
                  <a:lnTo>
                    <a:pt x="4203" y="3535"/>
                  </a:lnTo>
                  <a:cubicBezTo>
                    <a:pt x="2703" y="3654"/>
                    <a:pt x="1286" y="4321"/>
                    <a:pt x="227" y="5381"/>
                  </a:cubicBezTo>
                  <a:cubicBezTo>
                    <a:pt x="1" y="5595"/>
                    <a:pt x="143" y="5988"/>
                    <a:pt x="465" y="6024"/>
                  </a:cubicBezTo>
                  <a:lnTo>
                    <a:pt x="2525" y="6190"/>
                  </a:lnTo>
                  <a:lnTo>
                    <a:pt x="2310" y="6405"/>
                  </a:lnTo>
                  <a:cubicBezTo>
                    <a:pt x="2179" y="6536"/>
                    <a:pt x="2179" y="6750"/>
                    <a:pt x="2310" y="6881"/>
                  </a:cubicBezTo>
                  <a:lnTo>
                    <a:pt x="2525" y="7083"/>
                  </a:lnTo>
                  <a:lnTo>
                    <a:pt x="2108" y="7500"/>
                  </a:lnTo>
                  <a:cubicBezTo>
                    <a:pt x="1941" y="7667"/>
                    <a:pt x="1941" y="7941"/>
                    <a:pt x="2108" y="8095"/>
                  </a:cubicBezTo>
                  <a:lnTo>
                    <a:pt x="3561" y="9560"/>
                  </a:lnTo>
                  <a:cubicBezTo>
                    <a:pt x="3644" y="9643"/>
                    <a:pt x="3751" y="9685"/>
                    <a:pt x="3858" y="9685"/>
                  </a:cubicBezTo>
                  <a:cubicBezTo>
                    <a:pt x="3965" y="9685"/>
                    <a:pt x="4073" y="9643"/>
                    <a:pt x="4156" y="9560"/>
                  </a:cubicBezTo>
                  <a:lnTo>
                    <a:pt x="4573" y="9143"/>
                  </a:lnTo>
                  <a:lnTo>
                    <a:pt x="4763" y="9334"/>
                  </a:lnTo>
                  <a:cubicBezTo>
                    <a:pt x="4835" y="9399"/>
                    <a:pt x="4924" y="9432"/>
                    <a:pt x="5015" y="9432"/>
                  </a:cubicBezTo>
                  <a:cubicBezTo>
                    <a:pt x="5105" y="9432"/>
                    <a:pt x="5198" y="9399"/>
                    <a:pt x="5275" y="9334"/>
                  </a:cubicBezTo>
                  <a:lnTo>
                    <a:pt x="5477" y="9131"/>
                  </a:lnTo>
                  <a:lnTo>
                    <a:pt x="5656" y="11179"/>
                  </a:lnTo>
                  <a:cubicBezTo>
                    <a:pt x="5680" y="11334"/>
                    <a:pt x="5763" y="11453"/>
                    <a:pt x="5894" y="11500"/>
                  </a:cubicBezTo>
                  <a:cubicBezTo>
                    <a:pt x="5935" y="11511"/>
                    <a:pt x="5975" y="11516"/>
                    <a:pt x="6015" y="11516"/>
                  </a:cubicBezTo>
                  <a:cubicBezTo>
                    <a:pt x="6115" y="11516"/>
                    <a:pt x="6210" y="11482"/>
                    <a:pt x="6287" y="11405"/>
                  </a:cubicBezTo>
                  <a:cubicBezTo>
                    <a:pt x="6942" y="10750"/>
                    <a:pt x="7430" y="9977"/>
                    <a:pt x="7763" y="9119"/>
                  </a:cubicBezTo>
                  <a:cubicBezTo>
                    <a:pt x="7787" y="9024"/>
                    <a:pt x="7740" y="8941"/>
                    <a:pt x="7656" y="8893"/>
                  </a:cubicBezTo>
                  <a:cubicBezTo>
                    <a:pt x="7635" y="8885"/>
                    <a:pt x="7614" y="8881"/>
                    <a:pt x="7594" y="8881"/>
                  </a:cubicBezTo>
                  <a:cubicBezTo>
                    <a:pt x="7525" y="8881"/>
                    <a:pt x="7467" y="8926"/>
                    <a:pt x="7430" y="9000"/>
                  </a:cubicBezTo>
                  <a:cubicBezTo>
                    <a:pt x="7132" y="9810"/>
                    <a:pt x="6656" y="10560"/>
                    <a:pt x="6037" y="11167"/>
                  </a:cubicBezTo>
                  <a:cubicBezTo>
                    <a:pt x="6027" y="11172"/>
                    <a:pt x="6015" y="11175"/>
                    <a:pt x="6005" y="11175"/>
                  </a:cubicBezTo>
                  <a:cubicBezTo>
                    <a:pt x="5990" y="11175"/>
                    <a:pt x="5978" y="11169"/>
                    <a:pt x="5978" y="11155"/>
                  </a:cubicBezTo>
                  <a:lnTo>
                    <a:pt x="5763" y="8822"/>
                  </a:lnTo>
                  <a:lnTo>
                    <a:pt x="7835" y="6750"/>
                  </a:lnTo>
                  <a:lnTo>
                    <a:pt x="7835" y="6750"/>
                  </a:lnTo>
                  <a:cubicBezTo>
                    <a:pt x="7763" y="7583"/>
                    <a:pt x="7740" y="7810"/>
                    <a:pt x="7656" y="8238"/>
                  </a:cubicBezTo>
                  <a:cubicBezTo>
                    <a:pt x="7644" y="8322"/>
                    <a:pt x="7680" y="8417"/>
                    <a:pt x="7787" y="8441"/>
                  </a:cubicBezTo>
                  <a:cubicBezTo>
                    <a:pt x="7803" y="8445"/>
                    <a:pt x="7819" y="8447"/>
                    <a:pt x="7834" y="8447"/>
                  </a:cubicBezTo>
                  <a:cubicBezTo>
                    <a:pt x="7909" y="8447"/>
                    <a:pt x="7972" y="8399"/>
                    <a:pt x="8002" y="8310"/>
                  </a:cubicBezTo>
                  <a:cubicBezTo>
                    <a:pt x="8121" y="7786"/>
                    <a:pt x="8121" y="7548"/>
                    <a:pt x="8216" y="6393"/>
                  </a:cubicBezTo>
                  <a:lnTo>
                    <a:pt x="10585" y="4023"/>
                  </a:lnTo>
                  <a:cubicBezTo>
                    <a:pt x="10597" y="4011"/>
                    <a:pt x="10621" y="3976"/>
                    <a:pt x="10633" y="3952"/>
                  </a:cubicBezTo>
                  <a:lnTo>
                    <a:pt x="11109" y="2345"/>
                  </a:lnTo>
                  <a:lnTo>
                    <a:pt x="11669" y="404"/>
                  </a:lnTo>
                  <a:cubicBezTo>
                    <a:pt x="11711" y="193"/>
                    <a:pt x="11529" y="1"/>
                    <a:pt x="1132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949;p50">
              <a:extLst>
                <a:ext uri="{FF2B5EF4-FFF2-40B4-BE49-F238E27FC236}">
                  <a16:creationId xmlns:a16="http://schemas.microsoft.com/office/drawing/2014/main" id="{BD219A4B-95A8-6AF4-7D57-1D97F6A9E3E9}"/>
                </a:ext>
              </a:extLst>
            </p:cNvPr>
            <p:cNvSpPr/>
            <p:nvPr/>
          </p:nvSpPr>
          <p:spPr>
            <a:xfrm>
              <a:off x="1070396" y="2832057"/>
              <a:ext cx="90406" cy="69035"/>
            </a:xfrm>
            <a:custGeom>
              <a:avLst/>
              <a:gdLst/>
              <a:ahLst/>
              <a:cxnLst/>
              <a:rect l="l" t="t" r="r" b="b"/>
              <a:pathLst>
                <a:path w="2847" h="2174" extrusionOk="0">
                  <a:moveTo>
                    <a:pt x="1730" y="0"/>
                  </a:moveTo>
                  <a:cubicBezTo>
                    <a:pt x="1668" y="0"/>
                    <a:pt x="1610" y="44"/>
                    <a:pt x="1584" y="114"/>
                  </a:cubicBezTo>
                  <a:cubicBezTo>
                    <a:pt x="1537" y="197"/>
                    <a:pt x="1584" y="293"/>
                    <a:pt x="1668" y="328"/>
                  </a:cubicBezTo>
                  <a:cubicBezTo>
                    <a:pt x="2179" y="554"/>
                    <a:pt x="2299" y="1221"/>
                    <a:pt x="1906" y="1614"/>
                  </a:cubicBezTo>
                  <a:cubicBezTo>
                    <a:pt x="1751" y="1769"/>
                    <a:pt x="1551" y="1846"/>
                    <a:pt x="1350" y="1846"/>
                  </a:cubicBezTo>
                  <a:cubicBezTo>
                    <a:pt x="1150" y="1846"/>
                    <a:pt x="947" y="1769"/>
                    <a:pt x="786" y="1614"/>
                  </a:cubicBezTo>
                  <a:cubicBezTo>
                    <a:pt x="405" y="1221"/>
                    <a:pt x="525" y="566"/>
                    <a:pt x="1025" y="328"/>
                  </a:cubicBezTo>
                  <a:cubicBezTo>
                    <a:pt x="1120" y="293"/>
                    <a:pt x="1144" y="197"/>
                    <a:pt x="1120" y="114"/>
                  </a:cubicBezTo>
                  <a:cubicBezTo>
                    <a:pt x="1083" y="41"/>
                    <a:pt x="1019" y="10"/>
                    <a:pt x="954" y="10"/>
                  </a:cubicBezTo>
                  <a:cubicBezTo>
                    <a:pt x="934" y="10"/>
                    <a:pt x="913" y="13"/>
                    <a:pt x="894" y="19"/>
                  </a:cubicBezTo>
                  <a:cubicBezTo>
                    <a:pt x="179" y="352"/>
                    <a:pt x="1" y="1281"/>
                    <a:pt x="572" y="1852"/>
                  </a:cubicBezTo>
                  <a:cubicBezTo>
                    <a:pt x="786" y="2078"/>
                    <a:pt x="1072" y="2174"/>
                    <a:pt x="1370" y="2174"/>
                  </a:cubicBezTo>
                  <a:cubicBezTo>
                    <a:pt x="2334" y="2162"/>
                    <a:pt x="2846" y="947"/>
                    <a:pt x="2132" y="245"/>
                  </a:cubicBezTo>
                  <a:cubicBezTo>
                    <a:pt x="2037" y="150"/>
                    <a:pt x="1918" y="66"/>
                    <a:pt x="1798" y="19"/>
                  </a:cubicBezTo>
                  <a:cubicBezTo>
                    <a:pt x="1776" y="6"/>
                    <a:pt x="1753" y="0"/>
                    <a:pt x="17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CaixaDeTexto 15">
            <a:extLst>
              <a:ext uri="{FF2B5EF4-FFF2-40B4-BE49-F238E27FC236}">
                <a16:creationId xmlns:a16="http://schemas.microsoft.com/office/drawing/2014/main" id="{0D78ECF1-E73E-285A-9DC1-1B5D0AF0721A}"/>
              </a:ext>
            </a:extLst>
          </p:cNvPr>
          <p:cNvSpPr txBox="1"/>
          <p:nvPr/>
        </p:nvSpPr>
        <p:spPr>
          <a:xfrm>
            <a:off x="7193994" y="1975847"/>
            <a:ext cx="1498347" cy="307777"/>
          </a:xfrm>
          <a:prstGeom prst="rect">
            <a:avLst/>
          </a:prstGeom>
          <a:solidFill>
            <a:srgbClr val="D8CDF6"/>
          </a:solidFill>
        </p:spPr>
        <p:txBody>
          <a:bodyPr wrap="square" rtlCol="0">
            <a:spAutoFit/>
          </a:bodyPr>
          <a:lstStyle/>
          <a:p>
            <a:r>
              <a:rPr lang="pt-BR" sz="1400" b="1" dirty="0">
                <a:solidFill>
                  <a:srgbClr val="9E2289"/>
                </a:solidFill>
                <a:latin typeface="Arial" panose="020B0604020202020204" pitchFamily="34" charset="0"/>
                <a:cs typeface="Arial" panose="020B0604020202020204" pitchFamily="34" charset="0"/>
              </a:rPr>
              <a:t>Ofensores</a:t>
            </a:r>
          </a:p>
        </p:txBody>
      </p:sp>
      <p:sp>
        <p:nvSpPr>
          <p:cNvPr id="28" name="CaixaDeTexto 27">
            <a:extLst>
              <a:ext uri="{FF2B5EF4-FFF2-40B4-BE49-F238E27FC236}">
                <a16:creationId xmlns:a16="http://schemas.microsoft.com/office/drawing/2014/main" id="{7FEF986F-85A2-F0DE-5ABC-81A0978B7901}"/>
              </a:ext>
            </a:extLst>
          </p:cNvPr>
          <p:cNvSpPr txBox="1"/>
          <p:nvPr/>
        </p:nvSpPr>
        <p:spPr>
          <a:xfrm>
            <a:off x="7007341" y="2393556"/>
            <a:ext cx="3573847" cy="1200329"/>
          </a:xfrm>
          <a:prstGeom prst="rect">
            <a:avLst/>
          </a:prstGeom>
          <a:noFill/>
        </p:spPr>
        <p:txBody>
          <a:bodyPr wrap="square" rtlCol="0">
            <a:spAutoFit/>
          </a:bodyPr>
          <a:lstStyle/>
          <a:p>
            <a:r>
              <a:rPr lang="pt-BR" sz="1200" dirty="0">
                <a:solidFill>
                  <a:srgbClr val="9E2289"/>
                </a:solidFill>
                <a:latin typeface="Arial" panose="020B0604020202020204" pitchFamily="34" charset="0"/>
                <a:cs typeface="Arial" panose="020B0604020202020204" pitchFamily="34" charset="0"/>
              </a:rPr>
              <a:t>Vitor Eduardo da Silva</a:t>
            </a:r>
          </a:p>
          <a:p>
            <a:r>
              <a:rPr lang="pt-BR" sz="1200" dirty="0">
                <a:solidFill>
                  <a:schemeClr val="bg2">
                    <a:lumMod val="50000"/>
                  </a:schemeClr>
                </a:solidFill>
                <a:latin typeface="Arial" panose="020B0604020202020204" pitchFamily="34" charset="0"/>
                <a:cs typeface="Arial" panose="020B0604020202020204" pitchFamily="34" charset="0"/>
              </a:rPr>
              <a:t>Vitor apresentou oportunidades recorrentes de maior gravidade, mesmo após o período de aprendizagem. Diante da evolução abaixo do esperado, foi identificada a necessidade de reciclagem e reforço dos processos.</a:t>
            </a:r>
            <a:endParaRPr lang="pt-BR" sz="1400" dirty="0">
              <a:solidFill>
                <a:schemeClr val="bg2">
                  <a:lumMod val="50000"/>
                </a:schemeClr>
              </a:solidFill>
              <a:latin typeface="Arial" panose="020B0604020202020204" pitchFamily="34" charset="0"/>
              <a:cs typeface="Arial" panose="020B0604020202020204" pitchFamily="34" charset="0"/>
            </a:endParaRPr>
          </a:p>
        </p:txBody>
      </p:sp>
      <p:sp>
        <p:nvSpPr>
          <p:cNvPr id="32" name="Retângulo: Cantos Arredondados 31">
            <a:extLst>
              <a:ext uri="{FF2B5EF4-FFF2-40B4-BE49-F238E27FC236}">
                <a16:creationId xmlns:a16="http://schemas.microsoft.com/office/drawing/2014/main" id="{64432CE6-3DA1-CFD3-48C5-15C3DC9857BD}"/>
              </a:ext>
            </a:extLst>
          </p:cNvPr>
          <p:cNvSpPr/>
          <p:nvPr/>
        </p:nvSpPr>
        <p:spPr>
          <a:xfrm>
            <a:off x="1870087" y="4175038"/>
            <a:ext cx="4382119" cy="2532836"/>
          </a:xfrm>
          <a:prstGeom prst="roundRect">
            <a:avLst/>
          </a:prstGeom>
          <a:solidFill>
            <a:schemeClr val="bg1">
              <a:lumMod val="95000"/>
            </a:schemeClr>
          </a:solidFill>
          <a:ln>
            <a:noFill/>
          </a:ln>
          <a:effectLst>
            <a:outerShdw dist="101600" dir="10740000" algn="t" rotWithShape="0">
              <a:srgbClr val="9E2289"/>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33" name="Google Shape;1944;p50">
            <a:extLst>
              <a:ext uri="{FF2B5EF4-FFF2-40B4-BE49-F238E27FC236}">
                <a16:creationId xmlns:a16="http://schemas.microsoft.com/office/drawing/2014/main" id="{BF44BF48-722D-51F6-BB8F-A4C5DB72146A}"/>
              </a:ext>
            </a:extLst>
          </p:cNvPr>
          <p:cNvGrpSpPr/>
          <p:nvPr/>
        </p:nvGrpSpPr>
        <p:grpSpPr>
          <a:xfrm rot="10417960">
            <a:off x="2040825" y="4359935"/>
            <a:ext cx="476316" cy="468384"/>
            <a:chOff x="860940" y="2746477"/>
            <a:chExt cx="371883" cy="365691"/>
          </a:xfrm>
          <a:solidFill>
            <a:srgbClr val="9E2289"/>
          </a:solidFill>
        </p:grpSpPr>
        <p:sp>
          <p:nvSpPr>
            <p:cNvPr id="34" name="Google Shape;1945;p50">
              <a:extLst>
                <a:ext uri="{FF2B5EF4-FFF2-40B4-BE49-F238E27FC236}">
                  <a16:creationId xmlns:a16="http://schemas.microsoft.com/office/drawing/2014/main" id="{7F3C77E2-3A10-D440-6015-CCD359C6D2B1}"/>
                </a:ext>
              </a:extLst>
            </p:cNvPr>
            <p:cNvSpPr/>
            <p:nvPr/>
          </p:nvSpPr>
          <p:spPr>
            <a:xfrm>
              <a:off x="908191" y="3026302"/>
              <a:ext cx="30294" cy="28961"/>
            </a:xfrm>
            <a:custGeom>
              <a:avLst/>
              <a:gdLst/>
              <a:ahLst/>
              <a:cxnLst/>
              <a:rect l="l" t="t" r="r" b="b"/>
              <a:pathLst>
                <a:path w="954" h="912" extrusionOk="0">
                  <a:moveTo>
                    <a:pt x="763" y="1"/>
                  </a:moveTo>
                  <a:cubicBezTo>
                    <a:pt x="718" y="1"/>
                    <a:pt x="674" y="16"/>
                    <a:pt x="644" y="45"/>
                  </a:cubicBezTo>
                  <a:lnTo>
                    <a:pt x="60" y="629"/>
                  </a:lnTo>
                  <a:cubicBezTo>
                    <a:pt x="1" y="688"/>
                    <a:pt x="1" y="807"/>
                    <a:pt x="60" y="867"/>
                  </a:cubicBezTo>
                  <a:cubicBezTo>
                    <a:pt x="90" y="897"/>
                    <a:pt x="135" y="911"/>
                    <a:pt x="179" y="911"/>
                  </a:cubicBezTo>
                  <a:cubicBezTo>
                    <a:pt x="224" y="911"/>
                    <a:pt x="269" y="897"/>
                    <a:pt x="299" y="867"/>
                  </a:cubicBezTo>
                  <a:lnTo>
                    <a:pt x="882" y="283"/>
                  </a:lnTo>
                  <a:cubicBezTo>
                    <a:pt x="953" y="224"/>
                    <a:pt x="953" y="105"/>
                    <a:pt x="882" y="45"/>
                  </a:cubicBezTo>
                  <a:cubicBezTo>
                    <a:pt x="852" y="16"/>
                    <a:pt x="807" y="1"/>
                    <a:pt x="76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946;p50">
              <a:extLst>
                <a:ext uri="{FF2B5EF4-FFF2-40B4-BE49-F238E27FC236}">
                  <a16:creationId xmlns:a16="http://schemas.microsoft.com/office/drawing/2014/main" id="{B1803773-A505-C2E2-7F61-4412926D1F64}"/>
                </a:ext>
              </a:extLst>
            </p:cNvPr>
            <p:cNvSpPr/>
            <p:nvPr/>
          </p:nvSpPr>
          <p:spPr>
            <a:xfrm>
              <a:off x="943757" y="3061836"/>
              <a:ext cx="30263" cy="28961"/>
            </a:xfrm>
            <a:custGeom>
              <a:avLst/>
              <a:gdLst/>
              <a:ahLst/>
              <a:cxnLst/>
              <a:rect l="l" t="t" r="r" b="b"/>
              <a:pathLst>
                <a:path w="953" h="912" extrusionOk="0">
                  <a:moveTo>
                    <a:pt x="762" y="1"/>
                  </a:moveTo>
                  <a:cubicBezTo>
                    <a:pt x="717" y="1"/>
                    <a:pt x="673" y="16"/>
                    <a:pt x="643" y="46"/>
                  </a:cubicBezTo>
                  <a:lnTo>
                    <a:pt x="60" y="629"/>
                  </a:lnTo>
                  <a:cubicBezTo>
                    <a:pt x="0" y="688"/>
                    <a:pt x="0" y="807"/>
                    <a:pt x="60" y="867"/>
                  </a:cubicBezTo>
                  <a:cubicBezTo>
                    <a:pt x="89" y="897"/>
                    <a:pt x="134" y="912"/>
                    <a:pt x="179" y="912"/>
                  </a:cubicBezTo>
                  <a:cubicBezTo>
                    <a:pt x="223" y="912"/>
                    <a:pt x="268" y="897"/>
                    <a:pt x="298" y="867"/>
                  </a:cubicBezTo>
                  <a:lnTo>
                    <a:pt x="881" y="284"/>
                  </a:lnTo>
                  <a:cubicBezTo>
                    <a:pt x="953" y="224"/>
                    <a:pt x="953" y="105"/>
                    <a:pt x="881" y="46"/>
                  </a:cubicBezTo>
                  <a:cubicBezTo>
                    <a:pt x="851" y="16"/>
                    <a:pt x="807" y="1"/>
                    <a:pt x="7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947;p50">
              <a:extLst>
                <a:ext uri="{FF2B5EF4-FFF2-40B4-BE49-F238E27FC236}">
                  <a16:creationId xmlns:a16="http://schemas.microsoft.com/office/drawing/2014/main" id="{5452FDE9-BBE1-F258-5D43-81FA51833185}"/>
                </a:ext>
              </a:extLst>
            </p:cNvPr>
            <p:cNvSpPr/>
            <p:nvPr/>
          </p:nvSpPr>
          <p:spPr>
            <a:xfrm>
              <a:off x="926355" y="3044085"/>
              <a:ext cx="29881" cy="28579"/>
            </a:xfrm>
            <a:custGeom>
              <a:avLst/>
              <a:gdLst/>
              <a:ahLst/>
              <a:cxnLst/>
              <a:rect l="l" t="t" r="r" b="b"/>
              <a:pathLst>
                <a:path w="941" h="900" extrusionOk="0">
                  <a:moveTo>
                    <a:pt x="762" y="0"/>
                  </a:moveTo>
                  <a:cubicBezTo>
                    <a:pt x="718" y="0"/>
                    <a:pt x="673" y="15"/>
                    <a:pt x="643" y="45"/>
                  </a:cubicBezTo>
                  <a:lnTo>
                    <a:pt x="60" y="616"/>
                  </a:lnTo>
                  <a:cubicBezTo>
                    <a:pt x="0" y="676"/>
                    <a:pt x="0" y="795"/>
                    <a:pt x="60" y="855"/>
                  </a:cubicBezTo>
                  <a:cubicBezTo>
                    <a:pt x="90" y="884"/>
                    <a:pt x="134" y="899"/>
                    <a:pt x="179" y="899"/>
                  </a:cubicBezTo>
                  <a:cubicBezTo>
                    <a:pt x="224" y="899"/>
                    <a:pt x="268" y="884"/>
                    <a:pt x="298" y="855"/>
                  </a:cubicBezTo>
                  <a:lnTo>
                    <a:pt x="881" y="283"/>
                  </a:lnTo>
                  <a:cubicBezTo>
                    <a:pt x="941" y="224"/>
                    <a:pt x="941" y="116"/>
                    <a:pt x="881" y="45"/>
                  </a:cubicBezTo>
                  <a:cubicBezTo>
                    <a:pt x="852" y="15"/>
                    <a:pt x="807" y="0"/>
                    <a:pt x="76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948;p50">
              <a:extLst>
                <a:ext uri="{FF2B5EF4-FFF2-40B4-BE49-F238E27FC236}">
                  <a16:creationId xmlns:a16="http://schemas.microsoft.com/office/drawing/2014/main" id="{E39834B9-E85F-A3D3-9D57-EAA69C4364F0}"/>
                </a:ext>
              </a:extLst>
            </p:cNvPr>
            <p:cNvSpPr/>
            <p:nvPr/>
          </p:nvSpPr>
          <p:spPr>
            <a:xfrm>
              <a:off x="860940" y="2746477"/>
              <a:ext cx="371883" cy="365691"/>
            </a:xfrm>
            <a:custGeom>
              <a:avLst/>
              <a:gdLst/>
              <a:ahLst/>
              <a:cxnLst/>
              <a:rect l="l" t="t" r="r" b="b"/>
              <a:pathLst>
                <a:path w="11711" h="11516" extrusionOk="0">
                  <a:moveTo>
                    <a:pt x="11312" y="344"/>
                  </a:moveTo>
                  <a:lnTo>
                    <a:pt x="10835" y="1987"/>
                  </a:lnTo>
                  <a:lnTo>
                    <a:pt x="9680" y="821"/>
                  </a:lnTo>
                  <a:lnTo>
                    <a:pt x="11312" y="344"/>
                  </a:lnTo>
                  <a:close/>
                  <a:moveTo>
                    <a:pt x="4882" y="3821"/>
                  </a:moveTo>
                  <a:lnTo>
                    <a:pt x="2822" y="5881"/>
                  </a:lnTo>
                  <a:lnTo>
                    <a:pt x="477" y="5690"/>
                  </a:lnTo>
                  <a:cubicBezTo>
                    <a:pt x="453" y="5690"/>
                    <a:pt x="429" y="5643"/>
                    <a:pt x="465" y="5631"/>
                  </a:cubicBezTo>
                  <a:cubicBezTo>
                    <a:pt x="1477" y="4619"/>
                    <a:pt x="2822" y="4000"/>
                    <a:pt x="4227" y="3881"/>
                  </a:cubicBezTo>
                  <a:lnTo>
                    <a:pt x="4882" y="3821"/>
                  </a:lnTo>
                  <a:close/>
                  <a:moveTo>
                    <a:pt x="2894" y="6297"/>
                  </a:moveTo>
                  <a:lnTo>
                    <a:pt x="3811" y="7226"/>
                  </a:lnTo>
                  <a:lnTo>
                    <a:pt x="3477" y="7571"/>
                  </a:lnTo>
                  <a:lnTo>
                    <a:pt x="2549" y="6643"/>
                  </a:lnTo>
                  <a:lnTo>
                    <a:pt x="2894" y="6297"/>
                  </a:lnTo>
                  <a:close/>
                  <a:moveTo>
                    <a:pt x="2727" y="7333"/>
                  </a:moveTo>
                  <a:lnTo>
                    <a:pt x="3203" y="7810"/>
                  </a:lnTo>
                  <a:lnTo>
                    <a:pt x="2799" y="8226"/>
                  </a:lnTo>
                  <a:cubicBezTo>
                    <a:pt x="2787" y="8238"/>
                    <a:pt x="2763" y="8262"/>
                    <a:pt x="2739" y="8298"/>
                  </a:cubicBezTo>
                  <a:lnTo>
                    <a:pt x="2310" y="7869"/>
                  </a:lnTo>
                  <a:cubicBezTo>
                    <a:pt x="2287" y="7833"/>
                    <a:pt x="2287" y="7774"/>
                    <a:pt x="2310" y="7750"/>
                  </a:cubicBezTo>
                  <a:lnTo>
                    <a:pt x="2727" y="7333"/>
                  </a:lnTo>
                  <a:close/>
                  <a:moveTo>
                    <a:pt x="9311" y="916"/>
                  </a:moveTo>
                  <a:lnTo>
                    <a:pt x="10740" y="2345"/>
                  </a:lnTo>
                  <a:lnTo>
                    <a:pt x="10299" y="3821"/>
                  </a:lnTo>
                  <a:lnTo>
                    <a:pt x="5597" y="8524"/>
                  </a:lnTo>
                  <a:lnTo>
                    <a:pt x="4680" y="7595"/>
                  </a:lnTo>
                  <a:lnTo>
                    <a:pt x="6823" y="5452"/>
                  </a:lnTo>
                  <a:cubicBezTo>
                    <a:pt x="6966" y="5309"/>
                    <a:pt x="7001" y="5035"/>
                    <a:pt x="6811" y="4833"/>
                  </a:cubicBezTo>
                  <a:cubicBezTo>
                    <a:pt x="6728" y="4750"/>
                    <a:pt x="6617" y="4708"/>
                    <a:pt x="6506" y="4708"/>
                  </a:cubicBezTo>
                  <a:cubicBezTo>
                    <a:pt x="6394" y="4708"/>
                    <a:pt x="6281" y="4750"/>
                    <a:pt x="6192" y="4833"/>
                  </a:cubicBezTo>
                  <a:lnTo>
                    <a:pt x="4049" y="6976"/>
                  </a:lnTo>
                  <a:lnTo>
                    <a:pt x="3132" y="6047"/>
                  </a:lnTo>
                  <a:lnTo>
                    <a:pt x="7835" y="1344"/>
                  </a:lnTo>
                  <a:lnTo>
                    <a:pt x="9311" y="916"/>
                  </a:lnTo>
                  <a:close/>
                  <a:moveTo>
                    <a:pt x="6495" y="5047"/>
                  </a:moveTo>
                  <a:cubicBezTo>
                    <a:pt x="6522" y="5047"/>
                    <a:pt x="6549" y="5059"/>
                    <a:pt x="6573" y="5083"/>
                  </a:cubicBezTo>
                  <a:cubicBezTo>
                    <a:pt x="6609" y="5131"/>
                    <a:pt x="6609" y="5178"/>
                    <a:pt x="6573" y="5226"/>
                  </a:cubicBezTo>
                  <a:lnTo>
                    <a:pt x="4311" y="7488"/>
                  </a:lnTo>
                  <a:lnTo>
                    <a:pt x="3203" y="8595"/>
                  </a:lnTo>
                  <a:cubicBezTo>
                    <a:pt x="3180" y="8619"/>
                    <a:pt x="3153" y="8631"/>
                    <a:pt x="3127" y="8631"/>
                  </a:cubicBezTo>
                  <a:cubicBezTo>
                    <a:pt x="3102" y="8631"/>
                    <a:pt x="3078" y="8619"/>
                    <a:pt x="3060" y="8595"/>
                  </a:cubicBezTo>
                  <a:cubicBezTo>
                    <a:pt x="3013" y="8548"/>
                    <a:pt x="3013" y="8488"/>
                    <a:pt x="3060" y="8441"/>
                  </a:cubicBezTo>
                  <a:lnTo>
                    <a:pt x="6418" y="5083"/>
                  </a:lnTo>
                  <a:cubicBezTo>
                    <a:pt x="6442" y="5059"/>
                    <a:pt x="6469" y="5047"/>
                    <a:pt x="6495" y="5047"/>
                  </a:cubicBezTo>
                  <a:close/>
                  <a:moveTo>
                    <a:pt x="4430" y="7857"/>
                  </a:moveTo>
                  <a:lnTo>
                    <a:pt x="5346" y="8786"/>
                  </a:lnTo>
                  <a:lnTo>
                    <a:pt x="5001" y="9119"/>
                  </a:lnTo>
                  <a:lnTo>
                    <a:pt x="4989" y="9119"/>
                  </a:lnTo>
                  <a:lnTo>
                    <a:pt x="4084" y="8202"/>
                  </a:lnTo>
                  <a:lnTo>
                    <a:pt x="4430" y="7857"/>
                  </a:lnTo>
                  <a:close/>
                  <a:moveTo>
                    <a:pt x="3846" y="8429"/>
                  </a:moveTo>
                  <a:lnTo>
                    <a:pt x="4323" y="8905"/>
                  </a:lnTo>
                  <a:lnTo>
                    <a:pt x="3906" y="9322"/>
                  </a:lnTo>
                  <a:cubicBezTo>
                    <a:pt x="3894" y="9334"/>
                    <a:pt x="3858" y="9357"/>
                    <a:pt x="3846" y="9357"/>
                  </a:cubicBezTo>
                  <a:cubicBezTo>
                    <a:pt x="3834" y="9357"/>
                    <a:pt x="3811" y="9357"/>
                    <a:pt x="3787" y="9322"/>
                  </a:cubicBezTo>
                  <a:lnTo>
                    <a:pt x="3358" y="8905"/>
                  </a:lnTo>
                  <a:cubicBezTo>
                    <a:pt x="3382" y="8893"/>
                    <a:pt x="3394" y="8881"/>
                    <a:pt x="3430" y="8845"/>
                  </a:cubicBezTo>
                  <a:lnTo>
                    <a:pt x="3846" y="8429"/>
                  </a:lnTo>
                  <a:close/>
                  <a:moveTo>
                    <a:pt x="11322" y="1"/>
                  </a:moveTo>
                  <a:cubicBezTo>
                    <a:pt x="11295" y="1"/>
                    <a:pt x="11267" y="4"/>
                    <a:pt x="11240" y="11"/>
                  </a:cubicBezTo>
                  <a:cubicBezTo>
                    <a:pt x="10514" y="213"/>
                    <a:pt x="8394" y="844"/>
                    <a:pt x="7704" y="1035"/>
                  </a:cubicBezTo>
                  <a:cubicBezTo>
                    <a:pt x="7668" y="1047"/>
                    <a:pt x="7656" y="1059"/>
                    <a:pt x="7621" y="1083"/>
                  </a:cubicBezTo>
                  <a:lnTo>
                    <a:pt x="5263" y="3440"/>
                  </a:lnTo>
                  <a:lnTo>
                    <a:pt x="4203" y="3535"/>
                  </a:lnTo>
                  <a:cubicBezTo>
                    <a:pt x="2703" y="3654"/>
                    <a:pt x="1286" y="4321"/>
                    <a:pt x="227" y="5381"/>
                  </a:cubicBezTo>
                  <a:cubicBezTo>
                    <a:pt x="1" y="5595"/>
                    <a:pt x="143" y="5988"/>
                    <a:pt x="465" y="6024"/>
                  </a:cubicBezTo>
                  <a:lnTo>
                    <a:pt x="2525" y="6190"/>
                  </a:lnTo>
                  <a:lnTo>
                    <a:pt x="2310" y="6405"/>
                  </a:lnTo>
                  <a:cubicBezTo>
                    <a:pt x="2179" y="6536"/>
                    <a:pt x="2179" y="6750"/>
                    <a:pt x="2310" y="6881"/>
                  </a:cubicBezTo>
                  <a:lnTo>
                    <a:pt x="2525" y="7083"/>
                  </a:lnTo>
                  <a:lnTo>
                    <a:pt x="2108" y="7500"/>
                  </a:lnTo>
                  <a:cubicBezTo>
                    <a:pt x="1941" y="7667"/>
                    <a:pt x="1941" y="7941"/>
                    <a:pt x="2108" y="8095"/>
                  </a:cubicBezTo>
                  <a:lnTo>
                    <a:pt x="3561" y="9560"/>
                  </a:lnTo>
                  <a:cubicBezTo>
                    <a:pt x="3644" y="9643"/>
                    <a:pt x="3751" y="9685"/>
                    <a:pt x="3858" y="9685"/>
                  </a:cubicBezTo>
                  <a:cubicBezTo>
                    <a:pt x="3965" y="9685"/>
                    <a:pt x="4073" y="9643"/>
                    <a:pt x="4156" y="9560"/>
                  </a:cubicBezTo>
                  <a:lnTo>
                    <a:pt x="4573" y="9143"/>
                  </a:lnTo>
                  <a:lnTo>
                    <a:pt x="4763" y="9334"/>
                  </a:lnTo>
                  <a:cubicBezTo>
                    <a:pt x="4835" y="9399"/>
                    <a:pt x="4924" y="9432"/>
                    <a:pt x="5015" y="9432"/>
                  </a:cubicBezTo>
                  <a:cubicBezTo>
                    <a:pt x="5105" y="9432"/>
                    <a:pt x="5198" y="9399"/>
                    <a:pt x="5275" y="9334"/>
                  </a:cubicBezTo>
                  <a:lnTo>
                    <a:pt x="5477" y="9131"/>
                  </a:lnTo>
                  <a:lnTo>
                    <a:pt x="5656" y="11179"/>
                  </a:lnTo>
                  <a:cubicBezTo>
                    <a:pt x="5680" y="11334"/>
                    <a:pt x="5763" y="11453"/>
                    <a:pt x="5894" y="11500"/>
                  </a:cubicBezTo>
                  <a:cubicBezTo>
                    <a:pt x="5935" y="11511"/>
                    <a:pt x="5975" y="11516"/>
                    <a:pt x="6015" y="11516"/>
                  </a:cubicBezTo>
                  <a:cubicBezTo>
                    <a:pt x="6115" y="11516"/>
                    <a:pt x="6210" y="11482"/>
                    <a:pt x="6287" y="11405"/>
                  </a:cubicBezTo>
                  <a:cubicBezTo>
                    <a:pt x="6942" y="10750"/>
                    <a:pt x="7430" y="9977"/>
                    <a:pt x="7763" y="9119"/>
                  </a:cubicBezTo>
                  <a:cubicBezTo>
                    <a:pt x="7787" y="9024"/>
                    <a:pt x="7740" y="8941"/>
                    <a:pt x="7656" y="8893"/>
                  </a:cubicBezTo>
                  <a:cubicBezTo>
                    <a:pt x="7635" y="8885"/>
                    <a:pt x="7614" y="8881"/>
                    <a:pt x="7594" y="8881"/>
                  </a:cubicBezTo>
                  <a:cubicBezTo>
                    <a:pt x="7525" y="8881"/>
                    <a:pt x="7467" y="8926"/>
                    <a:pt x="7430" y="9000"/>
                  </a:cubicBezTo>
                  <a:cubicBezTo>
                    <a:pt x="7132" y="9810"/>
                    <a:pt x="6656" y="10560"/>
                    <a:pt x="6037" y="11167"/>
                  </a:cubicBezTo>
                  <a:cubicBezTo>
                    <a:pt x="6027" y="11172"/>
                    <a:pt x="6015" y="11175"/>
                    <a:pt x="6005" y="11175"/>
                  </a:cubicBezTo>
                  <a:cubicBezTo>
                    <a:pt x="5990" y="11175"/>
                    <a:pt x="5978" y="11169"/>
                    <a:pt x="5978" y="11155"/>
                  </a:cubicBezTo>
                  <a:lnTo>
                    <a:pt x="5763" y="8822"/>
                  </a:lnTo>
                  <a:lnTo>
                    <a:pt x="7835" y="6750"/>
                  </a:lnTo>
                  <a:lnTo>
                    <a:pt x="7835" y="6750"/>
                  </a:lnTo>
                  <a:cubicBezTo>
                    <a:pt x="7763" y="7583"/>
                    <a:pt x="7740" y="7810"/>
                    <a:pt x="7656" y="8238"/>
                  </a:cubicBezTo>
                  <a:cubicBezTo>
                    <a:pt x="7644" y="8322"/>
                    <a:pt x="7680" y="8417"/>
                    <a:pt x="7787" y="8441"/>
                  </a:cubicBezTo>
                  <a:cubicBezTo>
                    <a:pt x="7803" y="8445"/>
                    <a:pt x="7819" y="8447"/>
                    <a:pt x="7834" y="8447"/>
                  </a:cubicBezTo>
                  <a:cubicBezTo>
                    <a:pt x="7909" y="8447"/>
                    <a:pt x="7972" y="8399"/>
                    <a:pt x="8002" y="8310"/>
                  </a:cubicBezTo>
                  <a:cubicBezTo>
                    <a:pt x="8121" y="7786"/>
                    <a:pt x="8121" y="7548"/>
                    <a:pt x="8216" y="6393"/>
                  </a:cubicBezTo>
                  <a:lnTo>
                    <a:pt x="10585" y="4023"/>
                  </a:lnTo>
                  <a:cubicBezTo>
                    <a:pt x="10597" y="4011"/>
                    <a:pt x="10621" y="3976"/>
                    <a:pt x="10633" y="3952"/>
                  </a:cubicBezTo>
                  <a:lnTo>
                    <a:pt x="11109" y="2345"/>
                  </a:lnTo>
                  <a:lnTo>
                    <a:pt x="11669" y="404"/>
                  </a:lnTo>
                  <a:cubicBezTo>
                    <a:pt x="11711" y="193"/>
                    <a:pt x="11529" y="1"/>
                    <a:pt x="1132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949;p50">
              <a:extLst>
                <a:ext uri="{FF2B5EF4-FFF2-40B4-BE49-F238E27FC236}">
                  <a16:creationId xmlns:a16="http://schemas.microsoft.com/office/drawing/2014/main" id="{5A9F3B6C-508A-832D-BF0F-6A429AC59B71}"/>
                </a:ext>
              </a:extLst>
            </p:cNvPr>
            <p:cNvSpPr/>
            <p:nvPr/>
          </p:nvSpPr>
          <p:spPr>
            <a:xfrm>
              <a:off x="1070396" y="2832057"/>
              <a:ext cx="90406" cy="69035"/>
            </a:xfrm>
            <a:custGeom>
              <a:avLst/>
              <a:gdLst/>
              <a:ahLst/>
              <a:cxnLst/>
              <a:rect l="l" t="t" r="r" b="b"/>
              <a:pathLst>
                <a:path w="2847" h="2174" extrusionOk="0">
                  <a:moveTo>
                    <a:pt x="1730" y="0"/>
                  </a:moveTo>
                  <a:cubicBezTo>
                    <a:pt x="1668" y="0"/>
                    <a:pt x="1610" y="44"/>
                    <a:pt x="1584" y="114"/>
                  </a:cubicBezTo>
                  <a:cubicBezTo>
                    <a:pt x="1537" y="197"/>
                    <a:pt x="1584" y="293"/>
                    <a:pt x="1668" y="328"/>
                  </a:cubicBezTo>
                  <a:cubicBezTo>
                    <a:pt x="2179" y="554"/>
                    <a:pt x="2299" y="1221"/>
                    <a:pt x="1906" y="1614"/>
                  </a:cubicBezTo>
                  <a:cubicBezTo>
                    <a:pt x="1751" y="1769"/>
                    <a:pt x="1551" y="1846"/>
                    <a:pt x="1350" y="1846"/>
                  </a:cubicBezTo>
                  <a:cubicBezTo>
                    <a:pt x="1150" y="1846"/>
                    <a:pt x="947" y="1769"/>
                    <a:pt x="786" y="1614"/>
                  </a:cubicBezTo>
                  <a:cubicBezTo>
                    <a:pt x="405" y="1221"/>
                    <a:pt x="525" y="566"/>
                    <a:pt x="1025" y="328"/>
                  </a:cubicBezTo>
                  <a:cubicBezTo>
                    <a:pt x="1120" y="293"/>
                    <a:pt x="1144" y="197"/>
                    <a:pt x="1120" y="114"/>
                  </a:cubicBezTo>
                  <a:cubicBezTo>
                    <a:pt x="1083" y="41"/>
                    <a:pt x="1019" y="10"/>
                    <a:pt x="954" y="10"/>
                  </a:cubicBezTo>
                  <a:cubicBezTo>
                    <a:pt x="934" y="10"/>
                    <a:pt x="913" y="13"/>
                    <a:pt x="894" y="19"/>
                  </a:cubicBezTo>
                  <a:cubicBezTo>
                    <a:pt x="179" y="352"/>
                    <a:pt x="1" y="1281"/>
                    <a:pt x="572" y="1852"/>
                  </a:cubicBezTo>
                  <a:cubicBezTo>
                    <a:pt x="786" y="2078"/>
                    <a:pt x="1072" y="2174"/>
                    <a:pt x="1370" y="2174"/>
                  </a:cubicBezTo>
                  <a:cubicBezTo>
                    <a:pt x="2334" y="2162"/>
                    <a:pt x="2846" y="947"/>
                    <a:pt x="2132" y="245"/>
                  </a:cubicBezTo>
                  <a:cubicBezTo>
                    <a:pt x="2037" y="150"/>
                    <a:pt x="1918" y="66"/>
                    <a:pt x="1798" y="19"/>
                  </a:cubicBezTo>
                  <a:cubicBezTo>
                    <a:pt x="1776" y="6"/>
                    <a:pt x="1753" y="0"/>
                    <a:pt x="17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 name="CaixaDeTexto 40">
            <a:extLst>
              <a:ext uri="{FF2B5EF4-FFF2-40B4-BE49-F238E27FC236}">
                <a16:creationId xmlns:a16="http://schemas.microsoft.com/office/drawing/2014/main" id="{41B52CBB-55DA-DEF6-98C2-E9DD35444273}"/>
              </a:ext>
            </a:extLst>
          </p:cNvPr>
          <p:cNvSpPr txBox="1"/>
          <p:nvPr/>
        </p:nvSpPr>
        <p:spPr>
          <a:xfrm>
            <a:off x="2566713" y="4369616"/>
            <a:ext cx="1498347" cy="307777"/>
          </a:xfrm>
          <a:prstGeom prst="rect">
            <a:avLst/>
          </a:prstGeom>
          <a:solidFill>
            <a:srgbClr val="D8CDF6"/>
          </a:solidFill>
        </p:spPr>
        <p:txBody>
          <a:bodyPr wrap="square" rtlCol="0">
            <a:spAutoFit/>
          </a:bodyPr>
          <a:lstStyle/>
          <a:p>
            <a:r>
              <a:rPr lang="pt-BR" sz="1400" b="1" dirty="0">
                <a:solidFill>
                  <a:srgbClr val="9E2289"/>
                </a:solidFill>
                <a:latin typeface="Arial" panose="020B0604020202020204" pitchFamily="34" charset="0"/>
                <a:cs typeface="Arial" panose="020B0604020202020204" pitchFamily="34" charset="0"/>
              </a:rPr>
              <a:t>Ofensores</a:t>
            </a:r>
          </a:p>
        </p:txBody>
      </p:sp>
      <p:sp>
        <p:nvSpPr>
          <p:cNvPr id="44" name="CaixaDeTexto 43">
            <a:extLst>
              <a:ext uri="{FF2B5EF4-FFF2-40B4-BE49-F238E27FC236}">
                <a16:creationId xmlns:a16="http://schemas.microsoft.com/office/drawing/2014/main" id="{79DD953B-FAAB-0575-BACA-BB70A6BF25D4}"/>
              </a:ext>
            </a:extLst>
          </p:cNvPr>
          <p:cNvSpPr txBox="1"/>
          <p:nvPr/>
        </p:nvSpPr>
        <p:spPr>
          <a:xfrm>
            <a:off x="2154943" y="4720812"/>
            <a:ext cx="3981737" cy="1600438"/>
          </a:xfrm>
          <a:prstGeom prst="rect">
            <a:avLst/>
          </a:prstGeom>
          <a:noFill/>
        </p:spPr>
        <p:txBody>
          <a:bodyPr wrap="square" rtlCol="0">
            <a:spAutoFit/>
          </a:bodyPr>
          <a:lstStyle/>
          <a:p>
            <a:r>
              <a:rPr lang="pt-BR" sz="1400" dirty="0">
                <a:solidFill>
                  <a:srgbClr val="9E2289"/>
                </a:solidFill>
                <a:latin typeface="Arial" panose="020B0604020202020204" pitchFamily="34" charset="0"/>
                <a:cs typeface="Arial" panose="020B0604020202020204" pitchFamily="34" charset="0"/>
              </a:rPr>
              <a:t>  Cauê Coreia Bento</a:t>
            </a:r>
          </a:p>
          <a:p>
            <a:endParaRPr lang="pt-BR" sz="1400" dirty="0">
              <a:solidFill>
                <a:srgbClr val="9E2289"/>
              </a:solidFill>
              <a:latin typeface="Arial" panose="020B0604020202020204" pitchFamily="34" charset="0"/>
              <a:cs typeface="Arial" panose="020B0604020202020204" pitchFamily="34" charset="0"/>
            </a:endParaRPr>
          </a:p>
          <a:p>
            <a:endParaRPr lang="pt-BR" sz="1400" dirty="0">
              <a:solidFill>
                <a:srgbClr val="9E2289"/>
              </a:solidFill>
              <a:latin typeface="Arial" panose="020B0604020202020204" pitchFamily="34" charset="0"/>
              <a:cs typeface="Arial" panose="020B0604020202020204" pitchFamily="34" charset="0"/>
            </a:endParaRPr>
          </a:p>
          <a:p>
            <a:endParaRPr lang="pt-BR" sz="1400" dirty="0">
              <a:solidFill>
                <a:srgbClr val="9E2289"/>
              </a:solidFill>
              <a:latin typeface="Arial" panose="020B0604020202020204" pitchFamily="34" charset="0"/>
              <a:cs typeface="Arial" panose="020B0604020202020204" pitchFamily="34" charset="0"/>
            </a:endParaRPr>
          </a:p>
          <a:p>
            <a:endParaRPr lang="pt-BR" sz="1400" dirty="0">
              <a:solidFill>
                <a:srgbClr val="9E2289"/>
              </a:solidFill>
              <a:latin typeface="Arial" panose="020B0604020202020204" pitchFamily="34" charset="0"/>
              <a:cs typeface="Arial" panose="020B0604020202020204" pitchFamily="34" charset="0"/>
            </a:endParaRPr>
          </a:p>
          <a:p>
            <a:endParaRPr lang="pt-BR" sz="1400" dirty="0">
              <a:solidFill>
                <a:srgbClr val="9E2289"/>
              </a:solidFill>
              <a:latin typeface="Arial" panose="020B0604020202020204" pitchFamily="34" charset="0"/>
              <a:cs typeface="Arial" panose="020B0604020202020204" pitchFamily="34" charset="0"/>
            </a:endParaRPr>
          </a:p>
          <a:p>
            <a:endParaRPr lang="pt-BR" sz="1400" dirty="0">
              <a:solidFill>
                <a:srgbClr val="9E2289"/>
              </a:solidFill>
              <a:latin typeface="Arial" panose="020B0604020202020204" pitchFamily="34" charset="0"/>
              <a:cs typeface="Arial" panose="020B0604020202020204" pitchFamily="34" charset="0"/>
            </a:endParaRPr>
          </a:p>
        </p:txBody>
      </p:sp>
      <p:sp>
        <p:nvSpPr>
          <p:cNvPr id="46" name="Retângulo: Cantos Arredondados 45">
            <a:extLst>
              <a:ext uri="{FF2B5EF4-FFF2-40B4-BE49-F238E27FC236}">
                <a16:creationId xmlns:a16="http://schemas.microsoft.com/office/drawing/2014/main" id="{5435D39C-476D-CDDE-0634-71E33F40104C}"/>
              </a:ext>
            </a:extLst>
          </p:cNvPr>
          <p:cNvSpPr/>
          <p:nvPr/>
        </p:nvSpPr>
        <p:spPr>
          <a:xfrm>
            <a:off x="6489550" y="4173247"/>
            <a:ext cx="4260561" cy="2532836"/>
          </a:xfrm>
          <a:prstGeom prst="roundRect">
            <a:avLst/>
          </a:prstGeom>
          <a:solidFill>
            <a:schemeClr val="bg1">
              <a:lumMod val="95000"/>
            </a:schemeClr>
          </a:solidFill>
          <a:ln>
            <a:noFill/>
          </a:ln>
          <a:effectLst>
            <a:outerShdw dist="101600" dir="10740000" algn="t" rotWithShape="0">
              <a:srgbClr val="9E2289"/>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47" name="Google Shape;1944;p50">
            <a:extLst>
              <a:ext uri="{FF2B5EF4-FFF2-40B4-BE49-F238E27FC236}">
                <a16:creationId xmlns:a16="http://schemas.microsoft.com/office/drawing/2014/main" id="{B8737845-09A1-C702-8561-582EE15AD2FD}"/>
              </a:ext>
            </a:extLst>
          </p:cNvPr>
          <p:cNvGrpSpPr/>
          <p:nvPr/>
        </p:nvGrpSpPr>
        <p:grpSpPr>
          <a:xfrm rot="10417960">
            <a:off x="6629343" y="4367822"/>
            <a:ext cx="476316" cy="468384"/>
            <a:chOff x="860940" y="2746477"/>
            <a:chExt cx="371883" cy="365691"/>
          </a:xfrm>
          <a:solidFill>
            <a:srgbClr val="9E2289"/>
          </a:solidFill>
        </p:grpSpPr>
        <p:sp>
          <p:nvSpPr>
            <p:cNvPr id="48" name="Google Shape;1945;p50">
              <a:extLst>
                <a:ext uri="{FF2B5EF4-FFF2-40B4-BE49-F238E27FC236}">
                  <a16:creationId xmlns:a16="http://schemas.microsoft.com/office/drawing/2014/main" id="{7E501F98-BF96-A8FE-9F45-40E26061DF2F}"/>
                </a:ext>
              </a:extLst>
            </p:cNvPr>
            <p:cNvSpPr/>
            <p:nvPr/>
          </p:nvSpPr>
          <p:spPr>
            <a:xfrm>
              <a:off x="908191" y="3026302"/>
              <a:ext cx="30294" cy="28961"/>
            </a:xfrm>
            <a:custGeom>
              <a:avLst/>
              <a:gdLst/>
              <a:ahLst/>
              <a:cxnLst/>
              <a:rect l="l" t="t" r="r" b="b"/>
              <a:pathLst>
                <a:path w="954" h="912" extrusionOk="0">
                  <a:moveTo>
                    <a:pt x="763" y="1"/>
                  </a:moveTo>
                  <a:cubicBezTo>
                    <a:pt x="718" y="1"/>
                    <a:pt x="674" y="16"/>
                    <a:pt x="644" y="45"/>
                  </a:cubicBezTo>
                  <a:lnTo>
                    <a:pt x="60" y="629"/>
                  </a:lnTo>
                  <a:cubicBezTo>
                    <a:pt x="1" y="688"/>
                    <a:pt x="1" y="807"/>
                    <a:pt x="60" y="867"/>
                  </a:cubicBezTo>
                  <a:cubicBezTo>
                    <a:pt x="90" y="897"/>
                    <a:pt x="135" y="911"/>
                    <a:pt x="179" y="911"/>
                  </a:cubicBezTo>
                  <a:cubicBezTo>
                    <a:pt x="224" y="911"/>
                    <a:pt x="269" y="897"/>
                    <a:pt x="299" y="867"/>
                  </a:cubicBezTo>
                  <a:lnTo>
                    <a:pt x="882" y="283"/>
                  </a:lnTo>
                  <a:cubicBezTo>
                    <a:pt x="953" y="224"/>
                    <a:pt x="953" y="105"/>
                    <a:pt x="882" y="45"/>
                  </a:cubicBezTo>
                  <a:cubicBezTo>
                    <a:pt x="852" y="16"/>
                    <a:pt x="807" y="1"/>
                    <a:pt x="76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946;p50">
              <a:extLst>
                <a:ext uri="{FF2B5EF4-FFF2-40B4-BE49-F238E27FC236}">
                  <a16:creationId xmlns:a16="http://schemas.microsoft.com/office/drawing/2014/main" id="{1666AB11-C891-71E4-785B-ED7DD36A35DC}"/>
                </a:ext>
              </a:extLst>
            </p:cNvPr>
            <p:cNvSpPr/>
            <p:nvPr/>
          </p:nvSpPr>
          <p:spPr>
            <a:xfrm>
              <a:off x="943757" y="3061836"/>
              <a:ext cx="30263" cy="28961"/>
            </a:xfrm>
            <a:custGeom>
              <a:avLst/>
              <a:gdLst/>
              <a:ahLst/>
              <a:cxnLst/>
              <a:rect l="l" t="t" r="r" b="b"/>
              <a:pathLst>
                <a:path w="953" h="912" extrusionOk="0">
                  <a:moveTo>
                    <a:pt x="762" y="1"/>
                  </a:moveTo>
                  <a:cubicBezTo>
                    <a:pt x="717" y="1"/>
                    <a:pt x="673" y="16"/>
                    <a:pt x="643" y="46"/>
                  </a:cubicBezTo>
                  <a:lnTo>
                    <a:pt x="60" y="629"/>
                  </a:lnTo>
                  <a:cubicBezTo>
                    <a:pt x="0" y="688"/>
                    <a:pt x="0" y="807"/>
                    <a:pt x="60" y="867"/>
                  </a:cubicBezTo>
                  <a:cubicBezTo>
                    <a:pt x="89" y="897"/>
                    <a:pt x="134" y="912"/>
                    <a:pt x="179" y="912"/>
                  </a:cubicBezTo>
                  <a:cubicBezTo>
                    <a:pt x="223" y="912"/>
                    <a:pt x="268" y="897"/>
                    <a:pt x="298" y="867"/>
                  </a:cubicBezTo>
                  <a:lnTo>
                    <a:pt x="881" y="284"/>
                  </a:lnTo>
                  <a:cubicBezTo>
                    <a:pt x="953" y="224"/>
                    <a:pt x="953" y="105"/>
                    <a:pt x="881" y="46"/>
                  </a:cubicBezTo>
                  <a:cubicBezTo>
                    <a:pt x="851" y="16"/>
                    <a:pt x="807" y="1"/>
                    <a:pt x="7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947;p50">
              <a:extLst>
                <a:ext uri="{FF2B5EF4-FFF2-40B4-BE49-F238E27FC236}">
                  <a16:creationId xmlns:a16="http://schemas.microsoft.com/office/drawing/2014/main" id="{808CD977-170C-9B04-C1F7-1F06EAD5A92D}"/>
                </a:ext>
              </a:extLst>
            </p:cNvPr>
            <p:cNvSpPr/>
            <p:nvPr/>
          </p:nvSpPr>
          <p:spPr>
            <a:xfrm>
              <a:off x="926355" y="3044085"/>
              <a:ext cx="29881" cy="28579"/>
            </a:xfrm>
            <a:custGeom>
              <a:avLst/>
              <a:gdLst/>
              <a:ahLst/>
              <a:cxnLst/>
              <a:rect l="l" t="t" r="r" b="b"/>
              <a:pathLst>
                <a:path w="941" h="900" extrusionOk="0">
                  <a:moveTo>
                    <a:pt x="762" y="0"/>
                  </a:moveTo>
                  <a:cubicBezTo>
                    <a:pt x="718" y="0"/>
                    <a:pt x="673" y="15"/>
                    <a:pt x="643" y="45"/>
                  </a:cubicBezTo>
                  <a:lnTo>
                    <a:pt x="60" y="616"/>
                  </a:lnTo>
                  <a:cubicBezTo>
                    <a:pt x="0" y="676"/>
                    <a:pt x="0" y="795"/>
                    <a:pt x="60" y="855"/>
                  </a:cubicBezTo>
                  <a:cubicBezTo>
                    <a:pt x="90" y="884"/>
                    <a:pt x="134" y="899"/>
                    <a:pt x="179" y="899"/>
                  </a:cubicBezTo>
                  <a:cubicBezTo>
                    <a:pt x="224" y="899"/>
                    <a:pt x="268" y="884"/>
                    <a:pt x="298" y="855"/>
                  </a:cubicBezTo>
                  <a:lnTo>
                    <a:pt x="881" y="283"/>
                  </a:lnTo>
                  <a:cubicBezTo>
                    <a:pt x="941" y="224"/>
                    <a:pt x="941" y="116"/>
                    <a:pt x="881" y="45"/>
                  </a:cubicBezTo>
                  <a:cubicBezTo>
                    <a:pt x="852" y="15"/>
                    <a:pt x="807" y="0"/>
                    <a:pt x="76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948;p50">
              <a:extLst>
                <a:ext uri="{FF2B5EF4-FFF2-40B4-BE49-F238E27FC236}">
                  <a16:creationId xmlns:a16="http://schemas.microsoft.com/office/drawing/2014/main" id="{7D02A7E1-5122-FB5E-8FB3-FD2592820D62}"/>
                </a:ext>
              </a:extLst>
            </p:cNvPr>
            <p:cNvSpPr/>
            <p:nvPr/>
          </p:nvSpPr>
          <p:spPr>
            <a:xfrm>
              <a:off x="860940" y="2746477"/>
              <a:ext cx="371883" cy="365691"/>
            </a:xfrm>
            <a:custGeom>
              <a:avLst/>
              <a:gdLst/>
              <a:ahLst/>
              <a:cxnLst/>
              <a:rect l="l" t="t" r="r" b="b"/>
              <a:pathLst>
                <a:path w="11711" h="11516" extrusionOk="0">
                  <a:moveTo>
                    <a:pt x="11312" y="344"/>
                  </a:moveTo>
                  <a:lnTo>
                    <a:pt x="10835" y="1987"/>
                  </a:lnTo>
                  <a:lnTo>
                    <a:pt x="9680" y="821"/>
                  </a:lnTo>
                  <a:lnTo>
                    <a:pt x="11312" y="344"/>
                  </a:lnTo>
                  <a:close/>
                  <a:moveTo>
                    <a:pt x="4882" y="3821"/>
                  </a:moveTo>
                  <a:lnTo>
                    <a:pt x="2822" y="5881"/>
                  </a:lnTo>
                  <a:lnTo>
                    <a:pt x="477" y="5690"/>
                  </a:lnTo>
                  <a:cubicBezTo>
                    <a:pt x="453" y="5690"/>
                    <a:pt x="429" y="5643"/>
                    <a:pt x="465" y="5631"/>
                  </a:cubicBezTo>
                  <a:cubicBezTo>
                    <a:pt x="1477" y="4619"/>
                    <a:pt x="2822" y="4000"/>
                    <a:pt x="4227" y="3881"/>
                  </a:cubicBezTo>
                  <a:lnTo>
                    <a:pt x="4882" y="3821"/>
                  </a:lnTo>
                  <a:close/>
                  <a:moveTo>
                    <a:pt x="2894" y="6297"/>
                  </a:moveTo>
                  <a:lnTo>
                    <a:pt x="3811" y="7226"/>
                  </a:lnTo>
                  <a:lnTo>
                    <a:pt x="3477" y="7571"/>
                  </a:lnTo>
                  <a:lnTo>
                    <a:pt x="2549" y="6643"/>
                  </a:lnTo>
                  <a:lnTo>
                    <a:pt x="2894" y="6297"/>
                  </a:lnTo>
                  <a:close/>
                  <a:moveTo>
                    <a:pt x="2727" y="7333"/>
                  </a:moveTo>
                  <a:lnTo>
                    <a:pt x="3203" y="7810"/>
                  </a:lnTo>
                  <a:lnTo>
                    <a:pt x="2799" y="8226"/>
                  </a:lnTo>
                  <a:cubicBezTo>
                    <a:pt x="2787" y="8238"/>
                    <a:pt x="2763" y="8262"/>
                    <a:pt x="2739" y="8298"/>
                  </a:cubicBezTo>
                  <a:lnTo>
                    <a:pt x="2310" y="7869"/>
                  </a:lnTo>
                  <a:cubicBezTo>
                    <a:pt x="2287" y="7833"/>
                    <a:pt x="2287" y="7774"/>
                    <a:pt x="2310" y="7750"/>
                  </a:cubicBezTo>
                  <a:lnTo>
                    <a:pt x="2727" y="7333"/>
                  </a:lnTo>
                  <a:close/>
                  <a:moveTo>
                    <a:pt x="9311" y="916"/>
                  </a:moveTo>
                  <a:lnTo>
                    <a:pt x="10740" y="2345"/>
                  </a:lnTo>
                  <a:lnTo>
                    <a:pt x="10299" y="3821"/>
                  </a:lnTo>
                  <a:lnTo>
                    <a:pt x="5597" y="8524"/>
                  </a:lnTo>
                  <a:lnTo>
                    <a:pt x="4680" y="7595"/>
                  </a:lnTo>
                  <a:lnTo>
                    <a:pt x="6823" y="5452"/>
                  </a:lnTo>
                  <a:cubicBezTo>
                    <a:pt x="6966" y="5309"/>
                    <a:pt x="7001" y="5035"/>
                    <a:pt x="6811" y="4833"/>
                  </a:cubicBezTo>
                  <a:cubicBezTo>
                    <a:pt x="6728" y="4750"/>
                    <a:pt x="6617" y="4708"/>
                    <a:pt x="6506" y="4708"/>
                  </a:cubicBezTo>
                  <a:cubicBezTo>
                    <a:pt x="6394" y="4708"/>
                    <a:pt x="6281" y="4750"/>
                    <a:pt x="6192" y="4833"/>
                  </a:cubicBezTo>
                  <a:lnTo>
                    <a:pt x="4049" y="6976"/>
                  </a:lnTo>
                  <a:lnTo>
                    <a:pt x="3132" y="6047"/>
                  </a:lnTo>
                  <a:lnTo>
                    <a:pt x="7835" y="1344"/>
                  </a:lnTo>
                  <a:lnTo>
                    <a:pt x="9311" y="916"/>
                  </a:lnTo>
                  <a:close/>
                  <a:moveTo>
                    <a:pt x="6495" y="5047"/>
                  </a:moveTo>
                  <a:cubicBezTo>
                    <a:pt x="6522" y="5047"/>
                    <a:pt x="6549" y="5059"/>
                    <a:pt x="6573" y="5083"/>
                  </a:cubicBezTo>
                  <a:cubicBezTo>
                    <a:pt x="6609" y="5131"/>
                    <a:pt x="6609" y="5178"/>
                    <a:pt x="6573" y="5226"/>
                  </a:cubicBezTo>
                  <a:lnTo>
                    <a:pt x="4311" y="7488"/>
                  </a:lnTo>
                  <a:lnTo>
                    <a:pt x="3203" y="8595"/>
                  </a:lnTo>
                  <a:cubicBezTo>
                    <a:pt x="3180" y="8619"/>
                    <a:pt x="3153" y="8631"/>
                    <a:pt x="3127" y="8631"/>
                  </a:cubicBezTo>
                  <a:cubicBezTo>
                    <a:pt x="3102" y="8631"/>
                    <a:pt x="3078" y="8619"/>
                    <a:pt x="3060" y="8595"/>
                  </a:cubicBezTo>
                  <a:cubicBezTo>
                    <a:pt x="3013" y="8548"/>
                    <a:pt x="3013" y="8488"/>
                    <a:pt x="3060" y="8441"/>
                  </a:cubicBezTo>
                  <a:lnTo>
                    <a:pt x="6418" y="5083"/>
                  </a:lnTo>
                  <a:cubicBezTo>
                    <a:pt x="6442" y="5059"/>
                    <a:pt x="6469" y="5047"/>
                    <a:pt x="6495" y="5047"/>
                  </a:cubicBezTo>
                  <a:close/>
                  <a:moveTo>
                    <a:pt x="4430" y="7857"/>
                  </a:moveTo>
                  <a:lnTo>
                    <a:pt x="5346" y="8786"/>
                  </a:lnTo>
                  <a:lnTo>
                    <a:pt x="5001" y="9119"/>
                  </a:lnTo>
                  <a:lnTo>
                    <a:pt x="4989" y="9119"/>
                  </a:lnTo>
                  <a:lnTo>
                    <a:pt x="4084" y="8202"/>
                  </a:lnTo>
                  <a:lnTo>
                    <a:pt x="4430" y="7857"/>
                  </a:lnTo>
                  <a:close/>
                  <a:moveTo>
                    <a:pt x="3846" y="8429"/>
                  </a:moveTo>
                  <a:lnTo>
                    <a:pt x="4323" y="8905"/>
                  </a:lnTo>
                  <a:lnTo>
                    <a:pt x="3906" y="9322"/>
                  </a:lnTo>
                  <a:cubicBezTo>
                    <a:pt x="3894" y="9334"/>
                    <a:pt x="3858" y="9357"/>
                    <a:pt x="3846" y="9357"/>
                  </a:cubicBezTo>
                  <a:cubicBezTo>
                    <a:pt x="3834" y="9357"/>
                    <a:pt x="3811" y="9357"/>
                    <a:pt x="3787" y="9322"/>
                  </a:cubicBezTo>
                  <a:lnTo>
                    <a:pt x="3358" y="8905"/>
                  </a:lnTo>
                  <a:cubicBezTo>
                    <a:pt x="3382" y="8893"/>
                    <a:pt x="3394" y="8881"/>
                    <a:pt x="3430" y="8845"/>
                  </a:cubicBezTo>
                  <a:lnTo>
                    <a:pt x="3846" y="8429"/>
                  </a:lnTo>
                  <a:close/>
                  <a:moveTo>
                    <a:pt x="11322" y="1"/>
                  </a:moveTo>
                  <a:cubicBezTo>
                    <a:pt x="11295" y="1"/>
                    <a:pt x="11267" y="4"/>
                    <a:pt x="11240" y="11"/>
                  </a:cubicBezTo>
                  <a:cubicBezTo>
                    <a:pt x="10514" y="213"/>
                    <a:pt x="8394" y="844"/>
                    <a:pt x="7704" y="1035"/>
                  </a:cubicBezTo>
                  <a:cubicBezTo>
                    <a:pt x="7668" y="1047"/>
                    <a:pt x="7656" y="1059"/>
                    <a:pt x="7621" y="1083"/>
                  </a:cubicBezTo>
                  <a:lnTo>
                    <a:pt x="5263" y="3440"/>
                  </a:lnTo>
                  <a:lnTo>
                    <a:pt x="4203" y="3535"/>
                  </a:lnTo>
                  <a:cubicBezTo>
                    <a:pt x="2703" y="3654"/>
                    <a:pt x="1286" y="4321"/>
                    <a:pt x="227" y="5381"/>
                  </a:cubicBezTo>
                  <a:cubicBezTo>
                    <a:pt x="1" y="5595"/>
                    <a:pt x="143" y="5988"/>
                    <a:pt x="465" y="6024"/>
                  </a:cubicBezTo>
                  <a:lnTo>
                    <a:pt x="2525" y="6190"/>
                  </a:lnTo>
                  <a:lnTo>
                    <a:pt x="2310" y="6405"/>
                  </a:lnTo>
                  <a:cubicBezTo>
                    <a:pt x="2179" y="6536"/>
                    <a:pt x="2179" y="6750"/>
                    <a:pt x="2310" y="6881"/>
                  </a:cubicBezTo>
                  <a:lnTo>
                    <a:pt x="2525" y="7083"/>
                  </a:lnTo>
                  <a:lnTo>
                    <a:pt x="2108" y="7500"/>
                  </a:lnTo>
                  <a:cubicBezTo>
                    <a:pt x="1941" y="7667"/>
                    <a:pt x="1941" y="7941"/>
                    <a:pt x="2108" y="8095"/>
                  </a:cubicBezTo>
                  <a:lnTo>
                    <a:pt x="3561" y="9560"/>
                  </a:lnTo>
                  <a:cubicBezTo>
                    <a:pt x="3644" y="9643"/>
                    <a:pt x="3751" y="9685"/>
                    <a:pt x="3858" y="9685"/>
                  </a:cubicBezTo>
                  <a:cubicBezTo>
                    <a:pt x="3965" y="9685"/>
                    <a:pt x="4073" y="9643"/>
                    <a:pt x="4156" y="9560"/>
                  </a:cubicBezTo>
                  <a:lnTo>
                    <a:pt x="4573" y="9143"/>
                  </a:lnTo>
                  <a:lnTo>
                    <a:pt x="4763" y="9334"/>
                  </a:lnTo>
                  <a:cubicBezTo>
                    <a:pt x="4835" y="9399"/>
                    <a:pt x="4924" y="9432"/>
                    <a:pt x="5015" y="9432"/>
                  </a:cubicBezTo>
                  <a:cubicBezTo>
                    <a:pt x="5105" y="9432"/>
                    <a:pt x="5198" y="9399"/>
                    <a:pt x="5275" y="9334"/>
                  </a:cubicBezTo>
                  <a:lnTo>
                    <a:pt x="5477" y="9131"/>
                  </a:lnTo>
                  <a:lnTo>
                    <a:pt x="5656" y="11179"/>
                  </a:lnTo>
                  <a:cubicBezTo>
                    <a:pt x="5680" y="11334"/>
                    <a:pt x="5763" y="11453"/>
                    <a:pt x="5894" y="11500"/>
                  </a:cubicBezTo>
                  <a:cubicBezTo>
                    <a:pt x="5935" y="11511"/>
                    <a:pt x="5975" y="11516"/>
                    <a:pt x="6015" y="11516"/>
                  </a:cubicBezTo>
                  <a:cubicBezTo>
                    <a:pt x="6115" y="11516"/>
                    <a:pt x="6210" y="11482"/>
                    <a:pt x="6287" y="11405"/>
                  </a:cubicBezTo>
                  <a:cubicBezTo>
                    <a:pt x="6942" y="10750"/>
                    <a:pt x="7430" y="9977"/>
                    <a:pt x="7763" y="9119"/>
                  </a:cubicBezTo>
                  <a:cubicBezTo>
                    <a:pt x="7787" y="9024"/>
                    <a:pt x="7740" y="8941"/>
                    <a:pt x="7656" y="8893"/>
                  </a:cubicBezTo>
                  <a:cubicBezTo>
                    <a:pt x="7635" y="8885"/>
                    <a:pt x="7614" y="8881"/>
                    <a:pt x="7594" y="8881"/>
                  </a:cubicBezTo>
                  <a:cubicBezTo>
                    <a:pt x="7525" y="8881"/>
                    <a:pt x="7467" y="8926"/>
                    <a:pt x="7430" y="9000"/>
                  </a:cubicBezTo>
                  <a:cubicBezTo>
                    <a:pt x="7132" y="9810"/>
                    <a:pt x="6656" y="10560"/>
                    <a:pt x="6037" y="11167"/>
                  </a:cubicBezTo>
                  <a:cubicBezTo>
                    <a:pt x="6027" y="11172"/>
                    <a:pt x="6015" y="11175"/>
                    <a:pt x="6005" y="11175"/>
                  </a:cubicBezTo>
                  <a:cubicBezTo>
                    <a:pt x="5990" y="11175"/>
                    <a:pt x="5978" y="11169"/>
                    <a:pt x="5978" y="11155"/>
                  </a:cubicBezTo>
                  <a:lnTo>
                    <a:pt x="5763" y="8822"/>
                  </a:lnTo>
                  <a:lnTo>
                    <a:pt x="7835" y="6750"/>
                  </a:lnTo>
                  <a:lnTo>
                    <a:pt x="7835" y="6750"/>
                  </a:lnTo>
                  <a:cubicBezTo>
                    <a:pt x="7763" y="7583"/>
                    <a:pt x="7740" y="7810"/>
                    <a:pt x="7656" y="8238"/>
                  </a:cubicBezTo>
                  <a:cubicBezTo>
                    <a:pt x="7644" y="8322"/>
                    <a:pt x="7680" y="8417"/>
                    <a:pt x="7787" y="8441"/>
                  </a:cubicBezTo>
                  <a:cubicBezTo>
                    <a:pt x="7803" y="8445"/>
                    <a:pt x="7819" y="8447"/>
                    <a:pt x="7834" y="8447"/>
                  </a:cubicBezTo>
                  <a:cubicBezTo>
                    <a:pt x="7909" y="8447"/>
                    <a:pt x="7972" y="8399"/>
                    <a:pt x="8002" y="8310"/>
                  </a:cubicBezTo>
                  <a:cubicBezTo>
                    <a:pt x="8121" y="7786"/>
                    <a:pt x="8121" y="7548"/>
                    <a:pt x="8216" y="6393"/>
                  </a:cubicBezTo>
                  <a:lnTo>
                    <a:pt x="10585" y="4023"/>
                  </a:lnTo>
                  <a:cubicBezTo>
                    <a:pt x="10597" y="4011"/>
                    <a:pt x="10621" y="3976"/>
                    <a:pt x="10633" y="3952"/>
                  </a:cubicBezTo>
                  <a:lnTo>
                    <a:pt x="11109" y="2345"/>
                  </a:lnTo>
                  <a:lnTo>
                    <a:pt x="11669" y="404"/>
                  </a:lnTo>
                  <a:cubicBezTo>
                    <a:pt x="11711" y="193"/>
                    <a:pt x="11529" y="1"/>
                    <a:pt x="1132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949;p50">
              <a:extLst>
                <a:ext uri="{FF2B5EF4-FFF2-40B4-BE49-F238E27FC236}">
                  <a16:creationId xmlns:a16="http://schemas.microsoft.com/office/drawing/2014/main" id="{47FAAA61-BFF4-CE48-530A-34DFECD54B05}"/>
                </a:ext>
              </a:extLst>
            </p:cNvPr>
            <p:cNvSpPr/>
            <p:nvPr/>
          </p:nvSpPr>
          <p:spPr>
            <a:xfrm>
              <a:off x="1070396" y="2832057"/>
              <a:ext cx="90406" cy="69035"/>
            </a:xfrm>
            <a:custGeom>
              <a:avLst/>
              <a:gdLst/>
              <a:ahLst/>
              <a:cxnLst/>
              <a:rect l="l" t="t" r="r" b="b"/>
              <a:pathLst>
                <a:path w="2847" h="2174" extrusionOk="0">
                  <a:moveTo>
                    <a:pt x="1730" y="0"/>
                  </a:moveTo>
                  <a:cubicBezTo>
                    <a:pt x="1668" y="0"/>
                    <a:pt x="1610" y="44"/>
                    <a:pt x="1584" y="114"/>
                  </a:cubicBezTo>
                  <a:cubicBezTo>
                    <a:pt x="1537" y="197"/>
                    <a:pt x="1584" y="293"/>
                    <a:pt x="1668" y="328"/>
                  </a:cubicBezTo>
                  <a:cubicBezTo>
                    <a:pt x="2179" y="554"/>
                    <a:pt x="2299" y="1221"/>
                    <a:pt x="1906" y="1614"/>
                  </a:cubicBezTo>
                  <a:cubicBezTo>
                    <a:pt x="1751" y="1769"/>
                    <a:pt x="1551" y="1846"/>
                    <a:pt x="1350" y="1846"/>
                  </a:cubicBezTo>
                  <a:cubicBezTo>
                    <a:pt x="1150" y="1846"/>
                    <a:pt x="947" y="1769"/>
                    <a:pt x="786" y="1614"/>
                  </a:cubicBezTo>
                  <a:cubicBezTo>
                    <a:pt x="405" y="1221"/>
                    <a:pt x="525" y="566"/>
                    <a:pt x="1025" y="328"/>
                  </a:cubicBezTo>
                  <a:cubicBezTo>
                    <a:pt x="1120" y="293"/>
                    <a:pt x="1144" y="197"/>
                    <a:pt x="1120" y="114"/>
                  </a:cubicBezTo>
                  <a:cubicBezTo>
                    <a:pt x="1083" y="41"/>
                    <a:pt x="1019" y="10"/>
                    <a:pt x="954" y="10"/>
                  </a:cubicBezTo>
                  <a:cubicBezTo>
                    <a:pt x="934" y="10"/>
                    <a:pt x="913" y="13"/>
                    <a:pt x="894" y="19"/>
                  </a:cubicBezTo>
                  <a:cubicBezTo>
                    <a:pt x="179" y="352"/>
                    <a:pt x="1" y="1281"/>
                    <a:pt x="572" y="1852"/>
                  </a:cubicBezTo>
                  <a:cubicBezTo>
                    <a:pt x="786" y="2078"/>
                    <a:pt x="1072" y="2174"/>
                    <a:pt x="1370" y="2174"/>
                  </a:cubicBezTo>
                  <a:cubicBezTo>
                    <a:pt x="2334" y="2162"/>
                    <a:pt x="2846" y="947"/>
                    <a:pt x="2132" y="245"/>
                  </a:cubicBezTo>
                  <a:cubicBezTo>
                    <a:pt x="2037" y="150"/>
                    <a:pt x="1918" y="66"/>
                    <a:pt x="1798" y="19"/>
                  </a:cubicBezTo>
                  <a:cubicBezTo>
                    <a:pt x="1776" y="6"/>
                    <a:pt x="1753" y="0"/>
                    <a:pt x="17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 name="CaixaDeTexto 60">
            <a:extLst>
              <a:ext uri="{FF2B5EF4-FFF2-40B4-BE49-F238E27FC236}">
                <a16:creationId xmlns:a16="http://schemas.microsoft.com/office/drawing/2014/main" id="{5363C5C2-0D60-E784-CCC5-C828F3E1EEDB}"/>
              </a:ext>
            </a:extLst>
          </p:cNvPr>
          <p:cNvSpPr txBox="1"/>
          <p:nvPr/>
        </p:nvSpPr>
        <p:spPr>
          <a:xfrm>
            <a:off x="7224926" y="4378062"/>
            <a:ext cx="1498347" cy="307777"/>
          </a:xfrm>
          <a:prstGeom prst="rect">
            <a:avLst/>
          </a:prstGeom>
          <a:solidFill>
            <a:srgbClr val="D8CDF6"/>
          </a:solidFill>
        </p:spPr>
        <p:txBody>
          <a:bodyPr wrap="square" rtlCol="0">
            <a:spAutoFit/>
          </a:bodyPr>
          <a:lstStyle/>
          <a:p>
            <a:r>
              <a:rPr lang="pt-BR" sz="1400" b="1" dirty="0">
                <a:solidFill>
                  <a:srgbClr val="9E2289"/>
                </a:solidFill>
                <a:latin typeface="Arial" panose="020B0604020202020204" pitchFamily="34" charset="0"/>
                <a:cs typeface="Arial" panose="020B0604020202020204" pitchFamily="34" charset="0"/>
              </a:rPr>
              <a:t>Ofensores</a:t>
            </a:r>
          </a:p>
        </p:txBody>
      </p:sp>
      <p:sp>
        <p:nvSpPr>
          <p:cNvPr id="74" name="CaixaDeTexto 73">
            <a:extLst>
              <a:ext uri="{FF2B5EF4-FFF2-40B4-BE49-F238E27FC236}">
                <a16:creationId xmlns:a16="http://schemas.microsoft.com/office/drawing/2014/main" id="{EB191AEB-AD3C-BA41-AA3B-651E8AEE71B6}"/>
              </a:ext>
            </a:extLst>
          </p:cNvPr>
          <p:cNvSpPr txBox="1"/>
          <p:nvPr/>
        </p:nvSpPr>
        <p:spPr>
          <a:xfrm>
            <a:off x="6997393" y="4912989"/>
            <a:ext cx="3455725" cy="1231106"/>
          </a:xfrm>
          <a:prstGeom prst="rect">
            <a:avLst/>
          </a:prstGeom>
          <a:noFill/>
        </p:spPr>
        <p:txBody>
          <a:bodyPr wrap="square" rtlCol="0">
            <a:spAutoFit/>
          </a:bodyPr>
          <a:lstStyle/>
          <a:p>
            <a:r>
              <a:rPr lang="pt-BR" sz="1400" dirty="0">
                <a:solidFill>
                  <a:srgbClr val="9E2289"/>
                </a:solidFill>
                <a:latin typeface="Arial" panose="020B0604020202020204" pitchFamily="34" charset="0"/>
                <a:cs typeface="Arial" panose="020B0604020202020204" pitchFamily="34" charset="0"/>
              </a:rPr>
              <a:t>Pietra Giovana Floriani</a:t>
            </a:r>
            <a:br>
              <a:rPr lang="pt-BR" sz="1400" dirty="0">
                <a:solidFill>
                  <a:srgbClr val="9E2289"/>
                </a:solidFill>
                <a:latin typeface="Arial" panose="020B0604020202020204" pitchFamily="34" charset="0"/>
                <a:cs typeface="Arial" panose="020B0604020202020204" pitchFamily="34" charset="0"/>
              </a:rPr>
            </a:br>
            <a:r>
              <a:rPr lang="pt-BR" sz="1200" dirty="0">
                <a:solidFill>
                  <a:schemeClr val="bg2">
                    <a:lumMod val="50000"/>
                  </a:schemeClr>
                </a:solidFill>
                <a:latin typeface="Arial" panose="020B0604020202020204" pitchFamily="34" charset="0"/>
                <a:cs typeface="Arial" panose="020B0604020202020204" pitchFamily="34" charset="0"/>
              </a:rPr>
              <a:t>Pietra apresentou oportunidades na condução da retenção em solicitações de cancelamento, considerando sua recente migração para o Premium. Após os feedbacks, já demonstra evolução e maior aderência ao processo.</a:t>
            </a:r>
            <a:endParaRPr lang="pt-BR" sz="1400" dirty="0">
              <a:solidFill>
                <a:schemeClr val="bg2">
                  <a:lumMod val="50000"/>
                </a:schemeClr>
              </a:solidFill>
              <a:latin typeface="Arial" panose="020B0604020202020204" pitchFamily="34" charset="0"/>
              <a:cs typeface="Arial" panose="020B0604020202020204" pitchFamily="34" charset="0"/>
            </a:endParaRPr>
          </a:p>
        </p:txBody>
      </p:sp>
      <p:sp>
        <p:nvSpPr>
          <p:cNvPr id="7" name="CaixaDeTexto 6">
            <a:extLst>
              <a:ext uri="{FF2B5EF4-FFF2-40B4-BE49-F238E27FC236}">
                <a16:creationId xmlns:a16="http://schemas.microsoft.com/office/drawing/2014/main" id="{CE2D6310-809A-2E42-C819-05779957C49D}"/>
              </a:ext>
            </a:extLst>
          </p:cNvPr>
          <p:cNvSpPr txBox="1"/>
          <p:nvPr/>
        </p:nvSpPr>
        <p:spPr>
          <a:xfrm>
            <a:off x="2262867" y="4940698"/>
            <a:ext cx="3872018" cy="1754326"/>
          </a:xfrm>
          <a:prstGeom prst="rect">
            <a:avLst/>
          </a:prstGeom>
          <a:noFill/>
        </p:spPr>
        <p:txBody>
          <a:bodyPr wrap="square" rtlCol="0">
            <a:spAutoFit/>
          </a:bodyPr>
          <a:lstStyle/>
          <a:p>
            <a:pPr algn="just"/>
            <a:r>
              <a:rPr lang="pt-BR" sz="1200" dirty="0">
                <a:solidFill>
                  <a:schemeClr val="bg2">
                    <a:lumMod val="50000"/>
                  </a:schemeClr>
                </a:solidFill>
                <a:latin typeface="Arial" panose="020B0604020202020204" pitchFamily="34" charset="0"/>
                <a:cs typeface="Arial" panose="020B0604020202020204" pitchFamily="34" charset="0"/>
              </a:rPr>
              <a:t>Cauê apresentou oportunidades de qualidade no ciclo, concentradas principalmente em aspectos comportamentais, como atenção aos detalhes, cumprimento integral dos procedimentos e condução mais consultiva. Apesar de possuir conhecimento técnico, precisa desenvolver maior consistência na execução, especialmente na sondagem, conferência das informações e registro das evidências obrigatórias.</a:t>
            </a:r>
          </a:p>
        </p:txBody>
      </p:sp>
      <p:sp>
        <p:nvSpPr>
          <p:cNvPr id="26" name="CaixaDeTexto 25">
            <a:extLst>
              <a:ext uri="{FF2B5EF4-FFF2-40B4-BE49-F238E27FC236}">
                <a16:creationId xmlns:a16="http://schemas.microsoft.com/office/drawing/2014/main" id="{9E9C3DC1-5AD9-D77C-9AE0-AE3E0E2FB3AD}"/>
              </a:ext>
            </a:extLst>
          </p:cNvPr>
          <p:cNvSpPr txBox="1"/>
          <p:nvPr/>
        </p:nvSpPr>
        <p:spPr>
          <a:xfrm>
            <a:off x="4256909" y="1700941"/>
            <a:ext cx="2014988" cy="261610"/>
          </a:xfrm>
          <a:prstGeom prst="rect">
            <a:avLst/>
          </a:prstGeom>
          <a:solidFill>
            <a:schemeClr val="bg1">
              <a:lumMod val="75000"/>
            </a:schemeClr>
          </a:solidFill>
        </p:spPr>
        <p:txBody>
          <a:bodyPr wrap="square" rtlCol="0">
            <a:spAutoFit/>
          </a:bodyPr>
          <a:lstStyle/>
          <a:p>
            <a:pPr algn="ctr"/>
            <a:r>
              <a:rPr lang="pt-BR" sz="1100" b="1" dirty="0">
                <a:solidFill>
                  <a:schemeClr val="bg2">
                    <a:lumMod val="25000"/>
                  </a:schemeClr>
                </a:solidFill>
                <a:latin typeface="Arial" panose="020B0604020202020204" pitchFamily="34" charset="0"/>
                <a:cs typeface="Arial" panose="020B0604020202020204" pitchFamily="34" charset="0"/>
              </a:rPr>
              <a:t>Média atual: 96,50</a:t>
            </a:r>
          </a:p>
        </p:txBody>
      </p:sp>
      <p:sp>
        <p:nvSpPr>
          <p:cNvPr id="30" name="CaixaDeTexto 29">
            <a:extLst>
              <a:ext uri="{FF2B5EF4-FFF2-40B4-BE49-F238E27FC236}">
                <a16:creationId xmlns:a16="http://schemas.microsoft.com/office/drawing/2014/main" id="{0D18205F-08AB-612A-63F1-93B251DC25D6}"/>
              </a:ext>
            </a:extLst>
          </p:cNvPr>
          <p:cNvSpPr txBox="1"/>
          <p:nvPr/>
        </p:nvSpPr>
        <p:spPr>
          <a:xfrm>
            <a:off x="8876037" y="1665033"/>
            <a:ext cx="2014988" cy="261610"/>
          </a:xfrm>
          <a:prstGeom prst="rect">
            <a:avLst/>
          </a:prstGeom>
          <a:solidFill>
            <a:schemeClr val="bg1">
              <a:lumMod val="75000"/>
            </a:schemeClr>
          </a:solidFill>
        </p:spPr>
        <p:txBody>
          <a:bodyPr wrap="square" rtlCol="0">
            <a:spAutoFit/>
          </a:bodyPr>
          <a:lstStyle/>
          <a:p>
            <a:pPr algn="ctr"/>
            <a:r>
              <a:rPr lang="pt-BR" sz="1100" b="1" dirty="0">
                <a:solidFill>
                  <a:schemeClr val="bg2">
                    <a:lumMod val="25000"/>
                  </a:schemeClr>
                </a:solidFill>
                <a:latin typeface="Arial" panose="020B0604020202020204" pitchFamily="34" charset="0"/>
                <a:cs typeface="Arial" panose="020B0604020202020204" pitchFamily="34" charset="0"/>
              </a:rPr>
              <a:t>Média atual: 00,00</a:t>
            </a:r>
          </a:p>
        </p:txBody>
      </p:sp>
      <p:sp>
        <p:nvSpPr>
          <p:cNvPr id="31" name="CaixaDeTexto 30">
            <a:extLst>
              <a:ext uri="{FF2B5EF4-FFF2-40B4-BE49-F238E27FC236}">
                <a16:creationId xmlns:a16="http://schemas.microsoft.com/office/drawing/2014/main" id="{DA9EBB10-EBDA-6A38-4A16-A2AD4D25D39D}"/>
              </a:ext>
            </a:extLst>
          </p:cNvPr>
          <p:cNvSpPr txBox="1"/>
          <p:nvPr/>
        </p:nvSpPr>
        <p:spPr>
          <a:xfrm>
            <a:off x="4228780" y="4074362"/>
            <a:ext cx="2014988" cy="261610"/>
          </a:xfrm>
          <a:prstGeom prst="rect">
            <a:avLst/>
          </a:prstGeom>
          <a:solidFill>
            <a:schemeClr val="bg1">
              <a:lumMod val="75000"/>
            </a:schemeClr>
          </a:solidFill>
        </p:spPr>
        <p:txBody>
          <a:bodyPr wrap="square" rtlCol="0">
            <a:spAutoFit/>
          </a:bodyPr>
          <a:lstStyle/>
          <a:p>
            <a:pPr algn="ctr"/>
            <a:r>
              <a:rPr lang="pt-BR" sz="1100" b="1" dirty="0">
                <a:solidFill>
                  <a:schemeClr val="bg2">
                    <a:lumMod val="25000"/>
                  </a:schemeClr>
                </a:solidFill>
                <a:latin typeface="Arial" panose="020B0604020202020204" pitchFamily="34" charset="0"/>
                <a:cs typeface="Arial" panose="020B0604020202020204" pitchFamily="34" charset="0"/>
              </a:rPr>
              <a:t>Média atual: 47,00</a:t>
            </a:r>
          </a:p>
        </p:txBody>
      </p:sp>
      <p:sp>
        <p:nvSpPr>
          <p:cNvPr id="42" name="CaixaDeTexto 41">
            <a:extLst>
              <a:ext uri="{FF2B5EF4-FFF2-40B4-BE49-F238E27FC236}">
                <a16:creationId xmlns:a16="http://schemas.microsoft.com/office/drawing/2014/main" id="{22EA6E10-9F2C-8A48-CC17-B2A571DC5175}"/>
              </a:ext>
            </a:extLst>
          </p:cNvPr>
          <p:cNvSpPr txBox="1"/>
          <p:nvPr/>
        </p:nvSpPr>
        <p:spPr>
          <a:xfrm>
            <a:off x="8876037" y="4044233"/>
            <a:ext cx="2014988" cy="261610"/>
          </a:xfrm>
          <a:prstGeom prst="rect">
            <a:avLst/>
          </a:prstGeom>
          <a:solidFill>
            <a:schemeClr val="bg1">
              <a:lumMod val="75000"/>
            </a:schemeClr>
          </a:solidFill>
        </p:spPr>
        <p:txBody>
          <a:bodyPr wrap="square" rtlCol="0">
            <a:spAutoFit/>
          </a:bodyPr>
          <a:lstStyle/>
          <a:p>
            <a:pPr algn="ctr"/>
            <a:r>
              <a:rPr lang="pt-BR" sz="1100" b="1" dirty="0">
                <a:solidFill>
                  <a:schemeClr val="bg2">
                    <a:lumMod val="25000"/>
                  </a:schemeClr>
                </a:solidFill>
                <a:latin typeface="Arial" panose="020B0604020202020204" pitchFamily="34" charset="0"/>
                <a:cs typeface="Arial" panose="020B0604020202020204" pitchFamily="34" charset="0"/>
              </a:rPr>
              <a:t>Média atual: 100,00</a:t>
            </a:r>
          </a:p>
        </p:txBody>
      </p:sp>
    </p:spTree>
    <p:extLst>
      <p:ext uri="{BB962C8B-B14F-4D97-AF65-F5344CB8AC3E}">
        <p14:creationId xmlns:p14="http://schemas.microsoft.com/office/powerpoint/2010/main" val="5913133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tângulo: Cantos Arredondados 42">
            <a:extLst>
              <a:ext uri="{FF2B5EF4-FFF2-40B4-BE49-F238E27FC236}">
                <a16:creationId xmlns:a16="http://schemas.microsoft.com/office/drawing/2014/main" id="{C1D32C22-2BB4-4AA9-AC92-F27F756F9A46}"/>
              </a:ext>
            </a:extLst>
          </p:cNvPr>
          <p:cNvSpPr/>
          <p:nvPr/>
        </p:nvSpPr>
        <p:spPr>
          <a:xfrm>
            <a:off x="9727562" y="551224"/>
            <a:ext cx="2020973" cy="375927"/>
          </a:xfrm>
          <a:prstGeom prst="roundRect">
            <a:avLst>
              <a:gd name="adj" fmla="val 13727"/>
            </a:avLst>
          </a:prstGeom>
          <a:solidFill>
            <a:srgbClr val="0B589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4" name="Retângulo: Cantos Arredondados 43">
            <a:extLst>
              <a:ext uri="{FF2B5EF4-FFF2-40B4-BE49-F238E27FC236}">
                <a16:creationId xmlns:a16="http://schemas.microsoft.com/office/drawing/2014/main" id="{1B017911-3FA8-4E15-AE1D-B1FD14D64222}"/>
              </a:ext>
            </a:extLst>
          </p:cNvPr>
          <p:cNvSpPr/>
          <p:nvPr/>
        </p:nvSpPr>
        <p:spPr>
          <a:xfrm>
            <a:off x="9773512" y="588962"/>
            <a:ext cx="1992680" cy="341643"/>
          </a:xfrm>
          <a:prstGeom prst="roundRect">
            <a:avLst>
              <a:gd name="adj" fmla="val 13727"/>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38" name="Imagem 37">
            <a:extLst>
              <a:ext uri="{FF2B5EF4-FFF2-40B4-BE49-F238E27FC236}">
                <a16:creationId xmlns:a16="http://schemas.microsoft.com/office/drawing/2014/main" id="{DE2A603E-716D-41D5-ABEF-1625839B46A3}"/>
              </a:ext>
            </a:extLst>
          </p:cNvPr>
          <p:cNvPicPr>
            <a:picLocks noChangeAspect="1"/>
          </p:cNvPicPr>
          <p:nvPr/>
        </p:nvPicPr>
        <p:blipFill>
          <a:blip r:embed="rId2">
            <a:alphaModFix amt="4000"/>
          </a:blip>
          <a:stretch>
            <a:fillRect/>
          </a:stretch>
        </p:blipFill>
        <p:spPr>
          <a:xfrm>
            <a:off x="-2192539" y="-1973179"/>
            <a:ext cx="5030445" cy="5148116"/>
          </a:xfrm>
          <a:prstGeom prst="rect">
            <a:avLst/>
          </a:prstGeom>
          <a:effectLst/>
        </p:spPr>
      </p:pic>
      <p:pic>
        <p:nvPicPr>
          <p:cNvPr id="39" name="Imagem 38">
            <a:extLst>
              <a:ext uri="{FF2B5EF4-FFF2-40B4-BE49-F238E27FC236}">
                <a16:creationId xmlns:a16="http://schemas.microsoft.com/office/drawing/2014/main" id="{8F6A83EB-6687-479D-BD59-51B6B2B8CBF9}"/>
              </a:ext>
            </a:extLst>
          </p:cNvPr>
          <p:cNvPicPr>
            <a:picLocks noChangeAspect="1"/>
          </p:cNvPicPr>
          <p:nvPr/>
        </p:nvPicPr>
        <p:blipFill>
          <a:blip r:embed="rId2">
            <a:alphaModFix amt="4000"/>
          </a:blip>
          <a:stretch>
            <a:fillRect/>
          </a:stretch>
        </p:blipFill>
        <p:spPr>
          <a:xfrm>
            <a:off x="9157251" y="4596063"/>
            <a:ext cx="5030445" cy="5148116"/>
          </a:xfrm>
          <a:prstGeom prst="rect">
            <a:avLst/>
          </a:prstGeom>
          <a:effectLst/>
        </p:spPr>
      </p:pic>
      <p:sp>
        <p:nvSpPr>
          <p:cNvPr id="10" name="Título 1">
            <a:extLst>
              <a:ext uri="{FF2B5EF4-FFF2-40B4-BE49-F238E27FC236}">
                <a16:creationId xmlns:a16="http://schemas.microsoft.com/office/drawing/2014/main" id="{A5950180-9DDC-4E06-9746-C88850FA434F}"/>
              </a:ext>
            </a:extLst>
          </p:cNvPr>
          <p:cNvSpPr txBox="1">
            <a:spLocks/>
          </p:cNvSpPr>
          <p:nvPr/>
        </p:nvSpPr>
        <p:spPr>
          <a:xfrm>
            <a:off x="-1" y="855616"/>
            <a:ext cx="12192001" cy="5580185"/>
          </a:xfrm>
          <a:prstGeom prst="rect">
            <a:avLst/>
          </a:prstGeom>
          <a:effectLst>
            <a:reflection blurRad="6350" stA="50000" endA="295" endPos="92000" dist="101600" dir="5400000" sy="-100000" algn="bl" rotWithShape="0"/>
          </a:effectLst>
        </p:spPr>
        <p:txBody>
          <a:bodyPr vert="horz" lIns="91440" tIns="45720" rIns="91440" bIns="45720" rtlCol="0" anchor="b">
            <a:normAutofit fontScale="9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pt-BR" sz="43300" b="1" spc="-300" dirty="0">
                <a:solidFill>
                  <a:schemeClr val="tx1">
                    <a:lumMod val="50000"/>
                    <a:lumOff val="50000"/>
                    <a:alpha val="11000"/>
                  </a:schemeClr>
                </a:solidFill>
                <a:latin typeface="Arial" panose="020B0604020202020204" pitchFamily="34" charset="0"/>
                <a:cs typeface="Arial" panose="020B0604020202020204" pitchFamily="34" charset="0"/>
              </a:rPr>
              <a:t>2026</a:t>
            </a:r>
          </a:p>
        </p:txBody>
      </p:sp>
      <p:sp>
        <p:nvSpPr>
          <p:cNvPr id="15" name="Retângulo: Cantos Arredondados 14">
            <a:extLst>
              <a:ext uri="{FF2B5EF4-FFF2-40B4-BE49-F238E27FC236}">
                <a16:creationId xmlns:a16="http://schemas.microsoft.com/office/drawing/2014/main" id="{1B71EADA-2995-4F0E-898A-DAD0EBF1629A}"/>
              </a:ext>
            </a:extLst>
          </p:cNvPr>
          <p:cNvSpPr/>
          <p:nvPr/>
        </p:nvSpPr>
        <p:spPr>
          <a:xfrm>
            <a:off x="940477" y="2158889"/>
            <a:ext cx="2437660" cy="408165"/>
          </a:xfrm>
          <a:prstGeom prst="round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rgbClr val="0B5892"/>
              </a:solidFill>
            </a:endParaRPr>
          </a:p>
        </p:txBody>
      </p:sp>
      <p:sp>
        <p:nvSpPr>
          <p:cNvPr id="2" name="Título 1">
            <a:extLst>
              <a:ext uri="{FF2B5EF4-FFF2-40B4-BE49-F238E27FC236}">
                <a16:creationId xmlns:a16="http://schemas.microsoft.com/office/drawing/2014/main" id="{F311001D-7B27-4D1E-8727-3B5C67488BE8}"/>
              </a:ext>
            </a:extLst>
          </p:cNvPr>
          <p:cNvSpPr>
            <a:spLocks noGrp="1"/>
          </p:cNvSpPr>
          <p:nvPr>
            <p:ph type="ctrTitle"/>
          </p:nvPr>
        </p:nvSpPr>
        <p:spPr>
          <a:xfrm>
            <a:off x="2869296" y="3091934"/>
            <a:ext cx="6110931" cy="1189342"/>
          </a:xfrm>
          <a:effectLst/>
        </p:spPr>
        <p:txBody>
          <a:bodyPr>
            <a:noAutofit/>
          </a:bodyPr>
          <a:lstStyle/>
          <a:p>
            <a:r>
              <a:rPr lang="pt-BR" sz="10300" b="1" dirty="0">
                <a:solidFill>
                  <a:srgbClr val="0B5892"/>
                </a:solidFill>
                <a:latin typeface="Arial" panose="020B0604020202020204" pitchFamily="34" charset="0"/>
                <a:cs typeface="Arial" panose="020B0604020202020204" pitchFamily="34" charset="0"/>
              </a:rPr>
              <a:t>CRC</a:t>
            </a:r>
            <a:endParaRPr lang="pt-BR" sz="12400" b="1" dirty="0">
              <a:solidFill>
                <a:srgbClr val="0B5892"/>
              </a:solidFill>
              <a:latin typeface="Arial" panose="020B0604020202020204" pitchFamily="34" charset="0"/>
              <a:cs typeface="Arial" panose="020B0604020202020204" pitchFamily="34" charset="0"/>
            </a:endParaRPr>
          </a:p>
        </p:txBody>
      </p:sp>
      <p:sp>
        <p:nvSpPr>
          <p:cNvPr id="6" name="Título 1">
            <a:extLst>
              <a:ext uri="{FF2B5EF4-FFF2-40B4-BE49-F238E27FC236}">
                <a16:creationId xmlns:a16="http://schemas.microsoft.com/office/drawing/2014/main" id="{F19E4ED5-6191-4819-BC5E-0686AFC2CEAF}"/>
              </a:ext>
            </a:extLst>
          </p:cNvPr>
          <p:cNvSpPr txBox="1">
            <a:spLocks/>
          </p:cNvSpPr>
          <p:nvPr/>
        </p:nvSpPr>
        <p:spPr>
          <a:xfrm>
            <a:off x="395849" y="431573"/>
            <a:ext cx="5811865"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600" spc="600" dirty="0">
                <a:solidFill>
                  <a:schemeClr val="tx1">
                    <a:lumMod val="50000"/>
                    <a:lumOff val="50000"/>
                  </a:schemeClr>
                </a:solidFill>
                <a:latin typeface="Arial" panose="020B0604020202020204" pitchFamily="34" charset="0"/>
                <a:cs typeface="Arial" panose="020B0604020202020204" pitchFamily="34" charset="0"/>
              </a:rPr>
              <a:t>RELATÓRIO MENSAL</a:t>
            </a:r>
          </a:p>
        </p:txBody>
      </p:sp>
      <p:sp>
        <p:nvSpPr>
          <p:cNvPr id="3" name="Retângulo: Cantos Arredondados 2">
            <a:extLst>
              <a:ext uri="{FF2B5EF4-FFF2-40B4-BE49-F238E27FC236}">
                <a16:creationId xmlns:a16="http://schemas.microsoft.com/office/drawing/2014/main" id="{6021C8E1-11F0-459F-8C87-DCB9B6EC7814}"/>
              </a:ext>
            </a:extLst>
          </p:cNvPr>
          <p:cNvSpPr/>
          <p:nvPr/>
        </p:nvSpPr>
        <p:spPr>
          <a:xfrm>
            <a:off x="3214255" y="4289580"/>
            <a:ext cx="5167746" cy="422031"/>
          </a:xfrm>
          <a:prstGeom prst="roundRect">
            <a:avLst/>
          </a:prstGeom>
          <a:gradFill flip="none" rotWithShape="1">
            <a:gsLst>
              <a:gs pos="0">
                <a:schemeClr val="bg2">
                  <a:lumMod val="75000"/>
                  <a:tint val="66000"/>
                  <a:satMod val="160000"/>
                </a:schemeClr>
              </a:gs>
              <a:gs pos="50000">
                <a:schemeClr val="bg2">
                  <a:lumMod val="75000"/>
                  <a:tint val="44500"/>
                  <a:satMod val="160000"/>
                </a:schemeClr>
              </a:gs>
              <a:gs pos="100000">
                <a:schemeClr val="bg2">
                  <a:lumMod val="75000"/>
                  <a:tint val="23500"/>
                  <a:satMod val="160000"/>
                </a:schemeClr>
              </a:gs>
            </a:gsLst>
            <a:lin ang="1350000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Título 1">
            <a:extLst>
              <a:ext uri="{FF2B5EF4-FFF2-40B4-BE49-F238E27FC236}">
                <a16:creationId xmlns:a16="http://schemas.microsoft.com/office/drawing/2014/main" id="{9EF44465-2770-491B-BA4E-94ADD8550292}"/>
              </a:ext>
            </a:extLst>
          </p:cNvPr>
          <p:cNvSpPr txBox="1">
            <a:spLocks/>
          </p:cNvSpPr>
          <p:nvPr/>
        </p:nvSpPr>
        <p:spPr>
          <a:xfrm>
            <a:off x="3846918" y="4184846"/>
            <a:ext cx="4313409"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800" dirty="0">
                <a:solidFill>
                  <a:srgbClr val="0B5892"/>
                </a:solidFill>
                <a:latin typeface="Arial" panose="020B0604020202020204" pitchFamily="34" charset="0"/>
                <a:cs typeface="Arial" panose="020B0604020202020204" pitchFamily="34" charset="0"/>
              </a:rPr>
              <a:t>RESULTADOS OPERACIONAIS  - VOZ</a:t>
            </a:r>
          </a:p>
        </p:txBody>
      </p:sp>
      <p:grpSp>
        <p:nvGrpSpPr>
          <p:cNvPr id="20" name="Google Shape;1964;p50">
            <a:extLst>
              <a:ext uri="{FF2B5EF4-FFF2-40B4-BE49-F238E27FC236}">
                <a16:creationId xmlns:a16="http://schemas.microsoft.com/office/drawing/2014/main" id="{644333FE-63B4-42DF-ADFA-AF9177DF58D7}"/>
              </a:ext>
            </a:extLst>
          </p:cNvPr>
          <p:cNvGrpSpPr/>
          <p:nvPr/>
        </p:nvGrpSpPr>
        <p:grpSpPr>
          <a:xfrm>
            <a:off x="3417784" y="4365535"/>
            <a:ext cx="293131" cy="279819"/>
            <a:chOff x="4126815" y="2760704"/>
            <a:chExt cx="380393" cy="363118"/>
          </a:xfrm>
          <a:solidFill>
            <a:srgbClr val="0B5892"/>
          </a:solidFill>
        </p:grpSpPr>
        <p:sp>
          <p:nvSpPr>
            <p:cNvPr id="21" name="Google Shape;1965;p50">
              <a:extLst>
                <a:ext uri="{FF2B5EF4-FFF2-40B4-BE49-F238E27FC236}">
                  <a16:creationId xmlns:a16="http://schemas.microsoft.com/office/drawing/2014/main" id="{C90A8E2B-6430-4128-93A1-80EDBF3E3BED}"/>
                </a:ext>
              </a:extLst>
            </p:cNvPr>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966;p50">
              <a:extLst>
                <a:ext uri="{FF2B5EF4-FFF2-40B4-BE49-F238E27FC236}">
                  <a16:creationId xmlns:a16="http://schemas.microsoft.com/office/drawing/2014/main" id="{C220A82A-DCEF-47A8-9174-5A849CB2B75F}"/>
                </a:ext>
              </a:extLst>
            </p:cNvPr>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967;p50">
              <a:extLst>
                <a:ext uri="{FF2B5EF4-FFF2-40B4-BE49-F238E27FC236}">
                  <a16:creationId xmlns:a16="http://schemas.microsoft.com/office/drawing/2014/main" id="{446DDA74-F73B-4510-BFCE-608659C3FC02}"/>
                </a:ext>
              </a:extLst>
            </p:cNvPr>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968;p50">
              <a:extLst>
                <a:ext uri="{FF2B5EF4-FFF2-40B4-BE49-F238E27FC236}">
                  <a16:creationId xmlns:a16="http://schemas.microsoft.com/office/drawing/2014/main" id="{487DFEED-06C3-4B9B-9B7A-545AAF95F24C}"/>
                </a:ext>
              </a:extLst>
            </p:cNvPr>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Retângulo 27">
            <a:extLst>
              <a:ext uri="{FF2B5EF4-FFF2-40B4-BE49-F238E27FC236}">
                <a16:creationId xmlns:a16="http://schemas.microsoft.com/office/drawing/2014/main" id="{1B97A203-0963-4EDB-AFF5-18D33C0036C8}"/>
              </a:ext>
            </a:extLst>
          </p:cNvPr>
          <p:cNvSpPr/>
          <p:nvPr/>
        </p:nvSpPr>
        <p:spPr>
          <a:xfrm>
            <a:off x="-91440" y="6707874"/>
            <a:ext cx="12283440" cy="300251"/>
          </a:xfrm>
          <a:prstGeom prst="rect">
            <a:avLst/>
          </a:prstGeom>
          <a:solidFill>
            <a:srgbClr val="0B589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3" name="Título 1">
            <a:extLst>
              <a:ext uri="{FF2B5EF4-FFF2-40B4-BE49-F238E27FC236}">
                <a16:creationId xmlns:a16="http://schemas.microsoft.com/office/drawing/2014/main" id="{E8ED96BD-2906-4BD9-86CD-086D77D840E8}"/>
              </a:ext>
            </a:extLst>
          </p:cNvPr>
          <p:cNvSpPr txBox="1">
            <a:spLocks/>
          </p:cNvSpPr>
          <p:nvPr/>
        </p:nvSpPr>
        <p:spPr>
          <a:xfrm>
            <a:off x="0" y="5391500"/>
            <a:ext cx="12192000"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pt-BR" sz="1600" spc="600" dirty="0">
                <a:solidFill>
                  <a:srgbClr val="0B5892"/>
                </a:solidFill>
                <a:latin typeface="Arial" panose="020B0604020202020204" pitchFamily="34" charset="0"/>
                <a:cs typeface="Arial" panose="020B0604020202020204" pitchFamily="34" charset="0"/>
              </a:rPr>
              <a:t>Excelência não é um ato, é um hábito diário.</a:t>
            </a:r>
          </a:p>
        </p:txBody>
      </p:sp>
      <p:sp>
        <p:nvSpPr>
          <p:cNvPr id="40" name="Título 1">
            <a:extLst>
              <a:ext uri="{FF2B5EF4-FFF2-40B4-BE49-F238E27FC236}">
                <a16:creationId xmlns:a16="http://schemas.microsoft.com/office/drawing/2014/main" id="{8B24F100-4168-4C22-95ED-00150A20E58B}"/>
              </a:ext>
            </a:extLst>
          </p:cNvPr>
          <p:cNvSpPr txBox="1">
            <a:spLocks/>
          </p:cNvSpPr>
          <p:nvPr/>
        </p:nvSpPr>
        <p:spPr>
          <a:xfrm>
            <a:off x="10010273" y="673769"/>
            <a:ext cx="1744579" cy="228600"/>
          </a:xfrm>
          <a:prstGeom prst="rect">
            <a:avLst/>
          </a:prstGeom>
        </p:spPr>
        <p:txBody>
          <a:bodyPr vert="horz" lIns="91440" tIns="45720" rIns="91440" bIns="45720" rtlCol="0" anchor="b">
            <a:normAutofit fontScale="8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pt-BR" sz="1400" spc="300" dirty="0">
                <a:solidFill>
                  <a:srgbClr val="0B5892"/>
                </a:solidFill>
                <a:latin typeface="Arial" panose="020B0604020202020204" pitchFamily="34" charset="0"/>
                <a:cs typeface="Arial" panose="020B0604020202020204" pitchFamily="34" charset="0"/>
              </a:rPr>
              <a:t>JULHO</a:t>
            </a:r>
          </a:p>
        </p:txBody>
      </p:sp>
      <p:grpSp>
        <p:nvGrpSpPr>
          <p:cNvPr id="64" name="Google Shape;2286;p50">
            <a:extLst>
              <a:ext uri="{FF2B5EF4-FFF2-40B4-BE49-F238E27FC236}">
                <a16:creationId xmlns:a16="http://schemas.microsoft.com/office/drawing/2014/main" id="{DD2CD91E-4B95-4BA2-97EA-B75F30F1F20D}"/>
              </a:ext>
            </a:extLst>
          </p:cNvPr>
          <p:cNvGrpSpPr/>
          <p:nvPr/>
        </p:nvGrpSpPr>
        <p:grpSpPr>
          <a:xfrm>
            <a:off x="9914641" y="640516"/>
            <a:ext cx="256996" cy="256996"/>
            <a:chOff x="10170398" y="2275581"/>
            <a:chExt cx="1044240" cy="1044240"/>
          </a:xfrm>
          <a:solidFill>
            <a:srgbClr val="0B5892"/>
          </a:solidFill>
        </p:grpSpPr>
        <p:sp>
          <p:nvSpPr>
            <p:cNvPr id="65" name="Google Shape;2287;p50">
              <a:extLst>
                <a:ext uri="{FF2B5EF4-FFF2-40B4-BE49-F238E27FC236}">
                  <a16:creationId xmlns:a16="http://schemas.microsoft.com/office/drawing/2014/main" id="{A45AE1BE-32EF-4AEA-A507-6978FDF05586}"/>
                </a:ext>
              </a:extLst>
            </p:cNvPr>
            <p:cNvSpPr/>
            <p:nvPr/>
          </p:nvSpPr>
          <p:spPr>
            <a:xfrm>
              <a:off x="10170398" y="2275581"/>
              <a:ext cx="1044240" cy="1044240"/>
            </a:xfrm>
            <a:custGeom>
              <a:avLst/>
              <a:gdLst/>
              <a:ahLst/>
              <a:cxnLst/>
              <a:rect l="l" t="t" r="r" b="b"/>
              <a:pathLst>
                <a:path w="1044240" h="1044240" extrusionOk="0">
                  <a:moveTo>
                    <a:pt x="1043243" y="1023511"/>
                  </a:moveTo>
                  <a:lnTo>
                    <a:pt x="890278" y="620562"/>
                  </a:lnTo>
                  <a:cubicBezTo>
                    <a:pt x="889008" y="617215"/>
                    <a:pt x="886603" y="614420"/>
                    <a:pt x="883487" y="612664"/>
                  </a:cubicBezTo>
                  <a:lnTo>
                    <a:pt x="720557" y="520873"/>
                  </a:lnTo>
                  <a:lnTo>
                    <a:pt x="768125" y="445452"/>
                  </a:lnTo>
                  <a:cubicBezTo>
                    <a:pt x="797319" y="399126"/>
                    <a:pt x="812752" y="345590"/>
                    <a:pt x="812752" y="290633"/>
                  </a:cubicBezTo>
                  <a:cubicBezTo>
                    <a:pt x="812752" y="130377"/>
                    <a:pt x="682375" y="0"/>
                    <a:pt x="522119" y="0"/>
                  </a:cubicBezTo>
                  <a:cubicBezTo>
                    <a:pt x="361863" y="0"/>
                    <a:pt x="231486" y="130377"/>
                    <a:pt x="231486" y="290633"/>
                  </a:cubicBezTo>
                  <a:cubicBezTo>
                    <a:pt x="231486" y="345604"/>
                    <a:pt x="246925" y="399142"/>
                    <a:pt x="276135" y="445456"/>
                  </a:cubicBezTo>
                  <a:cubicBezTo>
                    <a:pt x="276917" y="446698"/>
                    <a:pt x="323691" y="520877"/>
                    <a:pt x="323691" y="520877"/>
                  </a:cubicBezTo>
                  <a:lnTo>
                    <a:pt x="160755" y="612664"/>
                  </a:lnTo>
                  <a:cubicBezTo>
                    <a:pt x="157637" y="614420"/>
                    <a:pt x="155232" y="617215"/>
                    <a:pt x="153961" y="620562"/>
                  </a:cubicBezTo>
                  <a:lnTo>
                    <a:pt x="997" y="1023511"/>
                  </a:lnTo>
                  <a:cubicBezTo>
                    <a:pt x="-1290" y="1029532"/>
                    <a:pt x="442" y="1036340"/>
                    <a:pt x="5323" y="1040539"/>
                  </a:cubicBezTo>
                  <a:cubicBezTo>
                    <a:pt x="10209" y="1044741"/>
                    <a:pt x="17195" y="1045432"/>
                    <a:pt x="22805" y="1042269"/>
                  </a:cubicBezTo>
                  <a:lnTo>
                    <a:pt x="268707" y="903732"/>
                  </a:lnTo>
                  <a:lnTo>
                    <a:pt x="514609" y="1042269"/>
                  </a:lnTo>
                  <a:cubicBezTo>
                    <a:pt x="519270" y="1044894"/>
                    <a:pt x="524966" y="1044894"/>
                    <a:pt x="529626" y="1042269"/>
                  </a:cubicBezTo>
                  <a:lnTo>
                    <a:pt x="775528" y="903732"/>
                  </a:lnTo>
                  <a:lnTo>
                    <a:pt x="1021430" y="1042269"/>
                  </a:lnTo>
                  <a:cubicBezTo>
                    <a:pt x="1023776" y="1043590"/>
                    <a:pt x="1026364" y="1044239"/>
                    <a:pt x="1028938" y="1044239"/>
                  </a:cubicBezTo>
                  <a:cubicBezTo>
                    <a:pt x="1032519" y="1044239"/>
                    <a:pt x="1036072" y="1042985"/>
                    <a:pt x="1038915" y="1040541"/>
                  </a:cubicBezTo>
                  <a:cubicBezTo>
                    <a:pt x="1043800" y="1036340"/>
                    <a:pt x="1045529" y="1029532"/>
                    <a:pt x="1043243" y="1023511"/>
                  </a:cubicBezTo>
                  <a:close/>
                  <a:moveTo>
                    <a:pt x="537417" y="792788"/>
                  </a:moveTo>
                  <a:cubicBezTo>
                    <a:pt x="546987" y="789410"/>
                    <a:pt x="555284" y="782904"/>
                    <a:pt x="560915" y="773989"/>
                  </a:cubicBezTo>
                  <a:cubicBezTo>
                    <a:pt x="561692" y="772765"/>
                    <a:pt x="691912" y="566296"/>
                    <a:pt x="691912" y="566296"/>
                  </a:cubicBezTo>
                  <a:lnTo>
                    <a:pt x="758235" y="878360"/>
                  </a:lnTo>
                  <a:lnTo>
                    <a:pt x="537417" y="1002763"/>
                  </a:lnTo>
                  <a:close/>
                  <a:moveTo>
                    <a:pt x="302013" y="429133"/>
                  </a:moveTo>
                  <a:cubicBezTo>
                    <a:pt x="275889" y="387710"/>
                    <a:pt x="262081" y="339818"/>
                    <a:pt x="262081" y="290631"/>
                  </a:cubicBezTo>
                  <a:cubicBezTo>
                    <a:pt x="262081" y="147244"/>
                    <a:pt x="378734" y="30591"/>
                    <a:pt x="522121" y="30591"/>
                  </a:cubicBezTo>
                  <a:cubicBezTo>
                    <a:pt x="665508" y="30591"/>
                    <a:pt x="782161" y="147244"/>
                    <a:pt x="782161" y="290631"/>
                  </a:cubicBezTo>
                  <a:cubicBezTo>
                    <a:pt x="782161" y="339808"/>
                    <a:pt x="768357" y="387704"/>
                    <a:pt x="742249" y="429133"/>
                  </a:cubicBezTo>
                  <a:cubicBezTo>
                    <a:pt x="740208" y="432370"/>
                    <a:pt x="538658" y="751989"/>
                    <a:pt x="535141" y="757510"/>
                  </a:cubicBezTo>
                  <a:cubicBezTo>
                    <a:pt x="535109" y="757557"/>
                    <a:pt x="535080" y="757606"/>
                    <a:pt x="535050" y="757653"/>
                  </a:cubicBezTo>
                  <a:cubicBezTo>
                    <a:pt x="532213" y="762139"/>
                    <a:pt x="527381" y="764821"/>
                    <a:pt x="522121" y="764821"/>
                  </a:cubicBezTo>
                  <a:cubicBezTo>
                    <a:pt x="516857" y="764821"/>
                    <a:pt x="512003" y="762127"/>
                    <a:pt x="509162" y="757661"/>
                  </a:cubicBezTo>
                  <a:cubicBezTo>
                    <a:pt x="507118" y="754420"/>
                    <a:pt x="305166" y="434169"/>
                    <a:pt x="302082" y="429245"/>
                  </a:cubicBezTo>
                  <a:cubicBezTo>
                    <a:pt x="302060" y="429209"/>
                    <a:pt x="302035" y="429172"/>
                    <a:pt x="302013" y="429133"/>
                  </a:cubicBezTo>
                  <a:close/>
                  <a:moveTo>
                    <a:pt x="180596" y="636598"/>
                  </a:moveTo>
                  <a:lnTo>
                    <a:pt x="323191" y="556267"/>
                  </a:lnTo>
                  <a:lnTo>
                    <a:pt x="298350" y="673141"/>
                  </a:lnTo>
                  <a:cubicBezTo>
                    <a:pt x="296594" y="681405"/>
                    <a:pt x="301868" y="689526"/>
                    <a:pt x="310130" y="691284"/>
                  </a:cubicBezTo>
                  <a:cubicBezTo>
                    <a:pt x="311203" y="691513"/>
                    <a:pt x="312274" y="691623"/>
                    <a:pt x="313326" y="691623"/>
                  </a:cubicBezTo>
                  <a:cubicBezTo>
                    <a:pt x="320393" y="691623"/>
                    <a:pt x="326744" y="686693"/>
                    <a:pt x="328272" y="679504"/>
                  </a:cubicBezTo>
                  <a:lnTo>
                    <a:pt x="352332" y="566306"/>
                  </a:lnTo>
                  <a:lnTo>
                    <a:pt x="483313" y="774030"/>
                  </a:lnTo>
                  <a:cubicBezTo>
                    <a:pt x="488964" y="782920"/>
                    <a:pt x="497267" y="789412"/>
                    <a:pt x="506820" y="792785"/>
                  </a:cubicBezTo>
                  <a:lnTo>
                    <a:pt x="506820" y="1002767"/>
                  </a:lnTo>
                  <a:lnTo>
                    <a:pt x="286007" y="878362"/>
                  </a:lnTo>
                  <a:lnTo>
                    <a:pt x="315553" y="739350"/>
                  </a:lnTo>
                  <a:cubicBezTo>
                    <a:pt x="317309" y="731086"/>
                    <a:pt x="312035" y="722964"/>
                    <a:pt x="303773" y="721206"/>
                  </a:cubicBezTo>
                  <a:cubicBezTo>
                    <a:pt x="295501" y="719440"/>
                    <a:pt x="287385" y="724726"/>
                    <a:pt x="285629" y="732986"/>
                  </a:cubicBezTo>
                  <a:lnTo>
                    <a:pt x="255181" y="876235"/>
                  </a:lnTo>
                  <a:lnTo>
                    <a:pt x="44588" y="994882"/>
                  </a:lnTo>
                  <a:close/>
                  <a:moveTo>
                    <a:pt x="789059" y="876237"/>
                  </a:moveTo>
                  <a:lnTo>
                    <a:pt x="721055" y="556265"/>
                  </a:lnTo>
                  <a:lnTo>
                    <a:pt x="863644" y="636598"/>
                  </a:lnTo>
                  <a:lnTo>
                    <a:pt x="999654" y="994882"/>
                  </a:lnTo>
                  <a:close/>
                </a:path>
              </a:pathLst>
            </a:custGeom>
            <a:grp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 name="Google Shape;2288;p50">
              <a:extLst>
                <a:ext uri="{FF2B5EF4-FFF2-40B4-BE49-F238E27FC236}">
                  <a16:creationId xmlns:a16="http://schemas.microsoft.com/office/drawing/2014/main" id="{A6AE6957-2411-41B9-955C-B436C14393C1}"/>
                </a:ext>
              </a:extLst>
            </p:cNvPr>
            <p:cNvSpPr/>
            <p:nvPr/>
          </p:nvSpPr>
          <p:spPr>
            <a:xfrm>
              <a:off x="10524258" y="2397950"/>
              <a:ext cx="336522" cy="336522"/>
            </a:xfrm>
            <a:custGeom>
              <a:avLst/>
              <a:gdLst/>
              <a:ahLst/>
              <a:cxnLst/>
              <a:rect l="l" t="t" r="r" b="b"/>
              <a:pathLst>
                <a:path w="336522" h="336522" extrusionOk="0">
                  <a:moveTo>
                    <a:pt x="336522" y="168261"/>
                  </a:moveTo>
                  <a:cubicBezTo>
                    <a:pt x="336522" y="75483"/>
                    <a:pt x="261039" y="0"/>
                    <a:pt x="168261" y="0"/>
                  </a:cubicBezTo>
                  <a:cubicBezTo>
                    <a:pt x="75483" y="0"/>
                    <a:pt x="0" y="75483"/>
                    <a:pt x="0" y="168261"/>
                  </a:cubicBezTo>
                  <a:cubicBezTo>
                    <a:pt x="0" y="261039"/>
                    <a:pt x="75483" y="336522"/>
                    <a:pt x="168261" y="336522"/>
                  </a:cubicBezTo>
                  <a:cubicBezTo>
                    <a:pt x="261039" y="336522"/>
                    <a:pt x="336522" y="261039"/>
                    <a:pt x="336522" y="168261"/>
                  </a:cubicBezTo>
                  <a:close/>
                  <a:moveTo>
                    <a:pt x="30593" y="168261"/>
                  </a:moveTo>
                  <a:cubicBezTo>
                    <a:pt x="30593" y="92350"/>
                    <a:pt x="92350" y="30593"/>
                    <a:pt x="168261" y="30593"/>
                  </a:cubicBezTo>
                  <a:cubicBezTo>
                    <a:pt x="244172" y="30593"/>
                    <a:pt x="305929" y="92350"/>
                    <a:pt x="305929" y="168261"/>
                  </a:cubicBezTo>
                  <a:cubicBezTo>
                    <a:pt x="305929" y="244172"/>
                    <a:pt x="244172" y="305929"/>
                    <a:pt x="168261" y="305929"/>
                  </a:cubicBezTo>
                  <a:cubicBezTo>
                    <a:pt x="92350" y="305929"/>
                    <a:pt x="30593" y="244172"/>
                    <a:pt x="30593" y="168261"/>
                  </a:cubicBezTo>
                  <a:close/>
                </a:path>
              </a:pathLst>
            </a:custGeom>
            <a:grp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 name="Google Shape;2289;p50">
              <a:extLst>
                <a:ext uri="{FF2B5EF4-FFF2-40B4-BE49-F238E27FC236}">
                  <a16:creationId xmlns:a16="http://schemas.microsoft.com/office/drawing/2014/main" id="{45390312-E95B-4BA5-B6BB-066662AEF39E}"/>
                </a:ext>
              </a:extLst>
            </p:cNvPr>
            <p:cNvSpPr/>
            <p:nvPr/>
          </p:nvSpPr>
          <p:spPr>
            <a:xfrm>
              <a:off x="10585444" y="2459136"/>
              <a:ext cx="214150" cy="214150"/>
            </a:xfrm>
            <a:custGeom>
              <a:avLst/>
              <a:gdLst/>
              <a:ahLst/>
              <a:cxnLst/>
              <a:rect l="l" t="t" r="r" b="b"/>
              <a:pathLst>
                <a:path w="214150" h="214150" extrusionOk="0">
                  <a:moveTo>
                    <a:pt x="214151" y="107075"/>
                  </a:moveTo>
                  <a:cubicBezTo>
                    <a:pt x="214151" y="48035"/>
                    <a:pt x="166116" y="0"/>
                    <a:pt x="107075" y="0"/>
                  </a:cubicBezTo>
                  <a:cubicBezTo>
                    <a:pt x="48035" y="0"/>
                    <a:pt x="0" y="48035"/>
                    <a:pt x="0" y="107075"/>
                  </a:cubicBezTo>
                  <a:cubicBezTo>
                    <a:pt x="0" y="166116"/>
                    <a:pt x="48035" y="214151"/>
                    <a:pt x="107075" y="214151"/>
                  </a:cubicBezTo>
                  <a:cubicBezTo>
                    <a:pt x="166116" y="214151"/>
                    <a:pt x="214151" y="166116"/>
                    <a:pt x="214151" y="107075"/>
                  </a:cubicBezTo>
                  <a:close/>
                  <a:moveTo>
                    <a:pt x="30593" y="107075"/>
                  </a:moveTo>
                  <a:cubicBezTo>
                    <a:pt x="30593" y="64902"/>
                    <a:pt x="64902" y="30593"/>
                    <a:pt x="107075" y="30593"/>
                  </a:cubicBezTo>
                  <a:cubicBezTo>
                    <a:pt x="149249" y="30593"/>
                    <a:pt x="183558" y="64902"/>
                    <a:pt x="183558" y="107075"/>
                  </a:cubicBezTo>
                  <a:cubicBezTo>
                    <a:pt x="183558" y="149249"/>
                    <a:pt x="149249" y="183558"/>
                    <a:pt x="107075" y="183558"/>
                  </a:cubicBezTo>
                  <a:cubicBezTo>
                    <a:pt x="64902" y="183558"/>
                    <a:pt x="30593" y="149249"/>
                    <a:pt x="30593" y="107075"/>
                  </a:cubicBezTo>
                  <a:close/>
                </a:path>
              </a:pathLst>
            </a:custGeom>
            <a:grp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27" name="Imagem 26">
            <a:extLst>
              <a:ext uri="{FF2B5EF4-FFF2-40B4-BE49-F238E27FC236}">
                <a16:creationId xmlns:a16="http://schemas.microsoft.com/office/drawing/2014/main" id="{D35B999E-84E5-4A81-A1D7-5BD038D52B61}"/>
              </a:ext>
            </a:extLst>
          </p:cNvPr>
          <p:cNvPicPr>
            <a:picLocks noChangeAspect="1"/>
          </p:cNvPicPr>
          <p:nvPr/>
        </p:nvPicPr>
        <p:blipFill>
          <a:blip r:embed="rId3"/>
          <a:stretch>
            <a:fillRect/>
          </a:stretch>
        </p:blipFill>
        <p:spPr>
          <a:xfrm>
            <a:off x="-124691" y="-20995"/>
            <a:ext cx="12316692" cy="88042"/>
          </a:xfrm>
          <a:prstGeom prst="rect">
            <a:avLst/>
          </a:prstGeom>
        </p:spPr>
      </p:pic>
      <p:sp>
        <p:nvSpPr>
          <p:cNvPr id="30" name="Título 1">
            <a:extLst>
              <a:ext uri="{FF2B5EF4-FFF2-40B4-BE49-F238E27FC236}">
                <a16:creationId xmlns:a16="http://schemas.microsoft.com/office/drawing/2014/main" id="{3C3A52DE-7A25-4083-A4C8-1FBB9BE0669D}"/>
              </a:ext>
            </a:extLst>
          </p:cNvPr>
          <p:cNvSpPr txBox="1">
            <a:spLocks/>
          </p:cNvSpPr>
          <p:nvPr/>
        </p:nvSpPr>
        <p:spPr>
          <a:xfrm>
            <a:off x="3220872" y="3850972"/>
            <a:ext cx="5131558" cy="44807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pt-BR" sz="1600" dirty="0">
                <a:solidFill>
                  <a:srgbClr val="0B5892"/>
                </a:solidFill>
                <a:latin typeface="Arial" panose="020B0604020202020204" pitchFamily="34" charset="0"/>
                <a:cs typeface="Arial" panose="020B0604020202020204" pitchFamily="34" charset="0"/>
              </a:rPr>
              <a:t>Central de Relacionamento com o Cliente</a:t>
            </a:r>
            <a:endParaRPr lang="pt-BR" sz="2400" dirty="0">
              <a:solidFill>
                <a:srgbClr val="0B5892"/>
              </a:solidFill>
              <a:latin typeface="Arial" panose="020B0604020202020204" pitchFamily="34" charset="0"/>
              <a:cs typeface="Arial" panose="020B0604020202020204" pitchFamily="34" charset="0"/>
            </a:endParaRPr>
          </a:p>
        </p:txBody>
      </p:sp>
      <p:pic>
        <p:nvPicPr>
          <p:cNvPr id="31" name="Imagem 30">
            <a:extLst>
              <a:ext uri="{FF2B5EF4-FFF2-40B4-BE49-F238E27FC236}">
                <a16:creationId xmlns:a16="http://schemas.microsoft.com/office/drawing/2014/main" id="{E0C82688-81D7-49E5-87F0-B6585C5679C8}"/>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7622668" y="2469881"/>
            <a:ext cx="2132458" cy="2132458"/>
          </a:xfrm>
          <a:prstGeom prst="rect">
            <a:avLst/>
          </a:prstGeom>
          <a:effectLst>
            <a:outerShdw blurRad="457200" dist="38100" dir="2700000" sx="106000" sy="106000" algn="tl" rotWithShape="0">
              <a:prstClr val="black">
                <a:alpha val="40000"/>
              </a:prstClr>
            </a:outerShdw>
            <a:reflection blurRad="6350" stA="50000" endA="300" endPos="55500" dist="101600" dir="5400000" sy="-100000" algn="bl" rotWithShape="0"/>
          </a:effectLst>
        </p:spPr>
      </p:pic>
    </p:spTree>
    <p:extLst>
      <p:ext uri="{BB962C8B-B14F-4D97-AF65-F5344CB8AC3E}">
        <p14:creationId xmlns:p14="http://schemas.microsoft.com/office/powerpoint/2010/main" val="18087207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Retângulo: Cantos Arredondados 79">
            <a:extLst>
              <a:ext uri="{FF2B5EF4-FFF2-40B4-BE49-F238E27FC236}">
                <a16:creationId xmlns:a16="http://schemas.microsoft.com/office/drawing/2014/main" id="{75B4443A-AB0F-41A7-8EBD-850DB095055A}"/>
              </a:ext>
            </a:extLst>
          </p:cNvPr>
          <p:cNvSpPr/>
          <p:nvPr/>
        </p:nvSpPr>
        <p:spPr>
          <a:xfrm>
            <a:off x="3539335" y="3925560"/>
            <a:ext cx="4814164" cy="1752907"/>
          </a:xfrm>
          <a:prstGeom prst="roundRect">
            <a:avLst/>
          </a:prstGeom>
          <a:solidFill>
            <a:schemeClr val="bg1">
              <a:alpha val="76000"/>
            </a:schemeClr>
          </a:solidFill>
          <a:ln>
            <a:noFill/>
          </a:ln>
          <a:effectLst>
            <a:outerShdw blurRad="177800" dist="38100" dir="5400000" sx="107000" sy="107000" algn="t" rotWithShape="0">
              <a:prstClr val="black">
                <a:alpha val="1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81" name="Retângulo: Cantos Arredondados 80">
            <a:extLst>
              <a:ext uri="{FF2B5EF4-FFF2-40B4-BE49-F238E27FC236}">
                <a16:creationId xmlns:a16="http://schemas.microsoft.com/office/drawing/2014/main" id="{CA314B76-9ED7-405F-8836-ADF96DD6847A}"/>
              </a:ext>
            </a:extLst>
          </p:cNvPr>
          <p:cNvSpPr/>
          <p:nvPr/>
        </p:nvSpPr>
        <p:spPr>
          <a:xfrm>
            <a:off x="3585938" y="3919138"/>
            <a:ext cx="4814164" cy="1752907"/>
          </a:xfrm>
          <a:prstGeom prst="roundRect">
            <a:avLst/>
          </a:prstGeom>
          <a:solidFill>
            <a:schemeClr val="bg1"/>
          </a:solidFill>
          <a:ln>
            <a:noFill/>
          </a:ln>
          <a:effectLst>
            <a:outerShdw dist="101600" dir="10740000" algn="t" rotWithShape="0">
              <a:srgbClr val="0B5892"/>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76" name="Retângulo: Cantos Arredondados 75">
            <a:extLst>
              <a:ext uri="{FF2B5EF4-FFF2-40B4-BE49-F238E27FC236}">
                <a16:creationId xmlns:a16="http://schemas.microsoft.com/office/drawing/2014/main" id="{F9B8545C-EE3B-4A2D-88AF-B393E3C17F99}"/>
              </a:ext>
            </a:extLst>
          </p:cNvPr>
          <p:cNvSpPr/>
          <p:nvPr/>
        </p:nvSpPr>
        <p:spPr>
          <a:xfrm>
            <a:off x="6171638" y="2008422"/>
            <a:ext cx="4814164" cy="1737667"/>
          </a:xfrm>
          <a:prstGeom prst="roundRect">
            <a:avLst/>
          </a:prstGeom>
          <a:solidFill>
            <a:schemeClr val="bg1">
              <a:alpha val="76000"/>
            </a:schemeClr>
          </a:solidFill>
          <a:ln>
            <a:noFill/>
          </a:ln>
          <a:effectLst>
            <a:outerShdw blurRad="177800" dist="38100" dir="5400000" sx="107000" sy="107000" algn="t" rotWithShape="0">
              <a:prstClr val="black">
                <a:alpha val="1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77" name="Retângulo: Cantos Arredondados 76">
            <a:extLst>
              <a:ext uri="{FF2B5EF4-FFF2-40B4-BE49-F238E27FC236}">
                <a16:creationId xmlns:a16="http://schemas.microsoft.com/office/drawing/2014/main" id="{60D24A15-7CCF-4245-A75F-347C77ED1F42}"/>
              </a:ext>
            </a:extLst>
          </p:cNvPr>
          <p:cNvSpPr/>
          <p:nvPr/>
        </p:nvSpPr>
        <p:spPr>
          <a:xfrm>
            <a:off x="6194499" y="2019853"/>
            <a:ext cx="4814164" cy="1737667"/>
          </a:xfrm>
          <a:prstGeom prst="roundRect">
            <a:avLst/>
          </a:prstGeom>
          <a:solidFill>
            <a:schemeClr val="bg1"/>
          </a:solidFill>
          <a:ln>
            <a:noFill/>
          </a:ln>
          <a:effectLst>
            <a:outerShdw dist="101600" dir="10740000" algn="t" rotWithShape="0">
              <a:srgbClr val="0B5892"/>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39" name="Imagem 38">
            <a:extLst>
              <a:ext uri="{FF2B5EF4-FFF2-40B4-BE49-F238E27FC236}">
                <a16:creationId xmlns:a16="http://schemas.microsoft.com/office/drawing/2014/main" id="{8F6A83EB-6687-479D-BD59-51B6B2B8CBF9}"/>
              </a:ext>
            </a:extLst>
          </p:cNvPr>
          <p:cNvPicPr>
            <a:picLocks noChangeAspect="1"/>
          </p:cNvPicPr>
          <p:nvPr/>
        </p:nvPicPr>
        <p:blipFill>
          <a:blip r:embed="rId2">
            <a:alphaModFix amt="4000"/>
          </a:blip>
          <a:stretch>
            <a:fillRect/>
          </a:stretch>
        </p:blipFill>
        <p:spPr>
          <a:xfrm>
            <a:off x="9157251" y="4596063"/>
            <a:ext cx="5030445" cy="5148116"/>
          </a:xfrm>
          <a:prstGeom prst="rect">
            <a:avLst/>
          </a:prstGeom>
          <a:effectLst/>
        </p:spPr>
      </p:pic>
      <p:pic>
        <p:nvPicPr>
          <p:cNvPr id="38" name="Imagem 37">
            <a:extLst>
              <a:ext uri="{FF2B5EF4-FFF2-40B4-BE49-F238E27FC236}">
                <a16:creationId xmlns:a16="http://schemas.microsoft.com/office/drawing/2014/main" id="{DE2A603E-716D-41D5-ABEF-1625839B46A3}"/>
              </a:ext>
            </a:extLst>
          </p:cNvPr>
          <p:cNvPicPr>
            <a:picLocks noChangeAspect="1"/>
          </p:cNvPicPr>
          <p:nvPr/>
        </p:nvPicPr>
        <p:blipFill>
          <a:blip r:embed="rId2">
            <a:alphaModFix amt="4000"/>
          </a:blip>
          <a:stretch>
            <a:fillRect/>
          </a:stretch>
        </p:blipFill>
        <p:spPr>
          <a:xfrm>
            <a:off x="-2128370" y="-2021305"/>
            <a:ext cx="5030445" cy="5148116"/>
          </a:xfrm>
          <a:prstGeom prst="rect">
            <a:avLst/>
          </a:prstGeom>
          <a:effectLst/>
        </p:spPr>
      </p:pic>
      <p:sp>
        <p:nvSpPr>
          <p:cNvPr id="15" name="Retângulo: Cantos Arredondados 14">
            <a:extLst>
              <a:ext uri="{FF2B5EF4-FFF2-40B4-BE49-F238E27FC236}">
                <a16:creationId xmlns:a16="http://schemas.microsoft.com/office/drawing/2014/main" id="{1B71EADA-2995-4F0E-898A-DAD0EBF1629A}"/>
              </a:ext>
            </a:extLst>
          </p:cNvPr>
          <p:cNvSpPr/>
          <p:nvPr/>
        </p:nvSpPr>
        <p:spPr>
          <a:xfrm>
            <a:off x="915379" y="2567419"/>
            <a:ext cx="3625927" cy="527350"/>
          </a:xfrm>
          <a:prstGeom prst="round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rgbClr val="0B5892"/>
              </a:solidFill>
            </a:endParaRPr>
          </a:p>
        </p:txBody>
      </p:sp>
      <p:sp>
        <p:nvSpPr>
          <p:cNvPr id="6" name="Título 1">
            <a:extLst>
              <a:ext uri="{FF2B5EF4-FFF2-40B4-BE49-F238E27FC236}">
                <a16:creationId xmlns:a16="http://schemas.microsoft.com/office/drawing/2014/main" id="{F19E4ED5-6191-4819-BC5E-0686AFC2CEAF}"/>
              </a:ext>
            </a:extLst>
          </p:cNvPr>
          <p:cNvSpPr txBox="1">
            <a:spLocks/>
          </p:cNvSpPr>
          <p:nvPr/>
        </p:nvSpPr>
        <p:spPr>
          <a:xfrm>
            <a:off x="5946417" y="431573"/>
            <a:ext cx="5811865"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pt-BR" sz="1600" spc="600" dirty="0">
                <a:solidFill>
                  <a:srgbClr val="0B5892"/>
                </a:solidFill>
                <a:latin typeface="Arial" panose="020B0604020202020204" pitchFamily="34" charset="0"/>
                <a:cs typeface="Arial" panose="020B0604020202020204" pitchFamily="34" charset="0"/>
              </a:rPr>
              <a:t>CRC</a:t>
            </a:r>
          </a:p>
        </p:txBody>
      </p:sp>
      <p:grpSp>
        <p:nvGrpSpPr>
          <p:cNvPr id="20" name="Google Shape;1964;p50">
            <a:extLst>
              <a:ext uri="{FF2B5EF4-FFF2-40B4-BE49-F238E27FC236}">
                <a16:creationId xmlns:a16="http://schemas.microsoft.com/office/drawing/2014/main" id="{644333FE-63B4-42DF-ADFA-AF9177DF58D7}"/>
              </a:ext>
            </a:extLst>
          </p:cNvPr>
          <p:cNvGrpSpPr/>
          <p:nvPr/>
        </p:nvGrpSpPr>
        <p:grpSpPr>
          <a:xfrm flipH="1">
            <a:off x="742950" y="537670"/>
            <a:ext cx="603644" cy="576232"/>
            <a:chOff x="4126815" y="2760704"/>
            <a:chExt cx="380393" cy="363118"/>
          </a:xfrm>
          <a:solidFill>
            <a:srgbClr val="0B5892"/>
          </a:solidFill>
        </p:grpSpPr>
        <p:sp>
          <p:nvSpPr>
            <p:cNvPr id="21" name="Google Shape;1965;p50">
              <a:extLst>
                <a:ext uri="{FF2B5EF4-FFF2-40B4-BE49-F238E27FC236}">
                  <a16:creationId xmlns:a16="http://schemas.microsoft.com/office/drawing/2014/main" id="{C90A8E2B-6430-4128-93A1-80EDBF3E3BED}"/>
                </a:ext>
              </a:extLst>
            </p:cNvPr>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966;p50">
              <a:extLst>
                <a:ext uri="{FF2B5EF4-FFF2-40B4-BE49-F238E27FC236}">
                  <a16:creationId xmlns:a16="http://schemas.microsoft.com/office/drawing/2014/main" id="{C220A82A-DCEF-47A8-9174-5A849CB2B75F}"/>
                </a:ext>
              </a:extLst>
            </p:cNvPr>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967;p50">
              <a:extLst>
                <a:ext uri="{FF2B5EF4-FFF2-40B4-BE49-F238E27FC236}">
                  <a16:creationId xmlns:a16="http://schemas.microsoft.com/office/drawing/2014/main" id="{446DDA74-F73B-4510-BFCE-608659C3FC02}"/>
                </a:ext>
              </a:extLst>
            </p:cNvPr>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968;p50">
              <a:extLst>
                <a:ext uri="{FF2B5EF4-FFF2-40B4-BE49-F238E27FC236}">
                  <a16:creationId xmlns:a16="http://schemas.microsoft.com/office/drawing/2014/main" id="{487DFEED-06C3-4B9B-9B7A-545AAF95F24C}"/>
                </a:ext>
              </a:extLst>
            </p:cNvPr>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Retângulo 28">
            <a:extLst>
              <a:ext uri="{FF2B5EF4-FFF2-40B4-BE49-F238E27FC236}">
                <a16:creationId xmlns:a16="http://schemas.microsoft.com/office/drawing/2014/main" id="{0BBC58FB-2C41-419E-8246-609C9177CDA9}"/>
              </a:ext>
            </a:extLst>
          </p:cNvPr>
          <p:cNvSpPr/>
          <p:nvPr/>
        </p:nvSpPr>
        <p:spPr>
          <a:xfrm>
            <a:off x="-449179" y="6707874"/>
            <a:ext cx="14054469" cy="334610"/>
          </a:xfrm>
          <a:prstGeom prst="rect">
            <a:avLst/>
          </a:prstGeom>
          <a:solidFill>
            <a:srgbClr val="0B58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 name="Imagem 7">
            <a:extLst>
              <a:ext uri="{FF2B5EF4-FFF2-40B4-BE49-F238E27FC236}">
                <a16:creationId xmlns:a16="http://schemas.microsoft.com/office/drawing/2014/main" id="{55CA91AA-A108-4071-B0A7-0374C74EDA09}"/>
              </a:ext>
            </a:extLst>
          </p:cNvPr>
          <p:cNvPicPr>
            <a:picLocks noChangeAspect="1"/>
          </p:cNvPicPr>
          <p:nvPr/>
        </p:nvPicPr>
        <p:blipFill>
          <a:blip r:embed="rId3"/>
          <a:stretch>
            <a:fillRect/>
          </a:stretch>
        </p:blipFill>
        <p:spPr>
          <a:xfrm>
            <a:off x="-124691" y="-20995"/>
            <a:ext cx="12316692" cy="88042"/>
          </a:xfrm>
          <a:prstGeom prst="rect">
            <a:avLst/>
          </a:prstGeom>
        </p:spPr>
      </p:pic>
      <p:sp>
        <p:nvSpPr>
          <p:cNvPr id="18" name="Título 1">
            <a:extLst>
              <a:ext uri="{FF2B5EF4-FFF2-40B4-BE49-F238E27FC236}">
                <a16:creationId xmlns:a16="http://schemas.microsoft.com/office/drawing/2014/main" id="{9BC75932-B40A-460F-B242-8264BFE06926}"/>
              </a:ext>
            </a:extLst>
          </p:cNvPr>
          <p:cNvSpPr txBox="1">
            <a:spLocks/>
          </p:cNvSpPr>
          <p:nvPr/>
        </p:nvSpPr>
        <p:spPr>
          <a:xfrm>
            <a:off x="1366068" y="448718"/>
            <a:ext cx="6453099"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spc="600" dirty="0">
                <a:solidFill>
                  <a:srgbClr val="0B5892"/>
                </a:solidFill>
                <a:latin typeface="Arial" panose="020B0604020202020204" pitchFamily="34" charset="0"/>
                <a:cs typeface="Arial" panose="020B0604020202020204" pitchFamily="34" charset="0"/>
              </a:rPr>
              <a:t>VISÃO GERAL DO CANAL</a:t>
            </a:r>
          </a:p>
        </p:txBody>
      </p:sp>
      <p:sp>
        <p:nvSpPr>
          <p:cNvPr id="19" name="Título 1">
            <a:extLst>
              <a:ext uri="{FF2B5EF4-FFF2-40B4-BE49-F238E27FC236}">
                <a16:creationId xmlns:a16="http://schemas.microsoft.com/office/drawing/2014/main" id="{CB92D9AB-3FEB-47AD-8015-DD30B5F902CE}"/>
              </a:ext>
            </a:extLst>
          </p:cNvPr>
          <p:cNvSpPr txBox="1">
            <a:spLocks/>
          </p:cNvSpPr>
          <p:nvPr/>
        </p:nvSpPr>
        <p:spPr>
          <a:xfrm>
            <a:off x="1400358" y="716411"/>
            <a:ext cx="6950456"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600" spc="300" dirty="0">
                <a:solidFill>
                  <a:srgbClr val="0B5892"/>
                </a:solidFill>
                <a:latin typeface="Arial" panose="020B0604020202020204" pitchFamily="34" charset="0"/>
                <a:cs typeface="Arial" panose="020B0604020202020204" pitchFamily="34" charset="0"/>
              </a:rPr>
              <a:t>Quantidade total de monitorias realizadas</a:t>
            </a:r>
          </a:p>
        </p:txBody>
      </p:sp>
      <p:cxnSp>
        <p:nvCxnSpPr>
          <p:cNvPr id="25" name="Conector reto 24">
            <a:extLst>
              <a:ext uri="{FF2B5EF4-FFF2-40B4-BE49-F238E27FC236}">
                <a16:creationId xmlns:a16="http://schemas.microsoft.com/office/drawing/2014/main" id="{C6F5D155-7AE8-4277-A61A-2EF88BF2DADC}"/>
              </a:ext>
            </a:extLst>
          </p:cNvPr>
          <p:cNvCxnSpPr/>
          <p:nvPr/>
        </p:nvCxnSpPr>
        <p:spPr>
          <a:xfrm>
            <a:off x="725988" y="1185955"/>
            <a:ext cx="9855200" cy="0"/>
          </a:xfrm>
          <a:prstGeom prst="line">
            <a:avLst/>
          </a:prstGeom>
          <a:ln>
            <a:solidFill>
              <a:srgbClr val="0B5892"/>
            </a:solidFill>
          </a:ln>
        </p:spPr>
        <p:style>
          <a:lnRef idx="1">
            <a:schemeClr val="accent1"/>
          </a:lnRef>
          <a:fillRef idx="0">
            <a:schemeClr val="accent1"/>
          </a:fillRef>
          <a:effectRef idx="0">
            <a:schemeClr val="accent1"/>
          </a:effectRef>
          <a:fontRef idx="minor">
            <a:schemeClr val="tx1"/>
          </a:fontRef>
        </p:style>
      </p:cxnSp>
      <p:sp>
        <p:nvSpPr>
          <p:cNvPr id="26" name="Retângulo: Cantos Arredondados 25">
            <a:extLst>
              <a:ext uri="{FF2B5EF4-FFF2-40B4-BE49-F238E27FC236}">
                <a16:creationId xmlns:a16="http://schemas.microsoft.com/office/drawing/2014/main" id="{D6CE0130-151A-4297-A436-4220E143FB10}"/>
              </a:ext>
            </a:extLst>
          </p:cNvPr>
          <p:cNvSpPr/>
          <p:nvPr/>
        </p:nvSpPr>
        <p:spPr>
          <a:xfrm>
            <a:off x="841448" y="1981752"/>
            <a:ext cx="4814164" cy="1752907"/>
          </a:xfrm>
          <a:prstGeom prst="roundRect">
            <a:avLst/>
          </a:prstGeom>
          <a:solidFill>
            <a:schemeClr val="bg1">
              <a:alpha val="76000"/>
            </a:schemeClr>
          </a:solidFill>
          <a:ln>
            <a:noFill/>
          </a:ln>
          <a:effectLst>
            <a:outerShdw blurRad="177800" dist="38100" dir="5400000" sx="107000" sy="107000" algn="t" rotWithShape="0">
              <a:prstClr val="black">
                <a:alpha val="1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7" name="Retângulo: Cantos Arredondados 26">
            <a:extLst>
              <a:ext uri="{FF2B5EF4-FFF2-40B4-BE49-F238E27FC236}">
                <a16:creationId xmlns:a16="http://schemas.microsoft.com/office/drawing/2014/main" id="{7BB5200E-D583-4DFF-A3A0-F34072602F9F}"/>
              </a:ext>
            </a:extLst>
          </p:cNvPr>
          <p:cNvSpPr/>
          <p:nvPr/>
        </p:nvSpPr>
        <p:spPr>
          <a:xfrm>
            <a:off x="887169" y="1981753"/>
            <a:ext cx="4814164" cy="1752907"/>
          </a:xfrm>
          <a:prstGeom prst="roundRect">
            <a:avLst/>
          </a:prstGeom>
          <a:solidFill>
            <a:schemeClr val="bg1"/>
          </a:solidFill>
          <a:ln>
            <a:noFill/>
          </a:ln>
          <a:effectLst>
            <a:outerShdw dist="101600" dir="10740000" algn="t" rotWithShape="0">
              <a:srgbClr val="0B5892"/>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0" name="CaixaDeTexto 29">
            <a:extLst>
              <a:ext uri="{FF2B5EF4-FFF2-40B4-BE49-F238E27FC236}">
                <a16:creationId xmlns:a16="http://schemas.microsoft.com/office/drawing/2014/main" id="{3F7528B4-88F4-468A-8E7C-E472BD29EE3C}"/>
              </a:ext>
            </a:extLst>
          </p:cNvPr>
          <p:cNvSpPr txBox="1"/>
          <p:nvPr/>
        </p:nvSpPr>
        <p:spPr>
          <a:xfrm>
            <a:off x="1219240" y="2248851"/>
            <a:ext cx="3758268" cy="276999"/>
          </a:xfrm>
          <a:prstGeom prst="rect">
            <a:avLst/>
          </a:prstGeom>
          <a:noFill/>
        </p:spPr>
        <p:txBody>
          <a:bodyPr wrap="square" rtlCol="0">
            <a:spAutoFit/>
          </a:bodyPr>
          <a:lstStyle/>
          <a:p>
            <a:r>
              <a:rPr lang="pt-BR" sz="1200" b="1" dirty="0">
                <a:solidFill>
                  <a:schemeClr val="tx1">
                    <a:lumMod val="50000"/>
                    <a:lumOff val="50000"/>
                  </a:schemeClr>
                </a:solidFill>
                <a:latin typeface="Arial" panose="020B0604020202020204" pitchFamily="34" charset="0"/>
                <a:cs typeface="Arial" panose="020B0604020202020204" pitchFamily="34" charset="0"/>
              </a:rPr>
              <a:t>Volume de Monitorias </a:t>
            </a:r>
          </a:p>
        </p:txBody>
      </p:sp>
      <p:sp>
        <p:nvSpPr>
          <p:cNvPr id="31" name="CaixaDeTexto 30">
            <a:extLst>
              <a:ext uri="{FF2B5EF4-FFF2-40B4-BE49-F238E27FC236}">
                <a16:creationId xmlns:a16="http://schemas.microsoft.com/office/drawing/2014/main" id="{C04A5897-BEF2-4BD8-BE02-EA3E5D4A80D1}"/>
              </a:ext>
            </a:extLst>
          </p:cNvPr>
          <p:cNvSpPr txBox="1"/>
          <p:nvPr/>
        </p:nvSpPr>
        <p:spPr>
          <a:xfrm>
            <a:off x="1203770" y="2399379"/>
            <a:ext cx="1838183" cy="1107996"/>
          </a:xfrm>
          <a:prstGeom prst="rect">
            <a:avLst/>
          </a:prstGeom>
          <a:noFill/>
        </p:spPr>
        <p:txBody>
          <a:bodyPr wrap="square" rtlCol="0">
            <a:spAutoFit/>
          </a:bodyPr>
          <a:lstStyle/>
          <a:p>
            <a:r>
              <a:rPr lang="pt-BR" sz="6600" b="1" dirty="0">
                <a:solidFill>
                  <a:schemeClr val="tx1">
                    <a:lumMod val="50000"/>
                    <a:lumOff val="50000"/>
                  </a:schemeClr>
                </a:solidFill>
                <a:latin typeface="Arial" panose="020B0604020202020204" pitchFamily="34" charset="0"/>
                <a:cs typeface="Arial" panose="020B0604020202020204" pitchFamily="34" charset="0"/>
              </a:rPr>
              <a:t>425</a:t>
            </a:r>
          </a:p>
        </p:txBody>
      </p:sp>
      <p:sp>
        <p:nvSpPr>
          <p:cNvPr id="32" name="Google Shape;2081;p50">
            <a:extLst>
              <a:ext uri="{FF2B5EF4-FFF2-40B4-BE49-F238E27FC236}">
                <a16:creationId xmlns:a16="http://schemas.microsoft.com/office/drawing/2014/main" id="{BCBB39BF-ABF4-4D46-A5A2-ED525A956FBF}"/>
              </a:ext>
            </a:extLst>
          </p:cNvPr>
          <p:cNvSpPr/>
          <p:nvPr/>
        </p:nvSpPr>
        <p:spPr>
          <a:xfrm>
            <a:off x="5059638" y="2168269"/>
            <a:ext cx="192116" cy="240512"/>
          </a:xfrm>
          <a:custGeom>
            <a:avLst/>
            <a:gdLst/>
            <a:ahLst/>
            <a:cxnLst/>
            <a:rect l="l" t="t" r="r" b="b"/>
            <a:pathLst>
              <a:path w="7240" h="11467" extrusionOk="0">
                <a:moveTo>
                  <a:pt x="1048" y="346"/>
                </a:moveTo>
                <a:cubicBezTo>
                  <a:pt x="1156" y="346"/>
                  <a:pt x="1239" y="441"/>
                  <a:pt x="1239" y="537"/>
                </a:cubicBezTo>
                <a:cubicBezTo>
                  <a:pt x="1239" y="644"/>
                  <a:pt x="1156" y="727"/>
                  <a:pt x="1048" y="727"/>
                </a:cubicBezTo>
                <a:cubicBezTo>
                  <a:pt x="941" y="727"/>
                  <a:pt x="858" y="644"/>
                  <a:pt x="858" y="537"/>
                </a:cubicBezTo>
                <a:cubicBezTo>
                  <a:pt x="858" y="429"/>
                  <a:pt x="941" y="346"/>
                  <a:pt x="1048" y="346"/>
                </a:cubicBezTo>
                <a:close/>
                <a:moveTo>
                  <a:pt x="3549" y="1203"/>
                </a:moveTo>
                <a:lnTo>
                  <a:pt x="3906" y="1453"/>
                </a:lnTo>
                <a:lnTo>
                  <a:pt x="3549" y="1453"/>
                </a:lnTo>
                <a:lnTo>
                  <a:pt x="3549" y="1203"/>
                </a:lnTo>
                <a:close/>
                <a:moveTo>
                  <a:pt x="6883" y="1060"/>
                </a:moveTo>
                <a:lnTo>
                  <a:pt x="6883" y="1072"/>
                </a:lnTo>
                <a:lnTo>
                  <a:pt x="6097" y="2799"/>
                </a:lnTo>
                <a:cubicBezTo>
                  <a:pt x="6085" y="2846"/>
                  <a:pt x="6085" y="2894"/>
                  <a:pt x="6097" y="2942"/>
                </a:cubicBezTo>
                <a:lnTo>
                  <a:pt x="6883" y="4680"/>
                </a:lnTo>
                <a:lnTo>
                  <a:pt x="4620" y="4680"/>
                </a:lnTo>
                <a:lnTo>
                  <a:pt x="4620" y="1608"/>
                </a:lnTo>
                <a:cubicBezTo>
                  <a:pt x="4620" y="1549"/>
                  <a:pt x="4597" y="1501"/>
                  <a:pt x="4549" y="1477"/>
                </a:cubicBezTo>
                <a:lnTo>
                  <a:pt x="3942" y="1060"/>
                </a:lnTo>
                <a:close/>
                <a:moveTo>
                  <a:pt x="6883" y="4680"/>
                </a:moveTo>
                <a:cubicBezTo>
                  <a:pt x="6883" y="4686"/>
                  <a:pt x="6880" y="4689"/>
                  <a:pt x="6878" y="4689"/>
                </a:cubicBezTo>
                <a:cubicBezTo>
                  <a:pt x="6877" y="4689"/>
                  <a:pt x="6877" y="4686"/>
                  <a:pt x="6883" y="4680"/>
                </a:cubicBezTo>
                <a:close/>
                <a:moveTo>
                  <a:pt x="4299" y="1787"/>
                </a:moveTo>
                <a:lnTo>
                  <a:pt x="4299" y="5394"/>
                </a:lnTo>
                <a:lnTo>
                  <a:pt x="1941" y="5406"/>
                </a:lnTo>
                <a:lnTo>
                  <a:pt x="1941" y="2692"/>
                </a:lnTo>
                <a:cubicBezTo>
                  <a:pt x="1941" y="2608"/>
                  <a:pt x="1870" y="2537"/>
                  <a:pt x="1787" y="2537"/>
                </a:cubicBezTo>
                <a:cubicBezTo>
                  <a:pt x="1691" y="2537"/>
                  <a:pt x="1620" y="2608"/>
                  <a:pt x="1620" y="2692"/>
                </a:cubicBezTo>
                <a:lnTo>
                  <a:pt x="1620" y="5406"/>
                </a:lnTo>
                <a:lnTo>
                  <a:pt x="1227" y="5406"/>
                </a:lnTo>
                <a:lnTo>
                  <a:pt x="1227" y="1787"/>
                </a:lnTo>
                <a:lnTo>
                  <a:pt x="1620" y="1787"/>
                </a:lnTo>
                <a:lnTo>
                  <a:pt x="1620" y="1989"/>
                </a:lnTo>
                <a:cubicBezTo>
                  <a:pt x="1620" y="2072"/>
                  <a:pt x="1691" y="2144"/>
                  <a:pt x="1787" y="2144"/>
                </a:cubicBezTo>
                <a:cubicBezTo>
                  <a:pt x="1870" y="2144"/>
                  <a:pt x="1941" y="2072"/>
                  <a:pt x="1941" y="1989"/>
                </a:cubicBezTo>
                <a:lnTo>
                  <a:pt x="1941" y="1787"/>
                </a:lnTo>
                <a:close/>
                <a:moveTo>
                  <a:pt x="1584" y="10764"/>
                </a:moveTo>
                <a:cubicBezTo>
                  <a:pt x="1691" y="10764"/>
                  <a:pt x="1787" y="10859"/>
                  <a:pt x="1787" y="10954"/>
                </a:cubicBezTo>
                <a:lnTo>
                  <a:pt x="1787" y="11145"/>
                </a:lnTo>
                <a:lnTo>
                  <a:pt x="322" y="11145"/>
                </a:lnTo>
                <a:lnTo>
                  <a:pt x="322" y="10954"/>
                </a:lnTo>
                <a:cubicBezTo>
                  <a:pt x="322" y="10847"/>
                  <a:pt x="417" y="10764"/>
                  <a:pt x="513" y="10764"/>
                </a:cubicBezTo>
                <a:close/>
                <a:moveTo>
                  <a:pt x="1048" y="1"/>
                </a:moveTo>
                <a:cubicBezTo>
                  <a:pt x="775" y="1"/>
                  <a:pt x="536" y="239"/>
                  <a:pt x="536" y="525"/>
                </a:cubicBezTo>
                <a:cubicBezTo>
                  <a:pt x="536" y="763"/>
                  <a:pt x="679" y="953"/>
                  <a:pt x="894" y="1037"/>
                </a:cubicBezTo>
                <a:lnTo>
                  <a:pt x="894" y="10419"/>
                </a:lnTo>
                <a:lnTo>
                  <a:pt x="513" y="10419"/>
                </a:lnTo>
                <a:cubicBezTo>
                  <a:pt x="215" y="10419"/>
                  <a:pt x="1" y="10657"/>
                  <a:pt x="1" y="10943"/>
                </a:cubicBezTo>
                <a:lnTo>
                  <a:pt x="1" y="11300"/>
                </a:lnTo>
                <a:cubicBezTo>
                  <a:pt x="1" y="11395"/>
                  <a:pt x="72" y="11466"/>
                  <a:pt x="155" y="11466"/>
                </a:cubicBezTo>
                <a:lnTo>
                  <a:pt x="1965" y="11466"/>
                </a:lnTo>
                <a:cubicBezTo>
                  <a:pt x="2049" y="11466"/>
                  <a:pt x="2120" y="11395"/>
                  <a:pt x="2120" y="11300"/>
                </a:cubicBezTo>
                <a:lnTo>
                  <a:pt x="2120" y="10943"/>
                </a:lnTo>
                <a:cubicBezTo>
                  <a:pt x="2120" y="10645"/>
                  <a:pt x="1882" y="10419"/>
                  <a:pt x="1608" y="10419"/>
                </a:cubicBezTo>
                <a:lnTo>
                  <a:pt x="1227" y="10419"/>
                </a:lnTo>
                <a:lnTo>
                  <a:pt x="1227" y="5740"/>
                </a:lnTo>
                <a:lnTo>
                  <a:pt x="4299" y="5740"/>
                </a:lnTo>
                <a:cubicBezTo>
                  <a:pt x="4489" y="5740"/>
                  <a:pt x="4632" y="5585"/>
                  <a:pt x="4632" y="5394"/>
                </a:cubicBezTo>
                <a:lnTo>
                  <a:pt x="4632" y="5025"/>
                </a:lnTo>
                <a:lnTo>
                  <a:pt x="6883" y="5025"/>
                </a:lnTo>
                <a:cubicBezTo>
                  <a:pt x="7002" y="5025"/>
                  <a:pt x="7109" y="4966"/>
                  <a:pt x="7180" y="4859"/>
                </a:cubicBezTo>
                <a:cubicBezTo>
                  <a:pt x="7228" y="4763"/>
                  <a:pt x="7240" y="4632"/>
                  <a:pt x="7180" y="4525"/>
                </a:cubicBezTo>
                <a:lnTo>
                  <a:pt x="6442" y="2882"/>
                </a:lnTo>
                <a:lnTo>
                  <a:pt x="7180" y="1227"/>
                </a:lnTo>
                <a:cubicBezTo>
                  <a:pt x="7228" y="1120"/>
                  <a:pt x="7228" y="989"/>
                  <a:pt x="7156" y="894"/>
                </a:cubicBezTo>
                <a:cubicBezTo>
                  <a:pt x="7097" y="787"/>
                  <a:pt x="6978" y="727"/>
                  <a:pt x="6859" y="727"/>
                </a:cubicBezTo>
                <a:lnTo>
                  <a:pt x="3358" y="727"/>
                </a:lnTo>
                <a:cubicBezTo>
                  <a:pt x="3275" y="727"/>
                  <a:pt x="3192" y="810"/>
                  <a:pt x="3192" y="894"/>
                </a:cubicBezTo>
                <a:lnTo>
                  <a:pt x="3192" y="1453"/>
                </a:lnTo>
                <a:lnTo>
                  <a:pt x="1215" y="1453"/>
                </a:lnTo>
                <a:lnTo>
                  <a:pt x="1215" y="1037"/>
                </a:lnTo>
                <a:cubicBezTo>
                  <a:pt x="1429" y="953"/>
                  <a:pt x="1572" y="763"/>
                  <a:pt x="1572" y="525"/>
                </a:cubicBezTo>
                <a:cubicBezTo>
                  <a:pt x="1572" y="227"/>
                  <a:pt x="1334" y="1"/>
                  <a:pt x="1048" y="1"/>
                </a:cubicBezTo>
                <a:close/>
              </a:path>
            </a:pathLst>
          </a:custGeom>
          <a:solidFill>
            <a:schemeClr val="tx1">
              <a:lumMod val="85000"/>
              <a:lumOff val="1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CaixaDeTexto 32">
            <a:extLst>
              <a:ext uri="{FF2B5EF4-FFF2-40B4-BE49-F238E27FC236}">
                <a16:creationId xmlns:a16="http://schemas.microsoft.com/office/drawing/2014/main" id="{0CA63353-40AC-40B2-A5C2-734BB29F6637}"/>
              </a:ext>
            </a:extLst>
          </p:cNvPr>
          <p:cNvSpPr txBox="1"/>
          <p:nvPr/>
        </p:nvSpPr>
        <p:spPr>
          <a:xfrm>
            <a:off x="1207029" y="3319288"/>
            <a:ext cx="3953866" cy="246221"/>
          </a:xfrm>
          <a:prstGeom prst="rect">
            <a:avLst/>
          </a:prstGeom>
          <a:noFill/>
        </p:spPr>
        <p:txBody>
          <a:bodyPr wrap="square" rtlCol="0">
            <a:spAutoFit/>
          </a:bodyPr>
          <a:lstStyle/>
          <a:p>
            <a:r>
              <a:rPr lang="pt-BR" sz="1000" b="1" dirty="0">
                <a:solidFill>
                  <a:schemeClr val="tx1">
                    <a:lumMod val="50000"/>
                    <a:lumOff val="50000"/>
                  </a:schemeClr>
                </a:solidFill>
                <a:latin typeface="Arial" panose="020B0604020202020204" pitchFamily="34" charset="0"/>
                <a:cs typeface="Arial" panose="020B0604020202020204" pitchFamily="34" charset="0"/>
              </a:rPr>
              <a:t>(Qualidade + Operação)</a:t>
            </a:r>
          </a:p>
        </p:txBody>
      </p:sp>
      <p:sp>
        <p:nvSpPr>
          <p:cNvPr id="36" name="CaixaDeTexto 35">
            <a:extLst>
              <a:ext uri="{FF2B5EF4-FFF2-40B4-BE49-F238E27FC236}">
                <a16:creationId xmlns:a16="http://schemas.microsoft.com/office/drawing/2014/main" id="{5A9E22E9-AA98-4B42-8F8D-6BE3DA249752}"/>
              </a:ext>
            </a:extLst>
          </p:cNvPr>
          <p:cNvSpPr txBox="1"/>
          <p:nvPr/>
        </p:nvSpPr>
        <p:spPr>
          <a:xfrm>
            <a:off x="6512383" y="2157411"/>
            <a:ext cx="1811109" cy="276999"/>
          </a:xfrm>
          <a:prstGeom prst="rect">
            <a:avLst/>
          </a:prstGeom>
          <a:noFill/>
        </p:spPr>
        <p:txBody>
          <a:bodyPr wrap="square" rtlCol="0">
            <a:spAutoFit/>
          </a:bodyPr>
          <a:lstStyle/>
          <a:p>
            <a:r>
              <a:rPr lang="pt-BR" sz="1200" b="1" dirty="0">
                <a:solidFill>
                  <a:schemeClr val="tx1">
                    <a:lumMod val="50000"/>
                    <a:lumOff val="50000"/>
                  </a:schemeClr>
                </a:solidFill>
                <a:latin typeface="Arial" panose="020B0604020202020204" pitchFamily="34" charset="0"/>
                <a:cs typeface="Arial" panose="020B0604020202020204" pitchFamily="34" charset="0"/>
              </a:rPr>
              <a:t>Média Do Mês</a:t>
            </a:r>
          </a:p>
        </p:txBody>
      </p:sp>
      <p:sp>
        <p:nvSpPr>
          <p:cNvPr id="37" name="CaixaDeTexto 36">
            <a:extLst>
              <a:ext uri="{FF2B5EF4-FFF2-40B4-BE49-F238E27FC236}">
                <a16:creationId xmlns:a16="http://schemas.microsoft.com/office/drawing/2014/main" id="{CD33852A-A47C-4576-9C4A-3C972DD40094}"/>
              </a:ext>
            </a:extLst>
          </p:cNvPr>
          <p:cNvSpPr txBox="1"/>
          <p:nvPr/>
        </p:nvSpPr>
        <p:spPr>
          <a:xfrm>
            <a:off x="6428480" y="2422419"/>
            <a:ext cx="3160305" cy="1015663"/>
          </a:xfrm>
          <a:prstGeom prst="rect">
            <a:avLst/>
          </a:prstGeom>
          <a:noFill/>
        </p:spPr>
        <p:txBody>
          <a:bodyPr wrap="square" rtlCol="0">
            <a:spAutoFit/>
          </a:bodyPr>
          <a:lstStyle/>
          <a:p>
            <a:r>
              <a:rPr lang="pt-BR" sz="6000" b="1" dirty="0">
                <a:solidFill>
                  <a:schemeClr val="tx1">
                    <a:lumMod val="50000"/>
                    <a:lumOff val="50000"/>
                  </a:schemeClr>
                </a:solidFill>
                <a:latin typeface="Arial" panose="020B0604020202020204" pitchFamily="34" charset="0"/>
                <a:cs typeface="Arial" panose="020B0604020202020204" pitchFamily="34" charset="0"/>
              </a:rPr>
              <a:t>74,95</a:t>
            </a:r>
          </a:p>
        </p:txBody>
      </p:sp>
      <p:sp>
        <p:nvSpPr>
          <p:cNvPr id="40" name="CaixaDeTexto 39">
            <a:extLst>
              <a:ext uri="{FF2B5EF4-FFF2-40B4-BE49-F238E27FC236}">
                <a16:creationId xmlns:a16="http://schemas.microsoft.com/office/drawing/2014/main" id="{C31C7B74-2118-4CDD-B0D0-DE1F77107782}"/>
              </a:ext>
            </a:extLst>
          </p:cNvPr>
          <p:cNvSpPr txBox="1"/>
          <p:nvPr/>
        </p:nvSpPr>
        <p:spPr>
          <a:xfrm>
            <a:off x="6502087" y="3391808"/>
            <a:ext cx="1727871" cy="246221"/>
          </a:xfrm>
          <a:prstGeom prst="rect">
            <a:avLst/>
          </a:prstGeom>
          <a:noFill/>
        </p:spPr>
        <p:txBody>
          <a:bodyPr wrap="square" rtlCol="0">
            <a:spAutoFit/>
          </a:bodyPr>
          <a:lstStyle/>
          <a:p>
            <a:r>
              <a:rPr lang="pt-BR" sz="1000" b="1" dirty="0">
                <a:solidFill>
                  <a:schemeClr val="tx1">
                    <a:lumMod val="50000"/>
                    <a:lumOff val="50000"/>
                  </a:schemeClr>
                </a:solidFill>
                <a:latin typeface="Arial" panose="020B0604020202020204" pitchFamily="34" charset="0"/>
                <a:cs typeface="Arial" panose="020B0604020202020204" pitchFamily="34" charset="0"/>
              </a:rPr>
              <a:t>(Qualidade + Operação)</a:t>
            </a:r>
          </a:p>
        </p:txBody>
      </p:sp>
      <p:grpSp>
        <p:nvGrpSpPr>
          <p:cNvPr id="41" name="Google Shape;2561;p51">
            <a:extLst>
              <a:ext uri="{FF2B5EF4-FFF2-40B4-BE49-F238E27FC236}">
                <a16:creationId xmlns:a16="http://schemas.microsoft.com/office/drawing/2014/main" id="{6FBEF20F-E903-44C4-881A-70AE6F8AEF33}"/>
              </a:ext>
            </a:extLst>
          </p:cNvPr>
          <p:cNvGrpSpPr/>
          <p:nvPr/>
        </p:nvGrpSpPr>
        <p:grpSpPr>
          <a:xfrm>
            <a:off x="10403127" y="2176669"/>
            <a:ext cx="230870" cy="230118"/>
            <a:chOff x="852385" y="1510916"/>
            <a:chExt cx="353145" cy="351998"/>
          </a:xfrm>
          <a:solidFill>
            <a:schemeClr val="tx1">
              <a:lumMod val="85000"/>
              <a:lumOff val="15000"/>
            </a:schemeClr>
          </a:solidFill>
        </p:grpSpPr>
        <p:sp>
          <p:nvSpPr>
            <p:cNvPr id="42" name="Google Shape;2562;p51">
              <a:extLst>
                <a:ext uri="{FF2B5EF4-FFF2-40B4-BE49-F238E27FC236}">
                  <a16:creationId xmlns:a16="http://schemas.microsoft.com/office/drawing/2014/main" id="{864D4EBC-4F20-4F03-B58B-E924ED9A2A8A}"/>
                </a:ext>
              </a:extLst>
            </p:cNvPr>
            <p:cNvSpPr/>
            <p:nvPr/>
          </p:nvSpPr>
          <p:spPr>
            <a:xfrm>
              <a:off x="852385" y="1510916"/>
              <a:ext cx="353145" cy="187785"/>
            </a:xfrm>
            <a:custGeom>
              <a:avLst/>
              <a:gdLst/>
              <a:ahLst/>
              <a:cxnLst/>
              <a:rect l="l" t="t" r="r" b="b"/>
              <a:pathLst>
                <a:path w="11086" h="5895" extrusionOk="0">
                  <a:moveTo>
                    <a:pt x="6145" y="334"/>
                  </a:moveTo>
                  <a:lnTo>
                    <a:pt x="6145" y="703"/>
                  </a:lnTo>
                  <a:lnTo>
                    <a:pt x="4942" y="703"/>
                  </a:lnTo>
                  <a:lnTo>
                    <a:pt x="4942" y="334"/>
                  </a:lnTo>
                  <a:close/>
                  <a:moveTo>
                    <a:pt x="10764" y="1025"/>
                  </a:moveTo>
                  <a:lnTo>
                    <a:pt x="10764" y="1596"/>
                  </a:lnTo>
                  <a:lnTo>
                    <a:pt x="346" y="1596"/>
                  </a:lnTo>
                  <a:lnTo>
                    <a:pt x="346" y="1025"/>
                  </a:lnTo>
                  <a:close/>
                  <a:moveTo>
                    <a:pt x="4775" y="1"/>
                  </a:moveTo>
                  <a:cubicBezTo>
                    <a:pt x="4692" y="1"/>
                    <a:pt x="4621" y="84"/>
                    <a:pt x="4621" y="167"/>
                  </a:cubicBezTo>
                  <a:lnTo>
                    <a:pt x="4621" y="703"/>
                  </a:lnTo>
                  <a:lnTo>
                    <a:pt x="168" y="703"/>
                  </a:lnTo>
                  <a:cubicBezTo>
                    <a:pt x="72" y="703"/>
                    <a:pt x="1" y="775"/>
                    <a:pt x="1" y="870"/>
                  </a:cubicBezTo>
                  <a:lnTo>
                    <a:pt x="1" y="1751"/>
                  </a:lnTo>
                  <a:cubicBezTo>
                    <a:pt x="1" y="1834"/>
                    <a:pt x="72" y="1906"/>
                    <a:pt x="168" y="1906"/>
                  </a:cubicBezTo>
                  <a:lnTo>
                    <a:pt x="656" y="1906"/>
                  </a:lnTo>
                  <a:lnTo>
                    <a:pt x="656" y="2620"/>
                  </a:lnTo>
                  <a:cubicBezTo>
                    <a:pt x="656" y="2715"/>
                    <a:pt x="727" y="2787"/>
                    <a:pt x="822" y="2787"/>
                  </a:cubicBezTo>
                  <a:cubicBezTo>
                    <a:pt x="906" y="2787"/>
                    <a:pt x="989" y="2715"/>
                    <a:pt x="989" y="2620"/>
                  </a:cubicBezTo>
                  <a:lnTo>
                    <a:pt x="989" y="1906"/>
                  </a:lnTo>
                  <a:lnTo>
                    <a:pt x="10109" y="1906"/>
                  </a:lnTo>
                  <a:lnTo>
                    <a:pt x="10109" y="5740"/>
                  </a:lnTo>
                  <a:cubicBezTo>
                    <a:pt x="10109" y="5823"/>
                    <a:pt x="10181" y="5894"/>
                    <a:pt x="10276" y="5894"/>
                  </a:cubicBezTo>
                  <a:cubicBezTo>
                    <a:pt x="10359" y="5894"/>
                    <a:pt x="10431" y="5823"/>
                    <a:pt x="10431" y="5740"/>
                  </a:cubicBezTo>
                  <a:lnTo>
                    <a:pt x="10431" y="1918"/>
                  </a:lnTo>
                  <a:lnTo>
                    <a:pt x="10931" y="1918"/>
                  </a:lnTo>
                  <a:cubicBezTo>
                    <a:pt x="11014" y="1918"/>
                    <a:pt x="11086" y="1846"/>
                    <a:pt x="11086" y="1763"/>
                  </a:cubicBezTo>
                  <a:lnTo>
                    <a:pt x="11086" y="882"/>
                  </a:lnTo>
                  <a:cubicBezTo>
                    <a:pt x="11086" y="775"/>
                    <a:pt x="11014" y="703"/>
                    <a:pt x="10931" y="703"/>
                  </a:cubicBezTo>
                  <a:lnTo>
                    <a:pt x="6478" y="703"/>
                  </a:lnTo>
                  <a:lnTo>
                    <a:pt x="6478" y="167"/>
                  </a:lnTo>
                  <a:cubicBezTo>
                    <a:pt x="6478" y="84"/>
                    <a:pt x="6406" y="1"/>
                    <a:pt x="631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563;p51">
              <a:extLst>
                <a:ext uri="{FF2B5EF4-FFF2-40B4-BE49-F238E27FC236}">
                  <a16:creationId xmlns:a16="http://schemas.microsoft.com/office/drawing/2014/main" id="{B6FB790E-6181-494B-8F66-47D168E05014}"/>
                </a:ext>
              </a:extLst>
            </p:cNvPr>
            <p:cNvSpPr/>
            <p:nvPr/>
          </p:nvSpPr>
          <p:spPr>
            <a:xfrm>
              <a:off x="852385" y="1609921"/>
              <a:ext cx="353145" cy="252992"/>
            </a:xfrm>
            <a:custGeom>
              <a:avLst/>
              <a:gdLst/>
              <a:ahLst/>
              <a:cxnLst/>
              <a:rect l="l" t="t" r="r" b="b"/>
              <a:pathLst>
                <a:path w="11086" h="7942" extrusionOk="0">
                  <a:moveTo>
                    <a:pt x="10764" y="4382"/>
                  </a:moveTo>
                  <a:lnTo>
                    <a:pt x="10764" y="4953"/>
                  </a:lnTo>
                  <a:lnTo>
                    <a:pt x="346" y="4953"/>
                  </a:lnTo>
                  <a:lnTo>
                    <a:pt x="346" y="4382"/>
                  </a:lnTo>
                  <a:close/>
                  <a:moveTo>
                    <a:pt x="6406" y="5275"/>
                  </a:moveTo>
                  <a:lnTo>
                    <a:pt x="6895" y="6168"/>
                  </a:lnTo>
                  <a:lnTo>
                    <a:pt x="4228" y="6168"/>
                  </a:lnTo>
                  <a:lnTo>
                    <a:pt x="4716" y="5275"/>
                  </a:lnTo>
                  <a:close/>
                  <a:moveTo>
                    <a:pt x="4335" y="5275"/>
                  </a:moveTo>
                  <a:lnTo>
                    <a:pt x="3049" y="7608"/>
                  </a:lnTo>
                  <a:lnTo>
                    <a:pt x="2573" y="7608"/>
                  </a:lnTo>
                  <a:lnTo>
                    <a:pt x="3859" y="5275"/>
                  </a:lnTo>
                  <a:close/>
                  <a:moveTo>
                    <a:pt x="7240" y="5275"/>
                  </a:moveTo>
                  <a:lnTo>
                    <a:pt x="8514" y="7608"/>
                  </a:lnTo>
                  <a:lnTo>
                    <a:pt x="8038" y="7608"/>
                  </a:lnTo>
                  <a:lnTo>
                    <a:pt x="6764" y="5275"/>
                  </a:lnTo>
                  <a:close/>
                  <a:moveTo>
                    <a:pt x="822" y="0"/>
                  </a:moveTo>
                  <a:cubicBezTo>
                    <a:pt x="727" y="0"/>
                    <a:pt x="656" y="84"/>
                    <a:pt x="656" y="167"/>
                  </a:cubicBezTo>
                  <a:lnTo>
                    <a:pt x="656" y="4072"/>
                  </a:lnTo>
                  <a:lnTo>
                    <a:pt x="168" y="4072"/>
                  </a:lnTo>
                  <a:cubicBezTo>
                    <a:pt x="72" y="4072"/>
                    <a:pt x="1" y="4144"/>
                    <a:pt x="1" y="4239"/>
                  </a:cubicBezTo>
                  <a:lnTo>
                    <a:pt x="1" y="5108"/>
                  </a:lnTo>
                  <a:cubicBezTo>
                    <a:pt x="1" y="5203"/>
                    <a:pt x="72" y="5275"/>
                    <a:pt x="168" y="5275"/>
                  </a:cubicBezTo>
                  <a:lnTo>
                    <a:pt x="3489" y="5275"/>
                  </a:lnTo>
                  <a:lnTo>
                    <a:pt x="2144" y="7704"/>
                  </a:lnTo>
                  <a:cubicBezTo>
                    <a:pt x="2120" y="7751"/>
                    <a:pt x="2120" y="7811"/>
                    <a:pt x="2144" y="7870"/>
                  </a:cubicBezTo>
                  <a:cubicBezTo>
                    <a:pt x="2180" y="7906"/>
                    <a:pt x="2239" y="7942"/>
                    <a:pt x="2275" y="7942"/>
                  </a:cubicBezTo>
                  <a:lnTo>
                    <a:pt x="3132" y="7942"/>
                  </a:lnTo>
                  <a:cubicBezTo>
                    <a:pt x="3192" y="7942"/>
                    <a:pt x="3251" y="7906"/>
                    <a:pt x="3275" y="7846"/>
                  </a:cubicBezTo>
                  <a:lnTo>
                    <a:pt x="3644" y="7168"/>
                  </a:lnTo>
                  <a:lnTo>
                    <a:pt x="4644" y="7168"/>
                  </a:lnTo>
                  <a:cubicBezTo>
                    <a:pt x="4728" y="7168"/>
                    <a:pt x="4811" y="7096"/>
                    <a:pt x="4811" y="7001"/>
                  </a:cubicBezTo>
                  <a:cubicBezTo>
                    <a:pt x="4811" y="6906"/>
                    <a:pt x="4728" y="6834"/>
                    <a:pt x="4644" y="6834"/>
                  </a:cubicBezTo>
                  <a:lnTo>
                    <a:pt x="3823" y="6834"/>
                  </a:lnTo>
                  <a:lnTo>
                    <a:pt x="4037" y="6465"/>
                  </a:lnTo>
                  <a:lnTo>
                    <a:pt x="7061" y="6465"/>
                  </a:lnTo>
                  <a:lnTo>
                    <a:pt x="7252" y="6834"/>
                  </a:lnTo>
                  <a:lnTo>
                    <a:pt x="5299" y="6834"/>
                  </a:lnTo>
                  <a:cubicBezTo>
                    <a:pt x="5216" y="6834"/>
                    <a:pt x="5133" y="6906"/>
                    <a:pt x="5133" y="7001"/>
                  </a:cubicBezTo>
                  <a:cubicBezTo>
                    <a:pt x="5133" y="7096"/>
                    <a:pt x="5216" y="7168"/>
                    <a:pt x="5299" y="7168"/>
                  </a:cubicBezTo>
                  <a:lnTo>
                    <a:pt x="7430" y="7168"/>
                  </a:lnTo>
                  <a:lnTo>
                    <a:pt x="7800" y="7846"/>
                  </a:lnTo>
                  <a:cubicBezTo>
                    <a:pt x="7835" y="7894"/>
                    <a:pt x="7895" y="7942"/>
                    <a:pt x="7954" y="7942"/>
                  </a:cubicBezTo>
                  <a:lnTo>
                    <a:pt x="8800" y="7942"/>
                  </a:lnTo>
                  <a:cubicBezTo>
                    <a:pt x="8859" y="7942"/>
                    <a:pt x="8907" y="7906"/>
                    <a:pt x="8931" y="7870"/>
                  </a:cubicBezTo>
                  <a:cubicBezTo>
                    <a:pt x="8966" y="7823"/>
                    <a:pt x="8966" y="7763"/>
                    <a:pt x="8931" y="7704"/>
                  </a:cubicBezTo>
                  <a:lnTo>
                    <a:pt x="7597" y="5275"/>
                  </a:lnTo>
                  <a:lnTo>
                    <a:pt x="10931" y="5275"/>
                  </a:lnTo>
                  <a:cubicBezTo>
                    <a:pt x="11014" y="5275"/>
                    <a:pt x="11086" y="5203"/>
                    <a:pt x="11086" y="5108"/>
                  </a:cubicBezTo>
                  <a:lnTo>
                    <a:pt x="11086" y="4239"/>
                  </a:lnTo>
                  <a:cubicBezTo>
                    <a:pt x="11086" y="4144"/>
                    <a:pt x="11014" y="4072"/>
                    <a:pt x="10931" y="4072"/>
                  </a:cubicBezTo>
                  <a:lnTo>
                    <a:pt x="10431" y="4072"/>
                  </a:lnTo>
                  <a:lnTo>
                    <a:pt x="10431" y="3263"/>
                  </a:lnTo>
                  <a:cubicBezTo>
                    <a:pt x="10431" y="3179"/>
                    <a:pt x="10359" y="3108"/>
                    <a:pt x="10276" y="3108"/>
                  </a:cubicBezTo>
                  <a:cubicBezTo>
                    <a:pt x="10181" y="3108"/>
                    <a:pt x="10109" y="3179"/>
                    <a:pt x="10109" y="3263"/>
                  </a:cubicBezTo>
                  <a:lnTo>
                    <a:pt x="10109" y="4072"/>
                  </a:lnTo>
                  <a:lnTo>
                    <a:pt x="989" y="4072"/>
                  </a:lnTo>
                  <a:lnTo>
                    <a:pt x="989" y="167"/>
                  </a:lnTo>
                  <a:cubicBezTo>
                    <a:pt x="989" y="84"/>
                    <a:pt x="906" y="0"/>
                    <a:pt x="82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564;p51">
              <a:extLst>
                <a:ext uri="{FF2B5EF4-FFF2-40B4-BE49-F238E27FC236}">
                  <a16:creationId xmlns:a16="http://schemas.microsoft.com/office/drawing/2014/main" id="{099484A7-C227-4045-819C-75C2F7C47320}"/>
                </a:ext>
              </a:extLst>
            </p:cNvPr>
            <p:cNvSpPr/>
            <p:nvPr/>
          </p:nvSpPr>
          <p:spPr>
            <a:xfrm>
              <a:off x="928264" y="1584501"/>
              <a:ext cx="198775" cy="140735"/>
            </a:xfrm>
            <a:custGeom>
              <a:avLst/>
              <a:gdLst/>
              <a:ahLst/>
              <a:cxnLst/>
              <a:rect l="l" t="t" r="r" b="b"/>
              <a:pathLst>
                <a:path w="6240" h="4418" extrusionOk="0">
                  <a:moveTo>
                    <a:pt x="5608" y="322"/>
                  </a:moveTo>
                  <a:cubicBezTo>
                    <a:pt x="5787" y="322"/>
                    <a:pt x="5929" y="465"/>
                    <a:pt x="5929" y="643"/>
                  </a:cubicBezTo>
                  <a:cubicBezTo>
                    <a:pt x="5929" y="798"/>
                    <a:pt x="5775" y="953"/>
                    <a:pt x="5608" y="953"/>
                  </a:cubicBezTo>
                  <a:cubicBezTo>
                    <a:pt x="5453" y="953"/>
                    <a:pt x="5298" y="822"/>
                    <a:pt x="5298" y="643"/>
                  </a:cubicBezTo>
                  <a:cubicBezTo>
                    <a:pt x="5298" y="477"/>
                    <a:pt x="5429" y="322"/>
                    <a:pt x="5608" y="322"/>
                  </a:cubicBezTo>
                  <a:close/>
                  <a:moveTo>
                    <a:pt x="2131" y="1334"/>
                  </a:moveTo>
                  <a:cubicBezTo>
                    <a:pt x="2310" y="1334"/>
                    <a:pt x="2441" y="1477"/>
                    <a:pt x="2441" y="1656"/>
                  </a:cubicBezTo>
                  <a:cubicBezTo>
                    <a:pt x="2441" y="1834"/>
                    <a:pt x="2310" y="1965"/>
                    <a:pt x="2131" y="1965"/>
                  </a:cubicBezTo>
                  <a:cubicBezTo>
                    <a:pt x="1965" y="1965"/>
                    <a:pt x="1822" y="1834"/>
                    <a:pt x="1822" y="1656"/>
                  </a:cubicBezTo>
                  <a:cubicBezTo>
                    <a:pt x="1822" y="1489"/>
                    <a:pt x="1953" y="1334"/>
                    <a:pt x="2131" y="1334"/>
                  </a:cubicBezTo>
                  <a:close/>
                  <a:moveTo>
                    <a:pt x="4036" y="2429"/>
                  </a:moveTo>
                  <a:cubicBezTo>
                    <a:pt x="4215" y="2429"/>
                    <a:pt x="4346" y="2560"/>
                    <a:pt x="4346" y="2739"/>
                  </a:cubicBezTo>
                  <a:cubicBezTo>
                    <a:pt x="4346" y="2918"/>
                    <a:pt x="4203" y="3049"/>
                    <a:pt x="4036" y="3049"/>
                  </a:cubicBezTo>
                  <a:cubicBezTo>
                    <a:pt x="3870" y="3049"/>
                    <a:pt x="3727" y="2918"/>
                    <a:pt x="3727" y="2739"/>
                  </a:cubicBezTo>
                  <a:cubicBezTo>
                    <a:pt x="3727" y="2572"/>
                    <a:pt x="3858" y="2429"/>
                    <a:pt x="4036" y="2429"/>
                  </a:cubicBezTo>
                  <a:close/>
                  <a:moveTo>
                    <a:pt x="595" y="3501"/>
                  </a:moveTo>
                  <a:cubicBezTo>
                    <a:pt x="774" y="3501"/>
                    <a:pt x="905" y="3632"/>
                    <a:pt x="905" y="3811"/>
                  </a:cubicBezTo>
                  <a:cubicBezTo>
                    <a:pt x="905" y="3989"/>
                    <a:pt x="762" y="4120"/>
                    <a:pt x="595" y="4120"/>
                  </a:cubicBezTo>
                  <a:cubicBezTo>
                    <a:pt x="429" y="4120"/>
                    <a:pt x="286" y="3989"/>
                    <a:pt x="286" y="3811"/>
                  </a:cubicBezTo>
                  <a:cubicBezTo>
                    <a:pt x="286" y="3644"/>
                    <a:pt x="417" y="3501"/>
                    <a:pt x="595" y="3501"/>
                  </a:cubicBezTo>
                  <a:close/>
                  <a:moveTo>
                    <a:pt x="5608" y="1"/>
                  </a:moveTo>
                  <a:cubicBezTo>
                    <a:pt x="5275" y="1"/>
                    <a:pt x="4989" y="286"/>
                    <a:pt x="4989" y="632"/>
                  </a:cubicBezTo>
                  <a:cubicBezTo>
                    <a:pt x="4989" y="786"/>
                    <a:pt x="5048" y="941"/>
                    <a:pt x="5156" y="1048"/>
                  </a:cubicBezTo>
                  <a:lnTo>
                    <a:pt x="4239" y="2132"/>
                  </a:lnTo>
                  <a:cubicBezTo>
                    <a:pt x="4179" y="2120"/>
                    <a:pt x="4108" y="2096"/>
                    <a:pt x="4048" y="2096"/>
                  </a:cubicBezTo>
                  <a:cubicBezTo>
                    <a:pt x="3858" y="2096"/>
                    <a:pt x="3679" y="2191"/>
                    <a:pt x="3560" y="2334"/>
                  </a:cubicBezTo>
                  <a:lnTo>
                    <a:pt x="2739" y="1882"/>
                  </a:lnTo>
                  <a:cubicBezTo>
                    <a:pt x="2774" y="1798"/>
                    <a:pt x="2786" y="1727"/>
                    <a:pt x="2786" y="1656"/>
                  </a:cubicBezTo>
                  <a:cubicBezTo>
                    <a:pt x="2786" y="1310"/>
                    <a:pt x="2500" y="1024"/>
                    <a:pt x="2155" y="1024"/>
                  </a:cubicBezTo>
                  <a:cubicBezTo>
                    <a:pt x="1822" y="1024"/>
                    <a:pt x="1536" y="1310"/>
                    <a:pt x="1536" y="1656"/>
                  </a:cubicBezTo>
                  <a:cubicBezTo>
                    <a:pt x="1536" y="1822"/>
                    <a:pt x="1596" y="1953"/>
                    <a:pt x="1703" y="2072"/>
                  </a:cubicBezTo>
                  <a:lnTo>
                    <a:pt x="834" y="3203"/>
                  </a:lnTo>
                  <a:cubicBezTo>
                    <a:pt x="774" y="3191"/>
                    <a:pt x="703" y="3168"/>
                    <a:pt x="631" y="3168"/>
                  </a:cubicBezTo>
                  <a:cubicBezTo>
                    <a:pt x="286" y="3168"/>
                    <a:pt x="0" y="3453"/>
                    <a:pt x="0" y="3799"/>
                  </a:cubicBezTo>
                  <a:cubicBezTo>
                    <a:pt x="0" y="4144"/>
                    <a:pt x="286" y="4418"/>
                    <a:pt x="631" y="4418"/>
                  </a:cubicBezTo>
                  <a:cubicBezTo>
                    <a:pt x="965" y="4418"/>
                    <a:pt x="1250" y="4144"/>
                    <a:pt x="1250" y="3799"/>
                  </a:cubicBezTo>
                  <a:cubicBezTo>
                    <a:pt x="1250" y="3632"/>
                    <a:pt x="1191" y="3501"/>
                    <a:pt x="1084" y="3382"/>
                  </a:cubicBezTo>
                  <a:lnTo>
                    <a:pt x="1953" y="2251"/>
                  </a:lnTo>
                  <a:cubicBezTo>
                    <a:pt x="2012" y="2263"/>
                    <a:pt x="2084" y="2275"/>
                    <a:pt x="2155" y="2275"/>
                  </a:cubicBezTo>
                  <a:cubicBezTo>
                    <a:pt x="2310" y="2275"/>
                    <a:pt x="2441" y="2215"/>
                    <a:pt x="2560" y="2144"/>
                  </a:cubicBezTo>
                  <a:lnTo>
                    <a:pt x="3441" y="2632"/>
                  </a:lnTo>
                  <a:cubicBezTo>
                    <a:pt x="3441" y="2668"/>
                    <a:pt x="3429" y="2691"/>
                    <a:pt x="3429" y="2739"/>
                  </a:cubicBezTo>
                  <a:cubicBezTo>
                    <a:pt x="3429" y="3084"/>
                    <a:pt x="3703" y="3370"/>
                    <a:pt x="4048" y="3370"/>
                  </a:cubicBezTo>
                  <a:cubicBezTo>
                    <a:pt x="4394" y="3370"/>
                    <a:pt x="4679" y="3084"/>
                    <a:pt x="4679" y="2739"/>
                  </a:cubicBezTo>
                  <a:cubicBezTo>
                    <a:pt x="4679" y="2572"/>
                    <a:pt x="4620" y="2429"/>
                    <a:pt x="4513" y="2322"/>
                  </a:cubicBezTo>
                  <a:lnTo>
                    <a:pt x="5418" y="1239"/>
                  </a:lnTo>
                  <a:cubicBezTo>
                    <a:pt x="5477" y="1251"/>
                    <a:pt x="5548" y="1263"/>
                    <a:pt x="5608" y="1263"/>
                  </a:cubicBezTo>
                  <a:cubicBezTo>
                    <a:pt x="5953" y="1263"/>
                    <a:pt x="6239" y="989"/>
                    <a:pt x="6239" y="643"/>
                  </a:cubicBezTo>
                  <a:cubicBezTo>
                    <a:pt x="6239" y="286"/>
                    <a:pt x="5953" y="1"/>
                    <a:pt x="560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CaixaDeTexto 46">
            <a:extLst>
              <a:ext uri="{FF2B5EF4-FFF2-40B4-BE49-F238E27FC236}">
                <a16:creationId xmlns:a16="http://schemas.microsoft.com/office/drawing/2014/main" id="{BF0E6FE5-B17A-42B9-9A44-DCF89B81043E}"/>
              </a:ext>
            </a:extLst>
          </p:cNvPr>
          <p:cNvSpPr txBox="1"/>
          <p:nvPr/>
        </p:nvSpPr>
        <p:spPr>
          <a:xfrm>
            <a:off x="3892995" y="4119778"/>
            <a:ext cx="2149223" cy="276999"/>
          </a:xfrm>
          <a:prstGeom prst="rect">
            <a:avLst/>
          </a:prstGeom>
          <a:noFill/>
        </p:spPr>
        <p:txBody>
          <a:bodyPr wrap="square" rtlCol="0">
            <a:spAutoFit/>
          </a:bodyPr>
          <a:lstStyle/>
          <a:p>
            <a:r>
              <a:rPr lang="pt-BR" sz="1200" b="1" dirty="0">
                <a:solidFill>
                  <a:schemeClr val="tx1">
                    <a:lumMod val="50000"/>
                    <a:lumOff val="50000"/>
                  </a:schemeClr>
                </a:solidFill>
                <a:latin typeface="Arial" panose="020B0604020202020204" pitchFamily="34" charset="0"/>
                <a:cs typeface="Arial" panose="020B0604020202020204" pitchFamily="34" charset="0"/>
              </a:rPr>
              <a:t>Volume de Feedback</a:t>
            </a:r>
          </a:p>
        </p:txBody>
      </p:sp>
      <p:sp>
        <p:nvSpPr>
          <p:cNvPr id="48" name="CaixaDeTexto 47">
            <a:extLst>
              <a:ext uri="{FF2B5EF4-FFF2-40B4-BE49-F238E27FC236}">
                <a16:creationId xmlns:a16="http://schemas.microsoft.com/office/drawing/2014/main" id="{FC6DA04E-F738-4A7B-BA80-252717B62CAA}"/>
              </a:ext>
            </a:extLst>
          </p:cNvPr>
          <p:cNvSpPr txBox="1"/>
          <p:nvPr/>
        </p:nvSpPr>
        <p:spPr>
          <a:xfrm>
            <a:off x="3894600" y="4304239"/>
            <a:ext cx="1673132" cy="1107996"/>
          </a:xfrm>
          <a:prstGeom prst="rect">
            <a:avLst/>
          </a:prstGeom>
          <a:noFill/>
        </p:spPr>
        <p:txBody>
          <a:bodyPr wrap="square" rtlCol="0">
            <a:spAutoFit/>
          </a:bodyPr>
          <a:lstStyle/>
          <a:p>
            <a:pPr algn="ctr"/>
            <a:r>
              <a:rPr lang="pt-BR" sz="6600" b="1" dirty="0">
                <a:solidFill>
                  <a:schemeClr val="tx1">
                    <a:lumMod val="50000"/>
                    <a:lumOff val="50000"/>
                  </a:schemeClr>
                </a:solidFill>
                <a:latin typeface="Arial" panose="020B0604020202020204" pitchFamily="34" charset="0"/>
                <a:cs typeface="Arial" panose="020B0604020202020204" pitchFamily="34" charset="0"/>
              </a:rPr>
              <a:t>395</a:t>
            </a:r>
          </a:p>
        </p:txBody>
      </p:sp>
      <p:grpSp>
        <p:nvGrpSpPr>
          <p:cNvPr id="49" name="Google Shape;3637;p53">
            <a:extLst>
              <a:ext uri="{FF2B5EF4-FFF2-40B4-BE49-F238E27FC236}">
                <a16:creationId xmlns:a16="http://schemas.microsoft.com/office/drawing/2014/main" id="{5F55345F-DD7D-4D97-A22E-8C6A53D2CE13}"/>
              </a:ext>
            </a:extLst>
          </p:cNvPr>
          <p:cNvGrpSpPr/>
          <p:nvPr/>
        </p:nvGrpSpPr>
        <p:grpSpPr>
          <a:xfrm>
            <a:off x="7683673" y="4207757"/>
            <a:ext cx="286642" cy="288164"/>
            <a:chOff x="7098912" y="1969392"/>
            <a:chExt cx="359651" cy="361560"/>
          </a:xfrm>
          <a:solidFill>
            <a:schemeClr val="tx1">
              <a:lumMod val="85000"/>
              <a:lumOff val="15000"/>
            </a:schemeClr>
          </a:solidFill>
        </p:grpSpPr>
        <p:sp>
          <p:nvSpPr>
            <p:cNvPr id="50" name="Google Shape;3638;p53">
              <a:extLst>
                <a:ext uri="{FF2B5EF4-FFF2-40B4-BE49-F238E27FC236}">
                  <a16:creationId xmlns:a16="http://schemas.microsoft.com/office/drawing/2014/main" id="{6E792E51-DF81-4979-B773-F615C8DC120C}"/>
                </a:ext>
              </a:extLst>
            </p:cNvPr>
            <p:cNvSpPr/>
            <p:nvPr/>
          </p:nvSpPr>
          <p:spPr>
            <a:xfrm>
              <a:off x="7098912" y="2127607"/>
              <a:ext cx="134567" cy="202582"/>
            </a:xfrm>
            <a:custGeom>
              <a:avLst/>
              <a:gdLst/>
              <a:ahLst/>
              <a:cxnLst/>
              <a:rect l="l" t="t" r="r" b="b"/>
              <a:pathLst>
                <a:path w="4228" h="6365" extrusionOk="0">
                  <a:moveTo>
                    <a:pt x="2108" y="331"/>
                  </a:moveTo>
                  <a:cubicBezTo>
                    <a:pt x="2153" y="331"/>
                    <a:pt x="2198" y="334"/>
                    <a:pt x="2239" y="340"/>
                  </a:cubicBezTo>
                  <a:cubicBezTo>
                    <a:pt x="2978" y="399"/>
                    <a:pt x="3537" y="1042"/>
                    <a:pt x="3537" y="1780"/>
                  </a:cubicBezTo>
                  <a:cubicBezTo>
                    <a:pt x="3537" y="2483"/>
                    <a:pt x="3704" y="3138"/>
                    <a:pt x="3847" y="3483"/>
                  </a:cubicBezTo>
                  <a:lnTo>
                    <a:pt x="3847" y="3495"/>
                  </a:lnTo>
                  <a:cubicBezTo>
                    <a:pt x="3656" y="3602"/>
                    <a:pt x="3335" y="3793"/>
                    <a:pt x="2787" y="3912"/>
                  </a:cubicBezTo>
                  <a:lnTo>
                    <a:pt x="2787" y="3864"/>
                  </a:lnTo>
                  <a:lnTo>
                    <a:pt x="2787" y="3531"/>
                  </a:lnTo>
                  <a:cubicBezTo>
                    <a:pt x="3001" y="3412"/>
                    <a:pt x="3180" y="3233"/>
                    <a:pt x="3299" y="3007"/>
                  </a:cubicBezTo>
                  <a:cubicBezTo>
                    <a:pt x="3537" y="2590"/>
                    <a:pt x="3454" y="2066"/>
                    <a:pt x="3108" y="1745"/>
                  </a:cubicBezTo>
                  <a:cubicBezTo>
                    <a:pt x="2870" y="1518"/>
                    <a:pt x="2430" y="1245"/>
                    <a:pt x="1727" y="1245"/>
                  </a:cubicBezTo>
                  <a:cubicBezTo>
                    <a:pt x="1680" y="1245"/>
                    <a:pt x="1632" y="1268"/>
                    <a:pt x="1608" y="1292"/>
                  </a:cubicBezTo>
                  <a:lnTo>
                    <a:pt x="1251" y="1649"/>
                  </a:lnTo>
                  <a:cubicBezTo>
                    <a:pt x="1192" y="1709"/>
                    <a:pt x="1192" y="1816"/>
                    <a:pt x="1251" y="1888"/>
                  </a:cubicBezTo>
                  <a:cubicBezTo>
                    <a:pt x="1281" y="1917"/>
                    <a:pt x="1323" y="1932"/>
                    <a:pt x="1366" y="1932"/>
                  </a:cubicBezTo>
                  <a:cubicBezTo>
                    <a:pt x="1409" y="1932"/>
                    <a:pt x="1454" y="1917"/>
                    <a:pt x="1489" y="1888"/>
                  </a:cubicBezTo>
                  <a:lnTo>
                    <a:pt x="1799" y="1578"/>
                  </a:lnTo>
                  <a:cubicBezTo>
                    <a:pt x="2239" y="1590"/>
                    <a:pt x="2608" y="1721"/>
                    <a:pt x="2882" y="1983"/>
                  </a:cubicBezTo>
                  <a:cubicBezTo>
                    <a:pt x="3120" y="2185"/>
                    <a:pt x="3180" y="2542"/>
                    <a:pt x="3025" y="2828"/>
                  </a:cubicBezTo>
                  <a:cubicBezTo>
                    <a:pt x="2823" y="3173"/>
                    <a:pt x="2466" y="3376"/>
                    <a:pt x="2085" y="3376"/>
                  </a:cubicBezTo>
                  <a:cubicBezTo>
                    <a:pt x="1489" y="3376"/>
                    <a:pt x="1013" y="2900"/>
                    <a:pt x="1013" y="2304"/>
                  </a:cubicBezTo>
                  <a:cubicBezTo>
                    <a:pt x="1013" y="2209"/>
                    <a:pt x="942" y="2138"/>
                    <a:pt x="846" y="2138"/>
                  </a:cubicBezTo>
                  <a:cubicBezTo>
                    <a:pt x="763" y="2138"/>
                    <a:pt x="680" y="2209"/>
                    <a:pt x="680" y="2304"/>
                  </a:cubicBezTo>
                  <a:cubicBezTo>
                    <a:pt x="680" y="2828"/>
                    <a:pt x="965" y="3292"/>
                    <a:pt x="1394" y="3519"/>
                  </a:cubicBezTo>
                  <a:lnTo>
                    <a:pt x="1394" y="3852"/>
                  </a:lnTo>
                  <a:lnTo>
                    <a:pt x="1394" y="3900"/>
                  </a:lnTo>
                  <a:cubicBezTo>
                    <a:pt x="834" y="3781"/>
                    <a:pt x="501" y="3602"/>
                    <a:pt x="370" y="3495"/>
                  </a:cubicBezTo>
                  <a:cubicBezTo>
                    <a:pt x="370" y="3495"/>
                    <a:pt x="358" y="3495"/>
                    <a:pt x="370" y="3483"/>
                  </a:cubicBezTo>
                  <a:cubicBezTo>
                    <a:pt x="525" y="3138"/>
                    <a:pt x="680" y="2483"/>
                    <a:pt x="680" y="1780"/>
                  </a:cubicBezTo>
                  <a:cubicBezTo>
                    <a:pt x="680" y="1042"/>
                    <a:pt x="1251" y="399"/>
                    <a:pt x="1977" y="340"/>
                  </a:cubicBezTo>
                  <a:cubicBezTo>
                    <a:pt x="2019" y="334"/>
                    <a:pt x="2064" y="331"/>
                    <a:pt x="2108" y="331"/>
                  </a:cubicBezTo>
                  <a:close/>
                  <a:moveTo>
                    <a:pt x="2442" y="3662"/>
                  </a:moveTo>
                  <a:lnTo>
                    <a:pt x="2442" y="3852"/>
                  </a:lnTo>
                  <a:cubicBezTo>
                    <a:pt x="2442" y="4043"/>
                    <a:pt x="2549" y="4221"/>
                    <a:pt x="2727" y="4316"/>
                  </a:cubicBezTo>
                  <a:lnTo>
                    <a:pt x="2823" y="4376"/>
                  </a:lnTo>
                  <a:cubicBezTo>
                    <a:pt x="2680" y="4626"/>
                    <a:pt x="2382" y="4793"/>
                    <a:pt x="2073" y="4793"/>
                  </a:cubicBezTo>
                  <a:cubicBezTo>
                    <a:pt x="1751" y="4793"/>
                    <a:pt x="1477" y="4626"/>
                    <a:pt x="1311" y="4376"/>
                  </a:cubicBezTo>
                  <a:lnTo>
                    <a:pt x="1418" y="4316"/>
                  </a:lnTo>
                  <a:cubicBezTo>
                    <a:pt x="1596" y="4221"/>
                    <a:pt x="1692" y="4043"/>
                    <a:pt x="1692" y="3852"/>
                  </a:cubicBezTo>
                  <a:lnTo>
                    <a:pt x="1692" y="3662"/>
                  </a:lnTo>
                  <a:cubicBezTo>
                    <a:pt x="1811" y="3685"/>
                    <a:pt x="1930" y="3709"/>
                    <a:pt x="2073" y="3709"/>
                  </a:cubicBezTo>
                  <a:cubicBezTo>
                    <a:pt x="2192" y="3709"/>
                    <a:pt x="2323" y="3685"/>
                    <a:pt x="2442" y="3662"/>
                  </a:cubicBezTo>
                  <a:close/>
                  <a:moveTo>
                    <a:pt x="2096" y="0"/>
                  </a:moveTo>
                  <a:cubicBezTo>
                    <a:pt x="2040" y="0"/>
                    <a:pt x="1983" y="6"/>
                    <a:pt x="1930" y="18"/>
                  </a:cubicBezTo>
                  <a:cubicBezTo>
                    <a:pt x="1037" y="102"/>
                    <a:pt x="334" y="875"/>
                    <a:pt x="334" y="1780"/>
                  </a:cubicBezTo>
                  <a:cubicBezTo>
                    <a:pt x="334" y="2435"/>
                    <a:pt x="180" y="3042"/>
                    <a:pt x="60" y="3364"/>
                  </a:cubicBezTo>
                  <a:cubicBezTo>
                    <a:pt x="1" y="3507"/>
                    <a:pt x="37" y="3673"/>
                    <a:pt x="180" y="3781"/>
                  </a:cubicBezTo>
                  <a:cubicBezTo>
                    <a:pt x="311" y="3888"/>
                    <a:pt x="596" y="4043"/>
                    <a:pt x="1037" y="4162"/>
                  </a:cubicBezTo>
                  <a:lnTo>
                    <a:pt x="382" y="4495"/>
                  </a:lnTo>
                  <a:cubicBezTo>
                    <a:pt x="144" y="4614"/>
                    <a:pt x="1" y="4852"/>
                    <a:pt x="1" y="5114"/>
                  </a:cubicBezTo>
                  <a:lnTo>
                    <a:pt x="1" y="6209"/>
                  </a:lnTo>
                  <a:cubicBezTo>
                    <a:pt x="1" y="6293"/>
                    <a:pt x="72" y="6364"/>
                    <a:pt x="156" y="6364"/>
                  </a:cubicBezTo>
                  <a:cubicBezTo>
                    <a:pt x="251" y="6364"/>
                    <a:pt x="322" y="6293"/>
                    <a:pt x="322" y="6209"/>
                  </a:cubicBezTo>
                  <a:lnTo>
                    <a:pt x="322" y="5114"/>
                  </a:lnTo>
                  <a:cubicBezTo>
                    <a:pt x="322" y="4983"/>
                    <a:pt x="394" y="4852"/>
                    <a:pt x="537" y="4793"/>
                  </a:cubicBezTo>
                  <a:lnTo>
                    <a:pt x="1049" y="4519"/>
                  </a:lnTo>
                  <a:cubicBezTo>
                    <a:pt x="1275" y="4900"/>
                    <a:pt x="1680" y="5138"/>
                    <a:pt x="2108" y="5138"/>
                  </a:cubicBezTo>
                  <a:cubicBezTo>
                    <a:pt x="2561" y="5138"/>
                    <a:pt x="2942" y="4900"/>
                    <a:pt x="3168" y="4519"/>
                  </a:cubicBezTo>
                  <a:lnTo>
                    <a:pt x="3692" y="4793"/>
                  </a:lnTo>
                  <a:cubicBezTo>
                    <a:pt x="3811" y="4852"/>
                    <a:pt x="3894" y="4983"/>
                    <a:pt x="3894" y="5114"/>
                  </a:cubicBezTo>
                  <a:lnTo>
                    <a:pt x="3894" y="6209"/>
                  </a:lnTo>
                  <a:cubicBezTo>
                    <a:pt x="3894" y="6293"/>
                    <a:pt x="3966" y="6364"/>
                    <a:pt x="4061" y="6364"/>
                  </a:cubicBezTo>
                  <a:cubicBezTo>
                    <a:pt x="4144" y="6364"/>
                    <a:pt x="4228" y="6293"/>
                    <a:pt x="4228" y="6209"/>
                  </a:cubicBezTo>
                  <a:lnTo>
                    <a:pt x="4228" y="5114"/>
                  </a:lnTo>
                  <a:cubicBezTo>
                    <a:pt x="4192" y="4852"/>
                    <a:pt x="4049" y="4614"/>
                    <a:pt x="3811" y="4495"/>
                  </a:cubicBezTo>
                  <a:lnTo>
                    <a:pt x="3156" y="4162"/>
                  </a:lnTo>
                  <a:cubicBezTo>
                    <a:pt x="3597" y="4043"/>
                    <a:pt x="3870" y="3888"/>
                    <a:pt x="4013" y="3781"/>
                  </a:cubicBezTo>
                  <a:cubicBezTo>
                    <a:pt x="4156" y="3685"/>
                    <a:pt x="4192" y="3507"/>
                    <a:pt x="4132" y="3364"/>
                  </a:cubicBezTo>
                  <a:cubicBezTo>
                    <a:pt x="4001" y="3042"/>
                    <a:pt x="3847" y="2435"/>
                    <a:pt x="3847" y="1780"/>
                  </a:cubicBezTo>
                  <a:cubicBezTo>
                    <a:pt x="3847" y="875"/>
                    <a:pt x="3156" y="90"/>
                    <a:pt x="2263" y="18"/>
                  </a:cubicBezTo>
                  <a:cubicBezTo>
                    <a:pt x="2210" y="6"/>
                    <a:pt x="2153" y="0"/>
                    <a:pt x="209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sp>
          <p:nvSpPr>
            <p:cNvPr id="51" name="Google Shape;3639;p53">
              <a:extLst>
                <a:ext uri="{FF2B5EF4-FFF2-40B4-BE49-F238E27FC236}">
                  <a16:creationId xmlns:a16="http://schemas.microsoft.com/office/drawing/2014/main" id="{19FDBECF-6FEE-4821-9285-1F80A438C8D0}"/>
                </a:ext>
              </a:extLst>
            </p:cNvPr>
            <p:cNvSpPr/>
            <p:nvPr/>
          </p:nvSpPr>
          <p:spPr>
            <a:xfrm>
              <a:off x="7120141" y="2297184"/>
              <a:ext cx="10662" cy="33005"/>
            </a:xfrm>
            <a:custGeom>
              <a:avLst/>
              <a:gdLst/>
              <a:ahLst/>
              <a:cxnLst/>
              <a:rect l="l" t="t" r="r" b="b"/>
              <a:pathLst>
                <a:path w="335" h="1037" extrusionOk="0">
                  <a:moveTo>
                    <a:pt x="167" y="0"/>
                  </a:moveTo>
                  <a:cubicBezTo>
                    <a:pt x="72" y="0"/>
                    <a:pt x="1" y="72"/>
                    <a:pt x="1" y="167"/>
                  </a:cubicBezTo>
                  <a:lnTo>
                    <a:pt x="1" y="881"/>
                  </a:lnTo>
                  <a:cubicBezTo>
                    <a:pt x="1" y="965"/>
                    <a:pt x="72" y="1036"/>
                    <a:pt x="167" y="1036"/>
                  </a:cubicBezTo>
                  <a:cubicBezTo>
                    <a:pt x="251" y="1036"/>
                    <a:pt x="334" y="965"/>
                    <a:pt x="334" y="881"/>
                  </a:cubicBezTo>
                  <a:lnTo>
                    <a:pt x="334" y="167"/>
                  </a:lnTo>
                  <a:cubicBezTo>
                    <a:pt x="334" y="72"/>
                    <a:pt x="251" y="0"/>
                    <a:pt x="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sp>
          <p:nvSpPr>
            <p:cNvPr id="52" name="Google Shape;3640;p53">
              <a:extLst>
                <a:ext uri="{FF2B5EF4-FFF2-40B4-BE49-F238E27FC236}">
                  <a16:creationId xmlns:a16="http://schemas.microsoft.com/office/drawing/2014/main" id="{C1914079-D4B5-4231-B503-B0017E60AC85}"/>
                </a:ext>
              </a:extLst>
            </p:cNvPr>
            <p:cNvSpPr/>
            <p:nvPr/>
          </p:nvSpPr>
          <p:spPr>
            <a:xfrm>
              <a:off x="7199360" y="2297184"/>
              <a:ext cx="10248" cy="33005"/>
            </a:xfrm>
            <a:custGeom>
              <a:avLst/>
              <a:gdLst/>
              <a:ahLst/>
              <a:cxnLst/>
              <a:rect l="l" t="t" r="r" b="b"/>
              <a:pathLst>
                <a:path w="322" h="1037" extrusionOk="0">
                  <a:moveTo>
                    <a:pt x="167" y="0"/>
                  </a:moveTo>
                  <a:cubicBezTo>
                    <a:pt x="72" y="0"/>
                    <a:pt x="0" y="72"/>
                    <a:pt x="0" y="167"/>
                  </a:cubicBezTo>
                  <a:lnTo>
                    <a:pt x="0" y="881"/>
                  </a:lnTo>
                  <a:cubicBezTo>
                    <a:pt x="0" y="965"/>
                    <a:pt x="72" y="1036"/>
                    <a:pt x="167" y="1036"/>
                  </a:cubicBezTo>
                  <a:cubicBezTo>
                    <a:pt x="250" y="1036"/>
                    <a:pt x="322" y="965"/>
                    <a:pt x="322" y="881"/>
                  </a:cubicBezTo>
                  <a:lnTo>
                    <a:pt x="322" y="167"/>
                  </a:lnTo>
                  <a:cubicBezTo>
                    <a:pt x="322" y="72"/>
                    <a:pt x="250" y="0"/>
                    <a:pt x="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sp>
          <p:nvSpPr>
            <p:cNvPr id="53" name="Google Shape;3641;p53">
              <a:extLst>
                <a:ext uri="{FF2B5EF4-FFF2-40B4-BE49-F238E27FC236}">
                  <a16:creationId xmlns:a16="http://schemas.microsoft.com/office/drawing/2014/main" id="{E63FD7C3-F576-41E5-8195-379E28F82DC0}"/>
                </a:ext>
              </a:extLst>
            </p:cNvPr>
            <p:cNvSpPr/>
            <p:nvPr/>
          </p:nvSpPr>
          <p:spPr>
            <a:xfrm>
              <a:off x="7357001" y="2165704"/>
              <a:ext cx="56876" cy="17823"/>
            </a:xfrm>
            <a:custGeom>
              <a:avLst/>
              <a:gdLst/>
              <a:ahLst/>
              <a:cxnLst/>
              <a:rect l="l" t="t" r="r" b="b"/>
              <a:pathLst>
                <a:path w="1787" h="560" extrusionOk="0">
                  <a:moveTo>
                    <a:pt x="630" y="0"/>
                  </a:moveTo>
                  <a:cubicBezTo>
                    <a:pt x="478" y="0"/>
                    <a:pt x="311" y="14"/>
                    <a:pt x="131" y="48"/>
                  </a:cubicBezTo>
                  <a:cubicBezTo>
                    <a:pt x="60" y="71"/>
                    <a:pt x="0" y="143"/>
                    <a:pt x="0" y="214"/>
                  </a:cubicBezTo>
                  <a:lnTo>
                    <a:pt x="0" y="393"/>
                  </a:lnTo>
                  <a:cubicBezTo>
                    <a:pt x="0" y="488"/>
                    <a:pt x="72" y="560"/>
                    <a:pt x="167" y="560"/>
                  </a:cubicBezTo>
                  <a:cubicBezTo>
                    <a:pt x="250" y="560"/>
                    <a:pt x="322" y="488"/>
                    <a:pt x="322" y="393"/>
                  </a:cubicBezTo>
                  <a:lnTo>
                    <a:pt x="322" y="345"/>
                  </a:lnTo>
                  <a:cubicBezTo>
                    <a:pt x="436" y="334"/>
                    <a:pt x="543" y="328"/>
                    <a:pt x="642" y="328"/>
                  </a:cubicBezTo>
                  <a:cubicBezTo>
                    <a:pt x="851" y="328"/>
                    <a:pt x="1022" y="352"/>
                    <a:pt x="1143" y="393"/>
                  </a:cubicBezTo>
                  <a:cubicBezTo>
                    <a:pt x="1369" y="452"/>
                    <a:pt x="1488" y="524"/>
                    <a:pt x="1488" y="524"/>
                  </a:cubicBezTo>
                  <a:cubicBezTo>
                    <a:pt x="1512" y="548"/>
                    <a:pt x="1548" y="560"/>
                    <a:pt x="1572" y="560"/>
                  </a:cubicBezTo>
                  <a:cubicBezTo>
                    <a:pt x="1631" y="560"/>
                    <a:pt x="1679" y="524"/>
                    <a:pt x="1715" y="488"/>
                  </a:cubicBezTo>
                  <a:cubicBezTo>
                    <a:pt x="1786" y="405"/>
                    <a:pt x="1762" y="310"/>
                    <a:pt x="1679" y="262"/>
                  </a:cubicBezTo>
                  <a:cubicBezTo>
                    <a:pt x="1660" y="252"/>
                    <a:pt x="1280" y="0"/>
                    <a:pt x="6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sp>
          <p:nvSpPr>
            <p:cNvPr id="54" name="Google Shape;3642;p53">
              <a:extLst>
                <a:ext uri="{FF2B5EF4-FFF2-40B4-BE49-F238E27FC236}">
                  <a16:creationId xmlns:a16="http://schemas.microsoft.com/office/drawing/2014/main" id="{2168DEE8-42A0-4A8E-BBD0-746835BDC4DA}"/>
                </a:ext>
              </a:extLst>
            </p:cNvPr>
            <p:cNvSpPr/>
            <p:nvPr/>
          </p:nvSpPr>
          <p:spPr>
            <a:xfrm>
              <a:off x="7312666" y="2133113"/>
              <a:ext cx="145897" cy="197840"/>
            </a:xfrm>
            <a:custGeom>
              <a:avLst/>
              <a:gdLst/>
              <a:ahLst/>
              <a:cxnLst/>
              <a:rect l="l" t="t" r="r" b="b"/>
              <a:pathLst>
                <a:path w="4584" h="6216" extrusionOk="0">
                  <a:moveTo>
                    <a:pt x="3536" y="345"/>
                  </a:moveTo>
                  <a:lnTo>
                    <a:pt x="3536" y="1167"/>
                  </a:lnTo>
                  <a:cubicBezTo>
                    <a:pt x="3536" y="1298"/>
                    <a:pt x="3512" y="1453"/>
                    <a:pt x="3453" y="1572"/>
                  </a:cubicBezTo>
                  <a:lnTo>
                    <a:pt x="3393" y="1703"/>
                  </a:lnTo>
                  <a:cubicBezTo>
                    <a:pt x="3370" y="1726"/>
                    <a:pt x="3370" y="1750"/>
                    <a:pt x="3370" y="1774"/>
                  </a:cubicBezTo>
                  <a:lnTo>
                    <a:pt x="3370" y="2131"/>
                  </a:lnTo>
                  <a:cubicBezTo>
                    <a:pt x="3358" y="2417"/>
                    <a:pt x="3239" y="2703"/>
                    <a:pt x="3036" y="2905"/>
                  </a:cubicBezTo>
                  <a:cubicBezTo>
                    <a:pt x="2834" y="3108"/>
                    <a:pt x="2568" y="3204"/>
                    <a:pt x="2288" y="3204"/>
                  </a:cubicBezTo>
                  <a:cubicBezTo>
                    <a:pt x="2271" y="3204"/>
                    <a:pt x="2255" y="3203"/>
                    <a:pt x="2238" y="3203"/>
                  </a:cubicBezTo>
                  <a:cubicBezTo>
                    <a:pt x="1667" y="3191"/>
                    <a:pt x="1203" y="2679"/>
                    <a:pt x="1203" y="2072"/>
                  </a:cubicBezTo>
                  <a:lnTo>
                    <a:pt x="1203" y="1774"/>
                  </a:lnTo>
                  <a:cubicBezTo>
                    <a:pt x="1203" y="1750"/>
                    <a:pt x="1203" y="1726"/>
                    <a:pt x="1191" y="1703"/>
                  </a:cubicBezTo>
                  <a:lnTo>
                    <a:pt x="1131" y="1572"/>
                  </a:lnTo>
                  <a:cubicBezTo>
                    <a:pt x="1072" y="1453"/>
                    <a:pt x="1036" y="1298"/>
                    <a:pt x="1036" y="1167"/>
                  </a:cubicBezTo>
                  <a:cubicBezTo>
                    <a:pt x="1036" y="702"/>
                    <a:pt x="1405" y="345"/>
                    <a:pt x="1857" y="345"/>
                  </a:cubicBezTo>
                  <a:close/>
                  <a:moveTo>
                    <a:pt x="1726" y="3417"/>
                  </a:moveTo>
                  <a:cubicBezTo>
                    <a:pt x="1869" y="3489"/>
                    <a:pt x="2048" y="3512"/>
                    <a:pt x="2227" y="3536"/>
                  </a:cubicBezTo>
                  <a:lnTo>
                    <a:pt x="2274" y="3536"/>
                  </a:lnTo>
                  <a:cubicBezTo>
                    <a:pt x="2465" y="3536"/>
                    <a:pt x="2643" y="3489"/>
                    <a:pt x="2822" y="3429"/>
                  </a:cubicBezTo>
                  <a:lnTo>
                    <a:pt x="2822" y="3655"/>
                  </a:lnTo>
                  <a:cubicBezTo>
                    <a:pt x="2822" y="3691"/>
                    <a:pt x="2834" y="3750"/>
                    <a:pt x="2834" y="3798"/>
                  </a:cubicBezTo>
                  <a:lnTo>
                    <a:pt x="2274" y="4227"/>
                  </a:lnTo>
                  <a:lnTo>
                    <a:pt x="1703" y="3798"/>
                  </a:lnTo>
                  <a:cubicBezTo>
                    <a:pt x="1726" y="3750"/>
                    <a:pt x="1726" y="3715"/>
                    <a:pt x="1726" y="3655"/>
                  </a:cubicBezTo>
                  <a:lnTo>
                    <a:pt x="1726" y="3417"/>
                  </a:lnTo>
                  <a:close/>
                  <a:moveTo>
                    <a:pt x="1857" y="0"/>
                  </a:moveTo>
                  <a:cubicBezTo>
                    <a:pt x="1215" y="0"/>
                    <a:pt x="691" y="524"/>
                    <a:pt x="691" y="1167"/>
                  </a:cubicBezTo>
                  <a:cubicBezTo>
                    <a:pt x="691" y="1357"/>
                    <a:pt x="738" y="1548"/>
                    <a:pt x="834" y="1715"/>
                  </a:cubicBezTo>
                  <a:lnTo>
                    <a:pt x="869" y="1810"/>
                  </a:lnTo>
                  <a:lnTo>
                    <a:pt x="869" y="2072"/>
                  </a:lnTo>
                  <a:cubicBezTo>
                    <a:pt x="869" y="2536"/>
                    <a:pt x="1084" y="2941"/>
                    <a:pt x="1405" y="3215"/>
                  </a:cubicBezTo>
                  <a:lnTo>
                    <a:pt x="1405" y="3667"/>
                  </a:lnTo>
                  <a:cubicBezTo>
                    <a:pt x="1405" y="3739"/>
                    <a:pt x="1369" y="3810"/>
                    <a:pt x="1286" y="3846"/>
                  </a:cubicBezTo>
                  <a:lnTo>
                    <a:pt x="441" y="4155"/>
                  </a:lnTo>
                  <a:cubicBezTo>
                    <a:pt x="179" y="4262"/>
                    <a:pt x="0" y="4512"/>
                    <a:pt x="0" y="4810"/>
                  </a:cubicBezTo>
                  <a:lnTo>
                    <a:pt x="0" y="6048"/>
                  </a:lnTo>
                  <a:cubicBezTo>
                    <a:pt x="0" y="6132"/>
                    <a:pt x="72" y="6215"/>
                    <a:pt x="155" y="6215"/>
                  </a:cubicBezTo>
                  <a:cubicBezTo>
                    <a:pt x="250" y="6215"/>
                    <a:pt x="322" y="6132"/>
                    <a:pt x="322" y="6048"/>
                  </a:cubicBezTo>
                  <a:lnTo>
                    <a:pt x="322" y="4810"/>
                  </a:lnTo>
                  <a:cubicBezTo>
                    <a:pt x="322" y="4655"/>
                    <a:pt x="417" y="4524"/>
                    <a:pt x="560" y="4465"/>
                  </a:cubicBezTo>
                  <a:lnTo>
                    <a:pt x="1405" y="4155"/>
                  </a:lnTo>
                  <a:cubicBezTo>
                    <a:pt x="1453" y="4143"/>
                    <a:pt x="1500" y="4108"/>
                    <a:pt x="1524" y="4084"/>
                  </a:cubicBezTo>
                  <a:lnTo>
                    <a:pt x="2119" y="4524"/>
                  </a:lnTo>
                  <a:lnTo>
                    <a:pt x="2119" y="6036"/>
                  </a:lnTo>
                  <a:cubicBezTo>
                    <a:pt x="2119" y="6120"/>
                    <a:pt x="2203" y="6191"/>
                    <a:pt x="2286" y="6191"/>
                  </a:cubicBezTo>
                  <a:cubicBezTo>
                    <a:pt x="2369" y="6191"/>
                    <a:pt x="2453" y="6120"/>
                    <a:pt x="2453" y="6036"/>
                  </a:cubicBezTo>
                  <a:lnTo>
                    <a:pt x="2453" y="4512"/>
                  </a:lnTo>
                  <a:lnTo>
                    <a:pt x="3048" y="4072"/>
                  </a:lnTo>
                  <a:cubicBezTo>
                    <a:pt x="3084" y="4096"/>
                    <a:pt x="3120" y="4108"/>
                    <a:pt x="3167" y="4143"/>
                  </a:cubicBezTo>
                  <a:lnTo>
                    <a:pt x="4012" y="4453"/>
                  </a:lnTo>
                  <a:cubicBezTo>
                    <a:pt x="4155" y="4512"/>
                    <a:pt x="4251" y="4643"/>
                    <a:pt x="4251" y="4798"/>
                  </a:cubicBezTo>
                  <a:lnTo>
                    <a:pt x="4251" y="6036"/>
                  </a:lnTo>
                  <a:cubicBezTo>
                    <a:pt x="4251" y="6120"/>
                    <a:pt x="4322" y="6191"/>
                    <a:pt x="4417" y="6191"/>
                  </a:cubicBezTo>
                  <a:cubicBezTo>
                    <a:pt x="4501" y="6191"/>
                    <a:pt x="4572" y="6120"/>
                    <a:pt x="4572" y="6036"/>
                  </a:cubicBezTo>
                  <a:lnTo>
                    <a:pt x="4572" y="4798"/>
                  </a:lnTo>
                  <a:cubicBezTo>
                    <a:pt x="4584" y="4512"/>
                    <a:pt x="4382" y="4251"/>
                    <a:pt x="4120" y="4143"/>
                  </a:cubicBezTo>
                  <a:lnTo>
                    <a:pt x="3274" y="3834"/>
                  </a:lnTo>
                  <a:cubicBezTo>
                    <a:pt x="3191" y="3798"/>
                    <a:pt x="3155" y="3727"/>
                    <a:pt x="3155" y="3655"/>
                  </a:cubicBezTo>
                  <a:lnTo>
                    <a:pt x="3155" y="3215"/>
                  </a:lnTo>
                  <a:cubicBezTo>
                    <a:pt x="3179" y="3191"/>
                    <a:pt x="3227" y="3155"/>
                    <a:pt x="3250" y="3131"/>
                  </a:cubicBezTo>
                  <a:cubicBezTo>
                    <a:pt x="3536" y="2858"/>
                    <a:pt x="3691" y="2500"/>
                    <a:pt x="3691" y="2119"/>
                  </a:cubicBezTo>
                  <a:lnTo>
                    <a:pt x="3691" y="1810"/>
                  </a:lnTo>
                  <a:lnTo>
                    <a:pt x="3727" y="1715"/>
                  </a:lnTo>
                  <a:cubicBezTo>
                    <a:pt x="3822" y="1548"/>
                    <a:pt x="3870" y="1357"/>
                    <a:pt x="3870" y="1167"/>
                  </a:cubicBezTo>
                  <a:lnTo>
                    <a:pt x="3870" y="167"/>
                  </a:lnTo>
                  <a:cubicBezTo>
                    <a:pt x="3870" y="71"/>
                    <a:pt x="3786" y="0"/>
                    <a:pt x="370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sp>
          <p:nvSpPr>
            <p:cNvPr id="55" name="Google Shape;3643;p53">
              <a:extLst>
                <a:ext uri="{FF2B5EF4-FFF2-40B4-BE49-F238E27FC236}">
                  <a16:creationId xmlns:a16="http://schemas.microsoft.com/office/drawing/2014/main" id="{751A078A-329B-42B3-ACE7-D5D03D0F90EE}"/>
                </a:ext>
              </a:extLst>
            </p:cNvPr>
            <p:cNvSpPr/>
            <p:nvPr/>
          </p:nvSpPr>
          <p:spPr>
            <a:xfrm>
              <a:off x="7340324" y="2291486"/>
              <a:ext cx="10630" cy="38702"/>
            </a:xfrm>
            <a:custGeom>
              <a:avLst/>
              <a:gdLst/>
              <a:ahLst/>
              <a:cxnLst/>
              <a:rect l="l" t="t" r="r" b="b"/>
              <a:pathLst>
                <a:path w="334" h="1216" extrusionOk="0">
                  <a:moveTo>
                    <a:pt x="167" y="1"/>
                  </a:moveTo>
                  <a:cubicBezTo>
                    <a:pt x="84" y="1"/>
                    <a:pt x="0" y="72"/>
                    <a:pt x="0" y="167"/>
                  </a:cubicBezTo>
                  <a:lnTo>
                    <a:pt x="0" y="1060"/>
                  </a:lnTo>
                  <a:cubicBezTo>
                    <a:pt x="0" y="1144"/>
                    <a:pt x="84" y="1215"/>
                    <a:pt x="167" y="1215"/>
                  </a:cubicBezTo>
                  <a:cubicBezTo>
                    <a:pt x="262" y="1215"/>
                    <a:pt x="334" y="1144"/>
                    <a:pt x="334" y="1060"/>
                  </a:cubicBezTo>
                  <a:lnTo>
                    <a:pt x="334" y="167"/>
                  </a:lnTo>
                  <a:cubicBezTo>
                    <a:pt x="334" y="72"/>
                    <a:pt x="262" y="1"/>
                    <a:pt x="1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sp>
          <p:nvSpPr>
            <p:cNvPr id="56" name="Google Shape;3644;p53">
              <a:extLst>
                <a:ext uri="{FF2B5EF4-FFF2-40B4-BE49-F238E27FC236}">
                  <a16:creationId xmlns:a16="http://schemas.microsoft.com/office/drawing/2014/main" id="{AB869589-4FD0-4DAE-87C3-16B618BA7BFA}"/>
                </a:ext>
              </a:extLst>
            </p:cNvPr>
            <p:cNvSpPr/>
            <p:nvPr/>
          </p:nvSpPr>
          <p:spPr>
            <a:xfrm>
              <a:off x="7419511" y="2291486"/>
              <a:ext cx="10630" cy="38702"/>
            </a:xfrm>
            <a:custGeom>
              <a:avLst/>
              <a:gdLst/>
              <a:ahLst/>
              <a:cxnLst/>
              <a:rect l="l" t="t" r="r" b="b"/>
              <a:pathLst>
                <a:path w="334" h="1216" extrusionOk="0">
                  <a:moveTo>
                    <a:pt x="167" y="1"/>
                  </a:moveTo>
                  <a:cubicBezTo>
                    <a:pt x="72" y="1"/>
                    <a:pt x="1" y="72"/>
                    <a:pt x="1" y="167"/>
                  </a:cubicBezTo>
                  <a:lnTo>
                    <a:pt x="1" y="1060"/>
                  </a:lnTo>
                  <a:cubicBezTo>
                    <a:pt x="1" y="1144"/>
                    <a:pt x="72" y="1215"/>
                    <a:pt x="167" y="1215"/>
                  </a:cubicBezTo>
                  <a:cubicBezTo>
                    <a:pt x="251" y="1215"/>
                    <a:pt x="334" y="1144"/>
                    <a:pt x="334" y="1060"/>
                  </a:cubicBezTo>
                  <a:lnTo>
                    <a:pt x="334" y="167"/>
                  </a:lnTo>
                  <a:cubicBezTo>
                    <a:pt x="334" y="72"/>
                    <a:pt x="251" y="1"/>
                    <a:pt x="1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sp>
          <p:nvSpPr>
            <p:cNvPr id="57" name="Google Shape;3645;p53">
              <a:extLst>
                <a:ext uri="{FF2B5EF4-FFF2-40B4-BE49-F238E27FC236}">
                  <a16:creationId xmlns:a16="http://schemas.microsoft.com/office/drawing/2014/main" id="{EE5BCDCB-AC0F-4F69-A95C-4B1B865D0205}"/>
                </a:ext>
              </a:extLst>
            </p:cNvPr>
            <p:cNvSpPr/>
            <p:nvPr/>
          </p:nvSpPr>
          <p:spPr>
            <a:xfrm>
              <a:off x="7153878" y="1969392"/>
              <a:ext cx="225498" cy="188355"/>
            </a:xfrm>
            <a:custGeom>
              <a:avLst/>
              <a:gdLst/>
              <a:ahLst/>
              <a:cxnLst/>
              <a:rect l="l" t="t" r="r" b="b"/>
              <a:pathLst>
                <a:path w="7085" h="5918" extrusionOk="0">
                  <a:moveTo>
                    <a:pt x="2441" y="4227"/>
                  </a:moveTo>
                  <a:lnTo>
                    <a:pt x="2346" y="4608"/>
                  </a:lnTo>
                  <a:lnTo>
                    <a:pt x="2132" y="4608"/>
                  </a:lnTo>
                  <a:cubicBezTo>
                    <a:pt x="1917" y="4608"/>
                    <a:pt x="1751" y="4442"/>
                    <a:pt x="1751" y="4239"/>
                  </a:cubicBezTo>
                  <a:lnTo>
                    <a:pt x="1751" y="4227"/>
                  </a:lnTo>
                  <a:close/>
                  <a:moveTo>
                    <a:pt x="5668" y="310"/>
                  </a:moveTo>
                  <a:cubicBezTo>
                    <a:pt x="5882" y="310"/>
                    <a:pt x="6037" y="477"/>
                    <a:pt x="6037" y="679"/>
                  </a:cubicBezTo>
                  <a:lnTo>
                    <a:pt x="6037" y="3525"/>
                  </a:lnTo>
                  <a:cubicBezTo>
                    <a:pt x="6037" y="3739"/>
                    <a:pt x="5882" y="3894"/>
                    <a:pt x="5668" y="3894"/>
                  </a:cubicBezTo>
                  <a:lnTo>
                    <a:pt x="4251" y="3894"/>
                  </a:lnTo>
                  <a:cubicBezTo>
                    <a:pt x="4227" y="3894"/>
                    <a:pt x="4179" y="3918"/>
                    <a:pt x="4156" y="3930"/>
                  </a:cubicBezTo>
                  <a:lnTo>
                    <a:pt x="2572" y="5084"/>
                  </a:lnTo>
                  <a:lnTo>
                    <a:pt x="2810" y="4108"/>
                  </a:lnTo>
                  <a:cubicBezTo>
                    <a:pt x="2822" y="4061"/>
                    <a:pt x="2810" y="4001"/>
                    <a:pt x="2786" y="3953"/>
                  </a:cubicBezTo>
                  <a:cubicBezTo>
                    <a:pt x="2751" y="3918"/>
                    <a:pt x="2703" y="3894"/>
                    <a:pt x="2644" y="3894"/>
                  </a:cubicBezTo>
                  <a:lnTo>
                    <a:pt x="703" y="3894"/>
                  </a:lnTo>
                  <a:cubicBezTo>
                    <a:pt x="489" y="3894"/>
                    <a:pt x="322" y="3739"/>
                    <a:pt x="322" y="3525"/>
                  </a:cubicBezTo>
                  <a:lnTo>
                    <a:pt x="322" y="679"/>
                  </a:lnTo>
                  <a:cubicBezTo>
                    <a:pt x="322" y="477"/>
                    <a:pt x="489" y="310"/>
                    <a:pt x="703" y="310"/>
                  </a:cubicBezTo>
                  <a:close/>
                  <a:moveTo>
                    <a:pt x="6382" y="1036"/>
                  </a:moveTo>
                  <a:cubicBezTo>
                    <a:pt x="6585" y="1036"/>
                    <a:pt x="6751" y="1203"/>
                    <a:pt x="6751" y="1417"/>
                  </a:cubicBezTo>
                  <a:lnTo>
                    <a:pt x="6751" y="4251"/>
                  </a:lnTo>
                  <a:lnTo>
                    <a:pt x="6739" y="4251"/>
                  </a:lnTo>
                  <a:cubicBezTo>
                    <a:pt x="6739" y="4465"/>
                    <a:pt x="6573" y="4632"/>
                    <a:pt x="6370" y="4632"/>
                  </a:cubicBezTo>
                  <a:lnTo>
                    <a:pt x="4953" y="4632"/>
                  </a:lnTo>
                  <a:cubicBezTo>
                    <a:pt x="4906" y="4632"/>
                    <a:pt x="4870" y="4644"/>
                    <a:pt x="4822" y="4692"/>
                  </a:cubicBezTo>
                  <a:cubicBezTo>
                    <a:pt x="4787" y="4727"/>
                    <a:pt x="4775" y="4775"/>
                    <a:pt x="4787" y="4823"/>
                  </a:cubicBezTo>
                  <a:lnTo>
                    <a:pt x="4906" y="5501"/>
                  </a:lnTo>
                  <a:lnTo>
                    <a:pt x="3691" y="4692"/>
                  </a:lnTo>
                  <a:lnTo>
                    <a:pt x="4299" y="4239"/>
                  </a:lnTo>
                  <a:lnTo>
                    <a:pt x="5668" y="4239"/>
                  </a:lnTo>
                  <a:cubicBezTo>
                    <a:pt x="6049" y="4239"/>
                    <a:pt x="6370" y="3930"/>
                    <a:pt x="6370" y="3537"/>
                  </a:cubicBezTo>
                  <a:lnTo>
                    <a:pt x="6370" y="1036"/>
                  </a:lnTo>
                  <a:close/>
                  <a:moveTo>
                    <a:pt x="703" y="1"/>
                  </a:moveTo>
                  <a:cubicBezTo>
                    <a:pt x="310" y="1"/>
                    <a:pt x="0" y="310"/>
                    <a:pt x="0" y="703"/>
                  </a:cubicBezTo>
                  <a:lnTo>
                    <a:pt x="0" y="3537"/>
                  </a:lnTo>
                  <a:cubicBezTo>
                    <a:pt x="0" y="3930"/>
                    <a:pt x="310" y="4239"/>
                    <a:pt x="703" y="4239"/>
                  </a:cubicBezTo>
                  <a:lnTo>
                    <a:pt x="1405" y="4239"/>
                  </a:lnTo>
                  <a:lnTo>
                    <a:pt x="1405" y="4251"/>
                  </a:lnTo>
                  <a:cubicBezTo>
                    <a:pt x="1405" y="4644"/>
                    <a:pt x="1727" y="4954"/>
                    <a:pt x="2108" y="4954"/>
                  </a:cubicBezTo>
                  <a:lnTo>
                    <a:pt x="2263" y="4954"/>
                  </a:lnTo>
                  <a:lnTo>
                    <a:pt x="2203" y="5227"/>
                  </a:lnTo>
                  <a:cubicBezTo>
                    <a:pt x="2167" y="5323"/>
                    <a:pt x="2215" y="5430"/>
                    <a:pt x="2298" y="5489"/>
                  </a:cubicBezTo>
                  <a:cubicBezTo>
                    <a:pt x="2346" y="5525"/>
                    <a:pt x="2394" y="5537"/>
                    <a:pt x="2453" y="5537"/>
                  </a:cubicBezTo>
                  <a:cubicBezTo>
                    <a:pt x="2513" y="5537"/>
                    <a:pt x="2560" y="5525"/>
                    <a:pt x="2596" y="5489"/>
                  </a:cubicBezTo>
                  <a:lnTo>
                    <a:pt x="3334" y="4954"/>
                  </a:lnTo>
                  <a:lnTo>
                    <a:pt x="3489" y="4954"/>
                  </a:lnTo>
                  <a:lnTo>
                    <a:pt x="4882" y="5882"/>
                  </a:lnTo>
                  <a:cubicBezTo>
                    <a:pt x="4918" y="5906"/>
                    <a:pt x="4965" y="5918"/>
                    <a:pt x="5013" y="5918"/>
                  </a:cubicBezTo>
                  <a:cubicBezTo>
                    <a:pt x="5061" y="5918"/>
                    <a:pt x="5096" y="5906"/>
                    <a:pt x="5144" y="5882"/>
                  </a:cubicBezTo>
                  <a:cubicBezTo>
                    <a:pt x="5239" y="5823"/>
                    <a:pt x="5287" y="5727"/>
                    <a:pt x="5263" y="5620"/>
                  </a:cubicBezTo>
                  <a:lnTo>
                    <a:pt x="5168" y="4954"/>
                  </a:lnTo>
                  <a:lnTo>
                    <a:pt x="6382" y="4954"/>
                  </a:lnTo>
                  <a:cubicBezTo>
                    <a:pt x="6763" y="4954"/>
                    <a:pt x="7085" y="4644"/>
                    <a:pt x="7085" y="4251"/>
                  </a:cubicBezTo>
                  <a:lnTo>
                    <a:pt x="7085" y="1417"/>
                  </a:lnTo>
                  <a:cubicBezTo>
                    <a:pt x="7085" y="1024"/>
                    <a:pt x="6775" y="715"/>
                    <a:pt x="6382" y="715"/>
                  </a:cubicBezTo>
                  <a:cubicBezTo>
                    <a:pt x="6370" y="310"/>
                    <a:pt x="6061" y="1"/>
                    <a:pt x="566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sp>
          <p:nvSpPr>
            <p:cNvPr id="58" name="Google Shape;3646;p53">
              <a:extLst>
                <a:ext uri="{FF2B5EF4-FFF2-40B4-BE49-F238E27FC236}">
                  <a16:creationId xmlns:a16="http://schemas.microsoft.com/office/drawing/2014/main" id="{3AA8BA00-0C5B-4CCC-9DFF-0B75C4860180}"/>
                </a:ext>
              </a:extLst>
            </p:cNvPr>
            <p:cNvSpPr/>
            <p:nvPr/>
          </p:nvSpPr>
          <p:spPr>
            <a:xfrm>
              <a:off x="7193663" y="2003511"/>
              <a:ext cx="27308" cy="10248"/>
            </a:xfrm>
            <a:custGeom>
              <a:avLst/>
              <a:gdLst/>
              <a:ahLst/>
              <a:cxnLst/>
              <a:rect l="l" t="t" r="r" b="b"/>
              <a:pathLst>
                <a:path w="858" h="322" extrusionOk="0">
                  <a:moveTo>
                    <a:pt x="167" y="0"/>
                  </a:moveTo>
                  <a:cubicBezTo>
                    <a:pt x="72" y="0"/>
                    <a:pt x="1" y="72"/>
                    <a:pt x="1" y="167"/>
                  </a:cubicBezTo>
                  <a:cubicBezTo>
                    <a:pt x="1" y="250"/>
                    <a:pt x="72" y="322"/>
                    <a:pt x="167" y="322"/>
                  </a:cubicBezTo>
                  <a:lnTo>
                    <a:pt x="703" y="322"/>
                  </a:lnTo>
                  <a:cubicBezTo>
                    <a:pt x="786" y="322"/>
                    <a:pt x="858" y="250"/>
                    <a:pt x="858" y="167"/>
                  </a:cubicBezTo>
                  <a:cubicBezTo>
                    <a:pt x="858" y="72"/>
                    <a:pt x="786" y="0"/>
                    <a:pt x="70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sp>
          <p:nvSpPr>
            <p:cNvPr id="59" name="Google Shape;3647;p53">
              <a:extLst>
                <a:ext uri="{FF2B5EF4-FFF2-40B4-BE49-F238E27FC236}">
                  <a16:creationId xmlns:a16="http://schemas.microsoft.com/office/drawing/2014/main" id="{BAB53E3B-45F1-4AC8-B28D-AED515A90A19}"/>
                </a:ext>
              </a:extLst>
            </p:cNvPr>
            <p:cNvSpPr/>
            <p:nvPr/>
          </p:nvSpPr>
          <p:spPr>
            <a:xfrm>
              <a:off x="7233065" y="2003511"/>
              <a:ext cx="83802" cy="10248"/>
            </a:xfrm>
            <a:custGeom>
              <a:avLst/>
              <a:gdLst/>
              <a:ahLst/>
              <a:cxnLst/>
              <a:rect l="l" t="t" r="r" b="b"/>
              <a:pathLst>
                <a:path w="2633" h="322" extrusionOk="0">
                  <a:moveTo>
                    <a:pt x="156" y="0"/>
                  </a:moveTo>
                  <a:cubicBezTo>
                    <a:pt x="72" y="0"/>
                    <a:pt x="1" y="72"/>
                    <a:pt x="1" y="167"/>
                  </a:cubicBezTo>
                  <a:cubicBezTo>
                    <a:pt x="1" y="250"/>
                    <a:pt x="72" y="322"/>
                    <a:pt x="156" y="322"/>
                  </a:cubicBezTo>
                  <a:lnTo>
                    <a:pt x="2465" y="322"/>
                  </a:lnTo>
                  <a:cubicBezTo>
                    <a:pt x="2561" y="322"/>
                    <a:pt x="2632" y="250"/>
                    <a:pt x="2632" y="167"/>
                  </a:cubicBezTo>
                  <a:cubicBezTo>
                    <a:pt x="2632" y="72"/>
                    <a:pt x="2573" y="0"/>
                    <a:pt x="24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sp>
          <p:nvSpPr>
            <p:cNvPr id="60" name="Google Shape;3648;p53">
              <a:extLst>
                <a:ext uri="{FF2B5EF4-FFF2-40B4-BE49-F238E27FC236}">
                  <a16:creationId xmlns:a16="http://schemas.microsoft.com/office/drawing/2014/main" id="{6A8872E4-8E33-4935-B31D-692F17BC7464}"/>
                </a:ext>
              </a:extLst>
            </p:cNvPr>
            <p:cNvSpPr/>
            <p:nvPr/>
          </p:nvSpPr>
          <p:spPr>
            <a:xfrm>
              <a:off x="7193281" y="2031933"/>
              <a:ext cx="123936" cy="10248"/>
            </a:xfrm>
            <a:custGeom>
              <a:avLst/>
              <a:gdLst/>
              <a:ahLst/>
              <a:cxnLst/>
              <a:rect l="l" t="t" r="r" b="b"/>
              <a:pathLst>
                <a:path w="3894" h="322" extrusionOk="0">
                  <a:moveTo>
                    <a:pt x="155" y="0"/>
                  </a:moveTo>
                  <a:cubicBezTo>
                    <a:pt x="72" y="0"/>
                    <a:pt x="1" y="71"/>
                    <a:pt x="1" y="167"/>
                  </a:cubicBezTo>
                  <a:cubicBezTo>
                    <a:pt x="1" y="250"/>
                    <a:pt x="72" y="322"/>
                    <a:pt x="155" y="322"/>
                  </a:cubicBezTo>
                  <a:lnTo>
                    <a:pt x="3715" y="322"/>
                  </a:lnTo>
                  <a:cubicBezTo>
                    <a:pt x="3811" y="322"/>
                    <a:pt x="3882" y="250"/>
                    <a:pt x="3882" y="167"/>
                  </a:cubicBezTo>
                  <a:cubicBezTo>
                    <a:pt x="3894" y="71"/>
                    <a:pt x="3823" y="0"/>
                    <a:pt x="371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sp>
          <p:nvSpPr>
            <p:cNvPr id="61" name="Google Shape;3649;p53">
              <a:extLst>
                <a:ext uri="{FF2B5EF4-FFF2-40B4-BE49-F238E27FC236}">
                  <a16:creationId xmlns:a16="http://schemas.microsoft.com/office/drawing/2014/main" id="{C986010D-E52D-4E81-80D4-5A480B9E65D6}"/>
                </a:ext>
              </a:extLst>
            </p:cNvPr>
            <p:cNvSpPr/>
            <p:nvPr/>
          </p:nvSpPr>
          <p:spPr>
            <a:xfrm>
              <a:off x="7193663" y="2059973"/>
              <a:ext cx="83770" cy="10248"/>
            </a:xfrm>
            <a:custGeom>
              <a:avLst/>
              <a:gdLst/>
              <a:ahLst/>
              <a:cxnLst/>
              <a:rect l="l" t="t" r="r" b="b"/>
              <a:pathLst>
                <a:path w="2632" h="322" extrusionOk="0">
                  <a:moveTo>
                    <a:pt x="167" y="0"/>
                  </a:moveTo>
                  <a:cubicBezTo>
                    <a:pt x="72" y="0"/>
                    <a:pt x="1" y="72"/>
                    <a:pt x="1" y="155"/>
                  </a:cubicBezTo>
                  <a:cubicBezTo>
                    <a:pt x="1" y="250"/>
                    <a:pt x="72" y="322"/>
                    <a:pt x="167" y="322"/>
                  </a:cubicBezTo>
                  <a:lnTo>
                    <a:pt x="2465" y="322"/>
                  </a:lnTo>
                  <a:cubicBezTo>
                    <a:pt x="2560" y="322"/>
                    <a:pt x="2632" y="250"/>
                    <a:pt x="2632" y="155"/>
                  </a:cubicBezTo>
                  <a:cubicBezTo>
                    <a:pt x="2632" y="72"/>
                    <a:pt x="2560" y="0"/>
                    <a:pt x="24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sp>
          <p:nvSpPr>
            <p:cNvPr id="62" name="Google Shape;3650;p53">
              <a:extLst>
                <a:ext uri="{FF2B5EF4-FFF2-40B4-BE49-F238E27FC236}">
                  <a16:creationId xmlns:a16="http://schemas.microsoft.com/office/drawing/2014/main" id="{6F0AF0E7-F33F-439A-8903-55E54872F203}"/>
                </a:ext>
              </a:extLst>
            </p:cNvPr>
            <p:cNvSpPr/>
            <p:nvPr/>
          </p:nvSpPr>
          <p:spPr>
            <a:xfrm>
              <a:off x="7289145" y="2059973"/>
              <a:ext cx="27722" cy="10248"/>
            </a:xfrm>
            <a:custGeom>
              <a:avLst/>
              <a:gdLst/>
              <a:ahLst/>
              <a:cxnLst/>
              <a:rect l="l" t="t" r="r" b="b"/>
              <a:pathLst>
                <a:path w="871" h="322" extrusionOk="0">
                  <a:moveTo>
                    <a:pt x="168" y="0"/>
                  </a:moveTo>
                  <a:cubicBezTo>
                    <a:pt x="84" y="0"/>
                    <a:pt x="1" y="72"/>
                    <a:pt x="1" y="155"/>
                  </a:cubicBezTo>
                  <a:cubicBezTo>
                    <a:pt x="1" y="250"/>
                    <a:pt x="84" y="322"/>
                    <a:pt x="168" y="322"/>
                  </a:cubicBezTo>
                  <a:lnTo>
                    <a:pt x="703" y="322"/>
                  </a:lnTo>
                  <a:cubicBezTo>
                    <a:pt x="799" y="322"/>
                    <a:pt x="870" y="250"/>
                    <a:pt x="870" y="155"/>
                  </a:cubicBezTo>
                  <a:cubicBezTo>
                    <a:pt x="870" y="72"/>
                    <a:pt x="811" y="0"/>
                    <a:pt x="70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grpSp>
      <p:sp>
        <p:nvSpPr>
          <p:cNvPr id="63" name="CaixaDeTexto 62">
            <a:extLst>
              <a:ext uri="{FF2B5EF4-FFF2-40B4-BE49-F238E27FC236}">
                <a16:creationId xmlns:a16="http://schemas.microsoft.com/office/drawing/2014/main" id="{9182527A-B164-4794-830B-92A3A7349125}"/>
              </a:ext>
            </a:extLst>
          </p:cNvPr>
          <p:cNvSpPr txBox="1"/>
          <p:nvPr/>
        </p:nvSpPr>
        <p:spPr>
          <a:xfrm>
            <a:off x="3379877" y="5237423"/>
            <a:ext cx="2658129" cy="246221"/>
          </a:xfrm>
          <a:prstGeom prst="rect">
            <a:avLst/>
          </a:prstGeom>
          <a:noFill/>
        </p:spPr>
        <p:txBody>
          <a:bodyPr wrap="square" rtlCol="0">
            <a:spAutoFit/>
          </a:bodyPr>
          <a:lstStyle/>
          <a:p>
            <a:pPr algn="ctr"/>
            <a:r>
              <a:rPr lang="pt-BR" sz="1000" b="1" dirty="0">
                <a:solidFill>
                  <a:schemeClr val="tx1">
                    <a:lumMod val="50000"/>
                    <a:lumOff val="50000"/>
                  </a:schemeClr>
                </a:solidFill>
                <a:latin typeface="Arial" panose="020B0604020202020204" pitchFamily="34" charset="0"/>
                <a:cs typeface="Arial" panose="020B0604020202020204" pitchFamily="34" charset="0"/>
              </a:rPr>
              <a:t>(Qualidade + Operação)</a:t>
            </a:r>
          </a:p>
        </p:txBody>
      </p:sp>
      <p:sp>
        <p:nvSpPr>
          <p:cNvPr id="68" name="Retângulo: Cantos Arredondados 67">
            <a:extLst>
              <a:ext uri="{FF2B5EF4-FFF2-40B4-BE49-F238E27FC236}">
                <a16:creationId xmlns:a16="http://schemas.microsoft.com/office/drawing/2014/main" id="{DE2F8EFF-F33D-4250-8441-37B57FADC64A}"/>
              </a:ext>
            </a:extLst>
          </p:cNvPr>
          <p:cNvSpPr/>
          <p:nvPr/>
        </p:nvSpPr>
        <p:spPr>
          <a:xfrm>
            <a:off x="9437580" y="2583476"/>
            <a:ext cx="983649" cy="329956"/>
          </a:xfrm>
          <a:prstGeom prst="roundRect">
            <a:avLst/>
          </a:prstGeom>
          <a:solidFill>
            <a:srgbClr val="00B0F0">
              <a:alpha val="33000"/>
            </a:srgbClr>
          </a:solidFill>
          <a:ln>
            <a:noFill/>
          </a:ln>
          <a:effectLst>
            <a:outerShdw blurRad="177800" dist="38100" dir="5400000" sx="107000" sy="107000" algn="t" rotWithShape="0">
              <a:prstClr val="black">
                <a:alpha val="1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65" name="CaixaDeTexto 64">
            <a:extLst>
              <a:ext uri="{FF2B5EF4-FFF2-40B4-BE49-F238E27FC236}">
                <a16:creationId xmlns:a16="http://schemas.microsoft.com/office/drawing/2014/main" id="{C02844A9-7651-4753-B295-E91FA142E752}"/>
              </a:ext>
            </a:extLst>
          </p:cNvPr>
          <p:cNvSpPr txBox="1"/>
          <p:nvPr/>
        </p:nvSpPr>
        <p:spPr>
          <a:xfrm>
            <a:off x="9778194" y="2670939"/>
            <a:ext cx="586226" cy="230832"/>
          </a:xfrm>
          <a:prstGeom prst="rect">
            <a:avLst/>
          </a:prstGeom>
          <a:noFill/>
        </p:spPr>
        <p:txBody>
          <a:bodyPr wrap="square" rtlCol="0">
            <a:spAutoFit/>
          </a:bodyPr>
          <a:lstStyle/>
          <a:p>
            <a:pPr algn="ctr"/>
            <a:r>
              <a:rPr lang="pt-BR" sz="900" b="1" dirty="0">
                <a:solidFill>
                  <a:srgbClr val="00B0F0"/>
                </a:solidFill>
                <a:latin typeface="Arial" panose="020B0604020202020204" pitchFamily="34" charset="0"/>
                <a:cs typeface="Arial" panose="020B0604020202020204" pitchFamily="34" charset="0"/>
              </a:rPr>
              <a:t>72,13</a:t>
            </a:r>
          </a:p>
        </p:txBody>
      </p:sp>
      <p:sp>
        <p:nvSpPr>
          <p:cNvPr id="66" name="CaixaDeTexto 65">
            <a:extLst>
              <a:ext uri="{FF2B5EF4-FFF2-40B4-BE49-F238E27FC236}">
                <a16:creationId xmlns:a16="http://schemas.microsoft.com/office/drawing/2014/main" id="{B6AC2246-F4DE-4F0D-9991-D269E36B8956}"/>
              </a:ext>
            </a:extLst>
          </p:cNvPr>
          <p:cNvSpPr txBox="1"/>
          <p:nvPr/>
        </p:nvSpPr>
        <p:spPr>
          <a:xfrm>
            <a:off x="9639834" y="2569152"/>
            <a:ext cx="693937" cy="184666"/>
          </a:xfrm>
          <a:prstGeom prst="rect">
            <a:avLst/>
          </a:prstGeom>
          <a:noFill/>
        </p:spPr>
        <p:txBody>
          <a:bodyPr wrap="square" rtlCol="0">
            <a:spAutoFit/>
          </a:bodyPr>
          <a:lstStyle/>
          <a:p>
            <a:pPr algn="ctr"/>
            <a:r>
              <a:rPr lang="pt-BR" sz="600" b="1" dirty="0">
                <a:solidFill>
                  <a:srgbClr val="00B0F0"/>
                </a:solidFill>
                <a:latin typeface="Arial" panose="020B0604020202020204" pitchFamily="34" charset="0"/>
                <a:cs typeface="Arial" panose="020B0604020202020204" pitchFamily="34" charset="0"/>
              </a:rPr>
              <a:t>Mês anterior </a:t>
            </a:r>
          </a:p>
        </p:txBody>
      </p:sp>
      <p:sp>
        <p:nvSpPr>
          <p:cNvPr id="72" name="Google Shape;2252;p50">
            <a:extLst>
              <a:ext uri="{FF2B5EF4-FFF2-40B4-BE49-F238E27FC236}">
                <a16:creationId xmlns:a16="http://schemas.microsoft.com/office/drawing/2014/main" id="{DC8ABE9C-FF66-4A29-BC5A-6ACA7897B022}"/>
              </a:ext>
            </a:extLst>
          </p:cNvPr>
          <p:cNvSpPr/>
          <p:nvPr/>
        </p:nvSpPr>
        <p:spPr>
          <a:xfrm>
            <a:off x="9539371" y="2715835"/>
            <a:ext cx="211300" cy="131628"/>
          </a:xfrm>
          <a:custGeom>
            <a:avLst/>
            <a:gdLst/>
            <a:ahLst/>
            <a:cxnLst/>
            <a:rect l="l" t="t" r="r" b="b"/>
            <a:pathLst>
              <a:path w="10419" h="6490" extrusionOk="0">
                <a:moveTo>
                  <a:pt x="2751" y="2905"/>
                </a:moveTo>
                <a:lnTo>
                  <a:pt x="2751" y="6191"/>
                </a:lnTo>
                <a:lnTo>
                  <a:pt x="1429" y="6191"/>
                </a:lnTo>
                <a:lnTo>
                  <a:pt x="1429" y="2905"/>
                </a:lnTo>
                <a:close/>
                <a:moveTo>
                  <a:pt x="5847" y="2084"/>
                </a:moveTo>
                <a:lnTo>
                  <a:pt x="5847" y="6191"/>
                </a:lnTo>
                <a:lnTo>
                  <a:pt x="4525" y="6191"/>
                </a:lnTo>
                <a:lnTo>
                  <a:pt x="4525" y="2084"/>
                </a:lnTo>
                <a:close/>
                <a:moveTo>
                  <a:pt x="8942" y="298"/>
                </a:moveTo>
                <a:lnTo>
                  <a:pt x="8942" y="6191"/>
                </a:lnTo>
                <a:lnTo>
                  <a:pt x="7609" y="6191"/>
                </a:lnTo>
                <a:lnTo>
                  <a:pt x="7609" y="298"/>
                </a:lnTo>
                <a:close/>
                <a:moveTo>
                  <a:pt x="7466" y="0"/>
                </a:moveTo>
                <a:cubicBezTo>
                  <a:pt x="7383" y="0"/>
                  <a:pt x="7323" y="72"/>
                  <a:pt x="7323" y="155"/>
                </a:cubicBezTo>
                <a:lnTo>
                  <a:pt x="7323" y="6191"/>
                </a:lnTo>
                <a:lnTo>
                  <a:pt x="6156" y="6191"/>
                </a:lnTo>
                <a:lnTo>
                  <a:pt x="6156" y="1941"/>
                </a:lnTo>
                <a:cubicBezTo>
                  <a:pt x="6156" y="1846"/>
                  <a:pt x="6085" y="1786"/>
                  <a:pt x="6013" y="1786"/>
                </a:cubicBezTo>
                <a:lnTo>
                  <a:pt x="4370" y="1786"/>
                </a:lnTo>
                <a:cubicBezTo>
                  <a:pt x="4287" y="1786"/>
                  <a:pt x="4227" y="1858"/>
                  <a:pt x="4227" y="1941"/>
                </a:cubicBezTo>
                <a:lnTo>
                  <a:pt x="4227" y="6191"/>
                </a:lnTo>
                <a:lnTo>
                  <a:pt x="3061" y="6191"/>
                </a:lnTo>
                <a:lnTo>
                  <a:pt x="3061" y="2751"/>
                </a:lnTo>
                <a:cubicBezTo>
                  <a:pt x="3061" y="2667"/>
                  <a:pt x="2989" y="2608"/>
                  <a:pt x="2918" y="2608"/>
                </a:cubicBezTo>
                <a:lnTo>
                  <a:pt x="1275" y="2608"/>
                </a:lnTo>
                <a:cubicBezTo>
                  <a:pt x="1191" y="2608"/>
                  <a:pt x="1132" y="2679"/>
                  <a:pt x="1132" y="2751"/>
                </a:cubicBezTo>
                <a:lnTo>
                  <a:pt x="1132" y="6191"/>
                </a:lnTo>
                <a:lnTo>
                  <a:pt x="144" y="6191"/>
                </a:lnTo>
                <a:cubicBezTo>
                  <a:pt x="60" y="6191"/>
                  <a:pt x="1" y="6263"/>
                  <a:pt x="1" y="6346"/>
                </a:cubicBezTo>
                <a:cubicBezTo>
                  <a:pt x="1" y="6430"/>
                  <a:pt x="72" y="6489"/>
                  <a:pt x="144" y="6489"/>
                </a:cubicBezTo>
                <a:lnTo>
                  <a:pt x="10264" y="6489"/>
                </a:lnTo>
                <a:cubicBezTo>
                  <a:pt x="10359" y="6489"/>
                  <a:pt x="10419" y="6418"/>
                  <a:pt x="10419" y="6346"/>
                </a:cubicBezTo>
                <a:cubicBezTo>
                  <a:pt x="10395" y="6251"/>
                  <a:pt x="10323" y="6191"/>
                  <a:pt x="10240" y="6191"/>
                </a:cubicBezTo>
                <a:lnTo>
                  <a:pt x="9252" y="6191"/>
                </a:lnTo>
                <a:lnTo>
                  <a:pt x="9252" y="155"/>
                </a:lnTo>
                <a:cubicBezTo>
                  <a:pt x="9252" y="60"/>
                  <a:pt x="9180" y="0"/>
                  <a:pt x="9109" y="0"/>
                </a:cubicBezTo>
                <a:close/>
              </a:path>
            </a:pathLst>
          </a:custGeom>
          <a:solidFill>
            <a:srgbClr val="00B0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Retângulo: Cantos Arredondados 85">
            <a:extLst>
              <a:ext uri="{FF2B5EF4-FFF2-40B4-BE49-F238E27FC236}">
                <a16:creationId xmlns:a16="http://schemas.microsoft.com/office/drawing/2014/main" id="{9143A6E9-6809-466E-8A9A-B26F01387941}"/>
              </a:ext>
            </a:extLst>
          </p:cNvPr>
          <p:cNvSpPr/>
          <p:nvPr/>
        </p:nvSpPr>
        <p:spPr>
          <a:xfrm>
            <a:off x="9440352" y="3046217"/>
            <a:ext cx="983649" cy="329956"/>
          </a:xfrm>
          <a:prstGeom prst="roundRect">
            <a:avLst/>
          </a:prstGeom>
          <a:solidFill>
            <a:srgbClr val="A7E1C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69" name="CaixaDeTexto 68">
            <a:extLst>
              <a:ext uri="{FF2B5EF4-FFF2-40B4-BE49-F238E27FC236}">
                <a16:creationId xmlns:a16="http://schemas.microsoft.com/office/drawing/2014/main" id="{BACBD4EB-8C45-4F25-8447-C28AE2745340}"/>
              </a:ext>
            </a:extLst>
          </p:cNvPr>
          <p:cNvSpPr txBox="1"/>
          <p:nvPr/>
        </p:nvSpPr>
        <p:spPr>
          <a:xfrm>
            <a:off x="9653178" y="3134172"/>
            <a:ext cx="745883" cy="230832"/>
          </a:xfrm>
          <a:prstGeom prst="rect">
            <a:avLst/>
          </a:prstGeom>
          <a:noFill/>
        </p:spPr>
        <p:txBody>
          <a:bodyPr wrap="square" rtlCol="0">
            <a:spAutoFit/>
          </a:bodyPr>
          <a:lstStyle/>
          <a:p>
            <a:pPr algn="ctr"/>
            <a:r>
              <a:rPr lang="pt-BR" sz="900" b="1" dirty="0">
                <a:solidFill>
                  <a:srgbClr val="00B050"/>
                </a:solidFill>
                <a:latin typeface="Arial" panose="020B0604020202020204" pitchFamily="34" charset="0"/>
                <a:cs typeface="Arial" panose="020B0604020202020204" pitchFamily="34" charset="0"/>
              </a:rPr>
              <a:t>+ 2,85</a:t>
            </a:r>
          </a:p>
        </p:txBody>
      </p:sp>
      <p:grpSp>
        <p:nvGrpSpPr>
          <p:cNvPr id="73" name="Google Shape;2139;p50">
            <a:extLst>
              <a:ext uri="{FF2B5EF4-FFF2-40B4-BE49-F238E27FC236}">
                <a16:creationId xmlns:a16="http://schemas.microsoft.com/office/drawing/2014/main" id="{CAE335B8-3CA4-4FF0-847E-A163EBF508F9}"/>
              </a:ext>
            </a:extLst>
          </p:cNvPr>
          <p:cNvGrpSpPr/>
          <p:nvPr/>
        </p:nvGrpSpPr>
        <p:grpSpPr>
          <a:xfrm>
            <a:off x="9526403" y="3124021"/>
            <a:ext cx="207026" cy="206636"/>
            <a:chOff x="1421638" y="4125629"/>
            <a:chExt cx="374709" cy="374010"/>
          </a:xfrm>
          <a:solidFill>
            <a:srgbClr val="00B050"/>
          </a:solidFill>
        </p:grpSpPr>
        <p:sp>
          <p:nvSpPr>
            <p:cNvPr id="74" name="Google Shape;2140;p50">
              <a:extLst>
                <a:ext uri="{FF2B5EF4-FFF2-40B4-BE49-F238E27FC236}">
                  <a16:creationId xmlns:a16="http://schemas.microsoft.com/office/drawing/2014/main" id="{0E956040-C3F6-4F7E-B01D-AA0390AEA9DC}"/>
                </a:ext>
              </a:extLst>
            </p:cNvPr>
            <p:cNvSpPr/>
            <p:nvPr/>
          </p:nvSpPr>
          <p:spPr>
            <a:xfrm>
              <a:off x="1421638" y="4265954"/>
              <a:ext cx="374709" cy="233685"/>
            </a:xfrm>
            <a:custGeom>
              <a:avLst/>
              <a:gdLst/>
              <a:ahLst/>
              <a:cxnLst/>
              <a:rect l="l" t="t" r="r" b="b"/>
              <a:pathLst>
                <a:path w="11800" h="7359" extrusionOk="0">
                  <a:moveTo>
                    <a:pt x="3180" y="3298"/>
                  </a:moveTo>
                  <a:lnTo>
                    <a:pt x="3180" y="7001"/>
                  </a:lnTo>
                  <a:lnTo>
                    <a:pt x="1691" y="7001"/>
                  </a:lnTo>
                  <a:lnTo>
                    <a:pt x="1691" y="3298"/>
                  </a:lnTo>
                  <a:close/>
                  <a:moveTo>
                    <a:pt x="6680" y="2370"/>
                  </a:moveTo>
                  <a:lnTo>
                    <a:pt x="6680" y="7001"/>
                  </a:lnTo>
                  <a:lnTo>
                    <a:pt x="5192" y="7001"/>
                  </a:lnTo>
                  <a:lnTo>
                    <a:pt x="5192" y="2370"/>
                  </a:lnTo>
                  <a:close/>
                  <a:moveTo>
                    <a:pt x="10180" y="345"/>
                  </a:moveTo>
                  <a:lnTo>
                    <a:pt x="10180" y="7001"/>
                  </a:lnTo>
                  <a:lnTo>
                    <a:pt x="8692" y="7001"/>
                  </a:lnTo>
                  <a:lnTo>
                    <a:pt x="8692" y="345"/>
                  </a:lnTo>
                  <a:close/>
                  <a:moveTo>
                    <a:pt x="8502" y="0"/>
                  </a:moveTo>
                  <a:cubicBezTo>
                    <a:pt x="8406" y="0"/>
                    <a:pt x="8323" y="84"/>
                    <a:pt x="8323" y="179"/>
                  </a:cubicBezTo>
                  <a:lnTo>
                    <a:pt x="8323" y="7001"/>
                  </a:lnTo>
                  <a:lnTo>
                    <a:pt x="7013" y="7001"/>
                  </a:lnTo>
                  <a:lnTo>
                    <a:pt x="7013" y="2203"/>
                  </a:lnTo>
                  <a:cubicBezTo>
                    <a:pt x="7013" y="2120"/>
                    <a:pt x="6930" y="2024"/>
                    <a:pt x="6835" y="2024"/>
                  </a:cubicBezTo>
                  <a:lnTo>
                    <a:pt x="4989" y="2024"/>
                  </a:lnTo>
                  <a:cubicBezTo>
                    <a:pt x="4894" y="2024"/>
                    <a:pt x="4811" y="2108"/>
                    <a:pt x="4811" y="2203"/>
                  </a:cubicBezTo>
                  <a:lnTo>
                    <a:pt x="4811" y="7001"/>
                  </a:lnTo>
                  <a:lnTo>
                    <a:pt x="3501" y="7001"/>
                  </a:lnTo>
                  <a:lnTo>
                    <a:pt x="3501" y="3132"/>
                  </a:lnTo>
                  <a:cubicBezTo>
                    <a:pt x="3501" y="3036"/>
                    <a:pt x="3418" y="2953"/>
                    <a:pt x="3322" y="2953"/>
                  </a:cubicBezTo>
                  <a:lnTo>
                    <a:pt x="1477" y="2953"/>
                  </a:lnTo>
                  <a:cubicBezTo>
                    <a:pt x="1382" y="2953"/>
                    <a:pt x="1298" y="3024"/>
                    <a:pt x="1298" y="3132"/>
                  </a:cubicBezTo>
                  <a:lnTo>
                    <a:pt x="1298" y="7001"/>
                  </a:lnTo>
                  <a:lnTo>
                    <a:pt x="179" y="7001"/>
                  </a:lnTo>
                  <a:cubicBezTo>
                    <a:pt x="84" y="7001"/>
                    <a:pt x="1" y="7073"/>
                    <a:pt x="1" y="7180"/>
                  </a:cubicBezTo>
                  <a:cubicBezTo>
                    <a:pt x="1" y="7287"/>
                    <a:pt x="72" y="7358"/>
                    <a:pt x="179" y="7358"/>
                  </a:cubicBezTo>
                  <a:lnTo>
                    <a:pt x="11597" y="7358"/>
                  </a:lnTo>
                  <a:cubicBezTo>
                    <a:pt x="11681" y="7358"/>
                    <a:pt x="11776" y="7287"/>
                    <a:pt x="11776" y="7180"/>
                  </a:cubicBezTo>
                  <a:cubicBezTo>
                    <a:pt x="11800" y="7073"/>
                    <a:pt x="11728" y="7001"/>
                    <a:pt x="11633" y="7001"/>
                  </a:cubicBezTo>
                  <a:lnTo>
                    <a:pt x="10526" y="7001"/>
                  </a:lnTo>
                  <a:lnTo>
                    <a:pt x="10526" y="179"/>
                  </a:lnTo>
                  <a:cubicBezTo>
                    <a:pt x="10526" y="95"/>
                    <a:pt x="10442" y="0"/>
                    <a:pt x="10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2141;p50">
              <a:extLst>
                <a:ext uri="{FF2B5EF4-FFF2-40B4-BE49-F238E27FC236}">
                  <a16:creationId xmlns:a16="http://schemas.microsoft.com/office/drawing/2014/main" id="{6213F634-69C5-45D1-B0CA-B369B824C994}"/>
                </a:ext>
              </a:extLst>
            </p:cNvPr>
            <p:cNvSpPr/>
            <p:nvPr/>
          </p:nvSpPr>
          <p:spPr>
            <a:xfrm>
              <a:off x="1428052" y="4125629"/>
              <a:ext cx="356958" cy="215585"/>
            </a:xfrm>
            <a:custGeom>
              <a:avLst/>
              <a:gdLst/>
              <a:ahLst/>
              <a:cxnLst/>
              <a:rect l="l" t="t" r="r" b="b"/>
              <a:pathLst>
                <a:path w="11241" h="6789" extrusionOk="0">
                  <a:moveTo>
                    <a:pt x="10668" y="0"/>
                  </a:moveTo>
                  <a:cubicBezTo>
                    <a:pt x="10653" y="0"/>
                    <a:pt x="10637" y="1"/>
                    <a:pt x="10621" y="2"/>
                  </a:cubicBezTo>
                  <a:lnTo>
                    <a:pt x="9145" y="181"/>
                  </a:lnTo>
                  <a:cubicBezTo>
                    <a:pt x="8847" y="216"/>
                    <a:pt x="8633" y="490"/>
                    <a:pt x="8669" y="788"/>
                  </a:cubicBezTo>
                  <a:cubicBezTo>
                    <a:pt x="8691" y="1064"/>
                    <a:pt x="8938" y="1268"/>
                    <a:pt x="9211" y="1268"/>
                  </a:cubicBezTo>
                  <a:cubicBezTo>
                    <a:pt x="9232" y="1268"/>
                    <a:pt x="9254" y="1267"/>
                    <a:pt x="9276" y="1264"/>
                  </a:cubicBezTo>
                  <a:lnTo>
                    <a:pt x="9395" y="1252"/>
                  </a:lnTo>
                  <a:lnTo>
                    <a:pt x="9395" y="1252"/>
                  </a:lnTo>
                  <a:cubicBezTo>
                    <a:pt x="7597" y="3348"/>
                    <a:pt x="5442" y="4443"/>
                    <a:pt x="3918" y="4979"/>
                  </a:cubicBezTo>
                  <a:cubicBezTo>
                    <a:pt x="2025" y="5657"/>
                    <a:pt x="561" y="5717"/>
                    <a:pt x="537" y="5717"/>
                  </a:cubicBezTo>
                  <a:cubicBezTo>
                    <a:pt x="239" y="5729"/>
                    <a:pt x="1" y="5967"/>
                    <a:pt x="25" y="6265"/>
                  </a:cubicBezTo>
                  <a:cubicBezTo>
                    <a:pt x="37" y="6562"/>
                    <a:pt x="275" y="6789"/>
                    <a:pt x="561" y="6789"/>
                  </a:cubicBezTo>
                  <a:lnTo>
                    <a:pt x="572" y="6789"/>
                  </a:lnTo>
                  <a:cubicBezTo>
                    <a:pt x="632" y="6789"/>
                    <a:pt x="2192" y="6729"/>
                    <a:pt x="4263" y="6003"/>
                  </a:cubicBezTo>
                  <a:cubicBezTo>
                    <a:pt x="5418" y="5586"/>
                    <a:pt x="6514" y="5050"/>
                    <a:pt x="7490" y="4383"/>
                  </a:cubicBezTo>
                  <a:cubicBezTo>
                    <a:pt x="7561" y="4324"/>
                    <a:pt x="7597" y="4217"/>
                    <a:pt x="7538" y="4145"/>
                  </a:cubicBezTo>
                  <a:cubicBezTo>
                    <a:pt x="7501" y="4093"/>
                    <a:pt x="7445" y="4065"/>
                    <a:pt x="7391" y="4065"/>
                  </a:cubicBezTo>
                  <a:cubicBezTo>
                    <a:pt x="7358" y="4065"/>
                    <a:pt x="7326" y="4075"/>
                    <a:pt x="7299" y="4098"/>
                  </a:cubicBezTo>
                  <a:cubicBezTo>
                    <a:pt x="6335" y="4753"/>
                    <a:pt x="5275" y="5288"/>
                    <a:pt x="4144" y="5693"/>
                  </a:cubicBezTo>
                  <a:cubicBezTo>
                    <a:pt x="2132" y="6408"/>
                    <a:pt x="632" y="6467"/>
                    <a:pt x="561" y="6467"/>
                  </a:cubicBezTo>
                  <a:cubicBezTo>
                    <a:pt x="453" y="6467"/>
                    <a:pt x="358" y="6372"/>
                    <a:pt x="358" y="6265"/>
                  </a:cubicBezTo>
                  <a:cubicBezTo>
                    <a:pt x="358" y="6169"/>
                    <a:pt x="441" y="6074"/>
                    <a:pt x="561" y="6062"/>
                  </a:cubicBezTo>
                  <a:cubicBezTo>
                    <a:pt x="572" y="6062"/>
                    <a:pt x="2085" y="6003"/>
                    <a:pt x="4037" y="5300"/>
                  </a:cubicBezTo>
                  <a:cubicBezTo>
                    <a:pt x="5680" y="4717"/>
                    <a:pt x="8026" y="3514"/>
                    <a:pt x="9943" y="1133"/>
                  </a:cubicBezTo>
                  <a:cubicBezTo>
                    <a:pt x="10035" y="1018"/>
                    <a:pt x="9949" y="847"/>
                    <a:pt x="9813" y="847"/>
                  </a:cubicBezTo>
                  <a:cubicBezTo>
                    <a:pt x="9809" y="847"/>
                    <a:pt x="9804" y="847"/>
                    <a:pt x="9800" y="847"/>
                  </a:cubicBezTo>
                  <a:lnTo>
                    <a:pt x="9252" y="931"/>
                  </a:lnTo>
                  <a:cubicBezTo>
                    <a:pt x="9244" y="932"/>
                    <a:pt x="9236" y="932"/>
                    <a:pt x="9228" y="932"/>
                  </a:cubicBezTo>
                  <a:cubicBezTo>
                    <a:pt x="9139" y="932"/>
                    <a:pt x="9049" y="874"/>
                    <a:pt x="9038" y="776"/>
                  </a:cubicBezTo>
                  <a:cubicBezTo>
                    <a:pt x="9014" y="657"/>
                    <a:pt x="9085" y="550"/>
                    <a:pt x="9204" y="538"/>
                  </a:cubicBezTo>
                  <a:lnTo>
                    <a:pt x="10681" y="359"/>
                  </a:lnTo>
                  <a:cubicBezTo>
                    <a:pt x="10688" y="358"/>
                    <a:pt x="10696" y="358"/>
                    <a:pt x="10703" y="358"/>
                  </a:cubicBezTo>
                  <a:cubicBezTo>
                    <a:pt x="10812" y="358"/>
                    <a:pt x="10895" y="438"/>
                    <a:pt x="10895" y="550"/>
                  </a:cubicBezTo>
                  <a:lnTo>
                    <a:pt x="10895" y="2026"/>
                  </a:lnTo>
                  <a:cubicBezTo>
                    <a:pt x="10895" y="2133"/>
                    <a:pt x="10812" y="2217"/>
                    <a:pt x="10705" y="2217"/>
                  </a:cubicBezTo>
                  <a:cubicBezTo>
                    <a:pt x="10598" y="2217"/>
                    <a:pt x="10514" y="2133"/>
                    <a:pt x="10514" y="2026"/>
                  </a:cubicBezTo>
                  <a:lnTo>
                    <a:pt x="10514" y="1586"/>
                  </a:lnTo>
                  <a:cubicBezTo>
                    <a:pt x="10514" y="1502"/>
                    <a:pt x="10467" y="1443"/>
                    <a:pt x="10407" y="1419"/>
                  </a:cubicBezTo>
                  <a:cubicBezTo>
                    <a:pt x="10387" y="1409"/>
                    <a:pt x="10368" y="1405"/>
                    <a:pt x="10349" y="1405"/>
                  </a:cubicBezTo>
                  <a:cubicBezTo>
                    <a:pt x="10298" y="1405"/>
                    <a:pt x="10251" y="1435"/>
                    <a:pt x="10217" y="1478"/>
                  </a:cubicBezTo>
                  <a:cubicBezTo>
                    <a:pt x="9574" y="2264"/>
                    <a:pt x="8835" y="2979"/>
                    <a:pt x="8026" y="3610"/>
                  </a:cubicBezTo>
                  <a:cubicBezTo>
                    <a:pt x="7954" y="3669"/>
                    <a:pt x="7942" y="3764"/>
                    <a:pt x="8002" y="3848"/>
                  </a:cubicBezTo>
                  <a:cubicBezTo>
                    <a:pt x="8036" y="3888"/>
                    <a:pt x="8081" y="3910"/>
                    <a:pt x="8129" y="3910"/>
                  </a:cubicBezTo>
                  <a:cubicBezTo>
                    <a:pt x="8166" y="3910"/>
                    <a:pt x="8204" y="3897"/>
                    <a:pt x="8240" y="3872"/>
                  </a:cubicBezTo>
                  <a:cubicBezTo>
                    <a:pt x="8931" y="3336"/>
                    <a:pt x="9585" y="2729"/>
                    <a:pt x="10169" y="2062"/>
                  </a:cubicBezTo>
                  <a:cubicBezTo>
                    <a:pt x="10181" y="2336"/>
                    <a:pt x="10419" y="2574"/>
                    <a:pt x="10705" y="2574"/>
                  </a:cubicBezTo>
                  <a:cubicBezTo>
                    <a:pt x="11002" y="2574"/>
                    <a:pt x="11240" y="2336"/>
                    <a:pt x="11240" y="2038"/>
                  </a:cubicBezTo>
                  <a:lnTo>
                    <a:pt x="11240" y="573"/>
                  </a:lnTo>
                  <a:cubicBezTo>
                    <a:pt x="11240" y="395"/>
                    <a:pt x="11169" y="240"/>
                    <a:pt x="11050" y="133"/>
                  </a:cubicBezTo>
                  <a:cubicBezTo>
                    <a:pt x="10943" y="47"/>
                    <a:pt x="10807" y="0"/>
                    <a:pt x="106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 name="CaixaDeTexto 69">
            <a:extLst>
              <a:ext uri="{FF2B5EF4-FFF2-40B4-BE49-F238E27FC236}">
                <a16:creationId xmlns:a16="http://schemas.microsoft.com/office/drawing/2014/main" id="{396FFDF2-17CD-4FD1-A7F0-E53220611038}"/>
              </a:ext>
            </a:extLst>
          </p:cNvPr>
          <p:cNvSpPr txBox="1"/>
          <p:nvPr/>
        </p:nvSpPr>
        <p:spPr>
          <a:xfrm>
            <a:off x="9445870" y="3026499"/>
            <a:ext cx="969818" cy="184666"/>
          </a:xfrm>
          <a:prstGeom prst="rect">
            <a:avLst/>
          </a:prstGeom>
          <a:noFill/>
        </p:spPr>
        <p:txBody>
          <a:bodyPr wrap="square" rtlCol="0">
            <a:spAutoFit/>
          </a:bodyPr>
          <a:lstStyle/>
          <a:p>
            <a:pPr algn="ctr"/>
            <a:r>
              <a:rPr lang="pt-BR" sz="600" b="1" dirty="0">
                <a:solidFill>
                  <a:srgbClr val="00B050"/>
                </a:solidFill>
                <a:latin typeface="Arial" panose="020B0604020202020204" pitchFamily="34" charset="0"/>
                <a:cs typeface="Arial" panose="020B0604020202020204" pitchFamily="34" charset="0"/>
              </a:rPr>
              <a:t>Evolução</a:t>
            </a:r>
          </a:p>
        </p:txBody>
      </p:sp>
      <p:sp>
        <p:nvSpPr>
          <p:cNvPr id="96" name="Retângulo: Cantos Arredondados 95">
            <a:extLst>
              <a:ext uri="{FF2B5EF4-FFF2-40B4-BE49-F238E27FC236}">
                <a16:creationId xmlns:a16="http://schemas.microsoft.com/office/drawing/2014/main" id="{2EEE25DB-99F5-4C8F-86C1-D827EA728EF2}"/>
              </a:ext>
            </a:extLst>
          </p:cNvPr>
          <p:cNvSpPr/>
          <p:nvPr/>
        </p:nvSpPr>
        <p:spPr>
          <a:xfrm>
            <a:off x="5799872" y="4133812"/>
            <a:ext cx="983649" cy="329956"/>
          </a:xfrm>
          <a:prstGeom prst="roundRect">
            <a:avLst/>
          </a:prstGeom>
          <a:solidFill>
            <a:srgbClr val="A7E1C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1" name="CaixaDeTexto 90">
            <a:extLst>
              <a:ext uri="{FF2B5EF4-FFF2-40B4-BE49-F238E27FC236}">
                <a16:creationId xmlns:a16="http://schemas.microsoft.com/office/drawing/2014/main" id="{5CD1DE65-5668-42EC-8C03-D363DB0A175C}"/>
              </a:ext>
            </a:extLst>
          </p:cNvPr>
          <p:cNvSpPr txBox="1"/>
          <p:nvPr/>
        </p:nvSpPr>
        <p:spPr>
          <a:xfrm>
            <a:off x="6077692" y="4211009"/>
            <a:ext cx="687166" cy="230832"/>
          </a:xfrm>
          <a:prstGeom prst="rect">
            <a:avLst/>
          </a:prstGeom>
          <a:noFill/>
        </p:spPr>
        <p:txBody>
          <a:bodyPr wrap="square" rtlCol="0">
            <a:spAutoFit/>
          </a:bodyPr>
          <a:lstStyle/>
          <a:p>
            <a:pPr algn="ctr"/>
            <a:r>
              <a:rPr lang="pt-BR" sz="900" b="1" dirty="0">
                <a:solidFill>
                  <a:srgbClr val="00B050"/>
                </a:solidFill>
                <a:latin typeface="Arial" panose="020B0604020202020204" pitchFamily="34" charset="0"/>
                <a:cs typeface="Arial" panose="020B0604020202020204" pitchFamily="34" charset="0"/>
              </a:rPr>
              <a:t>92,94 %</a:t>
            </a:r>
          </a:p>
        </p:txBody>
      </p:sp>
      <p:grpSp>
        <p:nvGrpSpPr>
          <p:cNvPr id="92" name="Google Shape;2139;p50">
            <a:extLst>
              <a:ext uri="{FF2B5EF4-FFF2-40B4-BE49-F238E27FC236}">
                <a16:creationId xmlns:a16="http://schemas.microsoft.com/office/drawing/2014/main" id="{5BFCF830-72A2-40BF-B938-0F06C6710D0B}"/>
              </a:ext>
            </a:extLst>
          </p:cNvPr>
          <p:cNvGrpSpPr/>
          <p:nvPr/>
        </p:nvGrpSpPr>
        <p:grpSpPr>
          <a:xfrm>
            <a:off x="5950916" y="4200858"/>
            <a:ext cx="207026" cy="206636"/>
            <a:chOff x="1421638" y="4125629"/>
            <a:chExt cx="374709" cy="374010"/>
          </a:xfrm>
          <a:solidFill>
            <a:srgbClr val="00B050"/>
          </a:solidFill>
        </p:grpSpPr>
        <p:sp>
          <p:nvSpPr>
            <p:cNvPr id="93" name="Google Shape;2140;p50">
              <a:extLst>
                <a:ext uri="{FF2B5EF4-FFF2-40B4-BE49-F238E27FC236}">
                  <a16:creationId xmlns:a16="http://schemas.microsoft.com/office/drawing/2014/main" id="{1F72AE8B-F832-47E2-9940-D5751A0FD10A}"/>
                </a:ext>
              </a:extLst>
            </p:cNvPr>
            <p:cNvSpPr/>
            <p:nvPr/>
          </p:nvSpPr>
          <p:spPr>
            <a:xfrm>
              <a:off x="1421638" y="4265954"/>
              <a:ext cx="374709" cy="233685"/>
            </a:xfrm>
            <a:custGeom>
              <a:avLst/>
              <a:gdLst/>
              <a:ahLst/>
              <a:cxnLst/>
              <a:rect l="l" t="t" r="r" b="b"/>
              <a:pathLst>
                <a:path w="11800" h="7359" extrusionOk="0">
                  <a:moveTo>
                    <a:pt x="3180" y="3298"/>
                  </a:moveTo>
                  <a:lnTo>
                    <a:pt x="3180" y="7001"/>
                  </a:lnTo>
                  <a:lnTo>
                    <a:pt x="1691" y="7001"/>
                  </a:lnTo>
                  <a:lnTo>
                    <a:pt x="1691" y="3298"/>
                  </a:lnTo>
                  <a:close/>
                  <a:moveTo>
                    <a:pt x="6680" y="2370"/>
                  </a:moveTo>
                  <a:lnTo>
                    <a:pt x="6680" y="7001"/>
                  </a:lnTo>
                  <a:lnTo>
                    <a:pt x="5192" y="7001"/>
                  </a:lnTo>
                  <a:lnTo>
                    <a:pt x="5192" y="2370"/>
                  </a:lnTo>
                  <a:close/>
                  <a:moveTo>
                    <a:pt x="10180" y="345"/>
                  </a:moveTo>
                  <a:lnTo>
                    <a:pt x="10180" y="7001"/>
                  </a:lnTo>
                  <a:lnTo>
                    <a:pt x="8692" y="7001"/>
                  </a:lnTo>
                  <a:lnTo>
                    <a:pt x="8692" y="345"/>
                  </a:lnTo>
                  <a:close/>
                  <a:moveTo>
                    <a:pt x="8502" y="0"/>
                  </a:moveTo>
                  <a:cubicBezTo>
                    <a:pt x="8406" y="0"/>
                    <a:pt x="8323" y="84"/>
                    <a:pt x="8323" y="179"/>
                  </a:cubicBezTo>
                  <a:lnTo>
                    <a:pt x="8323" y="7001"/>
                  </a:lnTo>
                  <a:lnTo>
                    <a:pt x="7013" y="7001"/>
                  </a:lnTo>
                  <a:lnTo>
                    <a:pt x="7013" y="2203"/>
                  </a:lnTo>
                  <a:cubicBezTo>
                    <a:pt x="7013" y="2120"/>
                    <a:pt x="6930" y="2024"/>
                    <a:pt x="6835" y="2024"/>
                  </a:cubicBezTo>
                  <a:lnTo>
                    <a:pt x="4989" y="2024"/>
                  </a:lnTo>
                  <a:cubicBezTo>
                    <a:pt x="4894" y="2024"/>
                    <a:pt x="4811" y="2108"/>
                    <a:pt x="4811" y="2203"/>
                  </a:cubicBezTo>
                  <a:lnTo>
                    <a:pt x="4811" y="7001"/>
                  </a:lnTo>
                  <a:lnTo>
                    <a:pt x="3501" y="7001"/>
                  </a:lnTo>
                  <a:lnTo>
                    <a:pt x="3501" y="3132"/>
                  </a:lnTo>
                  <a:cubicBezTo>
                    <a:pt x="3501" y="3036"/>
                    <a:pt x="3418" y="2953"/>
                    <a:pt x="3322" y="2953"/>
                  </a:cubicBezTo>
                  <a:lnTo>
                    <a:pt x="1477" y="2953"/>
                  </a:lnTo>
                  <a:cubicBezTo>
                    <a:pt x="1382" y="2953"/>
                    <a:pt x="1298" y="3024"/>
                    <a:pt x="1298" y="3132"/>
                  </a:cubicBezTo>
                  <a:lnTo>
                    <a:pt x="1298" y="7001"/>
                  </a:lnTo>
                  <a:lnTo>
                    <a:pt x="179" y="7001"/>
                  </a:lnTo>
                  <a:cubicBezTo>
                    <a:pt x="84" y="7001"/>
                    <a:pt x="1" y="7073"/>
                    <a:pt x="1" y="7180"/>
                  </a:cubicBezTo>
                  <a:cubicBezTo>
                    <a:pt x="1" y="7287"/>
                    <a:pt x="72" y="7358"/>
                    <a:pt x="179" y="7358"/>
                  </a:cubicBezTo>
                  <a:lnTo>
                    <a:pt x="11597" y="7358"/>
                  </a:lnTo>
                  <a:cubicBezTo>
                    <a:pt x="11681" y="7358"/>
                    <a:pt x="11776" y="7287"/>
                    <a:pt x="11776" y="7180"/>
                  </a:cubicBezTo>
                  <a:cubicBezTo>
                    <a:pt x="11800" y="7073"/>
                    <a:pt x="11728" y="7001"/>
                    <a:pt x="11633" y="7001"/>
                  </a:cubicBezTo>
                  <a:lnTo>
                    <a:pt x="10526" y="7001"/>
                  </a:lnTo>
                  <a:lnTo>
                    <a:pt x="10526" y="179"/>
                  </a:lnTo>
                  <a:cubicBezTo>
                    <a:pt x="10526" y="95"/>
                    <a:pt x="10442" y="0"/>
                    <a:pt x="10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2141;p50">
              <a:extLst>
                <a:ext uri="{FF2B5EF4-FFF2-40B4-BE49-F238E27FC236}">
                  <a16:creationId xmlns:a16="http://schemas.microsoft.com/office/drawing/2014/main" id="{8A69BAD6-A7A3-49EB-847B-57F4FCFD09E1}"/>
                </a:ext>
              </a:extLst>
            </p:cNvPr>
            <p:cNvSpPr/>
            <p:nvPr/>
          </p:nvSpPr>
          <p:spPr>
            <a:xfrm>
              <a:off x="1428052" y="4125629"/>
              <a:ext cx="356958" cy="215585"/>
            </a:xfrm>
            <a:custGeom>
              <a:avLst/>
              <a:gdLst/>
              <a:ahLst/>
              <a:cxnLst/>
              <a:rect l="l" t="t" r="r" b="b"/>
              <a:pathLst>
                <a:path w="11241" h="6789" extrusionOk="0">
                  <a:moveTo>
                    <a:pt x="10668" y="0"/>
                  </a:moveTo>
                  <a:cubicBezTo>
                    <a:pt x="10653" y="0"/>
                    <a:pt x="10637" y="1"/>
                    <a:pt x="10621" y="2"/>
                  </a:cubicBezTo>
                  <a:lnTo>
                    <a:pt x="9145" y="181"/>
                  </a:lnTo>
                  <a:cubicBezTo>
                    <a:pt x="8847" y="216"/>
                    <a:pt x="8633" y="490"/>
                    <a:pt x="8669" y="788"/>
                  </a:cubicBezTo>
                  <a:cubicBezTo>
                    <a:pt x="8691" y="1064"/>
                    <a:pt x="8938" y="1268"/>
                    <a:pt x="9211" y="1268"/>
                  </a:cubicBezTo>
                  <a:cubicBezTo>
                    <a:pt x="9232" y="1268"/>
                    <a:pt x="9254" y="1267"/>
                    <a:pt x="9276" y="1264"/>
                  </a:cubicBezTo>
                  <a:lnTo>
                    <a:pt x="9395" y="1252"/>
                  </a:lnTo>
                  <a:lnTo>
                    <a:pt x="9395" y="1252"/>
                  </a:lnTo>
                  <a:cubicBezTo>
                    <a:pt x="7597" y="3348"/>
                    <a:pt x="5442" y="4443"/>
                    <a:pt x="3918" y="4979"/>
                  </a:cubicBezTo>
                  <a:cubicBezTo>
                    <a:pt x="2025" y="5657"/>
                    <a:pt x="561" y="5717"/>
                    <a:pt x="537" y="5717"/>
                  </a:cubicBezTo>
                  <a:cubicBezTo>
                    <a:pt x="239" y="5729"/>
                    <a:pt x="1" y="5967"/>
                    <a:pt x="25" y="6265"/>
                  </a:cubicBezTo>
                  <a:cubicBezTo>
                    <a:pt x="37" y="6562"/>
                    <a:pt x="275" y="6789"/>
                    <a:pt x="561" y="6789"/>
                  </a:cubicBezTo>
                  <a:lnTo>
                    <a:pt x="572" y="6789"/>
                  </a:lnTo>
                  <a:cubicBezTo>
                    <a:pt x="632" y="6789"/>
                    <a:pt x="2192" y="6729"/>
                    <a:pt x="4263" y="6003"/>
                  </a:cubicBezTo>
                  <a:cubicBezTo>
                    <a:pt x="5418" y="5586"/>
                    <a:pt x="6514" y="5050"/>
                    <a:pt x="7490" y="4383"/>
                  </a:cubicBezTo>
                  <a:cubicBezTo>
                    <a:pt x="7561" y="4324"/>
                    <a:pt x="7597" y="4217"/>
                    <a:pt x="7538" y="4145"/>
                  </a:cubicBezTo>
                  <a:cubicBezTo>
                    <a:pt x="7501" y="4093"/>
                    <a:pt x="7445" y="4065"/>
                    <a:pt x="7391" y="4065"/>
                  </a:cubicBezTo>
                  <a:cubicBezTo>
                    <a:pt x="7358" y="4065"/>
                    <a:pt x="7326" y="4075"/>
                    <a:pt x="7299" y="4098"/>
                  </a:cubicBezTo>
                  <a:cubicBezTo>
                    <a:pt x="6335" y="4753"/>
                    <a:pt x="5275" y="5288"/>
                    <a:pt x="4144" y="5693"/>
                  </a:cubicBezTo>
                  <a:cubicBezTo>
                    <a:pt x="2132" y="6408"/>
                    <a:pt x="632" y="6467"/>
                    <a:pt x="561" y="6467"/>
                  </a:cubicBezTo>
                  <a:cubicBezTo>
                    <a:pt x="453" y="6467"/>
                    <a:pt x="358" y="6372"/>
                    <a:pt x="358" y="6265"/>
                  </a:cubicBezTo>
                  <a:cubicBezTo>
                    <a:pt x="358" y="6169"/>
                    <a:pt x="441" y="6074"/>
                    <a:pt x="561" y="6062"/>
                  </a:cubicBezTo>
                  <a:cubicBezTo>
                    <a:pt x="572" y="6062"/>
                    <a:pt x="2085" y="6003"/>
                    <a:pt x="4037" y="5300"/>
                  </a:cubicBezTo>
                  <a:cubicBezTo>
                    <a:pt x="5680" y="4717"/>
                    <a:pt x="8026" y="3514"/>
                    <a:pt x="9943" y="1133"/>
                  </a:cubicBezTo>
                  <a:cubicBezTo>
                    <a:pt x="10035" y="1018"/>
                    <a:pt x="9949" y="847"/>
                    <a:pt x="9813" y="847"/>
                  </a:cubicBezTo>
                  <a:cubicBezTo>
                    <a:pt x="9809" y="847"/>
                    <a:pt x="9804" y="847"/>
                    <a:pt x="9800" y="847"/>
                  </a:cubicBezTo>
                  <a:lnTo>
                    <a:pt x="9252" y="931"/>
                  </a:lnTo>
                  <a:cubicBezTo>
                    <a:pt x="9244" y="932"/>
                    <a:pt x="9236" y="932"/>
                    <a:pt x="9228" y="932"/>
                  </a:cubicBezTo>
                  <a:cubicBezTo>
                    <a:pt x="9139" y="932"/>
                    <a:pt x="9049" y="874"/>
                    <a:pt x="9038" y="776"/>
                  </a:cubicBezTo>
                  <a:cubicBezTo>
                    <a:pt x="9014" y="657"/>
                    <a:pt x="9085" y="550"/>
                    <a:pt x="9204" y="538"/>
                  </a:cubicBezTo>
                  <a:lnTo>
                    <a:pt x="10681" y="359"/>
                  </a:lnTo>
                  <a:cubicBezTo>
                    <a:pt x="10688" y="358"/>
                    <a:pt x="10696" y="358"/>
                    <a:pt x="10703" y="358"/>
                  </a:cubicBezTo>
                  <a:cubicBezTo>
                    <a:pt x="10812" y="358"/>
                    <a:pt x="10895" y="438"/>
                    <a:pt x="10895" y="550"/>
                  </a:cubicBezTo>
                  <a:lnTo>
                    <a:pt x="10895" y="2026"/>
                  </a:lnTo>
                  <a:cubicBezTo>
                    <a:pt x="10895" y="2133"/>
                    <a:pt x="10812" y="2217"/>
                    <a:pt x="10705" y="2217"/>
                  </a:cubicBezTo>
                  <a:cubicBezTo>
                    <a:pt x="10598" y="2217"/>
                    <a:pt x="10514" y="2133"/>
                    <a:pt x="10514" y="2026"/>
                  </a:cubicBezTo>
                  <a:lnTo>
                    <a:pt x="10514" y="1586"/>
                  </a:lnTo>
                  <a:cubicBezTo>
                    <a:pt x="10514" y="1502"/>
                    <a:pt x="10467" y="1443"/>
                    <a:pt x="10407" y="1419"/>
                  </a:cubicBezTo>
                  <a:cubicBezTo>
                    <a:pt x="10387" y="1409"/>
                    <a:pt x="10368" y="1405"/>
                    <a:pt x="10349" y="1405"/>
                  </a:cubicBezTo>
                  <a:cubicBezTo>
                    <a:pt x="10298" y="1405"/>
                    <a:pt x="10251" y="1435"/>
                    <a:pt x="10217" y="1478"/>
                  </a:cubicBezTo>
                  <a:cubicBezTo>
                    <a:pt x="9574" y="2264"/>
                    <a:pt x="8835" y="2979"/>
                    <a:pt x="8026" y="3610"/>
                  </a:cubicBezTo>
                  <a:cubicBezTo>
                    <a:pt x="7954" y="3669"/>
                    <a:pt x="7942" y="3764"/>
                    <a:pt x="8002" y="3848"/>
                  </a:cubicBezTo>
                  <a:cubicBezTo>
                    <a:pt x="8036" y="3888"/>
                    <a:pt x="8081" y="3910"/>
                    <a:pt x="8129" y="3910"/>
                  </a:cubicBezTo>
                  <a:cubicBezTo>
                    <a:pt x="8166" y="3910"/>
                    <a:pt x="8204" y="3897"/>
                    <a:pt x="8240" y="3872"/>
                  </a:cubicBezTo>
                  <a:cubicBezTo>
                    <a:pt x="8931" y="3336"/>
                    <a:pt x="9585" y="2729"/>
                    <a:pt x="10169" y="2062"/>
                  </a:cubicBezTo>
                  <a:cubicBezTo>
                    <a:pt x="10181" y="2336"/>
                    <a:pt x="10419" y="2574"/>
                    <a:pt x="10705" y="2574"/>
                  </a:cubicBezTo>
                  <a:cubicBezTo>
                    <a:pt x="11002" y="2574"/>
                    <a:pt x="11240" y="2336"/>
                    <a:pt x="11240" y="2038"/>
                  </a:cubicBezTo>
                  <a:lnTo>
                    <a:pt x="11240" y="573"/>
                  </a:lnTo>
                  <a:cubicBezTo>
                    <a:pt x="11240" y="395"/>
                    <a:pt x="11169" y="240"/>
                    <a:pt x="11050" y="133"/>
                  </a:cubicBezTo>
                  <a:cubicBezTo>
                    <a:pt x="10943" y="47"/>
                    <a:pt x="10807" y="0"/>
                    <a:pt x="106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CaixaDeTexto 94">
            <a:extLst>
              <a:ext uri="{FF2B5EF4-FFF2-40B4-BE49-F238E27FC236}">
                <a16:creationId xmlns:a16="http://schemas.microsoft.com/office/drawing/2014/main" id="{5FAD3610-97DE-4BC5-9329-57B2739CA52D}"/>
              </a:ext>
            </a:extLst>
          </p:cNvPr>
          <p:cNvSpPr txBox="1"/>
          <p:nvPr/>
        </p:nvSpPr>
        <p:spPr>
          <a:xfrm>
            <a:off x="6124778" y="4103336"/>
            <a:ext cx="586291" cy="184666"/>
          </a:xfrm>
          <a:prstGeom prst="rect">
            <a:avLst/>
          </a:prstGeom>
          <a:noFill/>
        </p:spPr>
        <p:txBody>
          <a:bodyPr wrap="square" rtlCol="0">
            <a:spAutoFit/>
          </a:bodyPr>
          <a:lstStyle/>
          <a:p>
            <a:pPr algn="ctr"/>
            <a:r>
              <a:rPr lang="pt-BR" sz="600" b="1" dirty="0">
                <a:solidFill>
                  <a:srgbClr val="00B050"/>
                </a:solidFill>
                <a:latin typeface="Arial" panose="020B0604020202020204" pitchFamily="34" charset="0"/>
                <a:cs typeface="Arial" panose="020B0604020202020204" pitchFamily="34" charset="0"/>
              </a:rPr>
              <a:t>Aplicação</a:t>
            </a:r>
          </a:p>
        </p:txBody>
      </p:sp>
      <p:sp>
        <p:nvSpPr>
          <p:cNvPr id="2" name="Retângulo: Cantos Arredondados 1">
            <a:extLst>
              <a:ext uri="{FF2B5EF4-FFF2-40B4-BE49-F238E27FC236}">
                <a16:creationId xmlns:a16="http://schemas.microsoft.com/office/drawing/2014/main" id="{50FD4D24-7E1A-917C-2129-003EA33374ED}"/>
              </a:ext>
            </a:extLst>
          </p:cNvPr>
          <p:cNvSpPr/>
          <p:nvPr/>
        </p:nvSpPr>
        <p:spPr>
          <a:xfrm>
            <a:off x="5799872" y="5039953"/>
            <a:ext cx="1909219" cy="329956"/>
          </a:xfrm>
          <a:prstGeom prst="roundRect">
            <a:avLst/>
          </a:prstGeom>
          <a:solidFill>
            <a:srgbClr val="A7E1C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CaixaDeTexto 2">
            <a:extLst>
              <a:ext uri="{FF2B5EF4-FFF2-40B4-BE49-F238E27FC236}">
                <a16:creationId xmlns:a16="http://schemas.microsoft.com/office/drawing/2014/main" id="{18D658D8-3A5E-F444-D86A-1101605933FD}"/>
              </a:ext>
            </a:extLst>
          </p:cNvPr>
          <p:cNvSpPr txBox="1"/>
          <p:nvPr/>
        </p:nvSpPr>
        <p:spPr>
          <a:xfrm>
            <a:off x="6065085" y="5102993"/>
            <a:ext cx="1605676" cy="230832"/>
          </a:xfrm>
          <a:prstGeom prst="rect">
            <a:avLst/>
          </a:prstGeom>
          <a:noFill/>
        </p:spPr>
        <p:txBody>
          <a:bodyPr wrap="square" rtlCol="0">
            <a:spAutoFit/>
          </a:bodyPr>
          <a:lstStyle/>
          <a:p>
            <a:pPr algn="ctr"/>
            <a:r>
              <a:rPr lang="pt-BR" sz="900" b="1" dirty="0">
                <a:solidFill>
                  <a:srgbClr val="00B050"/>
                </a:solidFill>
                <a:latin typeface="Arial" panose="020B0604020202020204" pitchFamily="34" charset="0"/>
                <a:cs typeface="Arial" panose="020B0604020202020204" pitchFamily="34" charset="0"/>
              </a:rPr>
              <a:t>30 feedbacks justificados</a:t>
            </a:r>
          </a:p>
        </p:txBody>
      </p:sp>
      <p:grpSp>
        <p:nvGrpSpPr>
          <p:cNvPr id="4" name="Google Shape;2139;p50">
            <a:extLst>
              <a:ext uri="{FF2B5EF4-FFF2-40B4-BE49-F238E27FC236}">
                <a16:creationId xmlns:a16="http://schemas.microsoft.com/office/drawing/2014/main" id="{0A8FECEB-3D0F-B111-B15D-56D5AF8E78A4}"/>
              </a:ext>
            </a:extLst>
          </p:cNvPr>
          <p:cNvGrpSpPr/>
          <p:nvPr/>
        </p:nvGrpSpPr>
        <p:grpSpPr>
          <a:xfrm>
            <a:off x="5909129" y="5091462"/>
            <a:ext cx="207026" cy="206636"/>
            <a:chOff x="1421638" y="4125629"/>
            <a:chExt cx="374709" cy="374010"/>
          </a:xfrm>
          <a:solidFill>
            <a:srgbClr val="00B050"/>
          </a:solidFill>
        </p:grpSpPr>
        <p:sp>
          <p:nvSpPr>
            <p:cNvPr id="5" name="Google Shape;2140;p50">
              <a:extLst>
                <a:ext uri="{FF2B5EF4-FFF2-40B4-BE49-F238E27FC236}">
                  <a16:creationId xmlns:a16="http://schemas.microsoft.com/office/drawing/2014/main" id="{16E28229-FF0E-F0A5-6C25-22C0A94283E5}"/>
                </a:ext>
              </a:extLst>
            </p:cNvPr>
            <p:cNvSpPr/>
            <p:nvPr/>
          </p:nvSpPr>
          <p:spPr>
            <a:xfrm>
              <a:off x="1421638" y="4265954"/>
              <a:ext cx="374709" cy="233685"/>
            </a:xfrm>
            <a:custGeom>
              <a:avLst/>
              <a:gdLst/>
              <a:ahLst/>
              <a:cxnLst/>
              <a:rect l="l" t="t" r="r" b="b"/>
              <a:pathLst>
                <a:path w="11800" h="7359" extrusionOk="0">
                  <a:moveTo>
                    <a:pt x="3180" y="3298"/>
                  </a:moveTo>
                  <a:lnTo>
                    <a:pt x="3180" y="7001"/>
                  </a:lnTo>
                  <a:lnTo>
                    <a:pt x="1691" y="7001"/>
                  </a:lnTo>
                  <a:lnTo>
                    <a:pt x="1691" y="3298"/>
                  </a:lnTo>
                  <a:close/>
                  <a:moveTo>
                    <a:pt x="6680" y="2370"/>
                  </a:moveTo>
                  <a:lnTo>
                    <a:pt x="6680" y="7001"/>
                  </a:lnTo>
                  <a:lnTo>
                    <a:pt x="5192" y="7001"/>
                  </a:lnTo>
                  <a:lnTo>
                    <a:pt x="5192" y="2370"/>
                  </a:lnTo>
                  <a:close/>
                  <a:moveTo>
                    <a:pt x="10180" y="345"/>
                  </a:moveTo>
                  <a:lnTo>
                    <a:pt x="10180" y="7001"/>
                  </a:lnTo>
                  <a:lnTo>
                    <a:pt x="8692" y="7001"/>
                  </a:lnTo>
                  <a:lnTo>
                    <a:pt x="8692" y="345"/>
                  </a:lnTo>
                  <a:close/>
                  <a:moveTo>
                    <a:pt x="8502" y="0"/>
                  </a:moveTo>
                  <a:cubicBezTo>
                    <a:pt x="8406" y="0"/>
                    <a:pt x="8323" y="84"/>
                    <a:pt x="8323" y="179"/>
                  </a:cubicBezTo>
                  <a:lnTo>
                    <a:pt x="8323" y="7001"/>
                  </a:lnTo>
                  <a:lnTo>
                    <a:pt x="7013" y="7001"/>
                  </a:lnTo>
                  <a:lnTo>
                    <a:pt x="7013" y="2203"/>
                  </a:lnTo>
                  <a:cubicBezTo>
                    <a:pt x="7013" y="2120"/>
                    <a:pt x="6930" y="2024"/>
                    <a:pt x="6835" y="2024"/>
                  </a:cubicBezTo>
                  <a:lnTo>
                    <a:pt x="4989" y="2024"/>
                  </a:lnTo>
                  <a:cubicBezTo>
                    <a:pt x="4894" y="2024"/>
                    <a:pt x="4811" y="2108"/>
                    <a:pt x="4811" y="2203"/>
                  </a:cubicBezTo>
                  <a:lnTo>
                    <a:pt x="4811" y="7001"/>
                  </a:lnTo>
                  <a:lnTo>
                    <a:pt x="3501" y="7001"/>
                  </a:lnTo>
                  <a:lnTo>
                    <a:pt x="3501" y="3132"/>
                  </a:lnTo>
                  <a:cubicBezTo>
                    <a:pt x="3501" y="3036"/>
                    <a:pt x="3418" y="2953"/>
                    <a:pt x="3322" y="2953"/>
                  </a:cubicBezTo>
                  <a:lnTo>
                    <a:pt x="1477" y="2953"/>
                  </a:lnTo>
                  <a:cubicBezTo>
                    <a:pt x="1382" y="2953"/>
                    <a:pt x="1298" y="3024"/>
                    <a:pt x="1298" y="3132"/>
                  </a:cubicBezTo>
                  <a:lnTo>
                    <a:pt x="1298" y="7001"/>
                  </a:lnTo>
                  <a:lnTo>
                    <a:pt x="179" y="7001"/>
                  </a:lnTo>
                  <a:cubicBezTo>
                    <a:pt x="84" y="7001"/>
                    <a:pt x="1" y="7073"/>
                    <a:pt x="1" y="7180"/>
                  </a:cubicBezTo>
                  <a:cubicBezTo>
                    <a:pt x="1" y="7287"/>
                    <a:pt x="72" y="7358"/>
                    <a:pt x="179" y="7358"/>
                  </a:cubicBezTo>
                  <a:lnTo>
                    <a:pt x="11597" y="7358"/>
                  </a:lnTo>
                  <a:cubicBezTo>
                    <a:pt x="11681" y="7358"/>
                    <a:pt x="11776" y="7287"/>
                    <a:pt x="11776" y="7180"/>
                  </a:cubicBezTo>
                  <a:cubicBezTo>
                    <a:pt x="11800" y="7073"/>
                    <a:pt x="11728" y="7001"/>
                    <a:pt x="11633" y="7001"/>
                  </a:cubicBezTo>
                  <a:lnTo>
                    <a:pt x="10526" y="7001"/>
                  </a:lnTo>
                  <a:lnTo>
                    <a:pt x="10526" y="179"/>
                  </a:lnTo>
                  <a:cubicBezTo>
                    <a:pt x="10526" y="95"/>
                    <a:pt x="10442" y="0"/>
                    <a:pt x="10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 name="Google Shape;2141;p50">
              <a:extLst>
                <a:ext uri="{FF2B5EF4-FFF2-40B4-BE49-F238E27FC236}">
                  <a16:creationId xmlns:a16="http://schemas.microsoft.com/office/drawing/2014/main" id="{EDCFDEF7-A525-B3BF-842D-A10F47B44D00}"/>
                </a:ext>
              </a:extLst>
            </p:cNvPr>
            <p:cNvSpPr/>
            <p:nvPr/>
          </p:nvSpPr>
          <p:spPr>
            <a:xfrm>
              <a:off x="1428052" y="4125629"/>
              <a:ext cx="356958" cy="215585"/>
            </a:xfrm>
            <a:custGeom>
              <a:avLst/>
              <a:gdLst/>
              <a:ahLst/>
              <a:cxnLst/>
              <a:rect l="l" t="t" r="r" b="b"/>
              <a:pathLst>
                <a:path w="11241" h="6789" extrusionOk="0">
                  <a:moveTo>
                    <a:pt x="10668" y="0"/>
                  </a:moveTo>
                  <a:cubicBezTo>
                    <a:pt x="10653" y="0"/>
                    <a:pt x="10637" y="1"/>
                    <a:pt x="10621" y="2"/>
                  </a:cubicBezTo>
                  <a:lnTo>
                    <a:pt x="9145" y="181"/>
                  </a:lnTo>
                  <a:cubicBezTo>
                    <a:pt x="8847" y="216"/>
                    <a:pt x="8633" y="490"/>
                    <a:pt x="8669" y="788"/>
                  </a:cubicBezTo>
                  <a:cubicBezTo>
                    <a:pt x="8691" y="1064"/>
                    <a:pt x="8938" y="1268"/>
                    <a:pt x="9211" y="1268"/>
                  </a:cubicBezTo>
                  <a:cubicBezTo>
                    <a:pt x="9232" y="1268"/>
                    <a:pt x="9254" y="1267"/>
                    <a:pt x="9276" y="1264"/>
                  </a:cubicBezTo>
                  <a:lnTo>
                    <a:pt x="9395" y="1252"/>
                  </a:lnTo>
                  <a:lnTo>
                    <a:pt x="9395" y="1252"/>
                  </a:lnTo>
                  <a:cubicBezTo>
                    <a:pt x="7597" y="3348"/>
                    <a:pt x="5442" y="4443"/>
                    <a:pt x="3918" y="4979"/>
                  </a:cubicBezTo>
                  <a:cubicBezTo>
                    <a:pt x="2025" y="5657"/>
                    <a:pt x="561" y="5717"/>
                    <a:pt x="537" y="5717"/>
                  </a:cubicBezTo>
                  <a:cubicBezTo>
                    <a:pt x="239" y="5729"/>
                    <a:pt x="1" y="5967"/>
                    <a:pt x="25" y="6265"/>
                  </a:cubicBezTo>
                  <a:cubicBezTo>
                    <a:pt x="37" y="6562"/>
                    <a:pt x="275" y="6789"/>
                    <a:pt x="561" y="6789"/>
                  </a:cubicBezTo>
                  <a:lnTo>
                    <a:pt x="572" y="6789"/>
                  </a:lnTo>
                  <a:cubicBezTo>
                    <a:pt x="632" y="6789"/>
                    <a:pt x="2192" y="6729"/>
                    <a:pt x="4263" y="6003"/>
                  </a:cubicBezTo>
                  <a:cubicBezTo>
                    <a:pt x="5418" y="5586"/>
                    <a:pt x="6514" y="5050"/>
                    <a:pt x="7490" y="4383"/>
                  </a:cubicBezTo>
                  <a:cubicBezTo>
                    <a:pt x="7561" y="4324"/>
                    <a:pt x="7597" y="4217"/>
                    <a:pt x="7538" y="4145"/>
                  </a:cubicBezTo>
                  <a:cubicBezTo>
                    <a:pt x="7501" y="4093"/>
                    <a:pt x="7445" y="4065"/>
                    <a:pt x="7391" y="4065"/>
                  </a:cubicBezTo>
                  <a:cubicBezTo>
                    <a:pt x="7358" y="4065"/>
                    <a:pt x="7326" y="4075"/>
                    <a:pt x="7299" y="4098"/>
                  </a:cubicBezTo>
                  <a:cubicBezTo>
                    <a:pt x="6335" y="4753"/>
                    <a:pt x="5275" y="5288"/>
                    <a:pt x="4144" y="5693"/>
                  </a:cubicBezTo>
                  <a:cubicBezTo>
                    <a:pt x="2132" y="6408"/>
                    <a:pt x="632" y="6467"/>
                    <a:pt x="561" y="6467"/>
                  </a:cubicBezTo>
                  <a:cubicBezTo>
                    <a:pt x="453" y="6467"/>
                    <a:pt x="358" y="6372"/>
                    <a:pt x="358" y="6265"/>
                  </a:cubicBezTo>
                  <a:cubicBezTo>
                    <a:pt x="358" y="6169"/>
                    <a:pt x="441" y="6074"/>
                    <a:pt x="561" y="6062"/>
                  </a:cubicBezTo>
                  <a:cubicBezTo>
                    <a:pt x="572" y="6062"/>
                    <a:pt x="2085" y="6003"/>
                    <a:pt x="4037" y="5300"/>
                  </a:cubicBezTo>
                  <a:cubicBezTo>
                    <a:pt x="5680" y="4717"/>
                    <a:pt x="8026" y="3514"/>
                    <a:pt x="9943" y="1133"/>
                  </a:cubicBezTo>
                  <a:cubicBezTo>
                    <a:pt x="10035" y="1018"/>
                    <a:pt x="9949" y="847"/>
                    <a:pt x="9813" y="847"/>
                  </a:cubicBezTo>
                  <a:cubicBezTo>
                    <a:pt x="9809" y="847"/>
                    <a:pt x="9804" y="847"/>
                    <a:pt x="9800" y="847"/>
                  </a:cubicBezTo>
                  <a:lnTo>
                    <a:pt x="9252" y="931"/>
                  </a:lnTo>
                  <a:cubicBezTo>
                    <a:pt x="9244" y="932"/>
                    <a:pt x="9236" y="932"/>
                    <a:pt x="9228" y="932"/>
                  </a:cubicBezTo>
                  <a:cubicBezTo>
                    <a:pt x="9139" y="932"/>
                    <a:pt x="9049" y="874"/>
                    <a:pt x="9038" y="776"/>
                  </a:cubicBezTo>
                  <a:cubicBezTo>
                    <a:pt x="9014" y="657"/>
                    <a:pt x="9085" y="550"/>
                    <a:pt x="9204" y="538"/>
                  </a:cubicBezTo>
                  <a:lnTo>
                    <a:pt x="10681" y="359"/>
                  </a:lnTo>
                  <a:cubicBezTo>
                    <a:pt x="10688" y="358"/>
                    <a:pt x="10696" y="358"/>
                    <a:pt x="10703" y="358"/>
                  </a:cubicBezTo>
                  <a:cubicBezTo>
                    <a:pt x="10812" y="358"/>
                    <a:pt x="10895" y="438"/>
                    <a:pt x="10895" y="550"/>
                  </a:cubicBezTo>
                  <a:lnTo>
                    <a:pt x="10895" y="2026"/>
                  </a:lnTo>
                  <a:cubicBezTo>
                    <a:pt x="10895" y="2133"/>
                    <a:pt x="10812" y="2217"/>
                    <a:pt x="10705" y="2217"/>
                  </a:cubicBezTo>
                  <a:cubicBezTo>
                    <a:pt x="10598" y="2217"/>
                    <a:pt x="10514" y="2133"/>
                    <a:pt x="10514" y="2026"/>
                  </a:cubicBezTo>
                  <a:lnTo>
                    <a:pt x="10514" y="1586"/>
                  </a:lnTo>
                  <a:cubicBezTo>
                    <a:pt x="10514" y="1502"/>
                    <a:pt x="10467" y="1443"/>
                    <a:pt x="10407" y="1419"/>
                  </a:cubicBezTo>
                  <a:cubicBezTo>
                    <a:pt x="10387" y="1409"/>
                    <a:pt x="10368" y="1405"/>
                    <a:pt x="10349" y="1405"/>
                  </a:cubicBezTo>
                  <a:cubicBezTo>
                    <a:pt x="10298" y="1405"/>
                    <a:pt x="10251" y="1435"/>
                    <a:pt x="10217" y="1478"/>
                  </a:cubicBezTo>
                  <a:cubicBezTo>
                    <a:pt x="9574" y="2264"/>
                    <a:pt x="8835" y="2979"/>
                    <a:pt x="8026" y="3610"/>
                  </a:cubicBezTo>
                  <a:cubicBezTo>
                    <a:pt x="7954" y="3669"/>
                    <a:pt x="7942" y="3764"/>
                    <a:pt x="8002" y="3848"/>
                  </a:cubicBezTo>
                  <a:cubicBezTo>
                    <a:pt x="8036" y="3888"/>
                    <a:pt x="8081" y="3910"/>
                    <a:pt x="8129" y="3910"/>
                  </a:cubicBezTo>
                  <a:cubicBezTo>
                    <a:pt x="8166" y="3910"/>
                    <a:pt x="8204" y="3897"/>
                    <a:pt x="8240" y="3872"/>
                  </a:cubicBezTo>
                  <a:cubicBezTo>
                    <a:pt x="8931" y="3336"/>
                    <a:pt x="9585" y="2729"/>
                    <a:pt x="10169" y="2062"/>
                  </a:cubicBezTo>
                  <a:cubicBezTo>
                    <a:pt x="10181" y="2336"/>
                    <a:pt x="10419" y="2574"/>
                    <a:pt x="10705" y="2574"/>
                  </a:cubicBezTo>
                  <a:cubicBezTo>
                    <a:pt x="11002" y="2574"/>
                    <a:pt x="11240" y="2336"/>
                    <a:pt x="11240" y="2038"/>
                  </a:cubicBezTo>
                  <a:lnTo>
                    <a:pt x="11240" y="573"/>
                  </a:lnTo>
                  <a:cubicBezTo>
                    <a:pt x="11240" y="395"/>
                    <a:pt x="11169" y="240"/>
                    <a:pt x="11050" y="133"/>
                  </a:cubicBezTo>
                  <a:cubicBezTo>
                    <a:pt x="10943" y="47"/>
                    <a:pt x="10807" y="0"/>
                    <a:pt x="106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9" name="Retângulo: Cantos Arredondados 8">
            <a:extLst>
              <a:ext uri="{FF2B5EF4-FFF2-40B4-BE49-F238E27FC236}">
                <a16:creationId xmlns:a16="http://schemas.microsoft.com/office/drawing/2014/main" id="{F12B1E3D-A272-C753-A331-88EC16AFC5E2}"/>
              </a:ext>
            </a:extLst>
          </p:cNvPr>
          <p:cNvSpPr/>
          <p:nvPr/>
        </p:nvSpPr>
        <p:spPr>
          <a:xfrm>
            <a:off x="3585938" y="2960870"/>
            <a:ext cx="1909219" cy="329956"/>
          </a:xfrm>
          <a:prstGeom prst="roundRect">
            <a:avLst/>
          </a:prstGeom>
          <a:solidFill>
            <a:srgbClr val="A7E1C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CaixaDeTexto 9">
            <a:extLst>
              <a:ext uri="{FF2B5EF4-FFF2-40B4-BE49-F238E27FC236}">
                <a16:creationId xmlns:a16="http://schemas.microsoft.com/office/drawing/2014/main" id="{F51142DC-B87F-9B35-C8E4-57EE6071E1D1}"/>
              </a:ext>
            </a:extLst>
          </p:cNvPr>
          <p:cNvSpPr txBox="1"/>
          <p:nvPr/>
        </p:nvSpPr>
        <p:spPr>
          <a:xfrm>
            <a:off x="3786118" y="3023632"/>
            <a:ext cx="1671441" cy="230832"/>
          </a:xfrm>
          <a:prstGeom prst="rect">
            <a:avLst/>
          </a:prstGeom>
          <a:noFill/>
        </p:spPr>
        <p:txBody>
          <a:bodyPr wrap="square" rtlCol="0">
            <a:spAutoFit/>
          </a:bodyPr>
          <a:lstStyle/>
          <a:p>
            <a:pPr algn="ctr"/>
            <a:r>
              <a:rPr lang="pt-BR" sz="900" b="1" dirty="0">
                <a:solidFill>
                  <a:srgbClr val="00B050"/>
                </a:solidFill>
                <a:latin typeface="Arial" panose="020B0604020202020204" pitchFamily="34" charset="0"/>
                <a:cs typeface="Arial" panose="020B0604020202020204" pitchFamily="34" charset="0"/>
              </a:rPr>
              <a:t>51 monitorias justificadas</a:t>
            </a:r>
          </a:p>
        </p:txBody>
      </p:sp>
      <p:grpSp>
        <p:nvGrpSpPr>
          <p:cNvPr id="11" name="Google Shape;2139;p50">
            <a:extLst>
              <a:ext uri="{FF2B5EF4-FFF2-40B4-BE49-F238E27FC236}">
                <a16:creationId xmlns:a16="http://schemas.microsoft.com/office/drawing/2014/main" id="{FB078A87-938E-DB8D-A1F2-74A951452FDA}"/>
              </a:ext>
            </a:extLst>
          </p:cNvPr>
          <p:cNvGrpSpPr/>
          <p:nvPr/>
        </p:nvGrpSpPr>
        <p:grpSpPr>
          <a:xfrm>
            <a:off x="3695195" y="3012379"/>
            <a:ext cx="207026" cy="206636"/>
            <a:chOff x="1421638" y="4125629"/>
            <a:chExt cx="374709" cy="374010"/>
          </a:xfrm>
          <a:solidFill>
            <a:srgbClr val="00B050"/>
          </a:solidFill>
        </p:grpSpPr>
        <p:sp>
          <p:nvSpPr>
            <p:cNvPr id="12" name="Google Shape;2140;p50">
              <a:extLst>
                <a:ext uri="{FF2B5EF4-FFF2-40B4-BE49-F238E27FC236}">
                  <a16:creationId xmlns:a16="http://schemas.microsoft.com/office/drawing/2014/main" id="{04403F4C-70C8-A495-4CD6-1CAA139CBF42}"/>
                </a:ext>
              </a:extLst>
            </p:cNvPr>
            <p:cNvSpPr/>
            <p:nvPr/>
          </p:nvSpPr>
          <p:spPr>
            <a:xfrm>
              <a:off x="1421638" y="4265954"/>
              <a:ext cx="374709" cy="233685"/>
            </a:xfrm>
            <a:custGeom>
              <a:avLst/>
              <a:gdLst/>
              <a:ahLst/>
              <a:cxnLst/>
              <a:rect l="l" t="t" r="r" b="b"/>
              <a:pathLst>
                <a:path w="11800" h="7359" extrusionOk="0">
                  <a:moveTo>
                    <a:pt x="3180" y="3298"/>
                  </a:moveTo>
                  <a:lnTo>
                    <a:pt x="3180" y="7001"/>
                  </a:lnTo>
                  <a:lnTo>
                    <a:pt x="1691" y="7001"/>
                  </a:lnTo>
                  <a:lnTo>
                    <a:pt x="1691" y="3298"/>
                  </a:lnTo>
                  <a:close/>
                  <a:moveTo>
                    <a:pt x="6680" y="2370"/>
                  </a:moveTo>
                  <a:lnTo>
                    <a:pt x="6680" y="7001"/>
                  </a:lnTo>
                  <a:lnTo>
                    <a:pt x="5192" y="7001"/>
                  </a:lnTo>
                  <a:lnTo>
                    <a:pt x="5192" y="2370"/>
                  </a:lnTo>
                  <a:close/>
                  <a:moveTo>
                    <a:pt x="10180" y="345"/>
                  </a:moveTo>
                  <a:lnTo>
                    <a:pt x="10180" y="7001"/>
                  </a:lnTo>
                  <a:lnTo>
                    <a:pt x="8692" y="7001"/>
                  </a:lnTo>
                  <a:lnTo>
                    <a:pt x="8692" y="345"/>
                  </a:lnTo>
                  <a:close/>
                  <a:moveTo>
                    <a:pt x="8502" y="0"/>
                  </a:moveTo>
                  <a:cubicBezTo>
                    <a:pt x="8406" y="0"/>
                    <a:pt x="8323" y="84"/>
                    <a:pt x="8323" y="179"/>
                  </a:cubicBezTo>
                  <a:lnTo>
                    <a:pt x="8323" y="7001"/>
                  </a:lnTo>
                  <a:lnTo>
                    <a:pt x="7013" y="7001"/>
                  </a:lnTo>
                  <a:lnTo>
                    <a:pt x="7013" y="2203"/>
                  </a:lnTo>
                  <a:cubicBezTo>
                    <a:pt x="7013" y="2120"/>
                    <a:pt x="6930" y="2024"/>
                    <a:pt x="6835" y="2024"/>
                  </a:cubicBezTo>
                  <a:lnTo>
                    <a:pt x="4989" y="2024"/>
                  </a:lnTo>
                  <a:cubicBezTo>
                    <a:pt x="4894" y="2024"/>
                    <a:pt x="4811" y="2108"/>
                    <a:pt x="4811" y="2203"/>
                  </a:cubicBezTo>
                  <a:lnTo>
                    <a:pt x="4811" y="7001"/>
                  </a:lnTo>
                  <a:lnTo>
                    <a:pt x="3501" y="7001"/>
                  </a:lnTo>
                  <a:lnTo>
                    <a:pt x="3501" y="3132"/>
                  </a:lnTo>
                  <a:cubicBezTo>
                    <a:pt x="3501" y="3036"/>
                    <a:pt x="3418" y="2953"/>
                    <a:pt x="3322" y="2953"/>
                  </a:cubicBezTo>
                  <a:lnTo>
                    <a:pt x="1477" y="2953"/>
                  </a:lnTo>
                  <a:cubicBezTo>
                    <a:pt x="1382" y="2953"/>
                    <a:pt x="1298" y="3024"/>
                    <a:pt x="1298" y="3132"/>
                  </a:cubicBezTo>
                  <a:lnTo>
                    <a:pt x="1298" y="7001"/>
                  </a:lnTo>
                  <a:lnTo>
                    <a:pt x="179" y="7001"/>
                  </a:lnTo>
                  <a:cubicBezTo>
                    <a:pt x="84" y="7001"/>
                    <a:pt x="1" y="7073"/>
                    <a:pt x="1" y="7180"/>
                  </a:cubicBezTo>
                  <a:cubicBezTo>
                    <a:pt x="1" y="7287"/>
                    <a:pt x="72" y="7358"/>
                    <a:pt x="179" y="7358"/>
                  </a:cubicBezTo>
                  <a:lnTo>
                    <a:pt x="11597" y="7358"/>
                  </a:lnTo>
                  <a:cubicBezTo>
                    <a:pt x="11681" y="7358"/>
                    <a:pt x="11776" y="7287"/>
                    <a:pt x="11776" y="7180"/>
                  </a:cubicBezTo>
                  <a:cubicBezTo>
                    <a:pt x="11800" y="7073"/>
                    <a:pt x="11728" y="7001"/>
                    <a:pt x="11633" y="7001"/>
                  </a:cubicBezTo>
                  <a:lnTo>
                    <a:pt x="10526" y="7001"/>
                  </a:lnTo>
                  <a:lnTo>
                    <a:pt x="10526" y="179"/>
                  </a:lnTo>
                  <a:cubicBezTo>
                    <a:pt x="10526" y="95"/>
                    <a:pt x="10442" y="0"/>
                    <a:pt x="10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141;p50">
              <a:extLst>
                <a:ext uri="{FF2B5EF4-FFF2-40B4-BE49-F238E27FC236}">
                  <a16:creationId xmlns:a16="http://schemas.microsoft.com/office/drawing/2014/main" id="{A8A9CB45-EFC6-368D-662E-57E0D7E16ACB}"/>
                </a:ext>
              </a:extLst>
            </p:cNvPr>
            <p:cNvSpPr/>
            <p:nvPr/>
          </p:nvSpPr>
          <p:spPr>
            <a:xfrm>
              <a:off x="1428052" y="4125629"/>
              <a:ext cx="356958" cy="215585"/>
            </a:xfrm>
            <a:custGeom>
              <a:avLst/>
              <a:gdLst/>
              <a:ahLst/>
              <a:cxnLst/>
              <a:rect l="l" t="t" r="r" b="b"/>
              <a:pathLst>
                <a:path w="11241" h="6789" extrusionOk="0">
                  <a:moveTo>
                    <a:pt x="10668" y="0"/>
                  </a:moveTo>
                  <a:cubicBezTo>
                    <a:pt x="10653" y="0"/>
                    <a:pt x="10637" y="1"/>
                    <a:pt x="10621" y="2"/>
                  </a:cubicBezTo>
                  <a:lnTo>
                    <a:pt x="9145" y="181"/>
                  </a:lnTo>
                  <a:cubicBezTo>
                    <a:pt x="8847" y="216"/>
                    <a:pt x="8633" y="490"/>
                    <a:pt x="8669" y="788"/>
                  </a:cubicBezTo>
                  <a:cubicBezTo>
                    <a:pt x="8691" y="1064"/>
                    <a:pt x="8938" y="1268"/>
                    <a:pt x="9211" y="1268"/>
                  </a:cubicBezTo>
                  <a:cubicBezTo>
                    <a:pt x="9232" y="1268"/>
                    <a:pt x="9254" y="1267"/>
                    <a:pt x="9276" y="1264"/>
                  </a:cubicBezTo>
                  <a:lnTo>
                    <a:pt x="9395" y="1252"/>
                  </a:lnTo>
                  <a:lnTo>
                    <a:pt x="9395" y="1252"/>
                  </a:lnTo>
                  <a:cubicBezTo>
                    <a:pt x="7597" y="3348"/>
                    <a:pt x="5442" y="4443"/>
                    <a:pt x="3918" y="4979"/>
                  </a:cubicBezTo>
                  <a:cubicBezTo>
                    <a:pt x="2025" y="5657"/>
                    <a:pt x="561" y="5717"/>
                    <a:pt x="537" y="5717"/>
                  </a:cubicBezTo>
                  <a:cubicBezTo>
                    <a:pt x="239" y="5729"/>
                    <a:pt x="1" y="5967"/>
                    <a:pt x="25" y="6265"/>
                  </a:cubicBezTo>
                  <a:cubicBezTo>
                    <a:pt x="37" y="6562"/>
                    <a:pt x="275" y="6789"/>
                    <a:pt x="561" y="6789"/>
                  </a:cubicBezTo>
                  <a:lnTo>
                    <a:pt x="572" y="6789"/>
                  </a:lnTo>
                  <a:cubicBezTo>
                    <a:pt x="632" y="6789"/>
                    <a:pt x="2192" y="6729"/>
                    <a:pt x="4263" y="6003"/>
                  </a:cubicBezTo>
                  <a:cubicBezTo>
                    <a:pt x="5418" y="5586"/>
                    <a:pt x="6514" y="5050"/>
                    <a:pt x="7490" y="4383"/>
                  </a:cubicBezTo>
                  <a:cubicBezTo>
                    <a:pt x="7561" y="4324"/>
                    <a:pt x="7597" y="4217"/>
                    <a:pt x="7538" y="4145"/>
                  </a:cubicBezTo>
                  <a:cubicBezTo>
                    <a:pt x="7501" y="4093"/>
                    <a:pt x="7445" y="4065"/>
                    <a:pt x="7391" y="4065"/>
                  </a:cubicBezTo>
                  <a:cubicBezTo>
                    <a:pt x="7358" y="4065"/>
                    <a:pt x="7326" y="4075"/>
                    <a:pt x="7299" y="4098"/>
                  </a:cubicBezTo>
                  <a:cubicBezTo>
                    <a:pt x="6335" y="4753"/>
                    <a:pt x="5275" y="5288"/>
                    <a:pt x="4144" y="5693"/>
                  </a:cubicBezTo>
                  <a:cubicBezTo>
                    <a:pt x="2132" y="6408"/>
                    <a:pt x="632" y="6467"/>
                    <a:pt x="561" y="6467"/>
                  </a:cubicBezTo>
                  <a:cubicBezTo>
                    <a:pt x="453" y="6467"/>
                    <a:pt x="358" y="6372"/>
                    <a:pt x="358" y="6265"/>
                  </a:cubicBezTo>
                  <a:cubicBezTo>
                    <a:pt x="358" y="6169"/>
                    <a:pt x="441" y="6074"/>
                    <a:pt x="561" y="6062"/>
                  </a:cubicBezTo>
                  <a:cubicBezTo>
                    <a:pt x="572" y="6062"/>
                    <a:pt x="2085" y="6003"/>
                    <a:pt x="4037" y="5300"/>
                  </a:cubicBezTo>
                  <a:cubicBezTo>
                    <a:pt x="5680" y="4717"/>
                    <a:pt x="8026" y="3514"/>
                    <a:pt x="9943" y="1133"/>
                  </a:cubicBezTo>
                  <a:cubicBezTo>
                    <a:pt x="10035" y="1018"/>
                    <a:pt x="9949" y="847"/>
                    <a:pt x="9813" y="847"/>
                  </a:cubicBezTo>
                  <a:cubicBezTo>
                    <a:pt x="9809" y="847"/>
                    <a:pt x="9804" y="847"/>
                    <a:pt x="9800" y="847"/>
                  </a:cubicBezTo>
                  <a:lnTo>
                    <a:pt x="9252" y="931"/>
                  </a:lnTo>
                  <a:cubicBezTo>
                    <a:pt x="9244" y="932"/>
                    <a:pt x="9236" y="932"/>
                    <a:pt x="9228" y="932"/>
                  </a:cubicBezTo>
                  <a:cubicBezTo>
                    <a:pt x="9139" y="932"/>
                    <a:pt x="9049" y="874"/>
                    <a:pt x="9038" y="776"/>
                  </a:cubicBezTo>
                  <a:cubicBezTo>
                    <a:pt x="9014" y="657"/>
                    <a:pt x="9085" y="550"/>
                    <a:pt x="9204" y="538"/>
                  </a:cubicBezTo>
                  <a:lnTo>
                    <a:pt x="10681" y="359"/>
                  </a:lnTo>
                  <a:cubicBezTo>
                    <a:pt x="10688" y="358"/>
                    <a:pt x="10696" y="358"/>
                    <a:pt x="10703" y="358"/>
                  </a:cubicBezTo>
                  <a:cubicBezTo>
                    <a:pt x="10812" y="358"/>
                    <a:pt x="10895" y="438"/>
                    <a:pt x="10895" y="550"/>
                  </a:cubicBezTo>
                  <a:lnTo>
                    <a:pt x="10895" y="2026"/>
                  </a:lnTo>
                  <a:cubicBezTo>
                    <a:pt x="10895" y="2133"/>
                    <a:pt x="10812" y="2217"/>
                    <a:pt x="10705" y="2217"/>
                  </a:cubicBezTo>
                  <a:cubicBezTo>
                    <a:pt x="10598" y="2217"/>
                    <a:pt x="10514" y="2133"/>
                    <a:pt x="10514" y="2026"/>
                  </a:cubicBezTo>
                  <a:lnTo>
                    <a:pt x="10514" y="1586"/>
                  </a:lnTo>
                  <a:cubicBezTo>
                    <a:pt x="10514" y="1502"/>
                    <a:pt x="10467" y="1443"/>
                    <a:pt x="10407" y="1419"/>
                  </a:cubicBezTo>
                  <a:cubicBezTo>
                    <a:pt x="10387" y="1409"/>
                    <a:pt x="10368" y="1405"/>
                    <a:pt x="10349" y="1405"/>
                  </a:cubicBezTo>
                  <a:cubicBezTo>
                    <a:pt x="10298" y="1405"/>
                    <a:pt x="10251" y="1435"/>
                    <a:pt x="10217" y="1478"/>
                  </a:cubicBezTo>
                  <a:cubicBezTo>
                    <a:pt x="9574" y="2264"/>
                    <a:pt x="8835" y="2979"/>
                    <a:pt x="8026" y="3610"/>
                  </a:cubicBezTo>
                  <a:cubicBezTo>
                    <a:pt x="7954" y="3669"/>
                    <a:pt x="7942" y="3764"/>
                    <a:pt x="8002" y="3848"/>
                  </a:cubicBezTo>
                  <a:cubicBezTo>
                    <a:pt x="8036" y="3888"/>
                    <a:pt x="8081" y="3910"/>
                    <a:pt x="8129" y="3910"/>
                  </a:cubicBezTo>
                  <a:cubicBezTo>
                    <a:pt x="8166" y="3910"/>
                    <a:pt x="8204" y="3897"/>
                    <a:pt x="8240" y="3872"/>
                  </a:cubicBezTo>
                  <a:cubicBezTo>
                    <a:pt x="8931" y="3336"/>
                    <a:pt x="9585" y="2729"/>
                    <a:pt x="10169" y="2062"/>
                  </a:cubicBezTo>
                  <a:cubicBezTo>
                    <a:pt x="10181" y="2336"/>
                    <a:pt x="10419" y="2574"/>
                    <a:pt x="10705" y="2574"/>
                  </a:cubicBezTo>
                  <a:cubicBezTo>
                    <a:pt x="11002" y="2574"/>
                    <a:pt x="11240" y="2336"/>
                    <a:pt x="11240" y="2038"/>
                  </a:cubicBezTo>
                  <a:lnTo>
                    <a:pt x="11240" y="573"/>
                  </a:lnTo>
                  <a:cubicBezTo>
                    <a:pt x="11240" y="395"/>
                    <a:pt x="11169" y="240"/>
                    <a:pt x="11050" y="133"/>
                  </a:cubicBezTo>
                  <a:cubicBezTo>
                    <a:pt x="10943" y="47"/>
                    <a:pt x="10807" y="0"/>
                    <a:pt x="106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450507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Imagem 38">
            <a:extLst>
              <a:ext uri="{FF2B5EF4-FFF2-40B4-BE49-F238E27FC236}">
                <a16:creationId xmlns:a16="http://schemas.microsoft.com/office/drawing/2014/main" id="{8F6A83EB-6687-479D-BD59-51B6B2B8CBF9}"/>
              </a:ext>
            </a:extLst>
          </p:cNvPr>
          <p:cNvPicPr>
            <a:picLocks noChangeAspect="1"/>
          </p:cNvPicPr>
          <p:nvPr/>
        </p:nvPicPr>
        <p:blipFill>
          <a:blip r:embed="rId2">
            <a:alphaModFix amt="4000"/>
          </a:blip>
          <a:stretch>
            <a:fillRect/>
          </a:stretch>
        </p:blipFill>
        <p:spPr>
          <a:xfrm>
            <a:off x="9118521" y="4681854"/>
            <a:ext cx="5030445" cy="5148116"/>
          </a:xfrm>
          <a:prstGeom prst="rect">
            <a:avLst/>
          </a:prstGeom>
          <a:effectLst/>
        </p:spPr>
      </p:pic>
      <p:pic>
        <p:nvPicPr>
          <p:cNvPr id="38" name="Imagem 37">
            <a:extLst>
              <a:ext uri="{FF2B5EF4-FFF2-40B4-BE49-F238E27FC236}">
                <a16:creationId xmlns:a16="http://schemas.microsoft.com/office/drawing/2014/main" id="{DE2A603E-716D-41D5-ABEF-1625839B46A3}"/>
              </a:ext>
            </a:extLst>
          </p:cNvPr>
          <p:cNvPicPr>
            <a:picLocks noChangeAspect="1"/>
          </p:cNvPicPr>
          <p:nvPr/>
        </p:nvPicPr>
        <p:blipFill>
          <a:blip r:embed="rId2">
            <a:alphaModFix amt="4000"/>
          </a:blip>
          <a:stretch>
            <a:fillRect/>
          </a:stretch>
        </p:blipFill>
        <p:spPr>
          <a:xfrm>
            <a:off x="-2128370" y="-2021305"/>
            <a:ext cx="5030445" cy="5148116"/>
          </a:xfrm>
          <a:prstGeom prst="rect">
            <a:avLst/>
          </a:prstGeom>
          <a:effectLst/>
        </p:spPr>
      </p:pic>
      <p:grpSp>
        <p:nvGrpSpPr>
          <p:cNvPr id="20" name="Google Shape;1964;p50">
            <a:extLst>
              <a:ext uri="{FF2B5EF4-FFF2-40B4-BE49-F238E27FC236}">
                <a16:creationId xmlns:a16="http://schemas.microsoft.com/office/drawing/2014/main" id="{644333FE-63B4-42DF-ADFA-AF9177DF58D7}"/>
              </a:ext>
            </a:extLst>
          </p:cNvPr>
          <p:cNvGrpSpPr/>
          <p:nvPr/>
        </p:nvGrpSpPr>
        <p:grpSpPr>
          <a:xfrm flipH="1">
            <a:off x="742950" y="537670"/>
            <a:ext cx="603644" cy="576232"/>
            <a:chOff x="4126815" y="2760704"/>
            <a:chExt cx="380393" cy="363118"/>
          </a:xfrm>
          <a:solidFill>
            <a:srgbClr val="0B5892"/>
          </a:solidFill>
        </p:grpSpPr>
        <p:sp>
          <p:nvSpPr>
            <p:cNvPr id="21" name="Google Shape;1965;p50">
              <a:extLst>
                <a:ext uri="{FF2B5EF4-FFF2-40B4-BE49-F238E27FC236}">
                  <a16:creationId xmlns:a16="http://schemas.microsoft.com/office/drawing/2014/main" id="{C90A8E2B-6430-4128-93A1-80EDBF3E3BED}"/>
                </a:ext>
              </a:extLst>
            </p:cNvPr>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966;p50">
              <a:extLst>
                <a:ext uri="{FF2B5EF4-FFF2-40B4-BE49-F238E27FC236}">
                  <a16:creationId xmlns:a16="http://schemas.microsoft.com/office/drawing/2014/main" id="{C220A82A-DCEF-47A8-9174-5A849CB2B75F}"/>
                </a:ext>
              </a:extLst>
            </p:cNvPr>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967;p50">
              <a:extLst>
                <a:ext uri="{FF2B5EF4-FFF2-40B4-BE49-F238E27FC236}">
                  <a16:creationId xmlns:a16="http://schemas.microsoft.com/office/drawing/2014/main" id="{446DDA74-F73B-4510-BFCE-608659C3FC02}"/>
                </a:ext>
              </a:extLst>
            </p:cNvPr>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968;p50">
              <a:extLst>
                <a:ext uri="{FF2B5EF4-FFF2-40B4-BE49-F238E27FC236}">
                  <a16:creationId xmlns:a16="http://schemas.microsoft.com/office/drawing/2014/main" id="{487DFEED-06C3-4B9B-9B7A-545AAF95F24C}"/>
                </a:ext>
              </a:extLst>
            </p:cNvPr>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Retângulo 28">
            <a:extLst>
              <a:ext uri="{FF2B5EF4-FFF2-40B4-BE49-F238E27FC236}">
                <a16:creationId xmlns:a16="http://schemas.microsoft.com/office/drawing/2014/main" id="{0BBC58FB-2C41-419E-8246-609C9177CDA9}"/>
              </a:ext>
            </a:extLst>
          </p:cNvPr>
          <p:cNvSpPr/>
          <p:nvPr/>
        </p:nvSpPr>
        <p:spPr>
          <a:xfrm>
            <a:off x="-449179" y="6707874"/>
            <a:ext cx="14054469" cy="334610"/>
          </a:xfrm>
          <a:prstGeom prst="rect">
            <a:avLst/>
          </a:prstGeom>
          <a:solidFill>
            <a:srgbClr val="0B58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 name="Imagem 7">
            <a:extLst>
              <a:ext uri="{FF2B5EF4-FFF2-40B4-BE49-F238E27FC236}">
                <a16:creationId xmlns:a16="http://schemas.microsoft.com/office/drawing/2014/main" id="{55CA91AA-A108-4071-B0A7-0374C74EDA09}"/>
              </a:ext>
            </a:extLst>
          </p:cNvPr>
          <p:cNvPicPr>
            <a:picLocks noChangeAspect="1"/>
          </p:cNvPicPr>
          <p:nvPr/>
        </p:nvPicPr>
        <p:blipFill>
          <a:blip r:embed="rId3"/>
          <a:stretch>
            <a:fillRect/>
          </a:stretch>
        </p:blipFill>
        <p:spPr>
          <a:xfrm>
            <a:off x="-124691" y="-20995"/>
            <a:ext cx="12316692" cy="88042"/>
          </a:xfrm>
          <a:prstGeom prst="rect">
            <a:avLst/>
          </a:prstGeom>
        </p:spPr>
      </p:pic>
      <p:sp>
        <p:nvSpPr>
          <p:cNvPr id="18" name="Título 1">
            <a:extLst>
              <a:ext uri="{FF2B5EF4-FFF2-40B4-BE49-F238E27FC236}">
                <a16:creationId xmlns:a16="http://schemas.microsoft.com/office/drawing/2014/main" id="{9BC75932-B40A-460F-B242-8264BFE06926}"/>
              </a:ext>
            </a:extLst>
          </p:cNvPr>
          <p:cNvSpPr txBox="1">
            <a:spLocks/>
          </p:cNvSpPr>
          <p:nvPr/>
        </p:nvSpPr>
        <p:spPr>
          <a:xfrm>
            <a:off x="1366068" y="448718"/>
            <a:ext cx="6453099"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spc="600" dirty="0">
                <a:solidFill>
                  <a:srgbClr val="0B5892"/>
                </a:solidFill>
                <a:latin typeface="Arial" panose="020B0604020202020204" pitchFamily="34" charset="0"/>
                <a:cs typeface="Arial" panose="020B0604020202020204" pitchFamily="34" charset="0"/>
              </a:rPr>
              <a:t>VISÃO POR CICLOS</a:t>
            </a:r>
          </a:p>
        </p:txBody>
      </p:sp>
      <p:sp>
        <p:nvSpPr>
          <p:cNvPr id="19" name="Título 1">
            <a:extLst>
              <a:ext uri="{FF2B5EF4-FFF2-40B4-BE49-F238E27FC236}">
                <a16:creationId xmlns:a16="http://schemas.microsoft.com/office/drawing/2014/main" id="{CB92D9AB-3FEB-47AD-8015-DD30B5F902CE}"/>
              </a:ext>
            </a:extLst>
          </p:cNvPr>
          <p:cNvSpPr txBox="1">
            <a:spLocks/>
          </p:cNvSpPr>
          <p:nvPr/>
        </p:nvSpPr>
        <p:spPr>
          <a:xfrm>
            <a:off x="1400358" y="716411"/>
            <a:ext cx="6950456"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600" spc="300" dirty="0">
                <a:solidFill>
                  <a:srgbClr val="0B5892"/>
                </a:solidFill>
                <a:latin typeface="Arial" panose="020B0604020202020204" pitchFamily="34" charset="0"/>
                <a:cs typeface="Arial" panose="020B0604020202020204" pitchFamily="34" charset="0"/>
              </a:rPr>
              <a:t>Quantidade total de monitorias realizadas</a:t>
            </a:r>
          </a:p>
        </p:txBody>
      </p:sp>
      <p:cxnSp>
        <p:nvCxnSpPr>
          <p:cNvPr id="25" name="Conector reto 24">
            <a:extLst>
              <a:ext uri="{FF2B5EF4-FFF2-40B4-BE49-F238E27FC236}">
                <a16:creationId xmlns:a16="http://schemas.microsoft.com/office/drawing/2014/main" id="{C6F5D155-7AE8-4277-A61A-2EF88BF2DADC}"/>
              </a:ext>
            </a:extLst>
          </p:cNvPr>
          <p:cNvCxnSpPr/>
          <p:nvPr/>
        </p:nvCxnSpPr>
        <p:spPr>
          <a:xfrm>
            <a:off x="725988" y="1185955"/>
            <a:ext cx="9855200" cy="0"/>
          </a:xfrm>
          <a:prstGeom prst="line">
            <a:avLst/>
          </a:prstGeom>
          <a:ln>
            <a:solidFill>
              <a:srgbClr val="0B5892"/>
            </a:solidFill>
          </a:ln>
        </p:spPr>
        <p:style>
          <a:lnRef idx="1">
            <a:schemeClr val="accent1"/>
          </a:lnRef>
          <a:fillRef idx="0">
            <a:schemeClr val="accent1"/>
          </a:fillRef>
          <a:effectRef idx="0">
            <a:schemeClr val="accent1"/>
          </a:effectRef>
          <a:fontRef idx="minor">
            <a:schemeClr val="tx1"/>
          </a:fontRef>
        </p:style>
      </p:cxnSp>
      <p:graphicFrame>
        <p:nvGraphicFramePr>
          <p:cNvPr id="104" name="Gráfico 103">
            <a:extLst>
              <a:ext uri="{FF2B5EF4-FFF2-40B4-BE49-F238E27FC236}">
                <a16:creationId xmlns:a16="http://schemas.microsoft.com/office/drawing/2014/main" id="{7F29A529-8C89-46A4-A733-2C6C8EC952D8}"/>
              </a:ext>
            </a:extLst>
          </p:cNvPr>
          <p:cNvGraphicFramePr/>
          <p:nvPr>
            <p:extLst>
              <p:ext uri="{D42A27DB-BD31-4B8C-83A1-F6EECF244321}">
                <p14:modId xmlns:p14="http://schemas.microsoft.com/office/powerpoint/2010/main" val="1163690953"/>
              </p:ext>
            </p:extLst>
          </p:nvPr>
        </p:nvGraphicFramePr>
        <p:xfrm>
          <a:off x="1147712" y="2006930"/>
          <a:ext cx="4157940" cy="1757030"/>
        </p:xfrm>
        <a:graphic>
          <a:graphicData uri="http://schemas.openxmlformats.org/drawingml/2006/chart">
            <c:chart xmlns:c="http://schemas.openxmlformats.org/drawingml/2006/chart" xmlns:r="http://schemas.openxmlformats.org/officeDocument/2006/relationships" r:id="rId4"/>
          </a:graphicData>
        </a:graphic>
      </p:graphicFrame>
      <p:sp>
        <p:nvSpPr>
          <p:cNvPr id="105" name="CaixaDeTexto 104">
            <a:extLst>
              <a:ext uri="{FF2B5EF4-FFF2-40B4-BE49-F238E27FC236}">
                <a16:creationId xmlns:a16="http://schemas.microsoft.com/office/drawing/2014/main" id="{C6473394-799A-44A9-BA31-CF46E95925AD}"/>
              </a:ext>
            </a:extLst>
          </p:cNvPr>
          <p:cNvSpPr txBox="1"/>
          <p:nvPr/>
        </p:nvSpPr>
        <p:spPr>
          <a:xfrm>
            <a:off x="1294992" y="1638285"/>
            <a:ext cx="3926129" cy="307777"/>
          </a:xfrm>
          <a:prstGeom prst="rect">
            <a:avLst/>
          </a:prstGeom>
          <a:noFill/>
        </p:spPr>
        <p:txBody>
          <a:bodyPr wrap="square" rtlCol="0">
            <a:spAutoFit/>
          </a:bodyPr>
          <a:lstStyle/>
          <a:p>
            <a:pPr algn="ctr"/>
            <a:r>
              <a:rPr lang="pt-BR" sz="1400" b="1" dirty="0">
                <a:solidFill>
                  <a:schemeClr val="tx1">
                    <a:lumMod val="50000"/>
                    <a:lumOff val="50000"/>
                  </a:schemeClr>
                </a:solidFill>
                <a:latin typeface="Arial" panose="020B0604020202020204" pitchFamily="34" charset="0"/>
                <a:cs typeface="Arial" panose="020B0604020202020204" pitchFamily="34" charset="0"/>
              </a:rPr>
              <a:t>Volume de Monitorias </a:t>
            </a:r>
          </a:p>
        </p:txBody>
      </p:sp>
      <p:graphicFrame>
        <p:nvGraphicFramePr>
          <p:cNvPr id="106" name="Tabela 105">
            <a:extLst>
              <a:ext uri="{FF2B5EF4-FFF2-40B4-BE49-F238E27FC236}">
                <a16:creationId xmlns:a16="http://schemas.microsoft.com/office/drawing/2014/main" id="{7DDD1E95-3CD5-466E-99A8-89970A230860}"/>
              </a:ext>
            </a:extLst>
          </p:cNvPr>
          <p:cNvGraphicFramePr>
            <a:graphicFrameLocks noGrp="1"/>
          </p:cNvGraphicFramePr>
          <p:nvPr>
            <p:extLst>
              <p:ext uri="{D42A27DB-BD31-4B8C-83A1-F6EECF244321}">
                <p14:modId xmlns:p14="http://schemas.microsoft.com/office/powerpoint/2010/main" val="2650469704"/>
              </p:ext>
            </p:extLst>
          </p:nvPr>
        </p:nvGraphicFramePr>
        <p:xfrm>
          <a:off x="1446587" y="4740055"/>
          <a:ext cx="3822477" cy="635164"/>
        </p:xfrm>
        <a:graphic>
          <a:graphicData uri="http://schemas.openxmlformats.org/drawingml/2006/table">
            <a:tbl>
              <a:tblPr firstRow="1" bandRow="1">
                <a:tableStyleId>{F2DE63D5-997A-4646-A377-4702673A728D}</a:tableStyleId>
              </a:tblPr>
              <a:tblGrid>
                <a:gridCol w="1274159">
                  <a:extLst>
                    <a:ext uri="{9D8B030D-6E8A-4147-A177-3AD203B41FA5}">
                      <a16:colId xmlns:a16="http://schemas.microsoft.com/office/drawing/2014/main" val="3806050286"/>
                    </a:ext>
                  </a:extLst>
                </a:gridCol>
                <a:gridCol w="1274159">
                  <a:extLst>
                    <a:ext uri="{9D8B030D-6E8A-4147-A177-3AD203B41FA5}">
                      <a16:colId xmlns:a16="http://schemas.microsoft.com/office/drawing/2014/main" val="658273446"/>
                    </a:ext>
                  </a:extLst>
                </a:gridCol>
                <a:gridCol w="1274159">
                  <a:extLst>
                    <a:ext uri="{9D8B030D-6E8A-4147-A177-3AD203B41FA5}">
                      <a16:colId xmlns:a16="http://schemas.microsoft.com/office/drawing/2014/main" val="2373962523"/>
                    </a:ext>
                  </a:extLst>
                </a:gridCol>
              </a:tblGrid>
              <a:tr h="253021">
                <a:tc>
                  <a:txBody>
                    <a:bodyPr/>
                    <a:lstStyle/>
                    <a:p>
                      <a:pPr algn="ctr">
                        <a:lnSpc>
                          <a:spcPct val="150000"/>
                        </a:lnSpc>
                      </a:pPr>
                      <a:r>
                        <a:rPr lang="pt-BR" sz="1000" dirty="0">
                          <a:latin typeface="Arial" panose="020B0604020202020204" pitchFamily="34" charset="0"/>
                          <a:cs typeface="Arial" panose="020B0604020202020204" pitchFamily="34" charset="0"/>
                        </a:rPr>
                        <a:t>Total qualidade</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ysDot"/>
                      <a:round/>
                      <a:headEnd type="none" w="med" len="med"/>
                      <a:tailEnd type="none" w="med" len="med"/>
                    </a:lnB>
                    <a:lnTlToBr w="12700" cmpd="sng">
                      <a:noFill/>
                      <a:prstDash val="solid"/>
                    </a:lnTlToBr>
                    <a:lnBlToTr w="12700" cmpd="sng">
                      <a:noFill/>
                      <a:prstDash val="solid"/>
                    </a:lnBlToTr>
                    <a:solidFill>
                      <a:srgbClr val="0B5892"/>
                    </a:solidFill>
                  </a:tcPr>
                </a:tc>
                <a:tc>
                  <a:txBody>
                    <a:bodyPr/>
                    <a:lstStyle/>
                    <a:p>
                      <a:pPr algn="ctr">
                        <a:lnSpc>
                          <a:spcPct val="150000"/>
                        </a:lnSpc>
                      </a:pPr>
                      <a:r>
                        <a:rPr lang="pt-BR" sz="1000" dirty="0">
                          <a:latin typeface="Arial" panose="020B0604020202020204" pitchFamily="34" charset="0"/>
                          <a:cs typeface="Arial" panose="020B0604020202020204" pitchFamily="34" charset="0"/>
                        </a:rPr>
                        <a:t>Total supervisão</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ysDot"/>
                      <a:round/>
                      <a:headEnd type="none" w="med" len="med"/>
                      <a:tailEnd type="none" w="med" len="med"/>
                    </a:lnB>
                    <a:lnTlToBr w="12700" cmpd="sng">
                      <a:noFill/>
                      <a:prstDash val="solid"/>
                    </a:lnTlToBr>
                    <a:lnBlToTr w="12700" cmpd="sng">
                      <a:noFill/>
                      <a:prstDash val="solid"/>
                    </a:lnBlToTr>
                    <a:solidFill>
                      <a:srgbClr val="0B5892"/>
                    </a:solidFill>
                  </a:tcPr>
                </a:tc>
                <a:tc>
                  <a:txBody>
                    <a:bodyPr/>
                    <a:lstStyle/>
                    <a:p>
                      <a:pPr marL="0" marR="0" lvl="0" indent="0" algn="ctr" defTabSz="914400" eaLnBrk="1" fontAlgn="auto" latinLnBrk="0" hangingPunct="1">
                        <a:lnSpc>
                          <a:spcPct val="150000"/>
                        </a:lnSpc>
                        <a:spcBef>
                          <a:spcPts val="0"/>
                        </a:spcBef>
                        <a:spcAft>
                          <a:spcPts val="0"/>
                        </a:spcAft>
                        <a:buClrTx/>
                        <a:buSzTx/>
                        <a:buFontTx/>
                        <a:buNone/>
                        <a:tabLst/>
                        <a:defRPr/>
                      </a:pPr>
                      <a:r>
                        <a:rPr lang="pt-BR" sz="1000" dirty="0">
                          <a:latin typeface="Arial" panose="020B0604020202020204" pitchFamily="34" charset="0"/>
                          <a:cs typeface="Arial" panose="020B0604020202020204" pitchFamily="34" charset="0"/>
                        </a:rPr>
                        <a:t>Margem de erro</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ysDot"/>
                      <a:round/>
                      <a:headEnd type="none" w="med" len="med"/>
                      <a:tailEnd type="none" w="med" len="med"/>
                    </a:lnB>
                    <a:lnTlToBr w="12700" cmpd="sng">
                      <a:noFill/>
                      <a:prstDash val="solid"/>
                    </a:lnTlToBr>
                    <a:lnBlToTr w="12700" cmpd="sng">
                      <a:noFill/>
                      <a:prstDash val="solid"/>
                    </a:lnBlToTr>
                    <a:solidFill>
                      <a:srgbClr val="0B5892"/>
                    </a:solidFill>
                  </a:tcPr>
                </a:tc>
                <a:extLst>
                  <a:ext uri="{0D108BD9-81ED-4DB2-BD59-A6C34878D82A}">
                    <a16:rowId xmlns:a16="http://schemas.microsoft.com/office/drawing/2014/main" val="574108456"/>
                  </a:ext>
                </a:extLst>
              </a:tr>
              <a:tr h="343381">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282</a:t>
                      </a:r>
                    </a:p>
                  </a:txBody>
                  <a:tcPr>
                    <a:lnL w="12700" cap="flat" cmpd="sng" algn="ctr">
                      <a:solidFill>
                        <a:schemeClr val="bg1">
                          <a:lumMod val="65000"/>
                        </a:schemeClr>
                      </a:solidFill>
                      <a:prstDash val="sysDot"/>
                      <a:round/>
                      <a:headEnd type="none" w="med" len="med"/>
                      <a:tailEnd type="none" w="med" len="med"/>
                    </a:lnL>
                    <a:lnR w="12700" cap="flat" cmpd="sng" algn="ctr">
                      <a:solidFill>
                        <a:schemeClr val="bg1">
                          <a:lumMod val="65000"/>
                        </a:schemeClr>
                      </a:solid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143</a:t>
                      </a:r>
                    </a:p>
                  </a:txBody>
                  <a:tcPr>
                    <a:lnL w="12700" cap="flat" cmpd="sng" algn="ctr">
                      <a:solidFill>
                        <a:schemeClr val="bg1">
                          <a:lumMod val="65000"/>
                        </a:schemeClr>
                      </a:solidFill>
                      <a:prstDash val="sysDot"/>
                      <a:round/>
                      <a:headEnd type="none" w="med" len="med"/>
                      <a:tailEnd type="none" w="med" len="med"/>
                    </a:lnL>
                    <a:lnR w="12700" cap="flat" cmpd="sng" algn="ctr">
                      <a:solidFill>
                        <a:schemeClr val="bg1">
                          <a:lumMod val="65000"/>
                        </a:schemeClr>
                      </a:solid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a:r>
                        <a:rPr lang="pt-BR" sz="1000" dirty="0">
                          <a:solidFill>
                            <a:schemeClr val="bg2">
                              <a:lumMod val="25000"/>
                            </a:schemeClr>
                          </a:solidFill>
                          <a:latin typeface="Arial" panose="020B0604020202020204" pitchFamily="34" charset="0"/>
                          <a:cs typeface="Arial" panose="020B0604020202020204" pitchFamily="34" charset="0"/>
                        </a:rPr>
                        <a:t>5%</a:t>
                      </a:r>
                    </a:p>
                  </a:txBody>
                  <a:tcPr>
                    <a:lnL w="12700" cap="flat" cmpd="sng" algn="ctr">
                      <a:solidFill>
                        <a:schemeClr val="bg1">
                          <a:lumMod val="65000"/>
                        </a:schemeClr>
                      </a:solidFill>
                      <a:prstDash val="sysDot"/>
                      <a:round/>
                      <a:headEnd type="none" w="med" len="med"/>
                      <a:tailEnd type="none" w="med" len="med"/>
                    </a:lnL>
                    <a:lnR w="12700" cap="flat" cmpd="sng" algn="ctr">
                      <a:solidFill>
                        <a:schemeClr val="bg1">
                          <a:lumMod val="65000"/>
                        </a:schemeClr>
                      </a:solid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7835773"/>
                  </a:ext>
                </a:extLst>
              </a:tr>
            </a:tbl>
          </a:graphicData>
        </a:graphic>
      </p:graphicFrame>
      <p:cxnSp>
        <p:nvCxnSpPr>
          <p:cNvPr id="11" name="Conector reto 10">
            <a:extLst>
              <a:ext uri="{FF2B5EF4-FFF2-40B4-BE49-F238E27FC236}">
                <a16:creationId xmlns:a16="http://schemas.microsoft.com/office/drawing/2014/main" id="{E66C4CB9-9CD9-49E1-8372-BBBB577F2680}"/>
              </a:ext>
            </a:extLst>
          </p:cNvPr>
          <p:cNvCxnSpPr>
            <a:cxnSpLocks/>
          </p:cNvCxnSpPr>
          <p:nvPr/>
        </p:nvCxnSpPr>
        <p:spPr>
          <a:xfrm>
            <a:off x="6096000" y="1848607"/>
            <a:ext cx="34403" cy="3728788"/>
          </a:xfrm>
          <a:prstGeom prst="line">
            <a:avLst/>
          </a:prstGeom>
          <a:ln>
            <a:solidFill>
              <a:srgbClr val="0B5892"/>
            </a:solidFill>
          </a:ln>
        </p:spPr>
        <p:style>
          <a:lnRef idx="1">
            <a:schemeClr val="accent1"/>
          </a:lnRef>
          <a:fillRef idx="0">
            <a:schemeClr val="accent1"/>
          </a:fillRef>
          <a:effectRef idx="0">
            <a:schemeClr val="accent1"/>
          </a:effectRef>
          <a:fontRef idx="minor">
            <a:schemeClr val="tx1"/>
          </a:fontRef>
        </p:style>
      </p:cxnSp>
      <p:graphicFrame>
        <p:nvGraphicFramePr>
          <p:cNvPr id="26" name="Gráfico 25">
            <a:extLst>
              <a:ext uri="{FF2B5EF4-FFF2-40B4-BE49-F238E27FC236}">
                <a16:creationId xmlns:a16="http://schemas.microsoft.com/office/drawing/2014/main" id="{CE1C9029-2899-4182-87BA-4652FFBC28D4}"/>
              </a:ext>
            </a:extLst>
          </p:cNvPr>
          <p:cNvGraphicFramePr/>
          <p:nvPr>
            <p:extLst>
              <p:ext uri="{D42A27DB-BD31-4B8C-83A1-F6EECF244321}">
                <p14:modId xmlns:p14="http://schemas.microsoft.com/office/powerpoint/2010/main" val="3789741762"/>
              </p:ext>
            </p:extLst>
          </p:nvPr>
        </p:nvGraphicFramePr>
        <p:xfrm>
          <a:off x="6858000" y="2022809"/>
          <a:ext cx="4157940" cy="1757030"/>
        </p:xfrm>
        <a:graphic>
          <a:graphicData uri="http://schemas.openxmlformats.org/drawingml/2006/chart">
            <c:chart xmlns:c="http://schemas.openxmlformats.org/drawingml/2006/chart" xmlns:r="http://schemas.openxmlformats.org/officeDocument/2006/relationships" r:id="rId5"/>
          </a:graphicData>
        </a:graphic>
      </p:graphicFrame>
      <p:sp>
        <p:nvSpPr>
          <p:cNvPr id="27" name="CaixaDeTexto 26">
            <a:extLst>
              <a:ext uri="{FF2B5EF4-FFF2-40B4-BE49-F238E27FC236}">
                <a16:creationId xmlns:a16="http://schemas.microsoft.com/office/drawing/2014/main" id="{6C361242-B178-4979-B54C-68D4AAA5711A}"/>
              </a:ext>
            </a:extLst>
          </p:cNvPr>
          <p:cNvSpPr txBox="1"/>
          <p:nvPr/>
        </p:nvSpPr>
        <p:spPr>
          <a:xfrm>
            <a:off x="6927804" y="1635312"/>
            <a:ext cx="3992681" cy="307777"/>
          </a:xfrm>
          <a:prstGeom prst="rect">
            <a:avLst/>
          </a:prstGeom>
          <a:noFill/>
        </p:spPr>
        <p:txBody>
          <a:bodyPr wrap="square" rtlCol="0">
            <a:spAutoFit/>
          </a:bodyPr>
          <a:lstStyle/>
          <a:p>
            <a:pPr algn="ctr"/>
            <a:r>
              <a:rPr lang="pt-BR" sz="1400" b="1" dirty="0">
                <a:solidFill>
                  <a:schemeClr val="tx1">
                    <a:lumMod val="50000"/>
                    <a:lumOff val="50000"/>
                  </a:schemeClr>
                </a:solidFill>
                <a:latin typeface="Arial" panose="020B0604020202020204" pitchFamily="34" charset="0"/>
                <a:cs typeface="Arial" panose="020B0604020202020204" pitchFamily="34" charset="0"/>
              </a:rPr>
              <a:t>Classificação das Monitorias </a:t>
            </a:r>
          </a:p>
        </p:txBody>
      </p:sp>
      <p:graphicFrame>
        <p:nvGraphicFramePr>
          <p:cNvPr id="28" name="Tabela 27">
            <a:extLst>
              <a:ext uri="{FF2B5EF4-FFF2-40B4-BE49-F238E27FC236}">
                <a16:creationId xmlns:a16="http://schemas.microsoft.com/office/drawing/2014/main" id="{B7DEE6CE-3286-4828-8325-E256C5CEFE90}"/>
              </a:ext>
            </a:extLst>
          </p:cNvPr>
          <p:cNvGraphicFramePr>
            <a:graphicFrameLocks noGrp="1"/>
          </p:cNvGraphicFramePr>
          <p:nvPr>
            <p:extLst>
              <p:ext uri="{D42A27DB-BD31-4B8C-83A1-F6EECF244321}">
                <p14:modId xmlns:p14="http://schemas.microsoft.com/office/powerpoint/2010/main" val="229226468"/>
              </p:ext>
            </p:extLst>
          </p:nvPr>
        </p:nvGraphicFramePr>
        <p:xfrm>
          <a:off x="7005281" y="4064594"/>
          <a:ext cx="3822477" cy="688023"/>
        </p:xfrm>
        <a:graphic>
          <a:graphicData uri="http://schemas.openxmlformats.org/drawingml/2006/table">
            <a:tbl>
              <a:tblPr firstRow="1" bandRow="1">
                <a:tableStyleId>{F2DE63D5-997A-4646-A377-4702673A728D}</a:tableStyleId>
              </a:tblPr>
              <a:tblGrid>
                <a:gridCol w="1274159">
                  <a:extLst>
                    <a:ext uri="{9D8B030D-6E8A-4147-A177-3AD203B41FA5}">
                      <a16:colId xmlns:a16="http://schemas.microsoft.com/office/drawing/2014/main" val="3806050286"/>
                    </a:ext>
                  </a:extLst>
                </a:gridCol>
                <a:gridCol w="1274159">
                  <a:extLst>
                    <a:ext uri="{9D8B030D-6E8A-4147-A177-3AD203B41FA5}">
                      <a16:colId xmlns:a16="http://schemas.microsoft.com/office/drawing/2014/main" val="658273446"/>
                    </a:ext>
                  </a:extLst>
                </a:gridCol>
                <a:gridCol w="1274159">
                  <a:extLst>
                    <a:ext uri="{9D8B030D-6E8A-4147-A177-3AD203B41FA5}">
                      <a16:colId xmlns:a16="http://schemas.microsoft.com/office/drawing/2014/main" val="2373962523"/>
                    </a:ext>
                  </a:extLst>
                </a:gridCol>
              </a:tblGrid>
              <a:tr h="236601">
                <a:tc>
                  <a:txBody>
                    <a:bodyPr/>
                    <a:lstStyle/>
                    <a:p>
                      <a:pPr algn="ctr">
                        <a:lnSpc>
                          <a:spcPct val="150000"/>
                        </a:lnSpc>
                      </a:pPr>
                      <a:r>
                        <a:rPr lang="pt-BR" sz="1000" dirty="0">
                          <a:latin typeface="Arial" panose="020B0604020202020204" pitchFamily="34" charset="0"/>
                          <a:cs typeface="Arial" panose="020B0604020202020204" pitchFamily="34" charset="0"/>
                        </a:rPr>
                        <a:t>NCG</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ysDot"/>
                      <a:round/>
                      <a:headEnd type="none" w="med" len="med"/>
                      <a:tailEnd type="none" w="med" len="med"/>
                    </a:lnB>
                    <a:lnTlToBr w="12700" cmpd="sng">
                      <a:noFill/>
                      <a:prstDash val="solid"/>
                    </a:lnTlToBr>
                    <a:lnBlToTr w="12700" cmpd="sng">
                      <a:noFill/>
                      <a:prstDash val="solid"/>
                    </a:lnBlToTr>
                    <a:solidFill>
                      <a:srgbClr val="0B5892"/>
                    </a:solidFill>
                  </a:tcPr>
                </a:tc>
                <a:tc>
                  <a:txBody>
                    <a:bodyPr/>
                    <a:lstStyle/>
                    <a:p>
                      <a:pPr algn="ctr">
                        <a:lnSpc>
                          <a:spcPct val="150000"/>
                        </a:lnSpc>
                      </a:pPr>
                      <a:r>
                        <a:rPr lang="pt-BR" sz="1000" dirty="0">
                          <a:latin typeface="Arial" panose="020B0604020202020204" pitchFamily="34" charset="0"/>
                          <a:cs typeface="Arial" panose="020B0604020202020204" pitchFamily="34" charset="0"/>
                        </a:rPr>
                        <a:t>NC</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ysDot"/>
                      <a:round/>
                      <a:headEnd type="none" w="med" len="med"/>
                      <a:tailEnd type="none" w="med" len="med"/>
                    </a:lnB>
                    <a:lnTlToBr w="12700" cmpd="sng">
                      <a:noFill/>
                      <a:prstDash val="solid"/>
                    </a:lnTlToBr>
                    <a:lnBlToTr w="12700" cmpd="sng">
                      <a:noFill/>
                      <a:prstDash val="solid"/>
                    </a:lnBlToTr>
                    <a:solidFill>
                      <a:srgbClr val="0B5892"/>
                    </a:solidFill>
                  </a:tcPr>
                </a:tc>
                <a:tc>
                  <a:txBody>
                    <a:bodyPr/>
                    <a:lstStyle/>
                    <a:p>
                      <a:pPr marL="0" marR="0" lvl="0" indent="0" algn="ctr" defTabSz="914400" eaLnBrk="1" fontAlgn="auto" latinLnBrk="0" hangingPunct="1">
                        <a:lnSpc>
                          <a:spcPct val="150000"/>
                        </a:lnSpc>
                        <a:spcBef>
                          <a:spcPts val="0"/>
                        </a:spcBef>
                        <a:spcAft>
                          <a:spcPts val="0"/>
                        </a:spcAft>
                        <a:buClrTx/>
                        <a:buSzTx/>
                        <a:buFontTx/>
                        <a:buNone/>
                        <a:tabLst/>
                        <a:defRPr/>
                      </a:pPr>
                      <a:r>
                        <a:rPr lang="pt-BR" sz="1000" dirty="0">
                          <a:latin typeface="Arial" panose="020B0604020202020204" pitchFamily="34" charset="0"/>
                          <a:cs typeface="Arial" panose="020B0604020202020204" pitchFamily="34" charset="0"/>
                        </a:rPr>
                        <a:t>Excelência</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ysDot"/>
                      <a:round/>
                      <a:headEnd type="none" w="med" len="med"/>
                      <a:tailEnd type="none" w="med" len="med"/>
                    </a:lnB>
                    <a:lnTlToBr w="12700" cmpd="sng">
                      <a:noFill/>
                      <a:prstDash val="solid"/>
                    </a:lnTlToBr>
                    <a:lnBlToTr w="12700" cmpd="sng">
                      <a:noFill/>
                      <a:prstDash val="solid"/>
                    </a:lnBlToTr>
                    <a:solidFill>
                      <a:srgbClr val="0B5892"/>
                    </a:solidFill>
                  </a:tcPr>
                </a:tc>
                <a:extLst>
                  <a:ext uri="{0D108BD9-81ED-4DB2-BD59-A6C34878D82A}">
                    <a16:rowId xmlns:a16="http://schemas.microsoft.com/office/drawing/2014/main" val="574108456"/>
                  </a:ext>
                </a:extLst>
              </a:tr>
              <a:tr h="395986">
                <a:tc>
                  <a:txBody>
                    <a:bodyPr/>
                    <a:lstStyle/>
                    <a:p>
                      <a:pPr algn="ctr"/>
                      <a:r>
                        <a:rPr lang="pt-BR" sz="1000" dirty="0">
                          <a:solidFill>
                            <a:srgbClr val="595959"/>
                          </a:solidFill>
                          <a:latin typeface="Arial" panose="020B0604020202020204" pitchFamily="34" charset="0"/>
                          <a:cs typeface="Arial" panose="020B0604020202020204" pitchFamily="34" charset="0"/>
                        </a:rPr>
                        <a:t>67 (15,76%)</a:t>
                      </a:r>
                    </a:p>
                  </a:txBody>
                  <a:tcPr>
                    <a:lnL w="12700" cap="flat" cmpd="sng" algn="ctr">
                      <a:solidFill>
                        <a:schemeClr val="bg1">
                          <a:lumMod val="65000"/>
                        </a:schemeClr>
                      </a:solidFill>
                      <a:prstDash val="sysDot"/>
                      <a:round/>
                      <a:headEnd type="none" w="med" len="med"/>
                      <a:tailEnd type="none" w="med" len="med"/>
                    </a:lnL>
                    <a:lnR w="12700" cap="flat" cmpd="sng" algn="ctr">
                      <a:solidFill>
                        <a:schemeClr val="bg1">
                          <a:lumMod val="65000"/>
                        </a:schemeClr>
                      </a:solid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a:r>
                        <a:rPr lang="pt-BR" sz="1000" dirty="0">
                          <a:solidFill>
                            <a:srgbClr val="595959"/>
                          </a:solidFill>
                          <a:latin typeface="Arial" panose="020B0604020202020204" pitchFamily="34" charset="0"/>
                          <a:cs typeface="Arial" panose="020B0604020202020204" pitchFamily="34" charset="0"/>
                        </a:rPr>
                        <a:t>282 (66,35%)</a:t>
                      </a:r>
                    </a:p>
                  </a:txBody>
                  <a:tcPr>
                    <a:lnL w="12700" cap="flat" cmpd="sng" algn="ctr">
                      <a:solidFill>
                        <a:schemeClr val="bg1">
                          <a:lumMod val="65000"/>
                        </a:schemeClr>
                      </a:solidFill>
                      <a:prstDash val="sysDot"/>
                      <a:round/>
                      <a:headEnd type="none" w="med" len="med"/>
                      <a:tailEnd type="none" w="med" len="med"/>
                    </a:lnL>
                    <a:lnR w="12700" cap="flat" cmpd="sng" algn="ctr">
                      <a:solidFill>
                        <a:schemeClr val="bg1">
                          <a:lumMod val="65000"/>
                        </a:schemeClr>
                      </a:solid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a:r>
                        <a:rPr lang="pt-BR" sz="1000" dirty="0">
                          <a:solidFill>
                            <a:srgbClr val="595959"/>
                          </a:solidFill>
                          <a:latin typeface="Arial" panose="020B0604020202020204" pitchFamily="34" charset="0"/>
                          <a:cs typeface="Arial" panose="020B0604020202020204" pitchFamily="34" charset="0"/>
                        </a:rPr>
                        <a:t>76 (17,88%)</a:t>
                      </a:r>
                    </a:p>
                    <a:p>
                      <a:pPr algn="ctr"/>
                      <a:endParaRPr lang="pt-BR" sz="1000" dirty="0">
                        <a:solidFill>
                          <a:srgbClr val="595959"/>
                        </a:solidFill>
                        <a:latin typeface="Arial" panose="020B0604020202020204" pitchFamily="34" charset="0"/>
                        <a:cs typeface="Arial" panose="020B0604020202020204" pitchFamily="34" charset="0"/>
                      </a:endParaRPr>
                    </a:p>
                  </a:txBody>
                  <a:tcPr>
                    <a:lnL w="12700" cap="flat" cmpd="sng" algn="ctr">
                      <a:solidFill>
                        <a:schemeClr val="bg1">
                          <a:lumMod val="65000"/>
                        </a:schemeClr>
                      </a:solidFill>
                      <a:prstDash val="sysDot"/>
                      <a:round/>
                      <a:headEnd type="none" w="med" len="med"/>
                      <a:tailEnd type="none" w="med" len="med"/>
                    </a:lnL>
                    <a:lnR w="12700" cap="flat" cmpd="sng" algn="ctr">
                      <a:solidFill>
                        <a:schemeClr val="bg1">
                          <a:lumMod val="65000"/>
                        </a:schemeClr>
                      </a:solid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7835773"/>
                  </a:ext>
                </a:extLst>
              </a:tr>
            </a:tbl>
          </a:graphicData>
        </a:graphic>
      </p:graphicFrame>
      <p:graphicFrame>
        <p:nvGraphicFramePr>
          <p:cNvPr id="30" name="Tabela 29">
            <a:extLst>
              <a:ext uri="{FF2B5EF4-FFF2-40B4-BE49-F238E27FC236}">
                <a16:creationId xmlns:a16="http://schemas.microsoft.com/office/drawing/2014/main" id="{6A7033CE-8E82-41A8-9F6A-4D6F557D3BC8}"/>
              </a:ext>
            </a:extLst>
          </p:cNvPr>
          <p:cNvGraphicFramePr>
            <a:graphicFrameLocks noGrp="1"/>
          </p:cNvGraphicFramePr>
          <p:nvPr>
            <p:extLst>
              <p:ext uri="{D42A27DB-BD31-4B8C-83A1-F6EECF244321}">
                <p14:modId xmlns:p14="http://schemas.microsoft.com/office/powerpoint/2010/main" val="2017016159"/>
              </p:ext>
            </p:extLst>
          </p:nvPr>
        </p:nvGraphicFramePr>
        <p:xfrm>
          <a:off x="6954107" y="5088122"/>
          <a:ext cx="3822476" cy="978545"/>
        </p:xfrm>
        <a:graphic>
          <a:graphicData uri="http://schemas.openxmlformats.org/drawingml/2006/table">
            <a:tbl>
              <a:tblPr firstRow="1" bandRow="1">
                <a:tableStyleId>{F2DE63D5-997A-4646-A377-4702673A728D}</a:tableStyleId>
              </a:tblPr>
              <a:tblGrid>
                <a:gridCol w="955619">
                  <a:extLst>
                    <a:ext uri="{9D8B030D-6E8A-4147-A177-3AD203B41FA5}">
                      <a16:colId xmlns:a16="http://schemas.microsoft.com/office/drawing/2014/main" val="1531427166"/>
                    </a:ext>
                  </a:extLst>
                </a:gridCol>
                <a:gridCol w="955619">
                  <a:extLst>
                    <a:ext uri="{9D8B030D-6E8A-4147-A177-3AD203B41FA5}">
                      <a16:colId xmlns:a16="http://schemas.microsoft.com/office/drawing/2014/main" val="3806050286"/>
                    </a:ext>
                  </a:extLst>
                </a:gridCol>
                <a:gridCol w="955619">
                  <a:extLst>
                    <a:ext uri="{9D8B030D-6E8A-4147-A177-3AD203B41FA5}">
                      <a16:colId xmlns:a16="http://schemas.microsoft.com/office/drawing/2014/main" val="658273446"/>
                    </a:ext>
                  </a:extLst>
                </a:gridCol>
                <a:gridCol w="955619">
                  <a:extLst>
                    <a:ext uri="{9D8B030D-6E8A-4147-A177-3AD203B41FA5}">
                      <a16:colId xmlns:a16="http://schemas.microsoft.com/office/drawing/2014/main" val="2373962523"/>
                    </a:ext>
                  </a:extLst>
                </a:gridCol>
              </a:tblGrid>
              <a:tr h="253021">
                <a:tc>
                  <a:txBody>
                    <a:bodyPr/>
                    <a:lstStyle/>
                    <a:p>
                      <a:pPr algn="ctr">
                        <a:lnSpc>
                          <a:spcPct val="150000"/>
                        </a:lnSpc>
                      </a:pPr>
                      <a:endParaRPr lang="pt-BR" sz="1000" dirty="0">
                        <a:latin typeface="Arial" panose="020B0604020202020204" pitchFamily="34" charset="0"/>
                        <a:cs typeface="Arial" panose="020B0604020202020204" pitchFamily="34" charset="0"/>
                      </a:endParaRP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pPr>
                      <a:r>
                        <a:rPr lang="pt-BR" sz="1000" dirty="0">
                          <a:latin typeface="Arial" panose="020B0604020202020204" pitchFamily="34" charset="0"/>
                          <a:cs typeface="Arial" panose="020B0604020202020204" pitchFamily="34" charset="0"/>
                        </a:rPr>
                        <a:t>Excelência</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B5892"/>
                    </a:solidFill>
                  </a:tcPr>
                </a:tc>
                <a:tc>
                  <a:txBody>
                    <a:bodyPr/>
                    <a:lstStyle/>
                    <a:p>
                      <a:pPr algn="ctr">
                        <a:lnSpc>
                          <a:spcPct val="150000"/>
                        </a:lnSpc>
                      </a:pPr>
                      <a:r>
                        <a:rPr lang="pt-BR" sz="1000" dirty="0">
                          <a:latin typeface="Arial" panose="020B0604020202020204" pitchFamily="34" charset="0"/>
                          <a:cs typeface="Arial" panose="020B0604020202020204" pitchFamily="34" charset="0"/>
                        </a:rPr>
                        <a:t>NC</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B5892"/>
                    </a:solidFill>
                  </a:tcPr>
                </a:tc>
                <a:tc>
                  <a:txBody>
                    <a:bodyPr/>
                    <a:lstStyle/>
                    <a:p>
                      <a:pPr marL="0" marR="0" lvl="0" indent="0" algn="ctr" defTabSz="914400" eaLnBrk="1" fontAlgn="auto" latinLnBrk="0" hangingPunct="1">
                        <a:lnSpc>
                          <a:spcPct val="150000"/>
                        </a:lnSpc>
                        <a:spcBef>
                          <a:spcPts val="0"/>
                        </a:spcBef>
                        <a:spcAft>
                          <a:spcPts val="0"/>
                        </a:spcAft>
                        <a:buClrTx/>
                        <a:buSzTx/>
                        <a:buFontTx/>
                        <a:buNone/>
                        <a:tabLst/>
                        <a:defRPr/>
                      </a:pPr>
                      <a:r>
                        <a:rPr lang="pt-BR" sz="1000" dirty="0">
                          <a:latin typeface="Arial" panose="020B0604020202020204" pitchFamily="34" charset="0"/>
                          <a:cs typeface="Arial" panose="020B0604020202020204" pitchFamily="34" charset="0"/>
                        </a:rPr>
                        <a:t>NCG</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B5892"/>
                    </a:solidFill>
                  </a:tcPr>
                </a:tc>
                <a:extLst>
                  <a:ext uri="{0D108BD9-81ED-4DB2-BD59-A6C34878D82A}">
                    <a16:rowId xmlns:a16="http://schemas.microsoft.com/office/drawing/2014/main" val="574108456"/>
                  </a:ext>
                </a:extLst>
              </a:tr>
              <a:tr h="343381">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Operação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15 (10,49%)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105 (73,43%)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23 (16,08%)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6810871"/>
                  </a:ext>
                </a:extLst>
              </a:tr>
              <a:tr h="343381">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Qualidade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61 (21,63%)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177 (62,77%)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44 (15,6%)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2121114"/>
                  </a:ext>
                </a:extLst>
              </a:tr>
            </a:tbl>
          </a:graphicData>
        </a:graphic>
      </p:graphicFrame>
      <p:sp>
        <p:nvSpPr>
          <p:cNvPr id="31" name="Retângulo: Cantos Arredondados 30">
            <a:extLst>
              <a:ext uri="{FF2B5EF4-FFF2-40B4-BE49-F238E27FC236}">
                <a16:creationId xmlns:a16="http://schemas.microsoft.com/office/drawing/2014/main" id="{921BE2B7-D465-4BF3-9BDF-827AB1E23D9F}"/>
              </a:ext>
            </a:extLst>
          </p:cNvPr>
          <p:cNvSpPr/>
          <p:nvPr/>
        </p:nvSpPr>
        <p:spPr>
          <a:xfrm>
            <a:off x="1294993" y="5564775"/>
            <a:ext cx="4471215" cy="978544"/>
          </a:xfrm>
          <a:prstGeom prst="roundRect">
            <a:avLst/>
          </a:prstGeom>
          <a:solidFill>
            <a:schemeClr val="bg1">
              <a:lumMod val="95000"/>
            </a:schemeClr>
          </a:solidFill>
          <a:ln>
            <a:noFill/>
          </a:ln>
          <a:effectLst>
            <a:outerShdw dist="101600" dir="10740000" algn="t" rotWithShape="0">
              <a:srgbClr val="0B5892"/>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33" name="Google Shape;2124;p50">
            <a:extLst>
              <a:ext uri="{FF2B5EF4-FFF2-40B4-BE49-F238E27FC236}">
                <a16:creationId xmlns:a16="http://schemas.microsoft.com/office/drawing/2014/main" id="{4AC40E43-1FF5-4CF1-9E90-22893EBB14F3}"/>
              </a:ext>
            </a:extLst>
          </p:cNvPr>
          <p:cNvGrpSpPr/>
          <p:nvPr/>
        </p:nvGrpSpPr>
        <p:grpSpPr>
          <a:xfrm>
            <a:off x="1430643" y="5589055"/>
            <a:ext cx="286337" cy="286644"/>
            <a:chOff x="4673540" y="3680297"/>
            <a:chExt cx="355434" cy="355815"/>
          </a:xfrm>
        </p:grpSpPr>
        <p:sp>
          <p:nvSpPr>
            <p:cNvPr id="34" name="Google Shape;2125;p50">
              <a:extLst>
                <a:ext uri="{FF2B5EF4-FFF2-40B4-BE49-F238E27FC236}">
                  <a16:creationId xmlns:a16="http://schemas.microsoft.com/office/drawing/2014/main" id="{C932DBA2-70EC-4F53-A471-A80D82FBC1E6}"/>
                </a:ext>
              </a:extLst>
            </p:cNvPr>
            <p:cNvSpPr/>
            <p:nvPr/>
          </p:nvSpPr>
          <p:spPr>
            <a:xfrm>
              <a:off x="4673540" y="3680297"/>
              <a:ext cx="355434" cy="355815"/>
            </a:xfrm>
            <a:custGeom>
              <a:avLst/>
              <a:gdLst/>
              <a:ahLst/>
              <a:cxnLst/>
              <a:rect l="l" t="t" r="r" b="b"/>
              <a:pathLst>
                <a:path w="11193" h="11205" extrusionOk="0">
                  <a:moveTo>
                    <a:pt x="2012" y="0"/>
                  </a:moveTo>
                  <a:cubicBezTo>
                    <a:pt x="905" y="0"/>
                    <a:pt x="0" y="893"/>
                    <a:pt x="0" y="2013"/>
                  </a:cubicBezTo>
                  <a:lnTo>
                    <a:pt x="0" y="9192"/>
                  </a:lnTo>
                  <a:cubicBezTo>
                    <a:pt x="0" y="10287"/>
                    <a:pt x="893" y="11204"/>
                    <a:pt x="2012" y="11204"/>
                  </a:cubicBezTo>
                  <a:lnTo>
                    <a:pt x="9180" y="11204"/>
                  </a:lnTo>
                  <a:cubicBezTo>
                    <a:pt x="10287" y="11204"/>
                    <a:pt x="11192" y="10311"/>
                    <a:pt x="11192" y="9192"/>
                  </a:cubicBezTo>
                  <a:lnTo>
                    <a:pt x="11192" y="2013"/>
                  </a:lnTo>
                  <a:cubicBezTo>
                    <a:pt x="11180" y="917"/>
                    <a:pt x="10287" y="0"/>
                    <a:pt x="9180" y="0"/>
                  </a:cubicBezTo>
                  <a:lnTo>
                    <a:pt x="8085" y="0"/>
                  </a:lnTo>
                  <a:cubicBezTo>
                    <a:pt x="7989" y="0"/>
                    <a:pt x="7918" y="84"/>
                    <a:pt x="7918" y="167"/>
                  </a:cubicBezTo>
                  <a:cubicBezTo>
                    <a:pt x="7918" y="262"/>
                    <a:pt x="7989" y="334"/>
                    <a:pt x="8085" y="334"/>
                  </a:cubicBezTo>
                  <a:lnTo>
                    <a:pt x="9180" y="334"/>
                  </a:lnTo>
                  <a:cubicBezTo>
                    <a:pt x="10109" y="334"/>
                    <a:pt x="10847" y="1084"/>
                    <a:pt x="10847" y="2001"/>
                  </a:cubicBezTo>
                  <a:lnTo>
                    <a:pt x="10847" y="9180"/>
                  </a:lnTo>
                  <a:cubicBezTo>
                    <a:pt x="10847" y="10097"/>
                    <a:pt x="10109" y="10847"/>
                    <a:pt x="9180" y="10847"/>
                  </a:cubicBezTo>
                  <a:lnTo>
                    <a:pt x="2012" y="10847"/>
                  </a:lnTo>
                  <a:cubicBezTo>
                    <a:pt x="1084" y="10847"/>
                    <a:pt x="345" y="10097"/>
                    <a:pt x="345" y="9180"/>
                  </a:cubicBezTo>
                  <a:lnTo>
                    <a:pt x="345" y="2001"/>
                  </a:lnTo>
                  <a:cubicBezTo>
                    <a:pt x="345" y="1084"/>
                    <a:pt x="1084" y="334"/>
                    <a:pt x="2012" y="334"/>
                  </a:cubicBezTo>
                  <a:lnTo>
                    <a:pt x="7418" y="334"/>
                  </a:lnTo>
                  <a:cubicBezTo>
                    <a:pt x="7501" y="334"/>
                    <a:pt x="7573" y="262"/>
                    <a:pt x="7573" y="167"/>
                  </a:cubicBezTo>
                  <a:cubicBezTo>
                    <a:pt x="7573" y="84"/>
                    <a:pt x="7501" y="0"/>
                    <a:pt x="7418" y="0"/>
                  </a:cubicBezTo>
                  <a:close/>
                </a:path>
              </a:pathLst>
            </a:custGeom>
            <a:solidFill>
              <a:schemeClr val="lt2"/>
            </a:solidFill>
            <a:ln>
              <a:solidFill>
                <a:srgbClr val="0B589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126;p50">
              <a:extLst>
                <a:ext uri="{FF2B5EF4-FFF2-40B4-BE49-F238E27FC236}">
                  <a16:creationId xmlns:a16="http://schemas.microsoft.com/office/drawing/2014/main" id="{9C1B8430-1E7D-49E6-B981-77FDC1725F7E}"/>
                </a:ext>
              </a:extLst>
            </p:cNvPr>
            <p:cNvSpPr/>
            <p:nvPr/>
          </p:nvSpPr>
          <p:spPr>
            <a:xfrm>
              <a:off x="4805864" y="3736630"/>
              <a:ext cx="93042" cy="92661"/>
            </a:xfrm>
            <a:custGeom>
              <a:avLst/>
              <a:gdLst/>
              <a:ahLst/>
              <a:cxnLst/>
              <a:rect l="l" t="t" r="r" b="b"/>
              <a:pathLst>
                <a:path w="2930" h="2918" extrusionOk="0">
                  <a:moveTo>
                    <a:pt x="1477" y="334"/>
                  </a:moveTo>
                  <a:cubicBezTo>
                    <a:pt x="2096" y="334"/>
                    <a:pt x="2608" y="834"/>
                    <a:pt x="2608" y="1465"/>
                  </a:cubicBezTo>
                  <a:cubicBezTo>
                    <a:pt x="2608" y="2084"/>
                    <a:pt x="2096" y="2596"/>
                    <a:pt x="1477" y="2596"/>
                  </a:cubicBezTo>
                  <a:cubicBezTo>
                    <a:pt x="846" y="2596"/>
                    <a:pt x="346" y="2084"/>
                    <a:pt x="346" y="1465"/>
                  </a:cubicBezTo>
                  <a:cubicBezTo>
                    <a:pt x="346" y="834"/>
                    <a:pt x="846" y="334"/>
                    <a:pt x="1477" y="334"/>
                  </a:cubicBezTo>
                  <a:close/>
                  <a:moveTo>
                    <a:pt x="1477" y="0"/>
                  </a:moveTo>
                  <a:cubicBezTo>
                    <a:pt x="667" y="0"/>
                    <a:pt x="12" y="655"/>
                    <a:pt x="12" y="1465"/>
                  </a:cubicBezTo>
                  <a:cubicBezTo>
                    <a:pt x="0" y="2263"/>
                    <a:pt x="655" y="2918"/>
                    <a:pt x="1477" y="2918"/>
                  </a:cubicBezTo>
                  <a:cubicBezTo>
                    <a:pt x="2274" y="2918"/>
                    <a:pt x="2929" y="2263"/>
                    <a:pt x="2929" y="1465"/>
                  </a:cubicBezTo>
                  <a:cubicBezTo>
                    <a:pt x="2929" y="655"/>
                    <a:pt x="2274" y="0"/>
                    <a:pt x="1477" y="0"/>
                  </a:cubicBezTo>
                  <a:close/>
                </a:path>
              </a:pathLst>
            </a:custGeom>
            <a:solidFill>
              <a:schemeClr val="lt2"/>
            </a:solidFill>
            <a:ln>
              <a:solidFill>
                <a:srgbClr val="0B589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127;p50">
              <a:extLst>
                <a:ext uri="{FF2B5EF4-FFF2-40B4-BE49-F238E27FC236}">
                  <a16:creationId xmlns:a16="http://schemas.microsoft.com/office/drawing/2014/main" id="{0C1528F5-C5F0-401E-8891-244E53C7F3D2}"/>
                </a:ext>
              </a:extLst>
            </p:cNvPr>
            <p:cNvSpPr/>
            <p:nvPr/>
          </p:nvSpPr>
          <p:spPr>
            <a:xfrm>
              <a:off x="4779380" y="3841358"/>
              <a:ext cx="143723" cy="138801"/>
            </a:xfrm>
            <a:custGeom>
              <a:avLst/>
              <a:gdLst/>
              <a:ahLst/>
              <a:cxnLst/>
              <a:rect l="l" t="t" r="r" b="b"/>
              <a:pathLst>
                <a:path w="4526" h="4371" extrusionOk="0">
                  <a:moveTo>
                    <a:pt x="477" y="1"/>
                  </a:moveTo>
                  <a:cubicBezTo>
                    <a:pt x="215" y="1"/>
                    <a:pt x="1" y="203"/>
                    <a:pt x="1" y="477"/>
                  </a:cubicBezTo>
                  <a:lnTo>
                    <a:pt x="1" y="893"/>
                  </a:lnTo>
                  <a:cubicBezTo>
                    <a:pt x="1" y="1155"/>
                    <a:pt x="203" y="1370"/>
                    <a:pt x="477" y="1370"/>
                  </a:cubicBezTo>
                  <a:lnTo>
                    <a:pt x="763" y="1370"/>
                  </a:lnTo>
                  <a:cubicBezTo>
                    <a:pt x="834" y="1370"/>
                    <a:pt x="906" y="1429"/>
                    <a:pt x="906" y="1513"/>
                  </a:cubicBezTo>
                  <a:lnTo>
                    <a:pt x="906" y="2858"/>
                  </a:lnTo>
                  <a:cubicBezTo>
                    <a:pt x="906" y="2929"/>
                    <a:pt x="846" y="3001"/>
                    <a:pt x="763" y="3001"/>
                  </a:cubicBezTo>
                  <a:lnTo>
                    <a:pt x="572" y="3001"/>
                  </a:lnTo>
                  <a:cubicBezTo>
                    <a:pt x="299" y="3001"/>
                    <a:pt x="96" y="3215"/>
                    <a:pt x="96" y="3477"/>
                  </a:cubicBezTo>
                  <a:lnTo>
                    <a:pt x="96" y="3894"/>
                  </a:lnTo>
                  <a:cubicBezTo>
                    <a:pt x="96" y="4168"/>
                    <a:pt x="299" y="4370"/>
                    <a:pt x="572" y="4370"/>
                  </a:cubicBezTo>
                  <a:lnTo>
                    <a:pt x="4049" y="4370"/>
                  </a:lnTo>
                  <a:cubicBezTo>
                    <a:pt x="4311" y="4370"/>
                    <a:pt x="4525" y="4168"/>
                    <a:pt x="4525" y="3894"/>
                  </a:cubicBezTo>
                  <a:lnTo>
                    <a:pt x="4525" y="3477"/>
                  </a:lnTo>
                  <a:cubicBezTo>
                    <a:pt x="4525" y="3215"/>
                    <a:pt x="4311" y="3001"/>
                    <a:pt x="4049" y="3001"/>
                  </a:cubicBezTo>
                  <a:lnTo>
                    <a:pt x="3859" y="3001"/>
                  </a:lnTo>
                  <a:cubicBezTo>
                    <a:pt x="3787" y="3001"/>
                    <a:pt x="3704" y="2941"/>
                    <a:pt x="3704" y="2858"/>
                  </a:cubicBezTo>
                  <a:lnTo>
                    <a:pt x="3704" y="477"/>
                  </a:lnTo>
                  <a:cubicBezTo>
                    <a:pt x="3704" y="203"/>
                    <a:pt x="3501" y="1"/>
                    <a:pt x="3228" y="1"/>
                  </a:cubicBezTo>
                  <a:lnTo>
                    <a:pt x="1442" y="1"/>
                  </a:lnTo>
                  <a:cubicBezTo>
                    <a:pt x="1358" y="1"/>
                    <a:pt x="1287" y="72"/>
                    <a:pt x="1287" y="155"/>
                  </a:cubicBezTo>
                  <a:cubicBezTo>
                    <a:pt x="1287" y="251"/>
                    <a:pt x="1358" y="322"/>
                    <a:pt x="1442" y="322"/>
                  </a:cubicBezTo>
                  <a:lnTo>
                    <a:pt x="3228" y="322"/>
                  </a:lnTo>
                  <a:cubicBezTo>
                    <a:pt x="3311" y="322"/>
                    <a:pt x="3382" y="382"/>
                    <a:pt x="3382" y="477"/>
                  </a:cubicBezTo>
                  <a:lnTo>
                    <a:pt x="3382" y="2858"/>
                  </a:lnTo>
                  <a:cubicBezTo>
                    <a:pt x="3382" y="3120"/>
                    <a:pt x="3585" y="3334"/>
                    <a:pt x="3859" y="3334"/>
                  </a:cubicBezTo>
                  <a:lnTo>
                    <a:pt x="4049" y="3334"/>
                  </a:lnTo>
                  <a:cubicBezTo>
                    <a:pt x="4121" y="3334"/>
                    <a:pt x="4204" y="3394"/>
                    <a:pt x="4204" y="3477"/>
                  </a:cubicBezTo>
                  <a:lnTo>
                    <a:pt x="4204" y="3894"/>
                  </a:lnTo>
                  <a:cubicBezTo>
                    <a:pt x="4204" y="3965"/>
                    <a:pt x="4132" y="4049"/>
                    <a:pt x="4049" y="4049"/>
                  </a:cubicBezTo>
                  <a:lnTo>
                    <a:pt x="572" y="4049"/>
                  </a:lnTo>
                  <a:cubicBezTo>
                    <a:pt x="489" y="4049"/>
                    <a:pt x="418" y="3989"/>
                    <a:pt x="418" y="3894"/>
                  </a:cubicBezTo>
                  <a:lnTo>
                    <a:pt x="418" y="3477"/>
                  </a:lnTo>
                  <a:cubicBezTo>
                    <a:pt x="418" y="3406"/>
                    <a:pt x="477" y="3334"/>
                    <a:pt x="572" y="3334"/>
                  </a:cubicBezTo>
                  <a:lnTo>
                    <a:pt x="763" y="3334"/>
                  </a:lnTo>
                  <a:cubicBezTo>
                    <a:pt x="1025" y="3334"/>
                    <a:pt x="1239" y="3120"/>
                    <a:pt x="1239" y="2858"/>
                  </a:cubicBezTo>
                  <a:lnTo>
                    <a:pt x="1239" y="1513"/>
                  </a:lnTo>
                  <a:cubicBezTo>
                    <a:pt x="1239" y="1251"/>
                    <a:pt x="1025" y="1036"/>
                    <a:pt x="763" y="1036"/>
                  </a:cubicBezTo>
                  <a:lnTo>
                    <a:pt x="477" y="1036"/>
                  </a:lnTo>
                  <a:cubicBezTo>
                    <a:pt x="406" y="1036"/>
                    <a:pt x="334" y="977"/>
                    <a:pt x="334" y="893"/>
                  </a:cubicBezTo>
                  <a:lnTo>
                    <a:pt x="334" y="477"/>
                  </a:lnTo>
                  <a:cubicBezTo>
                    <a:pt x="334" y="393"/>
                    <a:pt x="394" y="322"/>
                    <a:pt x="477" y="322"/>
                  </a:cubicBezTo>
                  <a:lnTo>
                    <a:pt x="787" y="322"/>
                  </a:lnTo>
                  <a:cubicBezTo>
                    <a:pt x="882" y="322"/>
                    <a:pt x="953" y="251"/>
                    <a:pt x="953" y="155"/>
                  </a:cubicBezTo>
                  <a:cubicBezTo>
                    <a:pt x="953" y="72"/>
                    <a:pt x="882" y="1"/>
                    <a:pt x="787" y="1"/>
                  </a:cubicBezTo>
                  <a:close/>
                </a:path>
              </a:pathLst>
            </a:custGeom>
            <a:solidFill>
              <a:schemeClr val="lt2"/>
            </a:solidFill>
            <a:ln>
              <a:solidFill>
                <a:srgbClr val="0B589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37" name="Tabela 36">
            <a:extLst>
              <a:ext uri="{FF2B5EF4-FFF2-40B4-BE49-F238E27FC236}">
                <a16:creationId xmlns:a16="http://schemas.microsoft.com/office/drawing/2014/main" id="{67FBAD19-39D3-440B-BCC4-1C36E910EB93}"/>
              </a:ext>
            </a:extLst>
          </p:cNvPr>
          <p:cNvGraphicFramePr>
            <a:graphicFrameLocks noGrp="1"/>
          </p:cNvGraphicFramePr>
          <p:nvPr>
            <p:extLst>
              <p:ext uri="{D42A27DB-BD31-4B8C-83A1-F6EECF244321}">
                <p14:modId xmlns:p14="http://schemas.microsoft.com/office/powerpoint/2010/main" val="3731947915"/>
              </p:ext>
            </p:extLst>
          </p:nvPr>
        </p:nvGraphicFramePr>
        <p:xfrm>
          <a:off x="1430643" y="3834928"/>
          <a:ext cx="3867956" cy="635164"/>
        </p:xfrm>
        <a:graphic>
          <a:graphicData uri="http://schemas.openxmlformats.org/drawingml/2006/table">
            <a:tbl>
              <a:tblPr firstRow="1" bandRow="1">
                <a:tableStyleId>{F2DE63D5-997A-4646-A377-4702673A728D}</a:tableStyleId>
              </a:tblPr>
              <a:tblGrid>
                <a:gridCol w="966989">
                  <a:extLst>
                    <a:ext uri="{9D8B030D-6E8A-4147-A177-3AD203B41FA5}">
                      <a16:colId xmlns:a16="http://schemas.microsoft.com/office/drawing/2014/main" val="3806050286"/>
                    </a:ext>
                  </a:extLst>
                </a:gridCol>
                <a:gridCol w="966989">
                  <a:extLst>
                    <a:ext uri="{9D8B030D-6E8A-4147-A177-3AD203B41FA5}">
                      <a16:colId xmlns:a16="http://schemas.microsoft.com/office/drawing/2014/main" val="658273446"/>
                    </a:ext>
                  </a:extLst>
                </a:gridCol>
                <a:gridCol w="966989">
                  <a:extLst>
                    <a:ext uri="{9D8B030D-6E8A-4147-A177-3AD203B41FA5}">
                      <a16:colId xmlns:a16="http://schemas.microsoft.com/office/drawing/2014/main" val="2373962523"/>
                    </a:ext>
                  </a:extLst>
                </a:gridCol>
                <a:gridCol w="966989">
                  <a:extLst>
                    <a:ext uri="{9D8B030D-6E8A-4147-A177-3AD203B41FA5}">
                      <a16:colId xmlns:a16="http://schemas.microsoft.com/office/drawing/2014/main" val="1961687730"/>
                    </a:ext>
                  </a:extLst>
                </a:gridCol>
              </a:tblGrid>
              <a:tr h="253021">
                <a:tc>
                  <a:txBody>
                    <a:bodyPr/>
                    <a:lstStyle/>
                    <a:p>
                      <a:pPr algn="ctr">
                        <a:lnSpc>
                          <a:spcPct val="150000"/>
                        </a:lnSpc>
                      </a:pPr>
                      <a:r>
                        <a:rPr lang="pt-BR" sz="1000" dirty="0">
                          <a:latin typeface="Arial" panose="020B0604020202020204" pitchFamily="34" charset="0"/>
                          <a:cs typeface="Arial" panose="020B0604020202020204" pitchFamily="34" charset="0"/>
                        </a:rPr>
                        <a:t>1° Ciclo</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ysDot"/>
                      <a:round/>
                      <a:headEnd type="none" w="med" len="med"/>
                      <a:tailEnd type="none" w="med" len="med"/>
                    </a:lnB>
                    <a:lnTlToBr w="12700" cmpd="sng">
                      <a:noFill/>
                      <a:prstDash val="solid"/>
                    </a:lnTlToBr>
                    <a:lnBlToTr w="12700" cmpd="sng">
                      <a:noFill/>
                      <a:prstDash val="solid"/>
                    </a:lnBlToTr>
                    <a:solidFill>
                      <a:srgbClr val="0B5892"/>
                    </a:solidFill>
                  </a:tcPr>
                </a:tc>
                <a:tc>
                  <a:txBody>
                    <a:bodyPr/>
                    <a:lstStyle/>
                    <a:p>
                      <a:pPr algn="ctr">
                        <a:lnSpc>
                          <a:spcPct val="150000"/>
                        </a:lnSpc>
                      </a:pPr>
                      <a:r>
                        <a:rPr lang="pt-BR" sz="1000" dirty="0">
                          <a:latin typeface="Arial" panose="020B0604020202020204" pitchFamily="34" charset="0"/>
                          <a:cs typeface="Arial" panose="020B0604020202020204" pitchFamily="34" charset="0"/>
                        </a:rPr>
                        <a:t>2° Ciclo</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ysDot"/>
                      <a:round/>
                      <a:headEnd type="none" w="med" len="med"/>
                      <a:tailEnd type="none" w="med" len="med"/>
                    </a:lnB>
                    <a:lnTlToBr w="12700" cmpd="sng">
                      <a:noFill/>
                      <a:prstDash val="solid"/>
                    </a:lnTlToBr>
                    <a:lnBlToTr w="12700" cmpd="sng">
                      <a:noFill/>
                      <a:prstDash val="solid"/>
                    </a:lnBlToTr>
                    <a:solidFill>
                      <a:srgbClr val="0B5892"/>
                    </a:solidFill>
                  </a:tcPr>
                </a:tc>
                <a:tc>
                  <a:txBody>
                    <a:bodyPr/>
                    <a:lstStyle/>
                    <a:p>
                      <a:pPr algn="ctr">
                        <a:lnSpc>
                          <a:spcPct val="150000"/>
                        </a:lnSpc>
                      </a:pPr>
                      <a:r>
                        <a:rPr lang="pt-BR" sz="1000" dirty="0">
                          <a:latin typeface="Arial" panose="020B0604020202020204" pitchFamily="34" charset="0"/>
                          <a:cs typeface="Arial" panose="020B0604020202020204" pitchFamily="34" charset="0"/>
                        </a:rPr>
                        <a:t>3° Ciclo</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ysDot"/>
                      <a:round/>
                      <a:headEnd type="none" w="med" len="med"/>
                      <a:tailEnd type="none" w="med" len="med"/>
                    </a:lnB>
                    <a:lnTlToBr w="12700" cmpd="sng">
                      <a:noFill/>
                      <a:prstDash val="solid"/>
                    </a:lnTlToBr>
                    <a:lnBlToTr w="12700" cmpd="sng">
                      <a:noFill/>
                      <a:prstDash val="solid"/>
                    </a:lnBlToTr>
                    <a:solidFill>
                      <a:srgbClr val="0B5892"/>
                    </a:solidFill>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pt-BR" sz="1000" dirty="0">
                          <a:latin typeface="Arial" panose="020B0604020202020204" pitchFamily="34" charset="0"/>
                          <a:cs typeface="Arial" panose="020B0604020202020204" pitchFamily="34" charset="0"/>
                        </a:rPr>
                        <a:t>4° Ciclo</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ysDot"/>
                      <a:round/>
                      <a:headEnd type="none" w="med" len="med"/>
                      <a:tailEnd type="none" w="med" len="med"/>
                    </a:lnB>
                    <a:lnTlToBr w="12700" cmpd="sng">
                      <a:noFill/>
                      <a:prstDash val="solid"/>
                    </a:lnTlToBr>
                    <a:lnBlToTr w="12700" cmpd="sng">
                      <a:noFill/>
                      <a:prstDash val="solid"/>
                    </a:lnBlToTr>
                    <a:solidFill>
                      <a:srgbClr val="0B5892"/>
                    </a:solidFill>
                  </a:tcPr>
                </a:tc>
                <a:extLst>
                  <a:ext uri="{0D108BD9-81ED-4DB2-BD59-A6C34878D82A}">
                    <a16:rowId xmlns:a16="http://schemas.microsoft.com/office/drawing/2014/main" val="574108456"/>
                  </a:ext>
                </a:extLst>
              </a:tr>
              <a:tr h="343381">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70</a:t>
                      </a:r>
                    </a:p>
                  </a:txBody>
                  <a:tcPr>
                    <a:lnL w="12700" cap="flat" cmpd="sng" algn="ctr">
                      <a:solidFill>
                        <a:schemeClr val="bg1">
                          <a:lumMod val="65000"/>
                        </a:schemeClr>
                      </a:solidFill>
                      <a:prstDash val="sysDot"/>
                      <a:round/>
                      <a:headEnd type="none" w="med" len="med"/>
                      <a:tailEnd type="none" w="med" len="med"/>
                    </a:lnL>
                    <a:lnR w="12700" cap="flat" cmpd="sng" algn="ctr">
                      <a:solidFill>
                        <a:schemeClr val="bg1">
                          <a:lumMod val="65000"/>
                        </a:schemeClr>
                      </a:solid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89</a:t>
                      </a:r>
                    </a:p>
                  </a:txBody>
                  <a:tcPr>
                    <a:lnL w="12700" cap="flat" cmpd="sng" algn="ctr">
                      <a:solidFill>
                        <a:schemeClr val="bg1">
                          <a:lumMod val="65000"/>
                        </a:schemeClr>
                      </a:solidFill>
                      <a:prstDash val="sysDot"/>
                      <a:round/>
                      <a:headEnd type="none" w="med" len="med"/>
                      <a:tailEnd type="none" w="med" len="med"/>
                    </a:lnL>
                    <a:lnR w="12700" cap="flat" cmpd="sng" algn="ctr">
                      <a:solidFill>
                        <a:schemeClr val="bg1">
                          <a:lumMod val="65000"/>
                        </a:schemeClr>
                      </a:solid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138</a:t>
                      </a:r>
                    </a:p>
                  </a:txBody>
                  <a:tcPr>
                    <a:lnL w="12700" cap="flat" cmpd="sng" algn="ctr">
                      <a:solidFill>
                        <a:schemeClr val="bg1">
                          <a:lumMod val="65000"/>
                        </a:schemeClr>
                      </a:solidFill>
                      <a:prstDash val="sysDot"/>
                      <a:round/>
                      <a:headEnd type="none" w="med" len="med"/>
                      <a:tailEnd type="none" w="med" len="med"/>
                    </a:lnL>
                    <a:lnR w="12700" cap="flat" cmpd="sng" algn="ctr">
                      <a:solidFill>
                        <a:schemeClr val="bg1">
                          <a:lumMod val="65000"/>
                        </a:schemeClr>
                      </a:solid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129</a:t>
                      </a:r>
                    </a:p>
                  </a:txBody>
                  <a:tcPr>
                    <a:lnL w="12700" cap="flat" cmpd="sng" algn="ctr">
                      <a:solidFill>
                        <a:schemeClr val="bg1">
                          <a:lumMod val="65000"/>
                        </a:schemeClr>
                      </a:solidFill>
                      <a:prstDash val="sysDot"/>
                      <a:round/>
                      <a:headEnd type="none" w="med" len="med"/>
                      <a:tailEnd type="none" w="med" len="med"/>
                    </a:lnL>
                    <a:lnR w="12700" cap="flat" cmpd="sng" algn="ctr">
                      <a:solidFill>
                        <a:schemeClr val="bg1">
                          <a:lumMod val="65000"/>
                        </a:schemeClr>
                      </a:solid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7835773"/>
                  </a:ext>
                </a:extLst>
              </a:tr>
            </a:tbl>
          </a:graphicData>
        </a:graphic>
      </p:graphicFrame>
      <p:sp>
        <p:nvSpPr>
          <p:cNvPr id="40" name="Título 1">
            <a:extLst>
              <a:ext uri="{FF2B5EF4-FFF2-40B4-BE49-F238E27FC236}">
                <a16:creationId xmlns:a16="http://schemas.microsoft.com/office/drawing/2014/main" id="{192DAFB0-C347-4C89-BE63-64C9EBAD4F9C}"/>
              </a:ext>
            </a:extLst>
          </p:cNvPr>
          <p:cNvSpPr txBox="1">
            <a:spLocks/>
          </p:cNvSpPr>
          <p:nvPr/>
        </p:nvSpPr>
        <p:spPr>
          <a:xfrm>
            <a:off x="5946417" y="431573"/>
            <a:ext cx="5811865"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pt-BR" sz="1600" spc="600" dirty="0">
                <a:solidFill>
                  <a:srgbClr val="0B5892"/>
                </a:solidFill>
                <a:latin typeface="Arial" panose="020B0604020202020204" pitchFamily="34" charset="0"/>
                <a:cs typeface="Arial" panose="020B0604020202020204" pitchFamily="34" charset="0"/>
              </a:rPr>
              <a:t>CRC</a:t>
            </a:r>
          </a:p>
        </p:txBody>
      </p:sp>
      <p:sp>
        <p:nvSpPr>
          <p:cNvPr id="2" name="CaixaDeTexto 1">
            <a:extLst>
              <a:ext uri="{FF2B5EF4-FFF2-40B4-BE49-F238E27FC236}">
                <a16:creationId xmlns:a16="http://schemas.microsoft.com/office/drawing/2014/main" id="{3263F675-D679-554B-5D09-F71BB8F99551}"/>
              </a:ext>
            </a:extLst>
          </p:cNvPr>
          <p:cNvSpPr txBox="1"/>
          <p:nvPr/>
        </p:nvSpPr>
        <p:spPr>
          <a:xfrm>
            <a:off x="1802245" y="5693260"/>
            <a:ext cx="3822477" cy="646331"/>
          </a:xfrm>
          <a:prstGeom prst="rect">
            <a:avLst/>
          </a:prstGeom>
          <a:noFill/>
        </p:spPr>
        <p:txBody>
          <a:bodyPr wrap="square" rtlCol="0">
            <a:spAutoFit/>
          </a:bodyPr>
          <a:lstStyle/>
          <a:p>
            <a:pPr algn="just"/>
            <a:r>
              <a:rPr lang="pt-BR" sz="1200" dirty="0">
                <a:solidFill>
                  <a:schemeClr val="bg2">
                    <a:lumMod val="50000"/>
                  </a:schemeClr>
                </a:solidFill>
                <a:latin typeface="Arial" panose="020B0604020202020204" pitchFamily="34" charset="0"/>
                <a:cs typeface="Arial" panose="020B0604020202020204" pitchFamily="34" charset="0"/>
              </a:rPr>
              <a:t>Ao longo dos quatro ciclos, foram realizadas 425 monitorias, sendo 282 pela Qualidade (66,35%) e 143 pela Supervisão/Operação (33,65%).</a:t>
            </a:r>
          </a:p>
        </p:txBody>
      </p:sp>
    </p:spTree>
    <p:extLst>
      <p:ext uri="{BB962C8B-B14F-4D97-AF65-F5344CB8AC3E}">
        <p14:creationId xmlns:p14="http://schemas.microsoft.com/office/powerpoint/2010/main" val="6983522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Imagem 38">
            <a:extLst>
              <a:ext uri="{FF2B5EF4-FFF2-40B4-BE49-F238E27FC236}">
                <a16:creationId xmlns:a16="http://schemas.microsoft.com/office/drawing/2014/main" id="{8F6A83EB-6687-479D-BD59-51B6B2B8CBF9}"/>
              </a:ext>
            </a:extLst>
          </p:cNvPr>
          <p:cNvPicPr>
            <a:picLocks noChangeAspect="1"/>
          </p:cNvPicPr>
          <p:nvPr/>
        </p:nvPicPr>
        <p:blipFill>
          <a:blip r:embed="rId2">
            <a:alphaModFix amt="4000"/>
          </a:blip>
          <a:stretch>
            <a:fillRect/>
          </a:stretch>
        </p:blipFill>
        <p:spPr>
          <a:xfrm>
            <a:off x="9118521" y="4681854"/>
            <a:ext cx="5030445" cy="5148116"/>
          </a:xfrm>
          <a:prstGeom prst="rect">
            <a:avLst/>
          </a:prstGeom>
          <a:effectLst/>
        </p:spPr>
      </p:pic>
      <p:pic>
        <p:nvPicPr>
          <p:cNvPr id="38" name="Imagem 37">
            <a:extLst>
              <a:ext uri="{FF2B5EF4-FFF2-40B4-BE49-F238E27FC236}">
                <a16:creationId xmlns:a16="http://schemas.microsoft.com/office/drawing/2014/main" id="{DE2A603E-716D-41D5-ABEF-1625839B46A3}"/>
              </a:ext>
            </a:extLst>
          </p:cNvPr>
          <p:cNvPicPr>
            <a:picLocks noChangeAspect="1"/>
          </p:cNvPicPr>
          <p:nvPr/>
        </p:nvPicPr>
        <p:blipFill>
          <a:blip r:embed="rId2">
            <a:alphaModFix amt="4000"/>
          </a:blip>
          <a:stretch>
            <a:fillRect/>
          </a:stretch>
        </p:blipFill>
        <p:spPr>
          <a:xfrm>
            <a:off x="-2128370" y="-2021305"/>
            <a:ext cx="5030445" cy="5148116"/>
          </a:xfrm>
          <a:prstGeom prst="rect">
            <a:avLst/>
          </a:prstGeom>
          <a:effectLst/>
        </p:spPr>
      </p:pic>
      <p:grpSp>
        <p:nvGrpSpPr>
          <p:cNvPr id="20" name="Google Shape;1964;p50">
            <a:extLst>
              <a:ext uri="{FF2B5EF4-FFF2-40B4-BE49-F238E27FC236}">
                <a16:creationId xmlns:a16="http://schemas.microsoft.com/office/drawing/2014/main" id="{644333FE-63B4-42DF-ADFA-AF9177DF58D7}"/>
              </a:ext>
            </a:extLst>
          </p:cNvPr>
          <p:cNvGrpSpPr/>
          <p:nvPr/>
        </p:nvGrpSpPr>
        <p:grpSpPr>
          <a:xfrm flipH="1">
            <a:off x="742950" y="537670"/>
            <a:ext cx="603644" cy="576232"/>
            <a:chOff x="4126815" y="2760704"/>
            <a:chExt cx="380393" cy="363118"/>
          </a:xfrm>
          <a:solidFill>
            <a:srgbClr val="0B5892"/>
          </a:solidFill>
        </p:grpSpPr>
        <p:sp>
          <p:nvSpPr>
            <p:cNvPr id="21" name="Google Shape;1965;p50">
              <a:extLst>
                <a:ext uri="{FF2B5EF4-FFF2-40B4-BE49-F238E27FC236}">
                  <a16:creationId xmlns:a16="http://schemas.microsoft.com/office/drawing/2014/main" id="{C90A8E2B-6430-4128-93A1-80EDBF3E3BED}"/>
                </a:ext>
              </a:extLst>
            </p:cNvPr>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966;p50">
              <a:extLst>
                <a:ext uri="{FF2B5EF4-FFF2-40B4-BE49-F238E27FC236}">
                  <a16:creationId xmlns:a16="http://schemas.microsoft.com/office/drawing/2014/main" id="{C220A82A-DCEF-47A8-9174-5A849CB2B75F}"/>
                </a:ext>
              </a:extLst>
            </p:cNvPr>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967;p50">
              <a:extLst>
                <a:ext uri="{FF2B5EF4-FFF2-40B4-BE49-F238E27FC236}">
                  <a16:creationId xmlns:a16="http://schemas.microsoft.com/office/drawing/2014/main" id="{446DDA74-F73B-4510-BFCE-608659C3FC02}"/>
                </a:ext>
              </a:extLst>
            </p:cNvPr>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968;p50">
              <a:extLst>
                <a:ext uri="{FF2B5EF4-FFF2-40B4-BE49-F238E27FC236}">
                  <a16:creationId xmlns:a16="http://schemas.microsoft.com/office/drawing/2014/main" id="{487DFEED-06C3-4B9B-9B7A-545AAF95F24C}"/>
                </a:ext>
              </a:extLst>
            </p:cNvPr>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Retângulo 28">
            <a:extLst>
              <a:ext uri="{FF2B5EF4-FFF2-40B4-BE49-F238E27FC236}">
                <a16:creationId xmlns:a16="http://schemas.microsoft.com/office/drawing/2014/main" id="{0BBC58FB-2C41-419E-8246-609C9177CDA9}"/>
              </a:ext>
            </a:extLst>
          </p:cNvPr>
          <p:cNvSpPr/>
          <p:nvPr/>
        </p:nvSpPr>
        <p:spPr>
          <a:xfrm>
            <a:off x="-449179" y="6707874"/>
            <a:ext cx="14054469" cy="334610"/>
          </a:xfrm>
          <a:prstGeom prst="rect">
            <a:avLst/>
          </a:prstGeom>
          <a:solidFill>
            <a:srgbClr val="0B58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 name="Imagem 7">
            <a:extLst>
              <a:ext uri="{FF2B5EF4-FFF2-40B4-BE49-F238E27FC236}">
                <a16:creationId xmlns:a16="http://schemas.microsoft.com/office/drawing/2014/main" id="{55CA91AA-A108-4071-B0A7-0374C74EDA09}"/>
              </a:ext>
            </a:extLst>
          </p:cNvPr>
          <p:cNvPicPr>
            <a:picLocks noChangeAspect="1"/>
          </p:cNvPicPr>
          <p:nvPr/>
        </p:nvPicPr>
        <p:blipFill>
          <a:blip r:embed="rId3"/>
          <a:stretch>
            <a:fillRect/>
          </a:stretch>
        </p:blipFill>
        <p:spPr>
          <a:xfrm>
            <a:off x="-124691" y="-20995"/>
            <a:ext cx="12316692" cy="88042"/>
          </a:xfrm>
          <a:prstGeom prst="rect">
            <a:avLst/>
          </a:prstGeom>
        </p:spPr>
      </p:pic>
      <p:sp>
        <p:nvSpPr>
          <p:cNvPr id="18" name="Título 1">
            <a:extLst>
              <a:ext uri="{FF2B5EF4-FFF2-40B4-BE49-F238E27FC236}">
                <a16:creationId xmlns:a16="http://schemas.microsoft.com/office/drawing/2014/main" id="{9BC75932-B40A-460F-B242-8264BFE06926}"/>
              </a:ext>
            </a:extLst>
          </p:cNvPr>
          <p:cNvSpPr txBox="1">
            <a:spLocks/>
          </p:cNvSpPr>
          <p:nvPr/>
        </p:nvSpPr>
        <p:spPr>
          <a:xfrm>
            <a:off x="1366068" y="448718"/>
            <a:ext cx="6453099"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spc="600" dirty="0">
                <a:solidFill>
                  <a:srgbClr val="0B5892"/>
                </a:solidFill>
                <a:latin typeface="Arial" panose="020B0604020202020204" pitchFamily="34" charset="0"/>
                <a:cs typeface="Arial" panose="020B0604020202020204" pitchFamily="34" charset="0"/>
              </a:rPr>
              <a:t>MÉDIA DO CANAL </a:t>
            </a:r>
          </a:p>
        </p:txBody>
      </p:sp>
      <p:sp>
        <p:nvSpPr>
          <p:cNvPr id="19" name="Título 1">
            <a:extLst>
              <a:ext uri="{FF2B5EF4-FFF2-40B4-BE49-F238E27FC236}">
                <a16:creationId xmlns:a16="http://schemas.microsoft.com/office/drawing/2014/main" id="{CB92D9AB-3FEB-47AD-8015-DD30B5F902CE}"/>
              </a:ext>
            </a:extLst>
          </p:cNvPr>
          <p:cNvSpPr txBox="1">
            <a:spLocks/>
          </p:cNvSpPr>
          <p:nvPr/>
        </p:nvSpPr>
        <p:spPr>
          <a:xfrm>
            <a:off x="1400358" y="716411"/>
            <a:ext cx="6950456"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600" spc="300" dirty="0">
                <a:solidFill>
                  <a:srgbClr val="0B5892"/>
                </a:solidFill>
                <a:latin typeface="Arial" panose="020B0604020202020204" pitchFamily="34" charset="0"/>
                <a:cs typeface="Arial" panose="020B0604020202020204" pitchFamily="34" charset="0"/>
              </a:rPr>
              <a:t>Quantidade total de monitorias realizadas</a:t>
            </a:r>
          </a:p>
        </p:txBody>
      </p:sp>
      <p:cxnSp>
        <p:nvCxnSpPr>
          <p:cNvPr id="25" name="Conector reto 24">
            <a:extLst>
              <a:ext uri="{FF2B5EF4-FFF2-40B4-BE49-F238E27FC236}">
                <a16:creationId xmlns:a16="http://schemas.microsoft.com/office/drawing/2014/main" id="{C6F5D155-7AE8-4277-A61A-2EF88BF2DADC}"/>
              </a:ext>
            </a:extLst>
          </p:cNvPr>
          <p:cNvCxnSpPr/>
          <p:nvPr/>
        </p:nvCxnSpPr>
        <p:spPr>
          <a:xfrm>
            <a:off x="725988" y="1185955"/>
            <a:ext cx="9855200" cy="0"/>
          </a:xfrm>
          <a:prstGeom prst="line">
            <a:avLst/>
          </a:prstGeom>
          <a:ln>
            <a:solidFill>
              <a:srgbClr val="0B5892"/>
            </a:solidFill>
          </a:ln>
        </p:spPr>
        <p:style>
          <a:lnRef idx="1">
            <a:schemeClr val="accent1"/>
          </a:lnRef>
          <a:fillRef idx="0">
            <a:schemeClr val="accent1"/>
          </a:fillRef>
          <a:effectRef idx="0">
            <a:schemeClr val="accent1"/>
          </a:effectRef>
          <a:fontRef idx="minor">
            <a:schemeClr val="tx1"/>
          </a:fontRef>
        </p:style>
      </p:cxnSp>
      <p:sp>
        <p:nvSpPr>
          <p:cNvPr id="110" name="CaixaDeTexto 109">
            <a:extLst>
              <a:ext uri="{FF2B5EF4-FFF2-40B4-BE49-F238E27FC236}">
                <a16:creationId xmlns:a16="http://schemas.microsoft.com/office/drawing/2014/main" id="{751BA167-80F5-4834-A5C7-E8ED41135E2E}"/>
              </a:ext>
            </a:extLst>
          </p:cNvPr>
          <p:cNvSpPr txBox="1"/>
          <p:nvPr/>
        </p:nvSpPr>
        <p:spPr>
          <a:xfrm>
            <a:off x="1549613" y="1890202"/>
            <a:ext cx="3720501" cy="307777"/>
          </a:xfrm>
          <a:prstGeom prst="rect">
            <a:avLst/>
          </a:prstGeom>
          <a:noFill/>
        </p:spPr>
        <p:txBody>
          <a:bodyPr wrap="square" rtlCol="0">
            <a:spAutoFit/>
          </a:bodyPr>
          <a:lstStyle/>
          <a:p>
            <a:pPr algn="ctr"/>
            <a:r>
              <a:rPr lang="pt-BR" sz="1400" b="1" dirty="0">
                <a:solidFill>
                  <a:schemeClr val="tx1">
                    <a:lumMod val="50000"/>
                    <a:lumOff val="50000"/>
                  </a:schemeClr>
                </a:solidFill>
                <a:latin typeface="Arial" panose="020B0604020202020204" pitchFamily="34" charset="0"/>
                <a:cs typeface="Arial" panose="020B0604020202020204" pitchFamily="34" charset="0"/>
              </a:rPr>
              <a:t>Médias por ciclos </a:t>
            </a:r>
          </a:p>
        </p:txBody>
      </p:sp>
      <p:graphicFrame>
        <p:nvGraphicFramePr>
          <p:cNvPr id="114" name="Gráfico 113">
            <a:extLst>
              <a:ext uri="{FF2B5EF4-FFF2-40B4-BE49-F238E27FC236}">
                <a16:creationId xmlns:a16="http://schemas.microsoft.com/office/drawing/2014/main" id="{7D3C7095-828E-4C06-BD03-D01C402F70BB}"/>
              </a:ext>
            </a:extLst>
          </p:cNvPr>
          <p:cNvGraphicFramePr/>
          <p:nvPr>
            <p:extLst>
              <p:ext uri="{D42A27DB-BD31-4B8C-83A1-F6EECF244321}">
                <p14:modId xmlns:p14="http://schemas.microsoft.com/office/powerpoint/2010/main" val="74466068"/>
              </p:ext>
            </p:extLst>
          </p:nvPr>
        </p:nvGraphicFramePr>
        <p:xfrm>
          <a:off x="1330893" y="2445001"/>
          <a:ext cx="4157940" cy="153395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5" name="Gráfico 114">
            <a:extLst>
              <a:ext uri="{FF2B5EF4-FFF2-40B4-BE49-F238E27FC236}">
                <a16:creationId xmlns:a16="http://schemas.microsoft.com/office/drawing/2014/main" id="{E2098B98-DBDA-4BD6-9D64-5C4C6FDA77BF}"/>
              </a:ext>
            </a:extLst>
          </p:cNvPr>
          <p:cNvGraphicFramePr/>
          <p:nvPr>
            <p:extLst>
              <p:ext uri="{D42A27DB-BD31-4B8C-83A1-F6EECF244321}">
                <p14:modId xmlns:p14="http://schemas.microsoft.com/office/powerpoint/2010/main" val="4085203724"/>
              </p:ext>
            </p:extLst>
          </p:nvPr>
        </p:nvGraphicFramePr>
        <p:xfrm>
          <a:off x="6737570" y="2495204"/>
          <a:ext cx="4157940" cy="1681126"/>
        </p:xfrm>
        <a:graphic>
          <a:graphicData uri="http://schemas.openxmlformats.org/drawingml/2006/chart">
            <c:chart xmlns:c="http://schemas.openxmlformats.org/drawingml/2006/chart" xmlns:r="http://schemas.openxmlformats.org/officeDocument/2006/relationships" r:id="rId5"/>
          </a:graphicData>
        </a:graphic>
      </p:graphicFrame>
      <p:sp>
        <p:nvSpPr>
          <p:cNvPr id="31" name="CaixaDeTexto 30">
            <a:extLst>
              <a:ext uri="{FF2B5EF4-FFF2-40B4-BE49-F238E27FC236}">
                <a16:creationId xmlns:a16="http://schemas.microsoft.com/office/drawing/2014/main" id="{8351364F-9B64-4F08-9C15-EDDFE9AC06B3}"/>
              </a:ext>
            </a:extLst>
          </p:cNvPr>
          <p:cNvSpPr txBox="1"/>
          <p:nvPr/>
        </p:nvSpPr>
        <p:spPr>
          <a:xfrm>
            <a:off x="7072510" y="1863435"/>
            <a:ext cx="3720501" cy="307777"/>
          </a:xfrm>
          <a:prstGeom prst="rect">
            <a:avLst/>
          </a:prstGeom>
          <a:noFill/>
        </p:spPr>
        <p:txBody>
          <a:bodyPr wrap="square" rtlCol="0">
            <a:spAutoFit/>
          </a:bodyPr>
          <a:lstStyle/>
          <a:p>
            <a:pPr algn="ctr"/>
            <a:r>
              <a:rPr lang="pt-BR" sz="1400" b="1" dirty="0">
                <a:solidFill>
                  <a:schemeClr val="tx1">
                    <a:lumMod val="50000"/>
                    <a:lumOff val="50000"/>
                  </a:schemeClr>
                </a:solidFill>
                <a:latin typeface="Arial" panose="020B0604020202020204" pitchFamily="34" charset="0"/>
                <a:cs typeface="Arial" panose="020B0604020202020204" pitchFamily="34" charset="0"/>
              </a:rPr>
              <a:t>Operação vs. Qualidade</a:t>
            </a:r>
          </a:p>
        </p:txBody>
      </p:sp>
      <p:cxnSp>
        <p:nvCxnSpPr>
          <p:cNvPr id="26" name="Conector reto 25">
            <a:extLst>
              <a:ext uri="{FF2B5EF4-FFF2-40B4-BE49-F238E27FC236}">
                <a16:creationId xmlns:a16="http://schemas.microsoft.com/office/drawing/2014/main" id="{F978C618-01F7-4633-A987-CCB8366D669E}"/>
              </a:ext>
            </a:extLst>
          </p:cNvPr>
          <p:cNvCxnSpPr>
            <a:cxnSpLocks/>
          </p:cNvCxnSpPr>
          <p:nvPr/>
        </p:nvCxnSpPr>
        <p:spPr>
          <a:xfrm>
            <a:off x="6225549" y="1890202"/>
            <a:ext cx="0" cy="3804662"/>
          </a:xfrm>
          <a:prstGeom prst="line">
            <a:avLst/>
          </a:prstGeom>
          <a:ln>
            <a:solidFill>
              <a:srgbClr val="0B5892"/>
            </a:solidFill>
          </a:ln>
        </p:spPr>
        <p:style>
          <a:lnRef idx="1">
            <a:schemeClr val="accent1"/>
          </a:lnRef>
          <a:fillRef idx="0">
            <a:schemeClr val="accent1"/>
          </a:fillRef>
          <a:effectRef idx="0">
            <a:schemeClr val="accent1"/>
          </a:effectRef>
          <a:fontRef idx="minor">
            <a:schemeClr val="tx1"/>
          </a:fontRef>
        </p:style>
      </p:cxnSp>
      <p:sp>
        <p:nvSpPr>
          <p:cNvPr id="32" name="Retângulo: Cantos Arredondados 31">
            <a:extLst>
              <a:ext uri="{FF2B5EF4-FFF2-40B4-BE49-F238E27FC236}">
                <a16:creationId xmlns:a16="http://schemas.microsoft.com/office/drawing/2014/main" id="{8CA246E3-A58F-4C82-BA91-182CC17EEF1B}"/>
              </a:ext>
            </a:extLst>
          </p:cNvPr>
          <p:cNvSpPr/>
          <p:nvPr/>
        </p:nvSpPr>
        <p:spPr>
          <a:xfrm>
            <a:off x="1346594" y="4446050"/>
            <a:ext cx="4402601" cy="1391738"/>
          </a:xfrm>
          <a:prstGeom prst="roundRect">
            <a:avLst/>
          </a:prstGeom>
          <a:solidFill>
            <a:schemeClr val="bg1">
              <a:lumMod val="95000"/>
            </a:schemeClr>
          </a:solidFill>
          <a:ln>
            <a:noFill/>
          </a:ln>
          <a:effectLst>
            <a:outerShdw dist="101600" dir="10740000" algn="t" rotWithShape="0">
              <a:srgbClr val="0B5892"/>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34" name="Google Shape;2124;p50">
            <a:extLst>
              <a:ext uri="{FF2B5EF4-FFF2-40B4-BE49-F238E27FC236}">
                <a16:creationId xmlns:a16="http://schemas.microsoft.com/office/drawing/2014/main" id="{17C5FCEA-434A-4F2E-BC13-08F9AFE06D99}"/>
              </a:ext>
            </a:extLst>
          </p:cNvPr>
          <p:cNvGrpSpPr/>
          <p:nvPr/>
        </p:nvGrpSpPr>
        <p:grpSpPr>
          <a:xfrm>
            <a:off x="1482244" y="4562393"/>
            <a:ext cx="286337" cy="286644"/>
            <a:chOff x="4673540" y="3680297"/>
            <a:chExt cx="355434" cy="355815"/>
          </a:xfrm>
        </p:grpSpPr>
        <p:sp>
          <p:nvSpPr>
            <p:cNvPr id="35" name="Google Shape;2125;p50">
              <a:extLst>
                <a:ext uri="{FF2B5EF4-FFF2-40B4-BE49-F238E27FC236}">
                  <a16:creationId xmlns:a16="http://schemas.microsoft.com/office/drawing/2014/main" id="{57941490-D7F8-44DD-8C76-50E34A26D7AC}"/>
                </a:ext>
              </a:extLst>
            </p:cNvPr>
            <p:cNvSpPr/>
            <p:nvPr/>
          </p:nvSpPr>
          <p:spPr>
            <a:xfrm>
              <a:off x="4673540" y="3680297"/>
              <a:ext cx="355434" cy="355815"/>
            </a:xfrm>
            <a:custGeom>
              <a:avLst/>
              <a:gdLst/>
              <a:ahLst/>
              <a:cxnLst/>
              <a:rect l="l" t="t" r="r" b="b"/>
              <a:pathLst>
                <a:path w="11193" h="11205" extrusionOk="0">
                  <a:moveTo>
                    <a:pt x="2012" y="0"/>
                  </a:moveTo>
                  <a:cubicBezTo>
                    <a:pt x="905" y="0"/>
                    <a:pt x="0" y="893"/>
                    <a:pt x="0" y="2013"/>
                  </a:cubicBezTo>
                  <a:lnTo>
                    <a:pt x="0" y="9192"/>
                  </a:lnTo>
                  <a:cubicBezTo>
                    <a:pt x="0" y="10287"/>
                    <a:pt x="893" y="11204"/>
                    <a:pt x="2012" y="11204"/>
                  </a:cubicBezTo>
                  <a:lnTo>
                    <a:pt x="9180" y="11204"/>
                  </a:lnTo>
                  <a:cubicBezTo>
                    <a:pt x="10287" y="11204"/>
                    <a:pt x="11192" y="10311"/>
                    <a:pt x="11192" y="9192"/>
                  </a:cubicBezTo>
                  <a:lnTo>
                    <a:pt x="11192" y="2013"/>
                  </a:lnTo>
                  <a:cubicBezTo>
                    <a:pt x="11180" y="917"/>
                    <a:pt x="10287" y="0"/>
                    <a:pt x="9180" y="0"/>
                  </a:cubicBezTo>
                  <a:lnTo>
                    <a:pt x="8085" y="0"/>
                  </a:lnTo>
                  <a:cubicBezTo>
                    <a:pt x="7989" y="0"/>
                    <a:pt x="7918" y="84"/>
                    <a:pt x="7918" y="167"/>
                  </a:cubicBezTo>
                  <a:cubicBezTo>
                    <a:pt x="7918" y="262"/>
                    <a:pt x="7989" y="334"/>
                    <a:pt x="8085" y="334"/>
                  </a:cubicBezTo>
                  <a:lnTo>
                    <a:pt x="9180" y="334"/>
                  </a:lnTo>
                  <a:cubicBezTo>
                    <a:pt x="10109" y="334"/>
                    <a:pt x="10847" y="1084"/>
                    <a:pt x="10847" y="2001"/>
                  </a:cubicBezTo>
                  <a:lnTo>
                    <a:pt x="10847" y="9180"/>
                  </a:lnTo>
                  <a:cubicBezTo>
                    <a:pt x="10847" y="10097"/>
                    <a:pt x="10109" y="10847"/>
                    <a:pt x="9180" y="10847"/>
                  </a:cubicBezTo>
                  <a:lnTo>
                    <a:pt x="2012" y="10847"/>
                  </a:lnTo>
                  <a:cubicBezTo>
                    <a:pt x="1084" y="10847"/>
                    <a:pt x="345" y="10097"/>
                    <a:pt x="345" y="9180"/>
                  </a:cubicBezTo>
                  <a:lnTo>
                    <a:pt x="345" y="2001"/>
                  </a:lnTo>
                  <a:cubicBezTo>
                    <a:pt x="345" y="1084"/>
                    <a:pt x="1084" y="334"/>
                    <a:pt x="2012" y="334"/>
                  </a:cubicBezTo>
                  <a:lnTo>
                    <a:pt x="7418" y="334"/>
                  </a:lnTo>
                  <a:cubicBezTo>
                    <a:pt x="7501" y="334"/>
                    <a:pt x="7573" y="262"/>
                    <a:pt x="7573" y="167"/>
                  </a:cubicBezTo>
                  <a:cubicBezTo>
                    <a:pt x="7573" y="84"/>
                    <a:pt x="7501" y="0"/>
                    <a:pt x="7418" y="0"/>
                  </a:cubicBezTo>
                  <a:close/>
                </a:path>
              </a:pathLst>
            </a:custGeom>
            <a:solidFill>
              <a:schemeClr val="lt2"/>
            </a:solidFill>
            <a:ln>
              <a:solidFill>
                <a:srgbClr val="0B589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126;p50">
              <a:extLst>
                <a:ext uri="{FF2B5EF4-FFF2-40B4-BE49-F238E27FC236}">
                  <a16:creationId xmlns:a16="http://schemas.microsoft.com/office/drawing/2014/main" id="{FB819ACD-0C88-49C3-AC06-83FEF3198520}"/>
                </a:ext>
              </a:extLst>
            </p:cNvPr>
            <p:cNvSpPr/>
            <p:nvPr/>
          </p:nvSpPr>
          <p:spPr>
            <a:xfrm>
              <a:off x="4805864" y="3736630"/>
              <a:ext cx="93042" cy="92661"/>
            </a:xfrm>
            <a:custGeom>
              <a:avLst/>
              <a:gdLst/>
              <a:ahLst/>
              <a:cxnLst/>
              <a:rect l="l" t="t" r="r" b="b"/>
              <a:pathLst>
                <a:path w="2930" h="2918" extrusionOk="0">
                  <a:moveTo>
                    <a:pt x="1477" y="334"/>
                  </a:moveTo>
                  <a:cubicBezTo>
                    <a:pt x="2096" y="334"/>
                    <a:pt x="2608" y="834"/>
                    <a:pt x="2608" y="1465"/>
                  </a:cubicBezTo>
                  <a:cubicBezTo>
                    <a:pt x="2608" y="2084"/>
                    <a:pt x="2096" y="2596"/>
                    <a:pt x="1477" y="2596"/>
                  </a:cubicBezTo>
                  <a:cubicBezTo>
                    <a:pt x="846" y="2596"/>
                    <a:pt x="346" y="2084"/>
                    <a:pt x="346" y="1465"/>
                  </a:cubicBezTo>
                  <a:cubicBezTo>
                    <a:pt x="346" y="834"/>
                    <a:pt x="846" y="334"/>
                    <a:pt x="1477" y="334"/>
                  </a:cubicBezTo>
                  <a:close/>
                  <a:moveTo>
                    <a:pt x="1477" y="0"/>
                  </a:moveTo>
                  <a:cubicBezTo>
                    <a:pt x="667" y="0"/>
                    <a:pt x="12" y="655"/>
                    <a:pt x="12" y="1465"/>
                  </a:cubicBezTo>
                  <a:cubicBezTo>
                    <a:pt x="0" y="2263"/>
                    <a:pt x="655" y="2918"/>
                    <a:pt x="1477" y="2918"/>
                  </a:cubicBezTo>
                  <a:cubicBezTo>
                    <a:pt x="2274" y="2918"/>
                    <a:pt x="2929" y="2263"/>
                    <a:pt x="2929" y="1465"/>
                  </a:cubicBezTo>
                  <a:cubicBezTo>
                    <a:pt x="2929" y="655"/>
                    <a:pt x="2274" y="0"/>
                    <a:pt x="1477" y="0"/>
                  </a:cubicBezTo>
                  <a:close/>
                </a:path>
              </a:pathLst>
            </a:custGeom>
            <a:solidFill>
              <a:schemeClr val="lt2"/>
            </a:solidFill>
            <a:ln>
              <a:solidFill>
                <a:srgbClr val="0B589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127;p50">
              <a:extLst>
                <a:ext uri="{FF2B5EF4-FFF2-40B4-BE49-F238E27FC236}">
                  <a16:creationId xmlns:a16="http://schemas.microsoft.com/office/drawing/2014/main" id="{2335789A-9329-4B97-9ED7-E399CF29441E}"/>
                </a:ext>
              </a:extLst>
            </p:cNvPr>
            <p:cNvSpPr/>
            <p:nvPr/>
          </p:nvSpPr>
          <p:spPr>
            <a:xfrm>
              <a:off x="4779380" y="3841358"/>
              <a:ext cx="143723" cy="138801"/>
            </a:xfrm>
            <a:custGeom>
              <a:avLst/>
              <a:gdLst/>
              <a:ahLst/>
              <a:cxnLst/>
              <a:rect l="l" t="t" r="r" b="b"/>
              <a:pathLst>
                <a:path w="4526" h="4371" extrusionOk="0">
                  <a:moveTo>
                    <a:pt x="477" y="1"/>
                  </a:moveTo>
                  <a:cubicBezTo>
                    <a:pt x="215" y="1"/>
                    <a:pt x="1" y="203"/>
                    <a:pt x="1" y="477"/>
                  </a:cubicBezTo>
                  <a:lnTo>
                    <a:pt x="1" y="893"/>
                  </a:lnTo>
                  <a:cubicBezTo>
                    <a:pt x="1" y="1155"/>
                    <a:pt x="203" y="1370"/>
                    <a:pt x="477" y="1370"/>
                  </a:cubicBezTo>
                  <a:lnTo>
                    <a:pt x="763" y="1370"/>
                  </a:lnTo>
                  <a:cubicBezTo>
                    <a:pt x="834" y="1370"/>
                    <a:pt x="906" y="1429"/>
                    <a:pt x="906" y="1513"/>
                  </a:cubicBezTo>
                  <a:lnTo>
                    <a:pt x="906" y="2858"/>
                  </a:lnTo>
                  <a:cubicBezTo>
                    <a:pt x="906" y="2929"/>
                    <a:pt x="846" y="3001"/>
                    <a:pt x="763" y="3001"/>
                  </a:cubicBezTo>
                  <a:lnTo>
                    <a:pt x="572" y="3001"/>
                  </a:lnTo>
                  <a:cubicBezTo>
                    <a:pt x="299" y="3001"/>
                    <a:pt x="96" y="3215"/>
                    <a:pt x="96" y="3477"/>
                  </a:cubicBezTo>
                  <a:lnTo>
                    <a:pt x="96" y="3894"/>
                  </a:lnTo>
                  <a:cubicBezTo>
                    <a:pt x="96" y="4168"/>
                    <a:pt x="299" y="4370"/>
                    <a:pt x="572" y="4370"/>
                  </a:cubicBezTo>
                  <a:lnTo>
                    <a:pt x="4049" y="4370"/>
                  </a:lnTo>
                  <a:cubicBezTo>
                    <a:pt x="4311" y="4370"/>
                    <a:pt x="4525" y="4168"/>
                    <a:pt x="4525" y="3894"/>
                  </a:cubicBezTo>
                  <a:lnTo>
                    <a:pt x="4525" y="3477"/>
                  </a:lnTo>
                  <a:cubicBezTo>
                    <a:pt x="4525" y="3215"/>
                    <a:pt x="4311" y="3001"/>
                    <a:pt x="4049" y="3001"/>
                  </a:cubicBezTo>
                  <a:lnTo>
                    <a:pt x="3859" y="3001"/>
                  </a:lnTo>
                  <a:cubicBezTo>
                    <a:pt x="3787" y="3001"/>
                    <a:pt x="3704" y="2941"/>
                    <a:pt x="3704" y="2858"/>
                  </a:cubicBezTo>
                  <a:lnTo>
                    <a:pt x="3704" y="477"/>
                  </a:lnTo>
                  <a:cubicBezTo>
                    <a:pt x="3704" y="203"/>
                    <a:pt x="3501" y="1"/>
                    <a:pt x="3228" y="1"/>
                  </a:cubicBezTo>
                  <a:lnTo>
                    <a:pt x="1442" y="1"/>
                  </a:lnTo>
                  <a:cubicBezTo>
                    <a:pt x="1358" y="1"/>
                    <a:pt x="1287" y="72"/>
                    <a:pt x="1287" y="155"/>
                  </a:cubicBezTo>
                  <a:cubicBezTo>
                    <a:pt x="1287" y="251"/>
                    <a:pt x="1358" y="322"/>
                    <a:pt x="1442" y="322"/>
                  </a:cubicBezTo>
                  <a:lnTo>
                    <a:pt x="3228" y="322"/>
                  </a:lnTo>
                  <a:cubicBezTo>
                    <a:pt x="3311" y="322"/>
                    <a:pt x="3382" y="382"/>
                    <a:pt x="3382" y="477"/>
                  </a:cubicBezTo>
                  <a:lnTo>
                    <a:pt x="3382" y="2858"/>
                  </a:lnTo>
                  <a:cubicBezTo>
                    <a:pt x="3382" y="3120"/>
                    <a:pt x="3585" y="3334"/>
                    <a:pt x="3859" y="3334"/>
                  </a:cubicBezTo>
                  <a:lnTo>
                    <a:pt x="4049" y="3334"/>
                  </a:lnTo>
                  <a:cubicBezTo>
                    <a:pt x="4121" y="3334"/>
                    <a:pt x="4204" y="3394"/>
                    <a:pt x="4204" y="3477"/>
                  </a:cubicBezTo>
                  <a:lnTo>
                    <a:pt x="4204" y="3894"/>
                  </a:lnTo>
                  <a:cubicBezTo>
                    <a:pt x="4204" y="3965"/>
                    <a:pt x="4132" y="4049"/>
                    <a:pt x="4049" y="4049"/>
                  </a:cubicBezTo>
                  <a:lnTo>
                    <a:pt x="572" y="4049"/>
                  </a:lnTo>
                  <a:cubicBezTo>
                    <a:pt x="489" y="4049"/>
                    <a:pt x="418" y="3989"/>
                    <a:pt x="418" y="3894"/>
                  </a:cubicBezTo>
                  <a:lnTo>
                    <a:pt x="418" y="3477"/>
                  </a:lnTo>
                  <a:cubicBezTo>
                    <a:pt x="418" y="3406"/>
                    <a:pt x="477" y="3334"/>
                    <a:pt x="572" y="3334"/>
                  </a:cubicBezTo>
                  <a:lnTo>
                    <a:pt x="763" y="3334"/>
                  </a:lnTo>
                  <a:cubicBezTo>
                    <a:pt x="1025" y="3334"/>
                    <a:pt x="1239" y="3120"/>
                    <a:pt x="1239" y="2858"/>
                  </a:cubicBezTo>
                  <a:lnTo>
                    <a:pt x="1239" y="1513"/>
                  </a:lnTo>
                  <a:cubicBezTo>
                    <a:pt x="1239" y="1251"/>
                    <a:pt x="1025" y="1036"/>
                    <a:pt x="763" y="1036"/>
                  </a:cubicBezTo>
                  <a:lnTo>
                    <a:pt x="477" y="1036"/>
                  </a:lnTo>
                  <a:cubicBezTo>
                    <a:pt x="406" y="1036"/>
                    <a:pt x="334" y="977"/>
                    <a:pt x="334" y="893"/>
                  </a:cubicBezTo>
                  <a:lnTo>
                    <a:pt x="334" y="477"/>
                  </a:lnTo>
                  <a:cubicBezTo>
                    <a:pt x="334" y="393"/>
                    <a:pt x="394" y="322"/>
                    <a:pt x="477" y="322"/>
                  </a:cubicBezTo>
                  <a:lnTo>
                    <a:pt x="787" y="322"/>
                  </a:lnTo>
                  <a:cubicBezTo>
                    <a:pt x="882" y="322"/>
                    <a:pt x="953" y="251"/>
                    <a:pt x="953" y="155"/>
                  </a:cubicBezTo>
                  <a:cubicBezTo>
                    <a:pt x="953" y="72"/>
                    <a:pt x="882" y="1"/>
                    <a:pt x="787" y="1"/>
                  </a:cubicBezTo>
                  <a:close/>
                </a:path>
              </a:pathLst>
            </a:custGeom>
            <a:solidFill>
              <a:schemeClr val="lt2"/>
            </a:solidFill>
            <a:ln>
              <a:solidFill>
                <a:srgbClr val="0B589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Título 1">
            <a:extLst>
              <a:ext uri="{FF2B5EF4-FFF2-40B4-BE49-F238E27FC236}">
                <a16:creationId xmlns:a16="http://schemas.microsoft.com/office/drawing/2014/main" id="{AA536BB8-370C-4631-BAA0-6E0FE853CC46}"/>
              </a:ext>
            </a:extLst>
          </p:cNvPr>
          <p:cNvSpPr txBox="1">
            <a:spLocks/>
          </p:cNvSpPr>
          <p:nvPr/>
        </p:nvSpPr>
        <p:spPr>
          <a:xfrm>
            <a:off x="5946417" y="431573"/>
            <a:ext cx="5811865"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pt-BR" sz="1600" spc="600" dirty="0">
                <a:solidFill>
                  <a:srgbClr val="0B5892"/>
                </a:solidFill>
                <a:latin typeface="Arial" panose="020B0604020202020204" pitchFamily="34" charset="0"/>
                <a:cs typeface="Arial" panose="020B0604020202020204" pitchFamily="34" charset="0"/>
              </a:rPr>
              <a:t>CRC</a:t>
            </a:r>
          </a:p>
        </p:txBody>
      </p:sp>
      <p:graphicFrame>
        <p:nvGraphicFramePr>
          <p:cNvPr id="2" name="Tabela 1">
            <a:extLst>
              <a:ext uri="{FF2B5EF4-FFF2-40B4-BE49-F238E27FC236}">
                <a16:creationId xmlns:a16="http://schemas.microsoft.com/office/drawing/2014/main" id="{ECC46DB9-D927-64FE-36BE-80B50611CAA3}"/>
              </a:ext>
            </a:extLst>
          </p:cNvPr>
          <p:cNvGraphicFramePr>
            <a:graphicFrameLocks noGrp="1"/>
          </p:cNvGraphicFramePr>
          <p:nvPr>
            <p:extLst>
              <p:ext uri="{D42A27DB-BD31-4B8C-83A1-F6EECF244321}">
                <p14:modId xmlns:p14="http://schemas.microsoft.com/office/powerpoint/2010/main" val="1385892016"/>
              </p:ext>
            </p:extLst>
          </p:nvPr>
        </p:nvGraphicFramePr>
        <p:xfrm>
          <a:off x="7299486" y="4607775"/>
          <a:ext cx="3803976" cy="978545"/>
        </p:xfrm>
        <a:graphic>
          <a:graphicData uri="http://schemas.openxmlformats.org/drawingml/2006/table">
            <a:tbl>
              <a:tblPr firstRow="1" bandRow="1">
                <a:tableStyleId>{F2DE63D5-997A-4646-A377-4702673A728D}</a:tableStyleId>
              </a:tblPr>
              <a:tblGrid>
                <a:gridCol w="1267992">
                  <a:extLst>
                    <a:ext uri="{9D8B030D-6E8A-4147-A177-3AD203B41FA5}">
                      <a16:colId xmlns:a16="http://schemas.microsoft.com/office/drawing/2014/main" val="1531427166"/>
                    </a:ext>
                  </a:extLst>
                </a:gridCol>
                <a:gridCol w="1267992">
                  <a:extLst>
                    <a:ext uri="{9D8B030D-6E8A-4147-A177-3AD203B41FA5}">
                      <a16:colId xmlns:a16="http://schemas.microsoft.com/office/drawing/2014/main" val="3806050286"/>
                    </a:ext>
                  </a:extLst>
                </a:gridCol>
                <a:gridCol w="1267992">
                  <a:extLst>
                    <a:ext uri="{9D8B030D-6E8A-4147-A177-3AD203B41FA5}">
                      <a16:colId xmlns:a16="http://schemas.microsoft.com/office/drawing/2014/main" val="658273446"/>
                    </a:ext>
                  </a:extLst>
                </a:gridCol>
              </a:tblGrid>
              <a:tr h="253021">
                <a:tc>
                  <a:txBody>
                    <a:bodyPr/>
                    <a:lstStyle/>
                    <a:p>
                      <a:pPr algn="ctr">
                        <a:lnSpc>
                          <a:spcPct val="150000"/>
                        </a:lnSpc>
                      </a:pPr>
                      <a:endParaRPr lang="pt-BR" sz="1000" dirty="0">
                        <a:latin typeface="Arial" panose="020B0604020202020204" pitchFamily="34" charset="0"/>
                        <a:cs typeface="Arial" panose="020B0604020202020204" pitchFamily="34" charset="0"/>
                      </a:endParaRP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pPr>
                      <a:r>
                        <a:rPr lang="pt-BR" sz="1000" dirty="0">
                          <a:latin typeface="Arial" panose="020B0604020202020204" pitchFamily="34" charset="0"/>
                          <a:cs typeface="Arial" panose="020B0604020202020204" pitchFamily="34" charset="0"/>
                        </a:rPr>
                        <a:t>Média Final</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B5892"/>
                    </a:solidFill>
                  </a:tcPr>
                </a:tc>
                <a:tc>
                  <a:txBody>
                    <a:bodyPr/>
                    <a:lstStyle/>
                    <a:p>
                      <a:pPr algn="ctr">
                        <a:lnSpc>
                          <a:spcPct val="150000"/>
                        </a:lnSpc>
                      </a:pPr>
                      <a:r>
                        <a:rPr lang="pt-BR" sz="1000" dirty="0">
                          <a:latin typeface="Arial" panose="020B0604020202020204" pitchFamily="34" charset="0"/>
                          <a:cs typeface="Arial" panose="020B0604020202020204" pitchFamily="34" charset="0"/>
                        </a:rPr>
                        <a:t>Diferença</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B5892"/>
                    </a:solidFill>
                  </a:tcPr>
                </a:tc>
                <a:extLst>
                  <a:ext uri="{0D108BD9-81ED-4DB2-BD59-A6C34878D82A}">
                    <a16:rowId xmlns:a16="http://schemas.microsoft.com/office/drawing/2014/main" val="574108456"/>
                  </a:ext>
                </a:extLst>
              </a:tr>
              <a:tr h="343381">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Operação</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73,83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a:r>
                        <a:rPr lang="pt-BR" sz="1000" dirty="0">
                          <a:solidFill>
                            <a:schemeClr val="tx1">
                              <a:lumMod val="75000"/>
                              <a:lumOff val="25000"/>
                            </a:schemeClr>
                          </a:solidFill>
                          <a:latin typeface="Arial" panose="020B0604020202020204" pitchFamily="34" charset="0"/>
                          <a:cs typeface="Arial" panose="020B0604020202020204" pitchFamily="34" charset="0"/>
                        </a:rPr>
                        <a:t>1,71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6810871"/>
                  </a:ext>
                </a:extLst>
              </a:tr>
              <a:tr h="343381">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Qualidade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75,55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2121114"/>
                  </a:ext>
                </a:extLst>
              </a:tr>
            </a:tbl>
          </a:graphicData>
        </a:graphic>
      </p:graphicFrame>
      <p:sp>
        <p:nvSpPr>
          <p:cNvPr id="4" name="CaixaDeTexto 3">
            <a:extLst>
              <a:ext uri="{FF2B5EF4-FFF2-40B4-BE49-F238E27FC236}">
                <a16:creationId xmlns:a16="http://schemas.microsoft.com/office/drawing/2014/main" id="{07BF770D-356C-E244-96FA-0490433B04E5}"/>
              </a:ext>
            </a:extLst>
          </p:cNvPr>
          <p:cNvSpPr txBox="1"/>
          <p:nvPr/>
        </p:nvSpPr>
        <p:spPr>
          <a:xfrm>
            <a:off x="1833432" y="4514194"/>
            <a:ext cx="3655401" cy="1277273"/>
          </a:xfrm>
          <a:prstGeom prst="rect">
            <a:avLst/>
          </a:prstGeom>
          <a:noFill/>
        </p:spPr>
        <p:txBody>
          <a:bodyPr wrap="square">
            <a:spAutoFit/>
          </a:bodyPr>
          <a:lstStyle/>
          <a:p>
            <a:pPr algn="just"/>
            <a:r>
              <a:rPr lang="pt-BR" sz="1100" dirty="0">
                <a:solidFill>
                  <a:schemeClr val="bg2">
                    <a:lumMod val="50000"/>
                  </a:schemeClr>
                </a:solidFill>
                <a:latin typeface="Arial" panose="020B0604020202020204" pitchFamily="34" charset="0"/>
                <a:cs typeface="Arial" panose="020B0604020202020204" pitchFamily="34" charset="0"/>
              </a:rPr>
              <a:t>O quarto ciclo apresentou o maior volume de notas NCG, totalizando 26 ocorrências. Entre os principais assuntos detratores, destacam-se o Serasa Limpa Nome, principalmente em falhas relacionadas aos fluxos de acordos, e Anotações, com recorrência de apontamentos referentes à ausência de prints do Risk e ao repasse de informações incompletas.</a:t>
            </a:r>
          </a:p>
        </p:txBody>
      </p:sp>
    </p:spTree>
    <p:extLst>
      <p:ext uri="{BB962C8B-B14F-4D97-AF65-F5344CB8AC3E}">
        <p14:creationId xmlns:p14="http://schemas.microsoft.com/office/powerpoint/2010/main" val="6593984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Imagem 38">
            <a:extLst>
              <a:ext uri="{FF2B5EF4-FFF2-40B4-BE49-F238E27FC236}">
                <a16:creationId xmlns:a16="http://schemas.microsoft.com/office/drawing/2014/main" id="{8F6A83EB-6687-479D-BD59-51B6B2B8CBF9}"/>
              </a:ext>
            </a:extLst>
          </p:cNvPr>
          <p:cNvPicPr>
            <a:picLocks noChangeAspect="1"/>
          </p:cNvPicPr>
          <p:nvPr/>
        </p:nvPicPr>
        <p:blipFill>
          <a:blip r:embed="rId2">
            <a:alphaModFix amt="4000"/>
          </a:blip>
          <a:stretch>
            <a:fillRect/>
          </a:stretch>
        </p:blipFill>
        <p:spPr>
          <a:xfrm>
            <a:off x="9157251" y="4596063"/>
            <a:ext cx="5030445" cy="5148116"/>
          </a:xfrm>
          <a:prstGeom prst="rect">
            <a:avLst/>
          </a:prstGeom>
          <a:effectLst/>
        </p:spPr>
      </p:pic>
      <p:pic>
        <p:nvPicPr>
          <p:cNvPr id="38" name="Imagem 37">
            <a:extLst>
              <a:ext uri="{FF2B5EF4-FFF2-40B4-BE49-F238E27FC236}">
                <a16:creationId xmlns:a16="http://schemas.microsoft.com/office/drawing/2014/main" id="{DE2A603E-716D-41D5-ABEF-1625839B46A3}"/>
              </a:ext>
            </a:extLst>
          </p:cNvPr>
          <p:cNvPicPr>
            <a:picLocks noChangeAspect="1"/>
          </p:cNvPicPr>
          <p:nvPr/>
        </p:nvPicPr>
        <p:blipFill>
          <a:blip r:embed="rId2">
            <a:alphaModFix amt="4000"/>
          </a:blip>
          <a:stretch>
            <a:fillRect/>
          </a:stretch>
        </p:blipFill>
        <p:spPr>
          <a:xfrm>
            <a:off x="-2128370" y="-2021305"/>
            <a:ext cx="5030445" cy="5148116"/>
          </a:xfrm>
          <a:prstGeom prst="rect">
            <a:avLst/>
          </a:prstGeom>
          <a:effectLst/>
        </p:spPr>
      </p:pic>
      <p:grpSp>
        <p:nvGrpSpPr>
          <p:cNvPr id="20" name="Google Shape;1964;p50">
            <a:extLst>
              <a:ext uri="{FF2B5EF4-FFF2-40B4-BE49-F238E27FC236}">
                <a16:creationId xmlns:a16="http://schemas.microsoft.com/office/drawing/2014/main" id="{644333FE-63B4-42DF-ADFA-AF9177DF58D7}"/>
              </a:ext>
            </a:extLst>
          </p:cNvPr>
          <p:cNvGrpSpPr/>
          <p:nvPr/>
        </p:nvGrpSpPr>
        <p:grpSpPr>
          <a:xfrm flipH="1">
            <a:off x="742950" y="537670"/>
            <a:ext cx="603644" cy="576232"/>
            <a:chOff x="4126815" y="2760704"/>
            <a:chExt cx="380393" cy="363118"/>
          </a:xfrm>
          <a:solidFill>
            <a:srgbClr val="0B5892"/>
          </a:solidFill>
        </p:grpSpPr>
        <p:sp>
          <p:nvSpPr>
            <p:cNvPr id="21" name="Google Shape;1965;p50">
              <a:extLst>
                <a:ext uri="{FF2B5EF4-FFF2-40B4-BE49-F238E27FC236}">
                  <a16:creationId xmlns:a16="http://schemas.microsoft.com/office/drawing/2014/main" id="{C90A8E2B-6430-4128-93A1-80EDBF3E3BED}"/>
                </a:ext>
              </a:extLst>
            </p:cNvPr>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966;p50">
              <a:extLst>
                <a:ext uri="{FF2B5EF4-FFF2-40B4-BE49-F238E27FC236}">
                  <a16:creationId xmlns:a16="http://schemas.microsoft.com/office/drawing/2014/main" id="{C220A82A-DCEF-47A8-9174-5A849CB2B75F}"/>
                </a:ext>
              </a:extLst>
            </p:cNvPr>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967;p50">
              <a:extLst>
                <a:ext uri="{FF2B5EF4-FFF2-40B4-BE49-F238E27FC236}">
                  <a16:creationId xmlns:a16="http://schemas.microsoft.com/office/drawing/2014/main" id="{446DDA74-F73B-4510-BFCE-608659C3FC02}"/>
                </a:ext>
              </a:extLst>
            </p:cNvPr>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968;p50">
              <a:extLst>
                <a:ext uri="{FF2B5EF4-FFF2-40B4-BE49-F238E27FC236}">
                  <a16:creationId xmlns:a16="http://schemas.microsoft.com/office/drawing/2014/main" id="{487DFEED-06C3-4B9B-9B7A-545AAF95F24C}"/>
                </a:ext>
              </a:extLst>
            </p:cNvPr>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Retângulo 28">
            <a:extLst>
              <a:ext uri="{FF2B5EF4-FFF2-40B4-BE49-F238E27FC236}">
                <a16:creationId xmlns:a16="http://schemas.microsoft.com/office/drawing/2014/main" id="{0BBC58FB-2C41-419E-8246-609C9177CDA9}"/>
              </a:ext>
            </a:extLst>
          </p:cNvPr>
          <p:cNvSpPr/>
          <p:nvPr/>
        </p:nvSpPr>
        <p:spPr>
          <a:xfrm>
            <a:off x="-449179" y="6707874"/>
            <a:ext cx="14054469" cy="334610"/>
          </a:xfrm>
          <a:prstGeom prst="rect">
            <a:avLst/>
          </a:prstGeom>
          <a:solidFill>
            <a:srgbClr val="0B58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 name="Imagem 7">
            <a:extLst>
              <a:ext uri="{FF2B5EF4-FFF2-40B4-BE49-F238E27FC236}">
                <a16:creationId xmlns:a16="http://schemas.microsoft.com/office/drawing/2014/main" id="{55CA91AA-A108-4071-B0A7-0374C74EDA09}"/>
              </a:ext>
            </a:extLst>
          </p:cNvPr>
          <p:cNvPicPr>
            <a:picLocks noChangeAspect="1"/>
          </p:cNvPicPr>
          <p:nvPr/>
        </p:nvPicPr>
        <p:blipFill>
          <a:blip r:embed="rId3"/>
          <a:stretch>
            <a:fillRect/>
          </a:stretch>
        </p:blipFill>
        <p:spPr>
          <a:xfrm>
            <a:off x="-124691" y="-20995"/>
            <a:ext cx="12316692" cy="88042"/>
          </a:xfrm>
          <a:prstGeom prst="rect">
            <a:avLst/>
          </a:prstGeom>
        </p:spPr>
      </p:pic>
      <p:sp>
        <p:nvSpPr>
          <p:cNvPr id="18" name="Título 1">
            <a:extLst>
              <a:ext uri="{FF2B5EF4-FFF2-40B4-BE49-F238E27FC236}">
                <a16:creationId xmlns:a16="http://schemas.microsoft.com/office/drawing/2014/main" id="{9BC75932-B40A-460F-B242-8264BFE06926}"/>
              </a:ext>
            </a:extLst>
          </p:cNvPr>
          <p:cNvSpPr txBox="1">
            <a:spLocks/>
          </p:cNvSpPr>
          <p:nvPr/>
        </p:nvSpPr>
        <p:spPr>
          <a:xfrm>
            <a:off x="1366068" y="448718"/>
            <a:ext cx="6453099"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spc="600" dirty="0">
                <a:solidFill>
                  <a:srgbClr val="0B5892"/>
                </a:solidFill>
                <a:latin typeface="Arial" panose="020B0604020202020204" pitchFamily="34" charset="0"/>
                <a:cs typeface="Arial" panose="020B0604020202020204" pitchFamily="34" charset="0"/>
              </a:rPr>
              <a:t>PONTOS OFENSORES</a:t>
            </a:r>
          </a:p>
        </p:txBody>
      </p:sp>
      <p:sp>
        <p:nvSpPr>
          <p:cNvPr id="19" name="Título 1">
            <a:extLst>
              <a:ext uri="{FF2B5EF4-FFF2-40B4-BE49-F238E27FC236}">
                <a16:creationId xmlns:a16="http://schemas.microsoft.com/office/drawing/2014/main" id="{CB92D9AB-3FEB-47AD-8015-DD30B5F902CE}"/>
              </a:ext>
            </a:extLst>
          </p:cNvPr>
          <p:cNvSpPr txBox="1">
            <a:spLocks/>
          </p:cNvSpPr>
          <p:nvPr/>
        </p:nvSpPr>
        <p:spPr>
          <a:xfrm>
            <a:off x="1400358" y="716411"/>
            <a:ext cx="6950456"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600" spc="300" dirty="0">
                <a:solidFill>
                  <a:srgbClr val="0B5892"/>
                </a:solidFill>
                <a:latin typeface="Arial" panose="020B0604020202020204" pitchFamily="34" charset="0"/>
                <a:cs typeface="Arial" panose="020B0604020202020204" pitchFamily="34" charset="0"/>
              </a:rPr>
              <a:t>Quantidade total de monitorias realizadas</a:t>
            </a:r>
          </a:p>
        </p:txBody>
      </p:sp>
      <p:cxnSp>
        <p:nvCxnSpPr>
          <p:cNvPr id="25" name="Conector reto 24">
            <a:extLst>
              <a:ext uri="{FF2B5EF4-FFF2-40B4-BE49-F238E27FC236}">
                <a16:creationId xmlns:a16="http://schemas.microsoft.com/office/drawing/2014/main" id="{C6F5D155-7AE8-4277-A61A-2EF88BF2DADC}"/>
              </a:ext>
            </a:extLst>
          </p:cNvPr>
          <p:cNvCxnSpPr/>
          <p:nvPr/>
        </p:nvCxnSpPr>
        <p:spPr>
          <a:xfrm>
            <a:off x="725988" y="1185955"/>
            <a:ext cx="9855200" cy="0"/>
          </a:xfrm>
          <a:prstGeom prst="line">
            <a:avLst/>
          </a:prstGeom>
          <a:ln>
            <a:solidFill>
              <a:srgbClr val="0B5892"/>
            </a:solidFill>
          </a:ln>
        </p:spPr>
        <p:style>
          <a:lnRef idx="1">
            <a:schemeClr val="accent1"/>
          </a:lnRef>
          <a:fillRef idx="0">
            <a:schemeClr val="accent1"/>
          </a:fillRef>
          <a:effectRef idx="0">
            <a:schemeClr val="accent1"/>
          </a:effectRef>
          <a:fontRef idx="minor">
            <a:schemeClr val="tx1"/>
          </a:fontRef>
        </p:style>
      </p:cxnSp>
      <p:sp>
        <p:nvSpPr>
          <p:cNvPr id="36" name="CaixaDeTexto 35">
            <a:extLst>
              <a:ext uri="{FF2B5EF4-FFF2-40B4-BE49-F238E27FC236}">
                <a16:creationId xmlns:a16="http://schemas.microsoft.com/office/drawing/2014/main" id="{9E459499-C8E1-4C45-B0E3-1FB3AEB91E77}"/>
              </a:ext>
            </a:extLst>
          </p:cNvPr>
          <p:cNvSpPr txBox="1"/>
          <p:nvPr/>
        </p:nvSpPr>
        <p:spPr>
          <a:xfrm>
            <a:off x="3657247" y="1656580"/>
            <a:ext cx="3992681" cy="307777"/>
          </a:xfrm>
          <a:prstGeom prst="rect">
            <a:avLst/>
          </a:prstGeom>
          <a:noFill/>
        </p:spPr>
        <p:txBody>
          <a:bodyPr wrap="square" rtlCol="0">
            <a:spAutoFit/>
          </a:bodyPr>
          <a:lstStyle/>
          <a:p>
            <a:pPr algn="ctr"/>
            <a:r>
              <a:rPr lang="pt-BR" sz="1400" b="1" dirty="0">
                <a:solidFill>
                  <a:schemeClr val="tx1">
                    <a:lumMod val="50000"/>
                    <a:lumOff val="50000"/>
                  </a:schemeClr>
                </a:solidFill>
                <a:latin typeface="Arial" panose="020B0604020202020204" pitchFamily="34" charset="0"/>
                <a:cs typeface="Arial" panose="020B0604020202020204" pitchFamily="34" charset="0"/>
              </a:rPr>
              <a:t>Pontos Ofensores </a:t>
            </a:r>
          </a:p>
        </p:txBody>
      </p:sp>
      <p:sp>
        <p:nvSpPr>
          <p:cNvPr id="28" name="Título 1">
            <a:extLst>
              <a:ext uri="{FF2B5EF4-FFF2-40B4-BE49-F238E27FC236}">
                <a16:creationId xmlns:a16="http://schemas.microsoft.com/office/drawing/2014/main" id="{8E848A70-78B6-4676-BE9E-FB839EE34908}"/>
              </a:ext>
            </a:extLst>
          </p:cNvPr>
          <p:cNvSpPr txBox="1">
            <a:spLocks/>
          </p:cNvSpPr>
          <p:nvPr/>
        </p:nvSpPr>
        <p:spPr>
          <a:xfrm>
            <a:off x="5946417" y="431573"/>
            <a:ext cx="5811865"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pt-BR" sz="1600" spc="600" dirty="0">
                <a:solidFill>
                  <a:srgbClr val="0B5892"/>
                </a:solidFill>
                <a:latin typeface="Arial" panose="020B0604020202020204" pitchFamily="34" charset="0"/>
                <a:cs typeface="Arial" panose="020B0604020202020204" pitchFamily="34" charset="0"/>
              </a:rPr>
              <a:t>CRC</a:t>
            </a:r>
          </a:p>
        </p:txBody>
      </p:sp>
      <p:graphicFrame>
        <p:nvGraphicFramePr>
          <p:cNvPr id="30" name="Gráfico 29">
            <a:extLst>
              <a:ext uri="{FF2B5EF4-FFF2-40B4-BE49-F238E27FC236}">
                <a16:creationId xmlns:a16="http://schemas.microsoft.com/office/drawing/2014/main" id="{CB312C1C-45D2-4D9E-96D8-07EE7E0860A4}"/>
              </a:ext>
            </a:extLst>
          </p:cNvPr>
          <p:cNvGraphicFramePr/>
          <p:nvPr>
            <p:extLst>
              <p:ext uri="{D42A27DB-BD31-4B8C-83A1-F6EECF244321}">
                <p14:modId xmlns:p14="http://schemas.microsoft.com/office/powerpoint/2010/main" val="1474836901"/>
              </p:ext>
            </p:extLst>
          </p:nvPr>
        </p:nvGraphicFramePr>
        <p:xfrm>
          <a:off x="1053660" y="2121859"/>
          <a:ext cx="10147789" cy="3699383"/>
        </p:xfrm>
        <a:graphic>
          <a:graphicData uri="http://schemas.openxmlformats.org/drawingml/2006/chart">
            <c:chart xmlns:c="http://schemas.openxmlformats.org/drawingml/2006/chart" xmlns:r="http://schemas.openxmlformats.org/officeDocument/2006/relationships" r:id="rId4"/>
          </a:graphicData>
        </a:graphic>
      </p:graphicFrame>
      <p:sp>
        <p:nvSpPr>
          <p:cNvPr id="2" name="CaixaDeTexto 1">
            <a:extLst>
              <a:ext uri="{FF2B5EF4-FFF2-40B4-BE49-F238E27FC236}">
                <a16:creationId xmlns:a16="http://schemas.microsoft.com/office/drawing/2014/main" id="{CE575DDB-7AD8-18C3-5F32-658CD5A43CCB}"/>
              </a:ext>
            </a:extLst>
          </p:cNvPr>
          <p:cNvSpPr txBox="1"/>
          <p:nvPr/>
        </p:nvSpPr>
        <p:spPr>
          <a:xfrm>
            <a:off x="11005666" y="1898170"/>
            <a:ext cx="994913" cy="3273845"/>
          </a:xfrm>
          <a:prstGeom prst="rect">
            <a:avLst/>
          </a:prstGeom>
          <a:noFill/>
        </p:spPr>
        <p:txBody>
          <a:bodyPr wrap="square" rtlCol="0">
            <a:spAutoFit/>
          </a:bodyPr>
          <a:lstStyle/>
          <a:p>
            <a:pPr>
              <a:lnSpc>
                <a:spcPct val="200000"/>
              </a:lnSpc>
            </a:pPr>
            <a:r>
              <a:rPr lang="pt-BR" sz="1050" dirty="0">
                <a:solidFill>
                  <a:schemeClr val="tx1">
                    <a:lumMod val="75000"/>
                    <a:lumOff val="25000"/>
                  </a:schemeClr>
                </a:solidFill>
                <a:latin typeface="Arial" panose="020B0604020202020204" pitchFamily="34" charset="0"/>
                <a:cs typeface="Arial" panose="020B0604020202020204" pitchFamily="34" charset="0"/>
              </a:rPr>
              <a:t>3,7%</a:t>
            </a:r>
          </a:p>
          <a:p>
            <a:pPr>
              <a:lnSpc>
                <a:spcPct val="200000"/>
              </a:lnSpc>
            </a:pPr>
            <a:r>
              <a:rPr lang="pt-BR" sz="1050" dirty="0">
                <a:solidFill>
                  <a:schemeClr val="tx1">
                    <a:lumMod val="75000"/>
                    <a:lumOff val="25000"/>
                  </a:schemeClr>
                </a:solidFill>
                <a:latin typeface="Arial" panose="020B0604020202020204" pitchFamily="34" charset="0"/>
                <a:cs typeface="Arial" panose="020B0604020202020204" pitchFamily="34" charset="0"/>
              </a:rPr>
              <a:t>4,9%</a:t>
            </a:r>
          </a:p>
          <a:p>
            <a:pPr>
              <a:lnSpc>
                <a:spcPct val="200000"/>
              </a:lnSpc>
            </a:pPr>
            <a:r>
              <a:rPr lang="pt-BR" sz="1050" dirty="0">
                <a:solidFill>
                  <a:schemeClr val="tx1">
                    <a:lumMod val="75000"/>
                    <a:lumOff val="25000"/>
                  </a:schemeClr>
                </a:solidFill>
                <a:latin typeface="Arial" panose="020B0604020202020204" pitchFamily="34" charset="0"/>
                <a:cs typeface="Arial" panose="020B0604020202020204" pitchFamily="34" charset="0"/>
              </a:rPr>
              <a:t>5,2%</a:t>
            </a:r>
          </a:p>
          <a:p>
            <a:pPr>
              <a:lnSpc>
                <a:spcPct val="200000"/>
              </a:lnSpc>
            </a:pPr>
            <a:r>
              <a:rPr lang="pt-BR" sz="1050" dirty="0">
                <a:solidFill>
                  <a:schemeClr val="tx1">
                    <a:lumMod val="75000"/>
                    <a:lumOff val="25000"/>
                  </a:schemeClr>
                </a:solidFill>
                <a:latin typeface="Arial" panose="020B0604020202020204" pitchFamily="34" charset="0"/>
                <a:cs typeface="Arial" panose="020B0604020202020204" pitchFamily="34" charset="0"/>
              </a:rPr>
              <a:t>6,0%</a:t>
            </a:r>
          </a:p>
          <a:p>
            <a:pPr>
              <a:lnSpc>
                <a:spcPct val="200000"/>
              </a:lnSpc>
            </a:pPr>
            <a:r>
              <a:rPr lang="pt-BR" sz="1050" dirty="0">
                <a:solidFill>
                  <a:schemeClr val="tx1">
                    <a:lumMod val="75000"/>
                    <a:lumOff val="25000"/>
                  </a:schemeClr>
                </a:solidFill>
                <a:latin typeface="Arial" panose="020B0604020202020204" pitchFamily="34" charset="0"/>
                <a:cs typeface="Arial" panose="020B0604020202020204" pitchFamily="34" charset="0"/>
              </a:rPr>
              <a:t>7,7%</a:t>
            </a:r>
          </a:p>
          <a:p>
            <a:pPr>
              <a:lnSpc>
                <a:spcPct val="200000"/>
              </a:lnSpc>
            </a:pPr>
            <a:r>
              <a:rPr lang="pt-BR" sz="1050" dirty="0">
                <a:solidFill>
                  <a:schemeClr val="tx1">
                    <a:lumMod val="75000"/>
                    <a:lumOff val="25000"/>
                  </a:schemeClr>
                </a:solidFill>
                <a:latin typeface="Arial" panose="020B0604020202020204" pitchFamily="34" charset="0"/>
                <a:cs typeface="Arial" panose="020B0604020202020204" pitchFamily="34" charset="0"/>
              </a:rPr>
              <a:t>8,4%</a:t>
            </a:r>
          </a:p>
          <a:p>
            <a:pPr>
              <a:lnSpc>
                <a:spcPct val="200000"/>
              </a:lnSpc>
            </a:pPr>
            <a:r>
              <a:rPr lang="pt-BR" sz="1050" dirty="0">
                <a:solidFill>
                  <a:schemeClr val="tx1">
                    <a:lumMod val="75000"/>
                    <a:lumOff val="25000"/>
                  </a:schemeClr>
                </a:solidFill>
                <a:latin typeface="Arial" panose="020B0604020202020204" pitchFamily="34" charset="0"/>
                <a:cs typeface="Arial" panose="020B0604020202020204" pitchFamily="34" charset="0"/>
              </a:rPr>
              <a:t>8,8%</a:t>
            </a:r>
          </a:p>
          <a:p>
            <a:pPr>
              <a:lnSpc>
                <a:spcPct val="200000"/>
              </a:lnSpc>
            </a:pPr>
            <a:r>
              <a:rPr lang="pt-BR" sz="1050" dirty="0">
                <a:solidFill>
                  <a:schemeClr val="tx1">
                    <a:lumMod val="75000"/>
                    <a:lumOff val="25000"/>
                  </a:schemeClr>
                </a:solidFill>
                <a:latin typeface="Arial" panose="020B0604020202020204" pitchFamily="34" charset="0"/>
                <a:cs typeface="Arial" panose="020B0604020202020204" pitchFamily="34" charset="0"/>
              </a:rPr>
              <a:t>9,8%</a:t>
            </a:r>
          </a:p>
          <a:p>
            <a:pPr>
              <a:lnSpc>
                <a:spcPct val="200000"/>
              </a:lnSpc>
            </a:pPr>
            <a:r>
              <a:rPr lang="pt-BR" sz="1050" dirty="0">
                <a:solidFill>
                  <a:schemeClr val="tx1">
                    <a:lumMod val="75000"/>
                    <a:lumOff val="25000"/>
                  </a:schemeClr>
                </a:solidFill>
                <a:latin typeface="Arial" panose="020B0604020202020204" pitchFamily="34" charset="0"/>
                <a:cs typeface="Arial" panose="020B0604020202020204" pitchFamily="34" charset="0"/>
              </a:rPr>
              <a:t>10,5%</a:t>
            </a:r>
          </a:p>
          <a:p>
            <a:pPr>
              <a:lnSpc>
                <a:spcPct val="200000"/>
              </a:lnSpc>
            </a:pPr>
            <a:r>
              <a:rPr lang="pt-BR" sz="1050" dirty="0">
                <a:solidFill>
                  <a:schemeClr val="tx1">
                    <a:lumMod val="75000"/>
                    <a:lumOff val="25000"/>
                  </a:schemeClr>
                </a:solidFill>
                <a:latin typeface="Arial" panose="020B0604020202020204" pitchFamily="34" charset="0"/>
                <a:cs typeface="Arial" panose="020B0604020202020204" pitchFamily="34" charset="0"/>
              </a:rPr>
              <a:t>17,5%</a:t>
            </a:r>
          </a:p>
        </p:txBody>
      </p:sp>
      <p:sp>
        <p:nvSpPr>
          <p:cNvPr id="3" name="Título 1">
            <a:extLst>
              <a:ext uri="{FF2B5EF4-FFF2-40B4-BE49-F238E27FC236}">
                <a16:creationId xmlns:a16="http://schemas.microsoft.com/office/drawing/2014/main" id="{9C13FCA3-2258-CC24-3165-54B240D65C73}"/>
              </a:ext>
            </a:extLst>
          </p:cNvPr>
          <p:cNvSpPr txBox="1">
            <a:spLocks/>
          </p:cNvSpPr>
          <p:nvPr/>
        </p:nvSpPr>
        <p:spPr>
          <a:xfrm>
            <a:off x="8251372" y="5948511"/>
            <a:ext cx="3594148" cy="37779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pt-BR" sz="1600" spc="600" dirty="0">
                <a:solidFill>
                  <a:srgbClr val="9E2289"/>
                </a:solidFill>
                <a:latin typeface="Arial" panose="020B0604020202020204" pitchFamily="34" charset="0"/>
                <a:cs typeface="Arial" panose="020B0604020202020204" pitchFamily="34" charset="0"/>
              </a:rPr>
              <a:t> </a:t>
            </a:r>
            <a:r>
              <a:rPr lang="pt-BR" sz="1000" spc="300" dirty="0">
                <a:solidFill>
                  <a:srgbClr val="002060"/>
                </a:solidFill>
                <a:latin typeface="Arial" panose="020B0604020202020204" pitchFamily="34" charset="0"/>
                <a:cs typeface="Arial" panose="020B0604020202020204" pitchFamily="34" charset="0"/>
              </a:rPr>
              <a:t>Total Apontamentos:754</a:t>
            </a:r>
          </a:p>
        </p:txBody>
      </p:sp>
    </p:spTree>
    <p:extLst>
      <p:ext uri="{BB962C8B-B14F-4D97-AF65-F5344CB8AC3E}">
        <p14:creationId xmlns:p14="http://schemas.microsoft.com/office/powerpoint/2010/main" val="12641551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F3766-F3CE-6D3E-F04D-3200C910F5E8}"/>
            </a:ext>
          </a:extLst>
        </p:cNvPr>
        <p:cNvGrpSpPr/>
        <p:nvPr/>
      </p:nvGrpSpPr>
      <p:grpSpPr>
        <a:xfrm>
          <a:off x="0" y="0"/>
          <a:ext cx="0" cy="0"/>
          <a:chOff x="0" y="0"/>
          <a:chExt cx="0" cy="0"/>
        </a:xfrm>
      </p:grpSpPr>
      <p:sp>
        <p:nvSpPr>
          <p:cNvPr id="10" name="Retângulo: Cantos Arredondados 9">
            <a:extLst>
              <a:ext uri="{FF2B5EF4-FFF2-40B4-BE49-F238E27FC236}">
                <a16:creationId xmlns:a16="http://schemas.microsoft.com/office/drawing/2014/main" id="{60582586-E52D-3EBC-A34B-81BD855A3C5A}"/>
              </a:ext>
            </a:extLst>
          </p:cNvPr>
          <p:cNvSpPr/>
          <p:nvPr/>
        </p:nvSpPr>
        <p:spPr>
          <a:xfrm>
            <a:off x="3691452" y="4366224"/>
            <a:ext cx="5154836" cy="2107017"/>
          </a:xfrm>
          <a:prstGeom prst="roundRect">
            <a:avLst/>
          </a:prstGeom>
          <a:solidFill>
            <a:schemeClr val="bg1">
              <a:lumMod val="95000"/>
            </a:schemeClr>
          </a:solidFill>
          <a:ln>
            <a:noFill/>
          </a:ln>
          <a:effectLst>
            <a:outerShdw dist="101600" dir="10740000" algn="t" rotWithShape="0">
              <a:srgbClr val="0B5892"/>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 name="Retângulo: Cantos Arredondados 8">
            <a:extLst>
              <a:ext uri="{FF2B5EF4-FFF2-40B4-BE49-F238E27FC236}">
                <a16:creationId xmlns:a16="http://schemas.microsoft.com/office/drawing/2014/main" id="{3CF4EE63-28CB-F37A-27D0-8E820E747A54}"/>
              </a:ext>
            </a:extLst>
          </p:cNvPr>
          <p:cNvSpPr/>
          <p:nvPr/>
        </p:nvSpPr>
        <p:spPr>
          <a:xfrm>
            <a:off x="6520598" y="1775631"/>
            <a:ext cx="4951932" cy="2355960"/>
          </a:xfrm>
          <a:prstGeom prst="roundRect">
            <a:avLst/>
          </a:prstGeom>
          <a:solidFill>
            <a:schemeClr val="bg1">
              <a:lumMod val="95000"/>
            </a:schemeClr>
          </a:solidFill>
          <a:ln>
            <a:noFill/>
          </a:ln>
          <a:effectLst>
            <a:outerShdw dist="101600" dir="10740000" algn="t" rotWithShape="0">
              <a:srgbClr val="0B5892"/>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7" name="Retângulo: Cantos Arredondados 6">
            <a:extLst>
              <a:ext uri="{FF2B5EF4-FFF2-40B4-BE49-F238E27FC236}">
                <a16:creationId xmlns:a16="http://schemas.microsoft.com/office/drawing/2014/main" id="{974E5B96-9A38-8739-3EA8-744F47D973B4}"/>
              </a:ext>
            </a:extLst>
          </p:cNvPr>
          <p:cNvSpPr/>
          <p:nvPr/>
        </p:nvSpPr>
        <p:spPr>
          <a:xfrm>
            <a:off x="1025019" y="1763267"/>
            <a:ext cx="4402601" cy="2318731"/>
          </a:xfrm>
          <a:prstGeom prst="roundRect">
            <a:avLst/>
          </a:prstGeom>
          <a:solidFill>
            <a:schemeClr val="bg1">
              <a:lumMod val="95000"/>
            </a:schemeClr>
          </a:solidFill>
          <a:ln>
            <a:noFill/>
          </a:ln>
          <a:effectLst>
            <a:outerShdw dist="101600" dir="10740000" algn="t" rotWithShape="0">
              <a:srgbClr val="0B5892"/>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39" name="Imagem 38">
            <a:extLst>
              <a:ext uri="{FF2B5EF4-FFF2-40B4-BE49-F238E27FC236}">
                <a16:creationId xmlns:a16="http://schemas.microsoft.com/office/drawing/2014/main" id="{1A6454FB-24FD-2E4B-723B-FD77B378F5B8}"/>
              </a:ext>
            </a:extLst>
          </p:cNvPr>
          <p:cNvPicPr>
            <a:picLocks noChangeAspect="1"/>
          </p:cNvPicPr>
          <p:nvPr/>
        </p:nvPicPr>
        <p:blipFill>
          <a:blip r:embed="rId2">
            <a:alphaModFix amt="4000"/>
          </a:blip>
          <a:stretch>
            <a:fillRect/>
          </a:stretch>
        </p:blipFill>
        <p:spPr>
          <a:xfrm>
            <a:off x="9157251" y="4596063"/>
            <a:ext cx="5030445" cy="5148116"/>
          </a:xfrm>
          <a:prstGeom prst="rect">
            <a:avLst/>
          </a:prstGeom>
          <a:effectLst/>
        </p:spPr>
      </p:pic>
      <p:pic>
        <p:nvPicPr>
          <p:cNvPr id="38" name="Imagem 37">
            <a:extLst>
              <a:ext uri="{FF2B5EF4-FFF2-40B4-BE49-F238E27FC236}">
                <a16:creationId xmlns:a16="http://schemas.microsoft.com/office/drawing/2014/main" id="{97C9A21C-336F-7394-F848-0FE13A0AED59}"/>
              </a:ext>
            </a:extLst>
          </p:cNvPr>
          <p:cNvPicPr>
            <a:picLocks noChangeAspect="1"/>
          </p:cNvPicPr>
          <p:nvPr/>
        </p:nvPicPr>
        <p:blipFill>
          <a:blip r:embed="rId2">
            <a:alphaModFix amt="4000"/>
          </a:blip>
          <a:stretch>
            <a:fillRect/>
          </a:stretch>
        </p:blipFill>
        <p:spPr>
          <a:xfrm>
            <a:off x="-2128370" y="-2021305"/>
            <a:ext cx="5030445" cy="5148116"/>
          </a:xfrm>
          <a:prstGeom prst="rect">
            <a:avLst/>
          </a:prstGeom>
          <a:effectLst/>
        </p:spPr>
      </p:pic>
      <p:grpSp>
        <p:nvGrpSpPr>
          <p:cNvPr id="20" name="Google Shape;1964;p50">
            <a:extLst>
              <a:ext uri="{FF2B5EF4-FFF2-40B4-BE49-F238E27FC236}">
                <a16:creationId xmlns:a16="http://schemas.microsoft.com/office/drawing/2014/main" id="{5880D6B3-B66D-5AAC-0F86-BA75A98876DA}"/>
              </a:ext>
            </a:extLst>
          </p:cNvPr>
          <p:cNvGrpSpPr/>
          <p:nvPr/>
        </p:nvGrpSpPr>
        <p:grpSpPr>
          <a:xfrm flipH="1">
            <a:off x="742950" y="537670"/>
            <a:ext cx="603644" cy="576232"/>
            <a:chOff x="4126815" y="2760704"/>
            <a:chExt cx="380393" cy="363118"/>
          </a:xfrm>
          <a:solidFill>
            <a:srgbClr val="0B5892"/>
          </a:solidFill>
        </p:grpSpPr>
        <p:sp>
          <p:nvSpPr>
            <p:cNvPr id="21" name="Google Shape;1965;p50">
              <a:extLst>
                <a:ext uri="{FF2B5EF4-FFF2-40B4-BE49-F238E27FC236}">
                  <a16:creationId xmlns:a16="http://schemas.microsoft.com/office/drawing/2014/main" id="{76A91229-B747-C9F6-0355-50CBFAA619B9}"/>
                </a:ext>
              </a:extLst>
            </p:cNvPr>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966;p50">
              <a:extLst>
                <a:ext uri="{FF2B5EF4-FFF2-40B4-BE49-F238E27FC236}">
                  <a16:creationId xmlns:a16="http://schemas.microsoft.com/office/drawing/2014/main" id="{33BA14A9-C837-A198-3D5E-8EF3C258EB78}"/>
                </a:ext>
              </a:extLst>
            </p:cNvPr>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967;p50">
              <a:extLst>
                <a:ext uri="{FF2B5EF4-FFF2-40B4-BE49-F238E27FC236}">
                  <a16:creationId xmlns:a16="http://schemas.microsoft.com/office/drawing/2014/main" id="{2A35C10D-D2B0-73A5-6C64-9293FDBD8FD6}"/>
                </a:ext>
              </a:extLst>
            </p:cNvPr>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968;p50">
              <a:extLst>
                <a:ext uri="{FF2B5EF4-FFF2-40B4-BE49-F238E27FC236}">
                  <a16:creationId xmlns:a16="http://schemas.microsoft.com/office/drawing/2014/main" id="{3AF9D157-9576-B501-62C7-DBA6F006E408}"/>
                </a:ext>
              </a:extLst>
            </p:cNvPr>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Retângulo 28">
            <a:extLst>
              <a:ext uri="{FF2B5EF4-FFF2-40B4-BE49-F238E27FC236}">
                <a16:creationId xmlns:a16="http://schemas.microsoft.com/office/drawing/2014/main" id="{A0F4E4D9-75CB-D1AF-FD88-7D3CFC3CF762}"/>
              </a:ext>
            </a:extLst>
          </p:cNvPr>
          <p:cNvSpPr/>
          <p:nvPr/>
        </p:nvSpPr>
        <p:spPr>
          <a:xfrm>
            <a:off x="-449179" y="6707874"/>
            <a:ext cx="14054469" cy="334610"/>
          </a:xfrm>
          <a:prstGeom prst="rect">
            <a:avLst/>
          </a:prstGeom>
          <a:solidFill>
            <a:srgbClr val="0B58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8" name="Imagem 7">
            <a:extLst>
              <a:ext uri="{FF2B5EF4-FFF2-40B4-BE49-F238E27FC236}">
                <a16:creationId xmlns:a16="http://schemas.microsoft.com/office/drawing/2014/main" id="{78627131-A0B0-38FC-2B8F-D2F33B60FAA9}"/>
              </a:ext>
            </a:extLst>
          </p:cNvPr>
          <p:cNvPicPr>
            <a:picLocks noChangeAspect="1"/>
          </p:cNvPicPr>
          <p:nvPr/>
        </p:nvPicPr>
        <p:blipFill>
          <a:blip r:embed="rId3"/>
          <a:stretch>
            <a:fillRect/>
          </a:stretch>
        </p:blipFill>
        <p:spPr>
          <a:xfrm>
            <a:off x="-124691" y="-20995"/>
            <a:ext cx="12316692" cy="88042"/>
          </a:xfrm>
          <a:prstGeom prst="rect">
            <a:avLst/>
          </a:prstGeom>
        </p:spPr>
      </p:pic>
      <p:sp>
        <p:nvSpPr>
          <p:cNvPr id="18" name="Título 1">
            <a:extLst>
              <a:ext uri="{FF2B5EF4-FFF2-40B4-BE49-F238E27FC236}">
                <a16:creationId xmlns:a16="http://schemas.microsoft.com/office/drawing/2014/main" id="{809E7783-7539-48CC-428C-45A9675A5229}"/>
              </a:ext>
            </a:extLst>
          </p:cNvPr>
          <p:cNvSpPr txBox="1">
            <a:spLocks/>
          </p:cNvSpPr>
          <p:nvPr/>
        </p:nvSpPr>
        <p:spPr>
          <a:xfrm>
            <a:off x="1366068" y="448718"/>
            <a:ext cx="6453099"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spc="600" dirty="0">
                <a:solidFill>
                  <a:srgbClr val="0B5892"/>
                </a:solidFill>
                <a:latin typeface="Arial" panose="020B0604020202020204" pitchFamily="34" charset="0"/>
                <a:cs typeface="Arial" panose="020B0604020202020204" pitchFamily="34" charset="0"/>
              </a:rPr>
              <a:t>RANKING DE DESEMPENHO</a:t>
            </a:r>
          </a:p>
        </p:txBody>
      </p:sp>
      <p:sp>
        <p:nvSpPr>
          <p:cNvPr id="19" name="Título 1">
            <a:extLst>
              <a:ext uri="{FF2B5EF4-FFF2-40B4-BE49-F238E27FC236}">
                <a16:creationId xmlns:a16="http://schemas.microsoft.com/office/drawing/2014/main" id="{8CB5DFD7-2BD3-118F-473A-556455388561}"/>
              </a:ext>
            </a:extLst>
          </p:cNvPr>
          <p:cNvSpPr txBox="1">
            <a:spLocks/>
          </p:cNvSpPr>
          <p:nvPr/>
        </p:nvSpPr>
        <p:spPr>
          <a:xfrm>
            <a:off x="1400358" y="716411"/>
            <a:ext cx="6950456"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600" spc="300" dirty="0">
                <a:solidFill>
                  <a:srgbClr val="0B5892"/>
                </a:solidFill>
                <a:latin typeface="Arial" panose="020B0604020202020204" pitchFamily="34" charset="0"/>
                <a:cs typeface="Arial" panose="020B0604020202020204" pitchFamily="34" charset="0"/>
              </a:rPr>
              <a:t>Quantidade total de monitorias realizadas</a:t>
            </a:r>
          </a:p>
        </p:txBody>
      </p:sp>
      <p:cxnSp>
        <p:nvCxnSpPr>
          <p:cNvPr id="25" name="Conector reto 24">
            <a:extLst>
              <a:ext uri="{FF2B5EF4-FFF2-40B4-BE49-F238E27FC236}">
                <a16:creationId xmlns:a16="http://schemas.microsoft.com/office/drawing/2014/main" id="{8B3AFC18-1491-1C79-F5E3-B2D5F891F65E}"/>
              </a:ext>
            </a:extLst>
          </p:cNvPr>
          <p:cNvCxnSpPr/>
          <p:nvPr/>
        </p:nvCxnSpPr>
        <p:spPr>
          <a:xfrm>
            <a:off x="725988" y="1185955"/>
            <a:ext cx="9855200" cy="0"/>
          </a:xfrm>
          <a:prstGeom prst="line">
            <a:avLst/>
          </a:prstGeom>
          <a:ln>
            <a:solidFill>
              <a:srgbClr val="0B5892"/>
            </a:solidFill>
          </a:ln>
        </p:spPr>
        <p:style>
          <a:lnRef idx="1">
            <a:schemeClr val="accent1"/>
          </a:lnRef>
          <a:fillRef idx="0">
            <a:schemeClr val="accent1"/>
          </a:fillRef>
          <a:effectRef idx="0">
            <a:schemeClr val="accent1"/>
          </a:effectRef>
          <a:fontRef idx="minor">
            <a:schemeClr val="tx1"/>
          </a:fontRef>
        </p:style>
      </p:cxnSp>
      <p:sp>
        <p:nvSpPr>
          <p:cNvPr id="72" name="CaixaDeTexto 71">
            <a:extLst>
              <a:ext uri="{FF2B5EF4-FFF2-40B4-BE49-F238E27FC236}">
                <a16:creationId xmlns:a16="http://schemas.microsoft.com/office/drawing/2014/main" id="{0B191008-BD41-7510-4C2D-B84187AF0C2E}"/>
              </a:ext>
            </a:extLst>
          </p:cNvPr>
          <p:cNvSpPr txBox="1"/>
          <p:nvPr/>
        </p:nvSpPr>
        <p:spPr>
          <a:xfrm>
            <a:off x="7078155" y="1620502"/>
            <a:ext cx="3287486" cy="307777"/>
          </a:xfrm>
          <a:prstGeom prst="rect">
            <a:avLst/>
          </a:prstGeom>
          <a:solidFill>
            <a:schemeClr val="accent5">
              <a:lumMod val="40000"/>
              <a:lumOff val="60000"/>
            </a:schemeClr>
          </a:solidFill>
        </p:spPr>
        <p:txBody>
          <a:bodyPr wrap="square" rtlCol="0">
            <a:spAutoFit/>
          </a:bodyPr>
          <a:lstStyle/>
          <a:p>
            <a:pPr algn="ctr"/>
            <a:r>
              <a:rPr lang="pt-BR" sz="1400" b="1" dirty="0">
                <a:solidFill>
                  <a:srgbClr val="0B5892"/>
                </a:solidFill>
                <a:latin typeface="Arial" panose="020B0604020202020204" pitchFamily="34" charset="0"/>
                <a:cs typeface="Arial" panose="020B0604020202020204" pitchFamily="34" charset="0"/>
              </a:rPr>
              <a:t>Domínio do Tema: </a:t>
            </a:r>
          </a:p>
        </p:txBody>
      </p:sp>
      <p:sp>
        <p:nvSpPr>
          <p:cNvPr id="2" name="CaixaDeTexto 1">
            <a:extLst>
              <a:ext uri="{FF2B5EF4-FFF2-40B4-BE49-F238E27FC236}">
                <a16:creationId xmlns:a16="http://schemas.microsoft.com/office/drawing/2014/main" id="{EC00894D-D828-E3A2-2488-8B3F2EF24887}"/>
              </a:ext>
            </a:extLst>
          </p:cNvPr>
          <p:cNvSpPr txBox="1"/>
          <p:nvPr/>
        </p:nvSpPr>
        <p:spPr>
          <a:xfrm>
            <a:off x="1431436" y="1336969"/>
            <a:ext cx="6064238" cy="307777"/>
          </a:xfrm>
          <a:prstGeom prst="rect">
            <a:avLst/>
          </a:prstGeom>
          <a:noFill/>
        </p:spPr>
        <p:txBody>
          <a:bodyPr wrap="square" rtlCol="0">
            <a:spAutoFit/>
          </a:bodyPr>
          <a:lstStyle/>
          <a:p>
            <a:r>
              <a:rPr lang="pt-BR" sz="1400" b="1" dirty="0">
                <a:solidFill>
                  <a:schemeClr val="tx1">
                    <a:lumMod val="50000"/>
                    <a:lumOff val="50000"/>
                  </a:schemeClr>
                </a:solidFill>
                <a:latin typeface="Arial" panose="020B0604020202020204" pitchFamily="34" charset="0"/>
                <a:cs typeface="Arial" panose="020B0604020202020204" pitchFamily="34" charset="0"/>
              </a:rPr>
              <a:t>Análises dos Pontos Ofensores</a:t>
            </a:r>
          </a:p>
        </p:txBody>
      </p:sp>
      <p:sp>
        <p:nvSpPr>
          <p:cNvPr id="4" name="CaixaDeTexto 3">
            <a:extLst>
              <a:ext uri="{FF2B5EF4-FFF2-40B4-BE49-F238E27FC236}">
                <a16:creationId xmlns:a16="http://schemas.microsoft.com/office/drawing/2014/main" id="{6D0F4ED5-C081-5EF8-AC80-C56FD2305FDE}"/>
              </a:ext>
            </a:extLst>
          </p:cNvPr>
          <p:cNvSpPr txBox="1"/>
          <p:nvPr/>
        </p:nvSpPr>
        <p:spPr>
          <a:xfrm>
            <a:off x="1346594" y="1960729"/>
            <a:ext cx="3875783" cy="1938992"/>
          </a:xfrm>
          <a:prstGeom prst="rect">
            <a:avLst/>
          </a:prstGeom>
          <a:noFill/>
        </p:spPr>
        <p:txBody>
          <a:bodyPr wrap="square" rtlCol="0">
            <a:spAutoFit/>
          </a:bodyPr>
          <a:lstStyle/>
          <a:p>
            <a:pPr algn="just"/>
            <a:r>
              <a:rPr lang="pt-BR" sz="1200" b="1" dirty="0">
                <a:solidFill>
                  <a:schemeClr val="tx1">
                    <a:lumMod val="65000"/>
                    <a:lumOff val="35000"/>
                  </a:schemeClr>
                </a:solidFill>
                <a:latin typeface="Arial" panose="020B0604020202020204" pitchFamily="34" charset="0"/>
                <a:cs typeface="Arial" panose="020B0604020202020204" pitchFamily="34" charset="0"/>
              </a:rPr>
              <a:t>Serasa Limpa Nome</a:t>
            </a:r>
          </a:p>
          <a:p>
            <a:pPr algn="just"/>
            <a:r>
              <a:rPr lang="pt-BR" sz="1200" dirty="0">
                <a:solidFill>
                  <a:schemeClr val="tx1">
                    <a:lumMod val="65000"/>
                    <a:lumOff val="35000"/>
                  </a:schemeClr>
                </a:solidFill>
                <a:latin typeface="Arial" panose="020B0604020202020204" pitchFamily="34" charset="0"/>
                <a:cs typeface="Arial" panose="020B0604020202020204" pitchFamily="34" charset="0"/>
              </a:rPr>
              <a:t>Os erros ocorreram principalmente entre:</a:t>
            </a:r>
          </a:p>
          <a:p>
            <a:pPr marL="171450" indent="-171450" algn="just">
              <a:buFont typeface="Arial" panose="020B0604020202020204" pitchFamily="34" charset="0"/>
              <a:buChar char="•"/>
            </a:pPr>
            <a:r>
              <a:rPr lang="pt-BR" sz="1200" dirty="0">
                <a:solidFill>
                  <a:schemeClr val="tx1">
                    <a:lumMod val="65000"/>
                    <a:lumOff val="35000"/>
                  </a:schemeClr>
                </a:solidFill>
                <a:latin typeface="Arial" panose="020B0604020202020204" pitchFamily="34" charset="0"/>
                <a:cs typeface="Arial" panose="020B0604020202020204" pitchFamily="34" charset="0"/>
              </a:rPr>
              <a:t>Como Funciona × Solicita Boleto;</a:t>
            </a:r>
          </a:p>
          <a:p>
            <a:pPr algn="just"/>
            <a:endParaRPr lang="pt-BR" sz="1200" dirty="0">
              <a:solidFill>
                <a:schemeClr val="tx1">
                  <a:lumMod val="65000"/>
                  <a:lumOff val="35000"/>
                </a:schemeClr>
              </a:solidFill>
              <a:latin typeface="Arial" panose="020B0604020202020204" pitchFamily="34" charset="0"/>
              <a:cs typeface="Arial" panose="020B0604020202020204" pitchFamily="34" charset="0"/>
            </a:endParaRPr>
          </a:p>
          <a:p>
            <a:pPr algn="just"/>
            <a:r>
              <a:rPr lang="pt-BR" sz="1200" b="1" dirty="0">
                <a:solidFill>
                  <a:schemeClr val="tx1">
                    <a:lumMod val="65000"/>
                    <a:lumOff val="35000"/>
                  </a:schemeClr>
                </a:solidFill>
                <a:latin typeface="Arial" panose="020B0604020202020204" pitchFamily="34" charset="0"/>
                <a:cs typeface="Arial" panose="020B0604020202020204" pitchFamily="34" charset="0"/>
              </a:rPr>
              <a:t>Negativação</a:t>
            </a:r>
          </a:p>
          <a:p>
            <a:pPr marL="171450" indent="-171450" algn="just">
              <a:buFont typeface="Arial" panose="020B0604020202020204" pitchFamily="34" charset="0"/>
              <a:buChar char="•"/>
            </a:pPr>
            <a:r>
              <a:rPr lang="pt-BR" sz="1200" dirty="0">
                <a:solidFill>
                  <a:schemeClr val="tx1">
                    <a:lumMod val="65000"/>
                    <a:lumOff val="35000"/>
                  </a:schemeClr>
                </a:solidFill>
                <a:latin typeface="Arial" panose="020B0604020202020204" pitchFamily="34" charset="0"/>
                <a:cs typeface="Arial" panose="020B0604020202020204" pitchFamily="34" charset="0"/>
              </a:rPr>
              <a:t>Regularização × Pagou e Não Atualizou;</a:t>
            </a:r>
          </a:p>
          <a:p>
            <a:pPr marL="171450" indent="-171450" algn="just">
              <a:buFont typeface="Arial" panose="020B0604020202020204" pitchFamily="34" charset="0"/>
              <a:buChar char="•"/>
            </a:pPr>
            <a:r>
              <a:rPr lang="pt-BR" sz="1200" dirty="0">
                <a:solidFill>
                  <a:schemeClr val="tx1">
                    <a:lumMod val="65000"/>
                    <a:lumOff val="35000"/>
                  </a:schemeClr>
                </a:solidFill>
                <a:latin typeface="Arial" panose="020B0604020202020204" pitchFamily="34" charset="0"/>
                <a:cs typeface="Arial" panose="020B0604020202020204" pitchFamily="34" charset="0"/>
              </a:rPr>
              <a:t>Regularização × Nada Consta;</a:t>
            </a:r>
          </a:p>
          <a:p>
            <a:pPr algn="just"/>
            <a:endParaRPr lang="pt-BR" sz="1200" dirty="0">
              <a:solidFill>
                <a:schemeClr val="tx1">
                  <a:lumMod val="65000"/>
                  <a:lumOff val="35000"/>
                </a:schemeClr>
              </a:solidFill>
              <a:latin typeface="Arial" panose="020B0604020202020204" pitchFamily="34" charset="0"/>
              <a:cs typeface="Arial" panose="020B0604020202020204" pitchFamily="34" charset="0"/>
            </a:endParaRPr>
          </a:p>
          <a:p>
            <a:pPr algn="just"/>
            <a:r>
              <a:rPr lang="pt-BR" sz="1200" b="1" dirty="0">
                <a:solidFill>
                  <a:schemeClr val="tx1">
                    <a:lumMod val="65000"/>
                    <a:lumOff val="35000"/>
                  </a:schemeClr>
                </a:solidFill>
                <a:latin typeface="Arial" panose="020B0604020202020204" pitchFamily="34" charset="0"/>
                <a:cs typeface="Arial" panose="020B0604020202020204" pitchFamily="34" charset="0"/>
              </a:rPr>
              <a:t>Desenrola Brasil</a:t>
            </a:r>
          </a:p>
          <a:p>
            <a:pPr marL="171450" indent="-171450" algn="just">
              <a:buFont typeface="Arial" panose="020B0604020202020204" pitchFamily="34" charset="0"/>
              <a:buChar char="•"/>
            </a:pPr>
            <a:r>
              <a:rPr lang="pt-BR" sz="1200" dirty="0">
                <a:solidFill>
                  <a:schemeClr val="tx1">
                    <a:lumMod val="65000"/>
                    <a:lumOff val="35000"/>
                  </a:schemeClr>
                </a:solidFill>
                <a:latin typeface="Arial" panose="020B0604020202020204" pitchFamily="34" charset="0"/>
                <a:cs typeface="Arial" panose="020B0604020202020204" pitchFamily="34" charset="0"/>
              </a:rPr>
              <a:t>Não utilização da árvore específica</a:t>
            </a:r>
          </a:p>
        </p:txBody>
      </p:sp>
      <p:sp>
        <p:nvSpPr>
          <p:cNvPr id="30" name="CaixaDeTexto 29">
            <a:extLst>
              <a:ext uri="{FF2B5EF4-FFF2-40B4-BE49-F238E27FC236}">
                <a16:creationId xmlns:a16="http://schemas.microsoft.com/office/drawing/2014/main" id="{AC75D44D-1B2C-88CA-339F-BFFB49D36882}"/>
              </a:ext>
            </a:extLst>
          </p:cNvPr>
          <p:cNvSpPr txBox="1"/>
          <p:nvPr/>
        </p:nvSpPr>
        <p:spPr>
          <a:xfrm>
            <a:off x="1453209" y="1620502"/>
            <a:ext cx="3287486" cy="307777"/>
          </a:xfrm>
          <a:prstGeom prst="rect">
            <a:avLst/>
          </a:prstGeom>
          <a:solidFill>
            <a:schemeClr val="accent5">
              <a:lumMod val="40000"/>
              <a:lumOff val="60000"/>
            </a:schemeClr>
          </a:solidFill>
        </p:spPr>
        <p:txBody>
          <a:bodyPr wrap="square" rtlCol="0">
            <a:spAutoFit/>
          </a:bodyPr>
          <a:lstStyle/>
          <a:p>
            <a:pPr algn="ctr"/>
            <a:r>
              <a:rPr lang="pt-BR" sz="1400" b="1" dirty="0">
                <a:solidFill>
                  <a:srgbClr val="0B5892"/>
                </a:solidFill>
                <a:latin typeface="Arial" panose="020B0604020202020204" pitchFamily="34" charset="0"/>
                <a:cs typeface="Arial" panose="020B0604020202020204" pitchFamily="34" charset="0"/>
              </a:rPr>
              <a:t>Tabulação: </a:t>
            </a:r>
          </a:p>
        </p:txBody>
      </p:sp>
      <p:sp>
        <p:nvSpPr>
          <p:cNvPr id="43" name="CaixaDeTexto 42">
            <a:extLst>
              <a:ext uri="{FF2B5EF4-FFF2-40B4-BE49-F238E27FC236}">
                <a16:creationId xmlns:a16="http://schemas.microsoft.com/office/drawing/2014/main" id="{A1DEB44C-ED90-7258-E943-9624934D321B}"/>
              </a:ext>
            </a:extLst>
          </p:cNvPr>
          <p:cNvSpPr txBox="1"/>
          <p:nvPr/>
        </p:nvSpPr>
        <p:spPr>
          <a:xfrm>
            <a:off x="4447909" y="4235339"/>
            <a:ext cx="3287486" cy="523220"/>
          </a:xfrm>
          <a:prstGeom prst="rect">
            <a:avLst/>
          </a:prstGeom>
          <a:solidFill>
            <a:schemeClr val="accent5">
              <a:lumMod val="40000"/>
              <a:lumOff val="60000"/>
            </a:schemeClr>
          </a:solidFill>
        </p:spPr>
        <p:txBody>
          <a:bodyPr wrap="square" rtlCol="0">
            <a:spAutoFit/>
          </a:bodyPr>
          <a:lstStyle/>
          <a:p>
            <a:pPr algn="ctr"/>
            <a:r>
              <a:rPr lang="pt-BR" sz="1400" b="1" dirty="0">
                <a:solidFill>
                  <a:srgbClr val="0B5892"/>
                </a:solidFill>
                <a:latin typeface="Arial" panose="020B0604020202020204" pitchFamily="34" charset="0"/>
                <a:cs typeface="Arial" panose="020B0604020202020204" pitchFamily="34" charset="0"/>
              </a:rPr>
              <a:t>Demora maior de 60s para retornar o contato:</a:t>
            </a:r>
          </a:p>
        </p:txBody>
      </p:sp>
      <p:sp>
        <p:nvSpPr>
          <p:cNvPr id="52" name="CaixaDeTexto 51">
            <a:extLst>
              <a:ext uri="{FF2B5EF4-FFF2-40B4-BE49-F238E27FC236}">
                <a16:creationId xmlns:a16="http://schemas.microsoft.com/office/drawing/2014/main" id="{F336D618-ABDE-EA41-5271-1019A7F8DA23}"/>
              </a:ext>
            </a:extLst>
          </p:cNvPr>
          <p:cNvSpPr txBox="1"/>
          <p:nvPr/>
        </p:nvSpPr>
        <p:spPr>
          <a:xfrm>
            <a:off x="6726513" y="2013193"/>
            <a:ext cx="4540102" cy="1938992"/>
          </a:xfrm>
          <a:prstGeom prst="rect">
            <a:avLst/>
          </a:prstGeom>
          <a:noFill/>
        </p:spPr>
        <p:txBody>
          <a:bodyPr wrap="square" rtlCol="0">
            <a:spAutoFit/>
          </a:bodyPr>
          <a:lstStyle/>
          <a:p>
            <a:pPr algn="just"/>
            <a:r>
              <a:rPr lang="pt-BR" sz="1200" b="1" dirty="0">
                <a:solidFill>
                  <a:schemeClr val="tx1">
                    <a:lumMod val="65000"/>
                    <a:lumOff val="35000"/>
                  </a:schemeClr>
                </a:solidFill>
                <a:latin typeface="Arial" panose="020B0604020202020204" pitchFamily="34" charset="0"/>
                <a:cs typeface="Arial" panose="020B0604020202020204" pitchFamily="34" charset="0"/>
              </a:rPr>
              <a:t>Falta de domínio sobre fluxos do Limpa Nome, acordos, ofertas e boletos</a:t>
            </a:r>
          </a:p>
          <a:p>
            <a:pPr algn="just"/>
            <a:r>
              <a:rPr lang="pt-BR" sz="1200" dirty="0">
                <a:solidFill>
                  <a:schemeClr val="tx1">
                    <a:lumMod val="65000"/>
                    <a:lumOff val="35000"/>
                  </a:schemeClr>
                </a:solidFill>
                <a:latin typeface="Arial" panose="020B0604020202020204" pitchFamily="34" charset="0"/>
                <a:cs typeface="Arial" panose="020B0604020202020204" pitchFamily="34" charset="0"/>
              </a:rPr>
              <a:t>Principais dificuldades:</a:t>
            </a:r>
          </a:p>
          <a:p>
            <a:pPr marL="171450" indent="-171450" algn="just">
              <a:buFont typeface="Arial" panose="020B0604020202020204" pitchFamily="34" charset="0"/>
              <a:buChar char="•"/>
            </a:pPr>
            <a:r>
              <a:rPr lang="pt-BR" sz="1200" dirty="0">
                <a:solidFill>
                  <a:schemeClr val="tx1">
                    <a:lumMod val="65000"/>
                    <a:lumOff val="35000"/>
                  </a:schemeClr>
                </a:solidFill>
                <a:latin typeface="Arial" panose="020B0604020202020204" pitchFamily="34" charset="0"/>
                <a:cs typeface="Arial" panose="020B0604020202020204" pitchFamily="34" charset="0"/>
              </a:rPr>
              <a:t>Fluxo de acordos e negociações;</a:t>
            </a:r>
          </a:p>
          <a:p>
            <a:pPr marL="171450" indent="-171450" algn="just">
              <a:buFont typeface="Arial" panose="020B0604020202020204" pitchFamily="34" charset="0"/>
              <a:buChar char="•"/>
            </a:pPr>
            <a:r>
              <a:rPr lang="pt-BR" sz="1200" dirty="0">
                <a:solidFill>
                  <a:schemeClr val="tx1">
                    <a:lumMod val="65000"/>
                    <a:lumOff val="35000"/>
                  </a:schemeClr>
                </a:solidFill>
                <a:latin typeface="Arial" panose="020B0604020202020204" pitchFamily="34" charset="0"/>
                <a:cs typeface="Arial" panose="020B0604020202020204" pitchFamily="34" charset="0"/>
              </a:rPr>
              <a:t>Disponibilização de ofertas;</a:t>
            </a:r>
          </a:p>
          <a:p>
            <a:pPr marL="171450" indent="-171450" algn="just">
              <a:buFont typeface="Arial" panose="020B0604020202020204" pitchFamily="34" charset="0"/>
              <a:buChar char="•"/>
            </a:pPr>
            <a:r>
              <a:rPr lang="pt-BR" sz="1200" dirty="0">
                <a:solidFill>
                  <a:schemeClr val="tx1">
                    <a:lumMod val="65000"/>
                    <a:lumOff val="35000"/>
                  </a:schemeClr>
                </a:solidFill>
                <a:latin typeface="Arial" panose="020B0604020202020204" pitchFamily="34" charset="0"/>
                <a:cs typeface="Arial" panose="020B0604020202020204" pitchFamily="34" charset="0"/>
              </a:rPr>
              <a:t>Emissão de segunda via;</a:t>
            </a:r>
          </a:p>
          <a:p>
            <a:pPr algn="just"/>
            <a:r>
              <a:rPr lang="pt-BR" sz="1200" b="1" dirty="0">
                <a:solidFill>
                  <a:schemeClr val="tx1">
                    <a:lumMod val="65000"/>
                    <a:lumOff val="35000"/>
                  </a:schemeClr>
                </a:solidFill>
                <a:latin typeface="Arial" panose="020B0604020202020204" pitchFamily="34" charset="0"/>
                <a:cs typeface="Arial" panose="020B0604020202020204" pitchFamily="34" charset="0"/>
              </a:rPr>
              <a:t>Falta de orientação completa sobre regularização e prazos</a:t>
            </a:r>
          </a:p>
          <a:p>
            <a:pPr algn="just"/>
            <a:r>
              <a:rPr lang="pt-BR" sz="1200" dirty="0">
                <a:solidFill>
                  <a:schemeClr val="tx1">
                    <a:lumMod val="65000"/>
                    <a:lumOff val="35000"/>
                  </a:schemeClr>
                </a:solidFill>
                <a:latin typeface="Arial" panose="020B0604020202020204" pitchFamily="34" charset="0"/>
                <a:cs typeface="Arial" panose="020B0604020202020204" pitchFamily="34" charset="0"/>
              </a:rPr>
              <a:t>Em diversos atendimentos, o especialista até identifica o problema, mas não explica o que o consumidor precisa fazer, quem é o responsável e qual prazo deve aguardar.</a:t>
            </a:r>
          </a:p>
        </p:txBody>
      </p:sp>
      <p:sp>
        <p:nvSpPr>
          <p:cNvPr id="53" name="CaixaDeTexto 52">
            <a:extLst>
              <a:ext uri="{FF2B5EF4-FFF2-40B4-BE49-F238E27FC236}">
                <a16:creationId xmlns:a16="http://schemas.microsoft.com/office/drawing/2014/main" id="{6699212C-688A-A813-E6A0-E90B876C50F3}"/>
              </a:ext>
            </a:extLst>
          </p:cNvPr>
          <p:cNvSpPr txBox="1"/>
          <p:nvPr/>
        </p:nvSpPr>
        <p:spPr>
          <a:xfrm>
            <a:off x="3943158" y="4911900"/>
            <a:ext cx="4651424" cy="1015663"/>
          </a:xfrm>
          <a:prstGeom prst="rect">
            <a:avLst/>
          </a:prstGeom>
          <a:noFill/>
        </p:spPr>
        <p:txBody>
          <a:bodyPr wrap="square" rtlCol="0">
            <a:spAutoFit/>
          </a:bodyPr>
          <a:lstStyle/>
          <a:p>
            <a:pPr algn="just"/>
            <a:r>
              <a:rPr lang="pt-BR" sz="1200" dirty="0">
                <a:solidFill>
                  <a:schemeClr val="tx1">
                    <a:lumMod val="65000"/>
                    <a:lumOff val="35000"/>
                  </a:schemeClr>
                </a:solidFill>
                <a:latin typeface="Arial" panose="020B0604020202020204" pitchFamily="34" charset="0"/>
                <a:cs typeface="Arial" panose="020B0604020202020204" pitchFamily="34" charset="0"/>
              </a:rPr>
              <a:t>Os especialistas permaneceram realizando consultas internas por períodos superiores a 60 segundos sem:</a:t>
            </a:r>
          </a:p>
          <a:p>
            <a:pPr marL="171450" indent="-171450" algn="just">
              <a:buFont typeface="Arial" panose="020B0604020202020204" pitchFamily="34" charset="0"/>
              <a:buChar char="•"/>
            </a:pPr>
            <a:r>
              <a:rPr lang="pt-BR" sz="1200" dirty="0">
                <a:solidFill>
                  <a:schemeClr val="tx1">
                    <a:lumMod val="65000"/>
                    <a:lumOff val="35000"/>
                  </a:schemeClr>
                </a:solidFill>
                <a:latin typeface="Arial" panose="020B0604020202020204" pitchFamily="34" charset="0"/>
                <a:cs typeface="Arial" panose="020B0604020202020204" pitchFamily="34" charset="0"/>
              </a:rPr>
              <a:t>solicitar mais um momento;</a:t>
            </a:r>
          </a:p>
          <a:p>
            <a:pPr marL="171450" indent="-171450" algn="just">
              <a:buFont typeface="Arial" panose="020B0604020202020204" pitchFamily="34" charset="0"/>
              <a:buChar char="•"/>
            </a:pPr>
            <a:r>
              <a:rPr lang="pt-BR" sz="1200" dirty="0">
                <a:solidFill>
                  <a:schemeClr val="tx1">
                    <a:lumMod val="65000"/>
                    <a:lumOff val="35000"/>
                  </a:schemeClr>
                </a:solidFill>
                <a:latin typeface="Arial" panose="020B0604020202020204" pitchFamily="34" charset="0"/>
                <a:cs typeface="Arial" panose="020B0604020202020204" pitchFamily="34" charset="0"/>
              </a:rPr>
              <a:t>atualizar o consumidor sobre a consulta;</a:t>
            </a:r>
          </a:p>
          <a:p>
            <a:pPr marL="171450" indent="-171450" algn="just">
              <a:buFont typeface="Arial" panose="020B0604020202020204" pitchFamily="34" charset="0"/>
              <a:buChar char="•"/>
            </a:pPr>
            <a:r>
              <a:rPr lang="pt-BR" sz="1200" dirty="0">
                <a:solidFill>
                  <a:schemeClr val="tx1">
                    <a:lumMod val="65000"/>
                    <a:lumOff val="35000"/>
                  </a:schemeClr>
                </a:solidFill>
                <a:latin typeface="Arial" panose="020B0604020202020204" pitchFamily="34" charset="0"/>
                <a:cs typeface="Arial" panose="020B0604020202020204" pitchFamily="34" charset="0"/>
              </a:rPr>
              <a:t>agradecer pela espera ao retornar.</a:t>
            </a:r>
          </a:p>
        </p:txBody>
      </p:sp>
      <p:sp>
        <p:nvSpPr>
          <p:cNvPr id="5" name="CaixaDeTexto 4">
            <a:extLst>
              <a:ext uri="{FF2B5EF4-FFF2-40B4-BE49-F238E27FC236}">
                <a16:creationId xmlns:a16="http://schemas.microsoft.com/office/drawing/2014/main" id="{57C20853-F47F-36F1-74BE-9F99BBF2CA35}"/>
              </a:ext>
            </a:extLst>
          </p:cNvPr>
          <p:cNvSpPr txBox="1"/>
          <p:nvPr/>
        </p:nvSpPr>
        <p:spPr>
          <a:xfrm>
            <a:off x="3560536" y="734906"/>
            <a:ext cx="8155172" cy="369332"/>
          </a:xfrm>
          <a:prstGeom prst="rect">
            <a:avLst/>
          </a:prstGeom>
          <a:noFill/>
        </p:spPr>
        <p:txBody>
          <a:bodyPr wrap="square">
            <a:spAutoFit/>
          </a:bodyPr>
          <a:lstStyle/>
          <a:p>
            <a:pPr algn="r"/>
            <a:r>
              <a:rPr lang="pt-BR" sz="1800" spc="600" dirty="0">
                <a:solidFill>
                  <a:srgbClr val="0B5892"/>
                </a:solidFill>
                <a:latin typeface="Arial" panose="020B0604020202020204" pitchFamily="34" charset="0"/>
                <a:cs typeface="Arial" panose="020B0604020202020204" pitchFamily="34" charset="0"/>
              </a:rPr>
              <a:t>CRC</a:t>
            </a:r>
          </a:p>
        </p:txBody>
      </p:sp>
    </p:spTree>
    <p:extLst>
      <p:ext uri="{BB962C8B-B14F-4D97-AF65-F5344CB8AC3E}">
        <p14:creationId xmlns:p14="http://schemas.microsoft.com/office/powerpoint/2010/main" val="6819523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Imagem 38">
            <a:extLst>
              <a:ext uri="{FF2B5EF4-FFF2-40B4-BE49-F238E27FC236}">
                <a16:creationId xmlns:a16="http://schemas.microsoft.com/office/drawing/2014/main" id="{8F6A83EB-6687-479D-BD59-51B6B2B8CBF9}"/>
              </a:ext>
            </a:extLst>
          </p:cNvPr>
          <p:cNvPicPr>
            <a:picLocks noChangeAspect="1"/>
          </p:cNvPicPr>
          <p:nvPr/>
        </p:nvPicPr>
        <p:blipFill>
          <a:blip r:embed="rId2">
            <a:alphaModFix amt="4000"/>
          </a:blip>
          <a:stretch>
            <a:fillRect/>
          </a:stretch>
        </p:blipFill>
        <p:spPr>
          <a:xfrm>
            <a:off x="9157251" y="4596063"/>
            <a:ext cx="5030445" cy="5148116"/>
          </a:xfrm>
          <a:prstGeom prst="rect">
            <a:avLst/>
          </a:prstGeom>
          <a:effectLst/>
        </p:spPr>
      </p:pic>
      <p:pic>
        <p:nvPicPr>
          <p:cNvPr id="38" name="Imagem 37">
            <a:extLst>
              <a:ext uri="{FF2B5EF4-FFF2-40B4-BE49-F238E27FC236}">
                <a16:creationId xmlns:a16="http://schemas.microsoft.com/office/drawing/2014/main" id="{DE2A603E-716D-41D5-ABEF-1625839B46A3}"/>
              </a:ext>
            </a:extLst>
          </p:cNvPr>
          <p:cNvPicPr>
            <a:picLocks noChangeAspect="1"/>
          </p:cNvPicPr>
          <p:nvPr/>
        </p:nvPicPr>
        <p:blipFill>
          <a:blip r:embed="rId2">
            <a:alphaModFix amt="4000"/>
          </a:blip>
          <a:stretch>
            <a:fillRect/>
          </a:stretch>
        </p:blipFill>
        <p:spPr>
          <a:xfrm>
            <a:off x="-2128370" y="-2021305"/>
            <a:ext cx="5030445" cy="5148116"/>
          </a:xfrm>
          <a:prstGeom prst="rect">
            <a:avLst/>
          </a:prstGeom>
          <a:effectLst/>
        </p:spPr>
      </p:pic>
      <p:grpSp>
        <p:nvGrpSpPr>
          <p:cNvPr id="20" name="Google Shape;1964;p50">
            <a:extLst>
              <a:ext uri="{FF2B5EF4-FFF2-40B4-BE49-F238E27FC236}">
                <a16:creationId xmlns:a16="http://schemas.microsoft.com/office/drawing/2014/main" id="{644333FE-63B4-42DF-ADFA-AF9177DF58D7}"/>
              </a:ext>
            </a:extLst>
          </p:cNvPr>
          <p:cNvGrpSpPr/>
          <p:nvPr/>
        </p:nvGrpSpPr>
        <p:grpSpPr>
          <a:xfrm flipH="1">
            <a:off x="742950" y="537670"/>
            <a:ext cx="603644" cy="576232"/>
            <a:chOff x="4126815" y="2760704"/>
            <a:chExt cx="380393" cy="363118"/>
          </a:xfrm>
          <a:solidFill>
            <a:srgbClr val="0B5892"/>
          </a:solidFill>
        </p:grpSpPr>
        <p:sp>
          <p:nvSpPr>
            <p:cNvPr id="21" name="Google Shape;1965;p50">
              <a:extLst>
                <a:ext uri="{FF2B5EF4-FFF2-40B4-BE49-F238E27FC236}">
                  <a16:creationId xmlns:a16="http://schemas.microsoft.com/office/drawing/2014/main" id="{C90A8E2B-6430-4128-93A1-80EDBF3E3BED}"/>
                </a:ext>
              </a:extLst>
            </p:cNvPr>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966;p50">
              <a:extLst>
                <a:ext uri="{FF2B5EF4-FFF2-40B4-BE49-F238E27FC236}">
                  <a16:creationId xmlns:a16="http://schemas.microsoft.com/office/drawing/2014/main" id="{C220A82A-DCEF-47A8-9174-5A849CB2B75F}"/>
                </a:ext>
              </a:extLst>
            </p:cNvPr>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967;p50">
              <a:extLst>
                <a:ext uri="{FF2B5EF4-FFF2-40B4-BE49-F238E27FC236}">
                  <a16:creationId xmlns:a16="http://schemas.microsoft.com/office/drawing/2014/main" id="{446DDA74-F73B-4510-BFCE-608659C3FC02}"/>
                </a:ext>
              </a:extLst>
            </p:cNvPr>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968;p50">
              <a:extLst>
                <a:ext uri="{FF2B5EF4-FFF2-40B4-BE49-F238E27FC236}">
                  <a16:creationId xmlns:a16="http://schemas.microsoft.com/office/drawing/2014/main" id="{487DFEED-06C3-4B9B-9B7A-545AAF95F24C}"/>
                </a:ext>
              </a:extLst>
            </p:cNvPr>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Retângulo 28">
            <a:extLst>
              <a:ext uri="{FF2B5EF4-FFF2-40B4-BE49-F238E27FC236}">
                <a16:creationId xmlns:a16="http://schemas.microsoft.com/office/drawing/2014/main" id="{0BBC58FB-2C41-419E-8246-609C9177CDA9}"/>
              </a:ext>
            </a:extLst>
          </p:cNvPr>
          <p:cNvSpPr/>
          <p:nvPr/>
        </p:nvSpPr>
        <p:spPr>
          <a:xfrm>
            <a:off x="-449179" y="6707874"/>
            <a:ext cx="14054469" cy="334610"/>
          </a:xfrm>
          <a:prstGeom prst="rect">
            <a:avLst/>
          </a:prstGeom>
          <a:solidFill>
            <a:srgbClr val="0B58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 name="Imagem 7">
            <a:extLst>
              <a:ext uri="{FF2B5EF4-FFF2-40B4-BE49-F238E27FC236}">
                <a16:creationId xmlns:a16="http://schemas.microsoft.com/office/drawing/2014/main" id="{55CA91AA-A108-4071-B0A7-0374C74EDA09}"/>
              </a:ext>
            </a:extLst>
          </p:cNvPr>
          <p:cNvPicPr>
            <a:picLocks noChangeAspect="1"/>
          </p:cNvPicPr>
          <p:nvPr/>
        </p:nvPicPr>
        <p:blipFill>
          <a:blip r:embed="rId3"/>
          <a:stretch>
            <a:fillRect/>
          </a:stretch>
        </p:blipFill>
        <p:spPr>
          <a:xfrm>
            <a:off x="-124691" y="-20995"/>
            <a:ext cx="12316692" cy="88042"/>
          </a:xfrm>
          <a:prstGeom prst="rect">
            <a:avLst/>
          </a:prstGeom>
        </p:spPr>
      </p:pic>
      <p:sp>
        <p:nvSpPr>
          <p:cNvPr id="18" name="Título 1">
            <a:extLst>
              <a:ext uri="{FF2B5EF4-FFF2-40B4-BE49-F238E27FC236}">
                <a16:creationId xmlns:a16="http://schemas.microsoft.com/office/drawing/2014/main" id="{9BC75932-B40A-460F-B242-8264BFE06926}"/>
              </a:ext>
            </a:extLst>
          </p:cNvPr>
          <p:cNvSpPr txBox="1">
            <a:spLocks/>
          </p:cNvSpPr>
          <p:nvPr/>
        </p:nvSpPr>
        <p:spPr>
          <a:xfrm>
            <a:off x="1366068" y="448718"/>
            <a:ext cx="6453099"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spc="600" dirty="0">
                <a:solidFill>
                  <a:srgbClr val="0B5892"/>
                </a:solidFill>
                <a:latin typeface="Arial" panose="020B0604020202020204" pitchFamily="34" charset="0"/>
                <a:cs typeface="Arial" panose="020B0604020202020204" pitchFamily="34" charset="0"/>
              </a:rPr>
              <a:t>APLICAÇÃO DE FEEDBACKS</a:t>
            </a:r>
          </a:p>
        </p:txBody>
      </p:sp>
      <p:sp>
        <p:nvSpPr>
          <p:cNvPr id="19" name="Título 1">
            <a:extLst>
              <a:ext uri="{FF2B5EF4-FFF2-40B4-BE49-F238E27FC236}">
                <a16:creationId xmlns:a16="http://schemas.microsoft.com/office/drawing/2014/main" id="{CB92D9AB-3FEB-47AD-8015-DD30B5F902CE}"/>
              </a:ext>
            </a:extLst>
          </p:cNvPr>
          <p:cNvSpPr txBox="1">
            <a:spLocks/>
          </p:cNvSpPr>
          <p:nvPr/>
        </p:nvSpPr>
        <p:spPr>
          <a:xfrm>
            <a:off x="1400358" y="716411"/>
            <a:ext cx="6950456"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600" spc="300" dirty="0">
                <a:solidFill>
                  <a:srgbClr val="0B5892"/>
                </a:solidFill>
                <a:latin typeface="Arial" panose="020B0604020202020204" pitchFamily="34" charset="0"/>
                <a:cs typeface="Arial" panose="020B0604020202020204" pitchFamily="34" charset="0"/>
              </a:rPr>
              <a:t>Quantidade total de monitorias realizadas</a:t>
            </a:r>
          </a:p>
        </p:txBody>
      </p:sp>
      <p:cxnSp>
        <p:nvCxnSpPr>
          <p:cNvPr id="25" name="Conector reto 24">
            <a:extLst>
              <a:ext uri="{FF2B5EF4-FFF2-40B4-BE49-F238E27FC236}">
                <a16:creationId xmlns:a16="http://schemas.microsoft.com/office/drawing/2014/main" id="{C6F5D155-7AE8-4277-A61A-2EF88BF2DADC}"/>
              </a:ext>
            </a:extLst>
          </p:cNvPr>
          <p:cNvCxnSpPr/>
          <p:nvPr/>
        </p:nvCxnSpPr>
        <p:spPr>
          <a:xfrm>
            <a:off x="725988" y="1185955"/>
            <a:ext cx="9855200" cy="0"/>
          </a:xfrm>
          <a:prstGeom prst="line">
            <a:avLst/>
          </a:prstGeom>
          <a:ln>
            <a:solidFill>
              <a:srgbClr val="0B5892"/>
            </a:solidFill>
          </a:ln>
        </p:spPr>
        <p:style>
          <a:lnRef idx="1">
            <a:schemeClr val="accent1"/>
          </a:lnRef>
          <a:fillRef idx="0">
            <a:schemeClr val="accent1"/>
          </a:fillRef>
          <a:effectRef idx="0">
            <a:schemeClr val="accent1"/>
          </a:effectRef>
          <a:fontRef idx="minor">
            <a:schemeClr val="tx1"/>
          </a:fontRef>
        </p:style>
      </p:cxnSp>
      <p:cxnSp>
        <p:nvCxnSpPr>
          <p:cNvPr id="28" name="Conector reto 27">
            <a:extLst>
              <a:ext uri="{FF2B5EF4-FFF2-40B4-BE49-F238E27FC236}">
                <a16:creationId xmlns:a16="http://schemas.microsoft.com/office/drawing/2014/main" id="{AF530EC9-E21D-4CE2-9C84-D2A18F828C6C}"/>
              </a:ext>
            </a:extLst>
          </p:cNvPr>
          <p:cNvCxnSpPr>
            <a:cxnSpLocks/>
          </p:cNvCxnSpPr>
          <p:nvPr/>
        </p:nvCxnSpPr>
        <p:spPr>
          <a:xfrm>
            <a:off x="5929215" y="1848607"/>
            <a:ext cx="34403" cy="3728788"/>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30" name="Gráfico 29">
            <a:extLst>
              <a:ext uri="{FF2B5EF4-FFF2-40B4-BE49-F238E27FC236}">
                <a16:creationId xmlns:a16="http://schemas.microsoft.com/office/drawing/2014/main" id="{71DC83F7-0B9A-49E0-8FF4-1656C753BDC0}"/>
              </a:ext>
            </a:extLst>
          </p:cNvPr>
          <p:cNvGraphicFramePr/>
          <p:nvPr>
            <p:extLst>
              <p:ext uri="{D42A27DB-BD31-4B8C-83A1-F6EECF244321}">
                <p14:modId xmlns:p14="http://schemas.microsoft.com/office/powerpoint/2010/main" val="63624828"/>
              </p:ext>
            </p:extLst>
          </p:nvPr>
        </p:nvGraphicFramePr>
        <p:xfrm>
          <a:off x="6521594" y="1625248"/>
          <a:ext cx="4825219" cy="2405576"/>
        </p:xfrm>
        <a:graphic>
          <a:graphicData uri="http://schemas.openxmlformats.org/drawingml/2006/chart">
            <c:chart xmlns:c="http://schemas.openxmlformats.org/drawingml/2006/chart" xmlns:r="http://schemas.openxmlformats.org/officeDocument/2006/relationships" r:id="rId4"/>
          </a:graphicData>
        </a:graphic>
      </p:graphicFrame>
      <p:sp>
        <p:nvSpPr>
          <p:cNvPr id="31" name="CaixaDeTexto 30">
            <a:extLst>
              <a:ext uri="{FF2B5EF4-FFF2-40B4-BE49-F238E27FC236}">
                <a16:creationId xmlns:a16="http://schemas.microsoft.com/office/drawing/2014/main" id="{82A0E21E-D797-4B82-AA4B-7C5E92F466F2}"/>
              </a:ext>
            </a:extLst>
          </p:cNvPr>
          <p:cNvSpPr txBox="1"/>
          <p:nvPr/>
        </p:nvSpPr>
        <p:spPr>
          <a:xfrm>
            <a:off x="7034775" y="1697194"/>
            <a:ext cx="3992681" cy="307777"/>
          </a:xfrm>
          <a:prstGeom prst="rect">
            <a:avLst/>
          </a:prstGeom>
          <a:noFill/>
        </p:spPr>
        <p:txBody>
          <a:bodyPr wrap="square" rtlCol="0">
            <a:spAutoFit/>
          </a:bodyPr>
          <a:lstStyle/>
          <a:p>
            <a:pPr algn="ctr"/>
            <a:r>
              <a:rPr lang="pt-BR" sz="1400" b="1" dirty="0">
                <a:solidFill>
                  <a:schemeClr val="tx1">
                    <a:lumMod val="50000"/>
                    <a:lumOff val="50000"/>
                  </a:schemeClr>
                </a:solidFill>
                <a:latin typeface="Arial" panose="020B0604020202020204" pitchFamily="34" charset="0"/>
                <a:cs typeface="Arial" panose="020B0604020202020204" pitchFamily="34" charset="0"/>
              </a:rPr>
              <a:t>Cumprimento do SLA - NCG</a:t>
            </a:r>
          </a:p>
        </p:txBody>
      </p:sp>
      <p:graphicFrame>
        <p:nvGraphicFramePr>
          <p:cNvPr id="32" name="Gráfico 31">
            <a:extLst>
              <a:ext uri="{FF2B5EF4-FFF2-40B4-BE49-F238E27FC236}">
                <a16:creationId xmlns:a16="http://schemas.microsoft.com/office/drawing/2014/main" id="{72CA1D9F-992B-4BC8-97CA-826DA8198092}"/>
              </a:ext>
            </a:extLst>
          </p:cNvPr>
          <p:cNvGraphicFramePr/>
          <p:nvPr>
            <p:extLst>
              <p:ext uri="{D42A27DB-BD31-4B8C-83A1-F6EECF244321}">
                <p14:modId xmlns:p14="http://schemas.microsoft.com/office/powerpoint/2010/main" val="95477896"/>
              </p:ext>
            </p:extLst>
          </p:nvPr>
        </p:nvGraphicFramePr>
        <p:xfrm>
          <a:off x="845187" y="1697194"/>
          <a:ext cx="4825219" cy="2405576"/>
        </p:xfrm>
        <a:graphic>
          <a:graphicData uri="http://schemas.openxmlformats.org/drawingml/2006/chart">
            <c:chart xmlns:c="http://schemas.openxmlformats.org/drawingml/2006/chart" xmlns:r="http://schemas.openxmlformats.org/officeDocument/2006/relationships" r:id="rId5"/>
          </a:graphicData>
        </a:graphic>
      </p:graphicFrame>
      <p:sp>
        <p:nvSpPr>
          <p:cNvPr id="33" name="CaixaDeTexto 32">
            <a:extLst>
              <a:ext uri="{FF2B5EF4-FFF2-40B4-BE49-F238E27FC236}">
                <a16:creationId xmlns:a16="http://schemas.microsoft.com/office/drawing/2014/main" id="{417A71CF-78F9-4EE7-A121-79E5C8E39F2B}"/>
              </a:ext>
            </a:extLst>
          </p:cNvPr>
          <p:cNvSpPr txBox="1"/>
          <p:nvPr/>
        </p:nvSpPr>
        <p:spPr>
          <a:xfrm>
            <a:off x="1418916" y="1774955"/>
            <a:ext cx="3992681" cy="307777"/>
          </a:xfrm>
          <a:prstGeom prst="rect">
            <a:avLst/>
          </a:prstGeom>
          <a:noFill/>
        </p:spPr>
        <p:txBody>
          <a:bodyPr wrap="square" rtlCol="0">
            <a:spAutoFit/>
          </a:bodyPr>
          <a:lstStyle/>
          <a:p>
            <a:pPr algn="ctr"/>
            <a:r>
              <a:rPr lang="pt-BR" sz="1400" b="1" dirty="0">
                <a:solidFill>
                  <a:schemeClr val="tx1">
                    <a:lumMod val="50000"/>
                    <a:lumOff val="50000"/>
                  </a:schemeClr>
                </a:solidFill>
                <a:latin typeface="Arial" panose="020B0604020202020204" pitchFamily="34" charset="0"/>
                <a:cs typeface="Arial" panose="020B0604020202020204" pitchFamily="34" charset="0"/>
              </a:rPr>
              <a:t>Cumprimento do SLA – NC                                                                                                                                                                                                      </a:t>
            </a:r>
          </a:p>
        </p:txBody>
      </p:sp>
      <p:sp>
        <p:nvSpPr>
          <p:cNvPr id="26" name="Retângulo: Cantos Arredondados 25">
            <a:extLst>
              <a:ext uri="{FF2B5EF4-FFF2-40B4-BE49-F238E27FC236}">
                <a16:creationId xmlns:a16="http://schemas.microsoft.com/office/drawing/2014/main" id="{330A12FB-989E-42A9-A3F0-B8234CB2550E}"/>
              </a:ext>
            </a:extLst>
          </p:cNvPr>
          <p:cNvSpPr/>
          <p:nvPr/>
        </p:nvSpPr>
        <p:spPr>
          <a:xfrm>
            <a:off x="1198996" y="4328581"/>
            <a:ext cx="4402601" cy="1248814"/>
          </a:xfrm>
          <a:prstGeom prst="roundRect">
            <a:avLst/>
          </a:prstGeom>
          <a:solidFill>
            <a:schemeClr val="bg1">
              <a:lumMod val="95000"/>
            </a:schemeClr>
          </a:solidFill>
          <a:ln>
            <a:noFill/>
          </a:ln>
          <a:effectLst>
            <a:outerShdw dist="101600" dir="10740000" algn="t" rotWithShape="0">
              <a:srgbClr val="0B5892"/>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4" name="Retângulo: Cantos Arredondados 33">
            <a:extLst>
              <a:ext uri="{FF2B5EF4-FFF2-40B4-BE49-F238E27FC236}">
                <a16:creationId xmlns:a16="http://schemas.microsoft.com/office/drawing/2014/main" id="{48B36F2A-D988-4E04-8C57-90B32EEB49F2}"/>
              </a:ext>
            </a:extLst>
          </p:cNvPr>
          <p:cNvSpPr/>
          <p:nvPr/>
        </p:nvSpPr>
        <p:spPr>
          <a:xfrm>
            <a:off x="6732902" y="4328580"/>
            <a:ext cx="4402601" cy="1426423"/>
          </a:xfrm>
          <a:prstGeom prst="roundRect">
            <a:avLst/>
          </a:prstGeom>
          <a:solidFill>
            <a:schemeClr val="bg1">
              <a:lumMod val="95000"/>
            </a:schemeClr>
          </a:solidFill>
          <a:ln>
            <a:noFill/>
          </a:ln>
          <a:effectLst>
            <a:outerShdw dist="101600" dir="10740000" algn="t" rotWithShape="0">
              <a:srgbClr val="0B5892"/>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37" name="Google Shape;2124;p50">
            <a:extLst>
              <a:ext uri="{FF2B5EF4-FFF2-40B4-BE49-F238E27FC236}">
                <a16:creationId xmlns:a16="http://schemas.microsoft.com/office/drawing/2014/main" id="{BA21E970-1083-4D19-A248-A58FF28D0D8C}"/>
              </a:ext>
            </a:extLst>
          </p:cNvPr>
          <p:cNvGrpSpPr/>
          <p:nvPr/>
        </p:nvGrpSpPr>
        <p:grpSpPr>
          <a:xfrm>
            <a:off x="1334646" y="4444924"/>
            <a:ext cx="286337" cy="286644"/>
            <a:chOff x="4673540" y="3680297"/>
            <a:chExt cx="355434" cy="355815"/>
          </a:xfrm>
        </p:grpSpPr>
        <p:sp>
          <p:nvSpPr>
            <p:cNvPr id="40" name="Google Shape;2125;p50">
              <a:extLst>
                <a:ext uri="{FF2B5EF4-FFF2-40B4-BE49-F238E27FC236}">
                  <a16:creationId xmlns:a16="http://schemas.microsoft.com/office/drawing/2014/main" id="{C0E45B05-9ECE-4D6F-B19D-CFD6B90F52E8}"/>
                </a:ext>
              </a:extLst>
            </p:cNvPr>
            <p:cNvSpPr/>
            <p:nvPr/>
          </p:nvSpPr>
          <p:spPr>
            <a:xfrm>
              <a:off x="4673540" y="3680297"/>
              <a:ext cx="355434" cy="355815"/>
            </a:xfrm>
            <a:custGeom>
              <a:avLst/>
              <a:gdLst/>
              <a:ahLst/>
              <a:cxnLst/>
              <a:rect l="l" t="t" r="r" b="b"/>
              <a:pathLst>
                <a:path w="11193" h="11205" extrusionOk="0">
                  <a:moveTo>
                    <a:pt x="2012" y="0"/>
                  </a:moveTo>
                  <a:cubicBezTo>
                    <a:pt x="905" y="0"/>
                    <a:pt x="0" y="893"/>
                    <a:pt x="0" y="2013"/>
                  </a:cubicBezTo>
                  <a:lnTo>
                    <a:pt x="0" y="9192"/>
                  </a:lnTo>
                  <a:cubicBezTo>
                    <a:pt x="0" y="10287"/>
                    <a:pt x="893" y="11204"/>
                    <a:pt x="2012" y="11204"/>
                  </a:cubicBezTo>
                  <a:lnTo>
                    <a:pt x="9180" y="11204"/>
                  </a:lnTo>
                  <a:cubicBezTo>
                    <a:pt x="10287" y="11204"/>
                    <a:pt x="11192" y="10311"/>
                    <a:pt x="11192" y="9192"/>
                  </a:cubicBezTo>
                  <a:lnTo>
                    <a:pt x="11192" y="2013"/>
                  </a:lnTo>
                  <a:cubicBezTo>
                    <a:pt x="11180" y="917"/>
                    <a:pt x="10287" y="0"/>
                    <a:pt x="9180" y="0"/>
                  </a:cubicBezTo>
                  <a:lnTo>
                    <a:pt x="8085" y="0"/>
                  </a:lnTo>
                  <a:cubicBezTo>
                    <a:pt x="7989" y="0"/>
                    <a:pt x="7918" y="84"/>
                    <a:pt x="7918" y="167"/>
                  </a:cubicBezTo>
                  <a:cubicBezTo>
                    <a:pt x="7918" y="262"/>
                    <a:pt x="7989" y="334"/>
                    <a:pt x="8085" y="334"/>
                  </a:cubicBezTo>
                  <a:lnTo>
                    <a:pt x="9180" y="334"/>
                  </a:lnTo>
                  <a:cubicBezTo>
                    <a:pt x="10109" y="334"/>
                    <a:pt x="10847" y="1084"/>
                    <a:pt x="10847" y="2001"/>
                  </a:cubicBezTo>
                  <a:lnTo>
                    <a:pt x="10847" y="9180"/>
                  </a:lnTo>
                  <a:cubicBezTo>
                    <a:pt x="10847" y="10097"/>
                    <a:pt x="10109" y="10847"/>
                    <a:pt x="9180" y="10847"/>
                  </a:cubicBezTo>
                  <a:lnTo>
                    <a:pt x="2012" y="10847"/>
                  </a:lnTo>
                  <a:cubicBezTo>
                    <a:pt x="1084" y="10847"/>
                    <a:pt x="345" y="10097"/>
                    <a:pt x="345" y="9180"/>
                  </a:cubicBezTo>
                  <a:lnTo>
                    <a:pt x="345" y="2001"/>
                  </a:lnTo>
                  <a:cubicBezTo>
                    <a:pt x="345" y="1084"/>
                    <a:pt x="1084" y="334"/>
                    <a:pt x="2012" y="334"/>
                  </a:cubicBezTo>
                  <a:lnTo>
                    <a:pt x="7418" y="334"/>
                  </a:lnTo>
                  <a:cubicBezTo>
                    <a:pt x="7501" y="334"/>
                    <a:pt x="7573" y="262"/>
                    <a:pt x="7573" y="167"/>
                  </a:cubicBezTo>
                  <a:cubicBezTo>
                    <a:pt x="7573" y="84"/>
                    <a:pt x="7501" y="0"/>
                    <a:pt x="7418" y="0"/>
                  </a:cubicBezTo>
                  <a:close/>
                </a:path>
              </a:pathLst>
            </a:custGeom>
            <a:solidFill>
              <a:schemeClr val="lt2"/>
            </a:solidFill>
            <a:ln>
              <a:solidFill>
                <a:srgbClr val="0B589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126;p50">
              <a:extLst>
                <a:ext uri="{FF2B5EF4-FFF2-40B4-BE49-F238E27FC236}">
                  <a16:creationId xmlns:a16="http://schemas.microsoft.com/office/drawing/2014/main" id="{F5684C49-3999-483A-99DE-E39763B2DEAA}"/>
                </a:ext>
              </a:extLst>
            </p:cNvPr>
            <p:cNvSpPr/>
            <p:nvPr/>
          </p:nvSpPr>
          <p:spPr>
            <a:xfrm>
              <a:off x="4805864" y="3736630"/>
              <a:ext cx="93042" cy="92661"/>
            </a:xfrm>
            <a:custGeom>
              <a:avLst/>
              <a:gdLst/>
              <a:ahLst/>
              <a:cxnLst/>
              <a:rect l="l" t="t" r="r" b="b"/>
              <a:pathLst>
                <a:path w="2930" h="2918" extrusionOk="0">
                  <a:moveTo>
                    <a:pt x="1477" y="334"/>
                  </a:moveTo>
                  <a:cubicBezTo>
                    <a:pt x="2096" y="334"/>
                    <a:pt x="2608" y="834"/>
                    <a:pt x="2608" y="1465"/>
                  </a:cubicBezTo>
                  <a:cubicBezTo>
                    <a:pt x="2608" y="2084"/>
                    <a:pt x="2096" y="2596"/>
                    <a:pt x="1477" y="2596"/>
                  </a:cubicBezTo>
                  <a:cubicBezTo>
                    <a:pt x="846" y="2596"/>
                    <a:pt x="346" y="2084"/>
                    <a:pt x="346" y="1465"/>
                  </a:cubicBezTo>
                  <a:cubicBezTo>
                    <a:pt x="346" y="834"/>
                    <a:pt x="846" y="334"/>
                    <a:pt x="1477" y="334"/>
                  </a:cubicBezTo>
                  <a:close/>
                  <a:moveTo>
                    <a:pt x="1477" y="0"/>
                  </a:moveTo>
                  <a:cubicBezTo>
                    <a:pt x="667" y="0"/>
                    <a:pt x="12" y="655"/>
                    <a:pt x="12" y="1465"/>
                  </a:cubicBezTo>
                  <a:cubicBezTo>
                    <a:pt x="0" y="2263"/>
                    <a:pt x="655" y="2918"/>
                    <a:pt x="1477" y="2918"/>
                  </a:cubicBezTo>
                  <a:cubicBezTo>
                    <a:pt x="2274" y="2918"/>
                    <a:pt x="2929" y="2263"/>
                    <a:pt x="2929" y="1465"/>
                  </a:cubicBezTo>
                  <a:cubicBezTo>
                    <a:pt x="2929" y="655"/>
                    <a:pt x="2274" y="0"/>
                    <a:pt x="1477" y="0"/>
                  </a:cubicBezTo>
                  <a:close/>
                </a:path>
              </a:pathLst>
            </a:custGeom>
            <a:solidFill>
              <a:schemeClr val="lt2"/>
            </a:solidFill>
            <a:ln>
              <a:solidFill>
                <a:srgbClr val="0B589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127;p50">
              <a:extLst>
                <a:ext uri="{FF2B5EF4-FFF2-40B4-BE49-F238E27FC236}">
                  <a16:creationId xmlns:a16="http://schemas.microsoft.com/office/drawing/2014/main" id="{1EAA21D1-CDF8-45B7-B1CB-5AA4B6475E59}"/>
                </a:ext>
              </a:extLst>
            </p:cNvPr>
            <p:cNvSpPr/>
            <p:nvPr/>
          </p:nvSpPr>
          <p:spPr>
            <a:xfrm>
              <a:off x="4779380" y="3841358"/>
              <a:ext cx="143723" cy="138801"/>
            </a:xfrm>
            <a:custGeom>
              <a:avLst/>
              <a:gdLst/>
              <a:ahLst/>
              <a:cxnLst/>
              <a:rect l="l" t="t" r="r" b="b"/>
              <a:pathLst>
                <a:path w="4526" h="4371" extrusionOk="0">
                  <a:moveTo>
                    <a:pt x="477" y="1"/>
                  </a:moveTo>
                  <a:cubicBezTo>
                    <a:pt x="215" y="1"/>
                    <a:pt x="1" y="203"/>
                    <a:pt x="1" y="477"/>
                  </a:cubicBezTo>
                  <a:lnTo>
                    <a:pt x="1" y="893"/>
                  </a:lnTo>
                  <a:cubicBezTo>
                    <a:pt x="1" y="1155"/>
                    <a:pt x="203" y="1370"/>
                    <a:pt x="477" y="1370"/>
                  </a:cubicBezTo>
                  <a:lnTo>
                    <a:pt x="763" y="1370"/>
                  </a:lnTo>
                  <a:cubicBezTo>
                    <a:pt x="834" y="1370"/>
                    <a:pt x="906" y="1429"/>
                    <a:pt x="906" y="1513"/>
                  </a:cubicBezTo>
                  <a:lnTo>
                    <a:pt x="906" y="2858"/>
                  </a:lnTo>
                  <a:cubicBezTo>
                    <a:pt x="906" y="2929"/>
                    <a:pt x="846" y="3001"/>
                    <a:pt x="763" y="3001"/>
                  </a:cubicBezTo>
                  <a:lnTo>
                    <a:pt x="572" y="3001"/>
                  </a:lnTo>
                  <a:cubicBezTo>
                    <a:pt x="299" y="3001"/>
                    <a:pt x="96" y="3215"/>
                    <a:pt x="96" y="3477"/>
                  </a:cubicBezTo>
                  <a:lnTo>
                    <a:pt x="96" y="3894"/>
                  </a:lnTo>
                  <a:cubicBezTo>
                    <a:pt x="96" y="4168"/>
                    <a:pt x="299" y="4370"/>
                    <a:pt x="572" y="4370"/>
                  </a:cubicBezTo>
                  <a:lnTo>
                    <a:pt x="4049" y="4370"/>
                  </a:lnTo>
                  <a:cubicBezTo>
                    <a:pt x="4311" y="4370"/>
                    <a:pt x="4525" y="4168"/>
                    <a:pt x="4525" y="3894"/>
                  </a:cubicBezTo>
                  <a:lnTo>
                    <a:pt x="4525" y="3477"/>
                  </a:lnTo>
                  <a:cubicBezTo>
                    <a:pt x="4525" y="3215"/>
                    <a:pt x="4311" y="3001"/>
                    <a:pt x="4049" y="3001"/>
                  </a:cubicBezTo>
                  <a:lnTo>
                    <a:pt x="3859" y="3001"/>
                  </a:lnTo>
                  <a:cubicBezTo>
                    <a:pt x="3787" y="3001"/>
                    <a:pt x="3704" y="2941"/>
                    <a:pt x="3704" y="2858"/>
                  </a:cubicBezTo>
                  <a:lnTo>
                    <a:pt x="3704" y="477"/>
                  </a:lnTo>
                  <a:cubicBezTo>
                    <a:pt x="3704" y="203"/>
                    <a:pt x="3501" y="1"/>
                    <a:pt x="3228" y="1"/>
                  </a:cubicBezTo>
                  <a:lnTo>
                    <a:pt x="1442" y="1"/>
                  </a:lnTo>
                  <a:cubicBezTo>
                    <a:pt x="1358" y="1"/>
                    <a:pt x="1287" y="72"/>
                    <a:pt x="1287" y="155"/>
                  </a:cubicBezTo>
                  <a:cubicBezTo>
                    <a:pt x="1287" y="251"/>
                    <a:pt x="1358" y="322"/>
                    <a:pt x="1442" y="322"/>
                  </a:cubicBezTo>
                  <a:lnTo>
                    <a:pt x="3228" y="322"/>
                  </a:lnTo>
                  <a:cubicBezTo>
                    <a:pt x="3311" y="322"/>
                    <a:pt x="3382" y="382"/>
                    <a:pt x="3382" y="477"/>
                  </a:cubicBezTo>
                  <a:lnTo>
                    <a:pt x="3382" y="2858"/>
                  </a:lnTo>
                  <a:cubicBezTo>
                    <a:pt x="3382" y="3120"/>
                    <a:pt x="3585" y="3334"/>
                    <a:pt x="3859" y="3334"/>
                  </a:cubicBezTo>
                  <a:lnTo>
                    <a:pt x="4049" y="3334"/>
                  </a:lnTo>
                  <a:cubicBezTo>
                    <a:pt x="4121" y="3334"/>
                    <a:pt x="4204" y="3394"/>
                    <a:pt x="4204" y="3477"/>
                  </a:cubicBezTo>
                  <a:lnTo>
                    <a:pt x="4204" y="3894"/>
                  </a:lnTo>
                  <a:cubicBezTo>
                    <a:pt x="4204" y="3965"/>
                    <a:pt x="4132" y="4049"/>
                    <a:pt x="4049" y="4049"/>
                  </a:cubicBezTo>
                  <a:lnTo>
                    <a:pt x="572" y="4049"/>
                  </a:lnTo>
                  <a:cubicBezTo>
                    <a:pt x="489" y="4049"/>
                    <a:pt x="418" y="3989"/>
                    <a:pt x="418" y="3894"/>
                  </a:cubicBezTo>
                  <a:lnTo>
                    <a:pt x="418" y="3477"/>
                  </a:lnTo>
                  <a:cubicBezTo>
                    <a:pt x="418" y="3406"/>
                    <a:pt x="477" y="3334"/>
                    <a:pt x="572" y="3334"/>
                  </a:cubicBezTo>
                  <a:lnTo>
                    <a:pt x="763" y="3334"/>
                  </a:lnTo>
                  <a:cubicBezTo>
                    <a:pt x="1025" y="3334"/>
                    <a:pt x="1239" y="3120"/>
                    <a:pt x="1239" y="2858"/>
                  </a:cubicBezTo>
                  <a:lnTo>
                    <a:pt x="1239" y="1513"/>
                  </a:lnTo>
                  <a:cubicBezTo>
                    <a:pt x="1239" y="1251"/>
                    <a:pt x="1025" y="1036"/>
                    <a:pt x="763" y="1036"/>
                  </a:cubicBezTo>
                  <a:lnTo>
                    <a:pt x="477" y="1036"/>
                  </a:lnTo>
                  <a:cubicBezTo>
                    <a:pt x="406" y="1036"/>
                    <a:pt x="334" y="977"/>
                    <a:pt x="334" y="893"/>
                  </a:cubicBezTo>
                  <a:lnTo>
                    <a:pt x="334" y="477"/>
                  </a:lnTo>
                  <a:cubicBezTo>
                    <a:pt x="334" y="393"/>
                    <a:pt x="394" y="322"/>
                    <a:pt x="477" y="322"/>
                  </a:cubicBezTo>
                  <a:lnTo>
                    <a:pt x="787" y="322"/>
                  </a:lnTo>
                  <a:cubicBezTo>
                    <a:pt x="882" y="322"/>
                    <a:pt x="953" y="251"/>
                    <a:pt x="953" y="155"/>
                  </a:cubicBezTo>
                  <a:cubicBezTo>
                    <a:pt x="953" y="72"/>
                    <a:pt x="882" y="1"/>
                    <a:pt x="787" y="1"/>
                  </a:cubicBezTo>
                  <a:close/>
                </a:path>
              </a:pathLst>
            </a:custGeom>
            <a:solidFill>
              <a:schemeClr val="lt2"/>
            </a:solidFill>
            <a:ln>
              <a:solidFill>
                <a:srgbClr val="0B589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 name="Google Shape;2124;p50">
            <a:extLst>
              <a:ext uri="{FF2B5EF4-FFF2-40B4-BE49-F238E27FC236}">
                <a16:creationId xmlns:a16="http://schemas.microsoft.com/office/drawing/2014/main" id="{D0FAFFC4-532D-4944-8A3C-56F7C4162B0A}"/>
              </a:ext>
            </a:extLst>
          </p:cNvPr>
          <p:cNvGrpSpPr/>
          <p:nvPr/>
        </p:nvGrpSpPr>
        <p:grpSpPr>
          <a:xfrm>
            <a:off x="6841356" y="4431352"/>
            <a:ext cx="286337" cy="286644"/>
            <a:chOff x="4673540" y="3680297"/>
            <a:chExt cx="355434" cy="355815"/>
          </a:xfrm>
        </p:grpSpPr>
        <p:sp>
          <p:nvSpPr>
            <p:cNvPr id="44" name="Google Shape;2125;p50">
              <a:extLst>
                <a:ext uri="{FF2B5EF4-FFF2-40B4-BE49-F238E27FC236}">
                  <a16:creationId xmlns:a16="http://schemas.microsoft.com/office/drawing/2014/main" id="{A214FCD6-1CC8-458A-A1FF-6BC1E84BCDD5}"/>
                </a:ext>
              </a:extLst>
            </p:cNvPr>
            <p:cNvSpPr/>
            <p:nvPr/>
          </p:nvSpPr>
          <p:spPr>
            <a:xfrm>
              <a:off x="4673540" y="3680297"/>
              <a:ext cx="355434" cy="355815"/>
            </a:xfrm>
            <a:custGeom>
              <a:avLst/>
              <a:gdLst/>
              <a:ahLst/>
              <a:cxnLst/>
              <a:rect l="l" t="t" r="r" b="b"/>
              <a:pathLst>
                <a:path w="11193" h="11205" extrusionOk="0">
                  <a:moveTo>
                    <a:pt x="2012" y="0"/>
                  </a:moveTo>
                  <a:cubicBezTo>
                    <a:pt x="905" y="0"/>
                    <a:pt x="0" y="893"/>
                    <a:pt x="0" y="2013"/>
                  </a:cubicBezTo>
                  <a:lnTo>
                    <a:pt x="0" y="9192"/>
                  </a:lnTo>
                  <a:cubicBezTo>
                    <a:pt x="0" y="10287"/>
                    <a:pt x="893" y="11204"/>
                    <a:pt x="2012" y="11204"/>
                  </a:cubicBezTo>
                  <a:lnTo>
                    <a:pt x="9180" y="11204"/>
                  </a:lnTo>
                  <a:cubicBezTo>
                    <a:pt x="10287" y="11204"/>
                    <a:pt x="11192" y="10311"/>
                    <a:pt x="11192" y="9192"/>
                  </a:cubicBezTo>
                  <a:lnTo>
                    <a:pt x="11192" y="2013"/>
                  </a:lnTo>
                  <a:cubicBezTo>
                    <a:pt x="11180" y="917"/>
                    <a:pt x="10287" y="0"/>
                    <a:pt x="9180" y="0"/>
                  </a:cubicBezTo>
                  <a:lnTo>
                    <a:pt x="8085" y="0"/>
                  </a:lnTo>
                  <a:cubicBezTo>
                    <a:pt x="7989" y="0"/>
                    <a:pt x="7918" y="84"/>
                    <a:pt x="7918" y="167"/>
                  </a:cubicBezTo>
                  <a:cubicBezTo>
                    <a:pt x="7918" y="262"/>
                    <a:pt x="7989" y="334"/>
                    <a:pt x="8085" y="334"/>
                  </a:cubicBezTo>
                  <a:lnTo>
                    <a:pt x="9180" y="334"/>
                  </a:lnTo>
                  <a:cubicBezTo>
                    <a:pt x="10109" y="334"/>
                    <a:pt x="10847" y="1084"/>
                    <a:pt x="10847" y="2001"/>
                  </a:cubicBezTo>
                  <a:lnTo>
                    <a:pt x="10847" y="9180"/>
                  </a:lnTo>
                  <a:cubicBezTo>
                    <a:pt x="10847" y="10097"/>
                    <a:pt x="10109" y="10847"/>
                    <a:pt x="9180" y="10847"/>
                  </a:cubicBezTo>
                  <a:lnTo>
                    <a:pt x="2012" y="10847"/>
                  </a:lnTo>
                  <a:cubicBezTo>
                    <a:pt x="1084" y="10847"/>
                    <a:pt x="345" y="10097"/>
                    <a:pt x="345" y="9180"/>
                  </a:cubicBezTo>
                  <a:lnTo>
                    <a:pt x="345" y="2001"/>
                  </a:lnTo>
                  <a:cubicBezTo>
                    <a:pt x="345" y="1084"/>
                    <a:pt x="1084" y="334"/>
                    <a:pt x="2012" y="334"/>
                  </a:cubicBezTo>
                  <a:lnTo>
                    <a:pt x="7418" y="334"/>
                  </a:lnTo>
                  <a:cubicBezTo>
                    <a:pt x="7501" y="334"/>
                    <a:pt x="7573" y="262"/>
                    <a:pt x="7573" y="167"/>
                  </a:cubicBezTo>
                  <a:cubicBezTo>
                    <a:pt x="7573" y="84"/>
                    <a:pt x="7501" y="0"/>
                    <a:pt x="7418" y="0"/>
                  </a:cubicBezTo>
                  <a:close/>
                </a:path>
              </a:pathLst>
            </a:custGeom>
            <a:solidFill>
              <a:schemeClr val="lt2"/>
            </a:solidFill>
            <a:ln>
              <a:solidFill>
                <a:srgbClr val="0B589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126;p50">
              <a:extLst>
                <a:ext uri="{FF2B5EF4-FFF2-40B4-BE49-F238E27FC236}">
                  <a16:creationId xmlns:a16="http://schemas.microsoft.com/office/drawing/2014/main" id="{FBC3B93A-416F-4BE1-9B72-00921D37499F}"/>
                </a:ext>
              </a:extLst>
            </p:cNvPr>
            <p:cNvSpPr/>
            <p:nvPr/>
          </p:nvSpPr>
          <p:spPr>
            <a:xfrm>
              <a:off x="4805864" y="3736630"/>
              <a:ext cx="93042" cy="92661"/>
            </a:xfrm>
            <a:custGeom>
              <a:avLst/>
              <a:gdLst/>
              <a:ahLst/>
              <a:cxnLst/>
              <a:rect l="l" t="t" r="r" b="b"/>
              <a:pathLst>
                <a:path w="2930" h="2918" extrusionOk="0">
                  <a:moveTo>
                    <a:pt x="1477" y="334"/>
                  </a:moveTo>
                  <a:cubicBezTo>
                    <a:pt x="2096" y="334"/>
                    <a:pt x="2608" y="834"/>
                    <a:pt x="2608" y="1465"/>
                  </a:cubicBezTo>
                  <a:cubicBezTo>
                    <a:pt x="2608" y="2084"/>
                    <a:pt x="2096" y="2596"/>
                    <a:pt x="1477" y="2596"/>
                  </a:cubicBezTo>
                  <a:cubicBezTo>
                    <a:pt x="846" y="2596"/>
                    <a:pt x="346" y="2084"/>
                    <a:pt x="346" y="1465"/>
                  </a:cubicBezTo>
                  <a:cubicBezTo>
                    <a:pt x="346" y="834"/>
                    <a:pt x="846" y="334"/>
                    <a:pt x="1477" y="334"/>
                  </a:cubicBezTo>
                  <a:close/>
                  <a:moveTo>
                    <a:pt x="1477" y="0"/>
                  </a:moveTo>
                  <a:cubicBezTo>
                    <a:pt x="667" y="0"/>
                    <a:pt x="12" y="655"/>
                    <a:pt x="12" y="1465"/>
                  </a:cubicBezTo>
                  <a:cubicBezTo>
                    <a:pt x="0" y="2263"/>
                    <a:pt x="655" y="2918"/>
                    <a:pt x="1477" y="2918"/>
                  </a:cubicBezTo>
                  <a:cubicBezTo>
                    <a:pt x="2274" y="2918"/>
                    <a:pt x="2929" y="2263"/>
                    <a:pt x="2929" y="1465"/>
                  </a:cubicBezTo>
                  <a:cubicBezTo>
                    <a:pt x="2929" y="655"/>
                    <a:pt x="2274" y="0"/>
                    <a:pt x="1477" y="0"/>
                  </a:cubicBezTo>
                  <a:close/>
                </a:path>
              </a:pathLst>
            </a:custGeom>
            <a:solidFill>
              <a:schemeClr val="lt2"/>
            </a:solidFill>
            <a:ln>
              <a:solidFill>
                <a:srgbClr val="0B589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127;p50">
              <a:extLst>
                <a:ext uri="{FF2B5EF4-FFF2-40B4-BE49-F238E27FC236}">
                  <a16:creationId xmlns:a16="http://schemas.microsoft.com/office/drawing/2014/main" id="{35BE008B-FDBB-4300-A39B-CDA792EE33F4}"/>
                </a:ext>
              </a:extLst>
            </p:cNvPr>
            <p:cNvSpPr/>
            <p:nvPr/>
          </p:nvSpPr>
          <p:spPr>
            <a:xfrm>
              <a:off x="4779380" y="3841358"/>
              <a:ext cx="143723" cy="138801"/>
            </a:xfrm>
            <a:custGeom>
              <a:avLst/>
              <a:gdLst/>
              <a:ahLst/>
              <a:cxnLst/>
              <a:rect l="l" t="t" r="r" b="b"/>
              <a:pathLst>
                <a:path w="4526" h="4371" extrusionOk="0">
                  <a:moveTo>
                    <a:pt x="477" y="1"/>
                  </a:moveTo>
                  <a:cubicBezTo>
                    <a:pt x="215" y="1"/>
                    <a:pt x="1" y="203"/>
                    <a:pt x="1" y="477"/>
                  </a:cubicBezTo>
                  <a:lnTo>
                    <a:pt x="1" y="893"/>
                  </a:lnTo>
                  <a:cubicBezTo>
                    <a:pt x="1" y="1155"/>
                    <a:pt x="203" y="1370"/>
                    <a:pt x="477" y="1370"/>
                  </a:cubicBezTo>
                  <a:lnTo>
                    <a:pt x="763" y="1370"/>
                  </a:lnTo>
                  <a:cubicBezTo>
                    <a:pt x="834" y="1370"/>
                    <a:pt x="906" y="1429"/>
                    <a:pt x="906" y="1513"/>
                  </a:cubicBezTo>
                  <a:lnTo>
                    <a:pt x="906" y="2858"/>
                  </a:lnTo>
                  <a:cubicBezTo>
                    <a:pt x="906" y="2929"/>
                    <a:pt x="846" y="3001"/>
                    <a:pt x="763" y="3001"/>
                  </a:cubicBezTo>
                  <a:lnTo>
                    <a:pt x="572" y="3001"/>
                  </a:lnTo>
                  <a:cubicBezTo>
                    <a:pt x="299" y="3001"/>
                    <a:pt x="96" y="3215"/>
                    <a:pt x="96" y="3477"/>
                  </a:cubicBezTo>
                  <a:lnTo>
                    <a:pt x="96" y="3894"/>
                  </a:lnTo>
                  <a:cubicBezTo>
                    <a:pt x="96" y="4168"/>
                    <a:pt x="299" y="4370"/>
                    <a:pt x="572" y="4370"/>
                  </a:cubicBezTo>
                  <a:lnTo>
                    <a:pt x="4049" y="4370"/>
                  </a:lnTo>
                  <a:cubicBezTo>
                    <a:pt x="4311" y="4370"/>
                    <a:pt x="4525" y="4168"/>
                    <a:pt x="4525" y="3894"/>
                  </a:cubicBezTo>
                  <a:lnTo>
                    <a:pt x="4525" y="3477"/>
                  </a:lnTo>
                  <a:cubicBezTo>
                    <a:pt x="4525" y="3215"/>
                    <a:pt x="4311" y="3001"/>
                    <a:pt x="4049" y="3001"/>
                  </a:cubicBezTo>
                  <a:lnTo>
                    <a:pt x="3859" y="3001"/>
                  </a:lnTo>
                  <a:cubicBezTo>
                    <a:pt x="3787" y="3001"/>
                    <a:pt x="3704" y="2941"/>
                    <a:pt x="3704" y="2858"/>
                  </a:cubicBezTo>
                  <a:lnTo>
                    <a:pt x="3704" y="477"/>
                  </a:lnTo>
                  <a:cubicBezTo>
                    <a:pt x="3704" y="203"/>
                    <a:pt x="3501" y="1"/>
                    <a:pt x="3228" y="1"/>
                  </a:cubicBezTo>
                  <a:lnTo>
                    <a:pt x="1442" y="1"/>
                  </a:lnTo>
                  <a:cubicBezTo>
                    <a:pt x="1358" y="1"/>
                    <a:pt x="1287" y="72"/>
                    <a:pt x="1287" y="155"/>
                  </a:cubicBezTo>
                  <a:cubicBezTo>
                    <a:pt x="1287" y="251"/>
                    <a:pt x="1358" y="322"/>
                    <a:pt x="1442" y="322"/>
                  </a:cubicBezTo>
                  <a:lnTo>
                    <a:pt x="3228" y="322"/>
                  </a:lnTo>
                  <a:cubicBezTo>
                    <a:pt x="3311" y="322"/>
                    <a:pt x="3382" y="382"/>
                    <a:pt x="3382" y="477"/>
                  </a:cubicBezTo>
                  <a:lnTo>
                    <a:pt x="3382" y="2858"/>
                  </a:lnTo>
                  <a:cubicBezTo>
                    <a:pt x="3382" y="3120"/>
                    <a:pt x="3585" y="3334"/>
                    <a:pt x="3859" y="3334"/>
                  </a:cubicBezTo>
                  <a:lnTo>
                    <a:pt x="4049" y="3334"/>
                  </a:lnTo>
                  <a:cubicBezTo>
                    <a:pt x="4121" y="3334"/>
                    <a:pt x="4204" y="3394"/>
                    <a:pt x="4204" y="3477"/>
                  </a:cubicBezTo>
                  <a:lnTo>
                    <a:pt x="4204" y="3894"/>
                  </a:lnTo>
                  <a:cubicBezTo>
                    <a:pt x="4204" y="3965"/>
                    <a:pt x="4132" y="4049"/>
                    <a:pt x="4049" y="4049"/>
                  </a:cubicBezTo>
                  <a:lnTo>
                    <a:pt x="572" y="4049"/>
                  </a:lnTo>
                  <a:cubicBezTo>
                    <a:pt x="489" y="4049"/>
                    <a:pt x="418" y="3989"/>
                    <a:pt x="418" y="3894"/>
                  </a:cubicBezTo>
                  <a:lnTo>
                    <a:pt x="418" y="3477"/>
                  </a:lnTo>
                  <a:cubicBezTo>
                    <a:pt x="418" y="3406"/>
                    <a:pt x="477" y="3334"/>
                    <a:pt x="572" y="3334"/>
                  </a:cubicBezTo>
                  <a:lnTo>
                    <a:pt x="763" y="3334"/>
                  </a:lnTo>
                  <a:cubicBezTo>
                    <a:pt x="1025" y="3334"/>
                    <a:pt x="1239" y="3120"/>
                    <a:pt x="1239" y="2858"/>
                  </a:cubicBezTo>
                  <a:lnTo>
                    <a:pt x="1239" y="1513"/>
                  </a:lnTo>
                  <a:cubicBezTo>
                    <a:pt x="1239" y="1251"/>
                    <a:pt x="1025" y="1036"/>
                    <a:pt x="763" y="1036"/>
                  </a:cubicBezTo>
                  <a:lnTo>
                    <a:pt x="477" y="1036"/>
                  </a:lnTo>
                  <a:cubicBezTo>
                    <a:pt x="406" y="1036"/>
                    <a:pt x="334" y="977"/>
                    <a:pt x="334" y="893"/>
                  </a:cubicBezTo>
                  <a:lnTo>
                    <a:pt x="334" y="477"/>
                  </a:lnTo>
                  <a:cubicBezTo>
                    <a:pt x="334" y="393"/>
                    <a:pt x="394" y="322"/>
                    <a:pt x="477" y="322"/>
                  </a:cubicBezTo>
                  <a:lnTo>
                    <a:pt x="787" y="322"/>
                  </a:lnTo>
                  <a:cubicBezTo>
                    <a:pt x="882" y="322"/>
                    <a:pt x="953" y="251"/>
                    <a:pt x="953" y="155"/>
                  </a:cubicBezTo>
                  <a:cubicBezTo>
                    <a:pt x="953" y="72"/>
                    <a:pt x="882" y="1"/>
                    <a:pt x="787" y="1"/>
                  </a:cubicBezTo>
                  <a:close/>
                </a:path>
              </a:pathLst>
            </a:custGeom>
            <a:solidFill>
              <a:schemeClr val="lt2"/>
            </a:solidFill>
            <a:ln>
              <a:solidFill>
                <a:srgbClr val="0B589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Título 1">
            <a:extLst>
              <a:ext uri="{FF2B5EF4-FFF2-40B4-BE49-F238E27FC236}">
                <a16:creationId xmlns:a16="http://schemas.microsoft.com/office/drawing/2014/main" id="{4E8FEA97-E527-4DEC-A33F-6E8CE784E28D}"/>
              </a:ext>
            </a:extLst>
          </p:cNvPr>
          <p:cNvSpPr txBox="1">
            <a:spLocks/>
          </p:cNvSpPr>
          <p:nvPr/>
        </p:nvSpPr>
        <p:spPr>
          <a:xfrm>
            <a:off x="5946417" y="431573"/>
            <a:ext cx="5811865"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pt-BR" sz="1600" spc="600" dirty="0">
                <a:solidFill>
                  <a:srgbClr val="0B5892"/>
                </a:solidFill>
                <a:latin typeface="Arial" panose="020B0604020202020204" pitchFamily="34" charset="0"/>
                <a:cs typeface="Arial" panose="020B0604020202020204" pitchFamily="34" charset="0"/>
              </a:rPr>
              <a:t>CRC</a:t>
            </a:r>
          </a:p>
        </p:txBody>
      </p:sp>
      <p:sp>
        <p:nvSpPr>
          <p:cNvPr id="64" name="CaixaDeTexto 63">
            <a:extLst>
              <a:ext uri="{FF2B5EF4-FFF2-40B4-BE49-F238E27FC236}">
                <a16:creationId xmlns:a16="http://schemas.microsoft.com/office/drawing/2014/main" id="{FA79F583-90A8-4A54-8FBF-9610D7229A54}"/>
              </a:ext>
            </a:extLst>
          </p:cNvPr>
          <p:cNvSpPr txBox="1"/>
          <p:nvPr/>
        </p:nvSpPr>
        <p:spPr>
          <a:xfrm>
            <a:off x="1660487" y="4614231"/>
            <a:ext cx="3676273" cy="646331"/>
          </a:xfrm>
          <a:prstGeom prst="rect">
            <a:avLst/>
          </a:prstGeom>
          <a:noFill/>
        </p:spPr>
        <p:txBody>
          <a:bodyPr wrap="square" rtlCol="0">
            <a:spAutoFit/>
          </a:bodyPr>
          <a:lstStyle/>
          <a:p>
            <a:pPr algn="just"/>
            <a:r>
              <a:rPr lang="pt-BR" sz="1200" dirty="0">
                <a:solidFill>
                  <a:schemeClr val="tx1">
                    <a:lumMod val="65000"/>
                    <a:lumOff val="35000"/>
                  </a:schemeClr>
                </a:solidFill>
                <a:latin typeface="Arial" panose="020B0604020202020204" pitchFamily="34" charset="0"/>
                <a:cs typeface="Arial" panose="020B0604020202020204" pitchFamily="34" charset="0"/>
              </a:rPr>
              <a:t>No consolidado dos quatro ciclos, 75,18% foram realizados dentro do prazo, 14,18% estão </a:t>
            </a:r>
            <a:r>
              <a:rPr lang="pt-BR" sz="1200" dirty="0">
                <a:solidFill>
                  <a:schemeClr val="bg2">
                    <a:lumMod val="50000"/>
                  </a:schemeClr>
                </a:solidFill>
                <a:latin typeface="Arial" panose="020B0604020202020204" pitchFamily="34" charset="0"/>
                <a:cs typeface="Arial" panose="020B0604020202020204" pitchFamily="34" charset="0"/>
              </a:rPr>
              <a:t>Justificados </a:t>
            </a:r>
            <a:r>
              <a:rPr lang="pt-BR" sz="1200" dirty="0">
                <a:solidFill>
                  <a:schemeClr val="tx1">
                    <a:lumMod val="65000"/>
                    <a:lumOff val="35000"/>
                  </a:schemeClr>
                </a:solidFill>
                <a:latin typeface="Arial" panose="020B0604020202020204" pitchFamily="34" charset="0"/>
                <a:cs typeface="Arial" panose="020B0604020202020204" pitchFamily="34" charset="0"/>
              </a:rPr>
              <a:t>e 10,64% ficaram fora do prazo.</a:t>
            </a:r>
          </a:p>
        </p:txBody>
      </p:sp>
      <p:sp>
        <p:nvSpPr>
          <p:cNvPr id="65" name="CaixaDeTexto 64">
            <a:extLst>
              <a:ext uri="{FF2B5EF4-FFF2-40B4-BE49-F238E27FC236}">
                <a16:creationId xmlns:a16="http://schemas.microsoft.com/office/drawing/2014/main" id="{5DF19FB4-88B5-4F11-A597-D9CA2BF293D2}"/>
              </a:ext>
            </a:extLst>
          </p:cNvPr>
          <p:cNvSpPr txBox="1"/>
          <p:nvPr/>
        </p:nvSpPr>
        <p:spPr>
          <a:xfrm>
            <a:off x="7212958" y="4651220"/>
            <a:ext cx="3676273" cy="646331"/>
          </a:xfrm>
          <a:prstGeom prst="rect">
            <a:avLst/>
          </a:prstGeom>
          <a:noFill/>
        </p:spPr>
        <p:txBody>
          <a:bodyPr wrap="square" rtlCol="0">
            <a:spAutoFit/>
          </a:bodyPr>
          <a:lstStyle/>
          <a:p>
            <a:pPr algn="just"/>
            <a:r>
              <a:rPr lang="pt-BR" sz="1200" dirty="0">
                <a:solidFill>
                  <a:schemeClr val="tx1">
                    <a:lumMod val="65000"/>
                    <a:lumOff val="35000"/>
                  </a:schemeClr>
                </a:solidFill>
                <a:latin typeface="Arial" panose="020B0604020202020204" pitchFamily="34" charset="0"/>
                <a:cs typeface="Arial" panose="020B0604020202020204" pitchFamily="34" charset="0"/>
              </a:rPr>
              <a:t>No consolidado dos quatro ciclos, 73,13% foram realizados dentro do prazo, 14,93% estão </a:t>
            </a:r>
            <a:r>
              <a:rPr lang="pt-BR" sz="1200" dirty="0">
                <a:solidFill>
                  <a:schemeClr val="bg2">
                    <a:lumMod val="50000"/>
                  </a:schemeClr>
                </a:solidFill>
                <a:latin typeface="Arial" panose="020B0604020202020204" pitchFamily="34" charset="0"/>
                <a:cs typeface="Arial" panose="020B0604020202020204" pitchFamily="34" charset="0"/>
              </a:rPr>
              <a:t>Justificados </a:t>
            </a:r>
            <a:r>
              <a:rPr lang="pt-BR" sz="1200" dirty="0">
                <a:solidFill>
                  <a:schemeClr val="tx1">
                    <a:lumMod val="65000"/>
                    <a:lumOff val="35000"/>
                  </a:schemeClr>
                </a:solidFill>
                <a:latin typeface="Arial" panose="020B0604020202020204" pitchFamily="34" charset="0"/>
                <a:cs typeface="Arial" panose="020B0604020202020204" pitchFamily="34" charset="0"/>
              </a:rPr>
              <a:t>e 11,94% ficaram fora do prazo.</a:t>
            </a:r>
          </a:p>
        </p:txBody>
      </p:sp>
      <p:sp>
        <p:nvSpPr>
          <p:cNvPr id="50" name="CaixaDeTexto 49">
            <a:extLst>
              <a:ext uri="{FF2B5EF4-FFF2-40B4-BE49-F238E27FC236}">
                <a16:creationId xmlns:a16="http://schemas.microsoft.com/office/drawing/2014/main" id="{DBEB0B8A-7AF8-48B4-ADE1-2E8F6608D529}"/>
              </a:ext>
            </a:extLst>
          </p:cNvPr>
          <p:cNvSpPr txBox="1"/>
          <p:nvPr/>
        </p:nvSpPr>
        <p:spPr>
          <a:xfrm>
            <a:off x="2042967" y="2744097"/>
            <a:ext cx="548639" cy="200055"/>
          </a:xfrm>
          <a:prstGeom prst="rect">
            <a:avLst/>
          </a:prstGeom>
          <a:noFill/>
        </p:spPr>
        <p:txBody>
          <a:bodyPr wrap="square" rtlCol="0">
            <a:spAutoFit/>
          </a:bodyPr>
          <a:lstStyle/>
          <a:p>
            <a:pPr algn="ctr"/>
            <a:r>
              <a:rPr lang="pt-BR" sz="700" dirty="0">
                <a:solidFill>
                  <a:schemeClr val="tx1">
                    <a:lumMod val="85000"/>
                    <a:lumOff val="15000"/>
                  </a:schemeClr>
                </a:solidFill>
                <a:latin typeface="Arial" panose="020B0604020202020204" pitchFamily="34" charset="0"/>
                <a:cs typeface="Arial" panose="020B0604020202020204" pitchFamily="34" charset="0"/>
              </a:rPr>
              <a:t>23,91%</a:t>
            </a:r>
          </a:p>
        </p:txBody>
      </p:sp>
      <p:sp>
        <p:nvSpPr>
          <p:cNvPr id="51" name="CaixaDeTexto 50">
            <a:extLst>
              <a:ext uri="{FF2B5EF4-FFF2-40B4-BE49-F238E27FC236}">
                <a16:creationId xmlns:a16="http://schemas.microsoft.com/office/drawing/2014/main" id="{C2FA0EF8-7DF7-4231-96FC-9F4410822C8E}"/>
              </a:ext>
            </a:extLst>
          </p:cNvPr>
          <p:cNvSpPr txBox="1"/>
          <p:nvPr/>
        </p:nvSpPr>
        <p:spPr>
          <a:xfrm>
            <a:off x="1739007" y="2930807"/>
            <a:ext cx="548639" cy="200055"/>
          </a:xfrm>
          <a:prstGeom prst="rect">
            <a:avLst/>
          </a:prstGeom>
          <a:noFill/>
        </p:spPr>
        <p:txBody>
          <a:bodyPr wrap="square" rtlCol="0">
            <a:spAutoFit/>
          </a:bodyPr>
          <a:lstStyle/>
          <a:p>
            <a:pPr algn="ctr"/>
            <a:r>
              <a:rPr lang="pt-BR" sz="700" dirty="0">
                <a:solidFill>
                  <a:schemeClr val="tx1">
                    <a:lumMod val="85000"/>
                    <a:lumOff val="15000"/>
                  </a:schemeClr>
                </a:solidFill>
                <a:latin typeface="Arial" panose="020B0604020202020204" pitchFamily="34" charset="0"/>
                <a:cs typeface="Arial" panose="020B0604020202020204" pitchFamily="34" charset="0"/>
              </a:rPr>
              <a:t>21,74%</a:t>
            </a:r>
          </a:p>
        </p:txBody>
      </p:sp>
      <p:sp>
        <p:nvSpPr>
          <p:cNvPr id="52" name="CaixaDeTexto 51">
            <a:extLst>
              <a:ext uri="{FF2B5EF4-FFF2-40B4-BE49-F238E27FC236}">
                <a16:creationId xmlns:a16="http://schemas.microsoft.com/office/drawing/2014/main" id="{21A54179-6D55-47A7-8913-4DC2CE6C5E63}"/>
              </a:ext>
            </a:extLst>
          </p:cNvPr>
          <p:cNvSpPr txBox="1"/>
          <p:nvPr/>
        </p:nvSpPr>
        <p:spPr>
          <a:xfrm>
            <a:off x="1457354" y="2761097"/>
            <a:ext cx="548639" cy="200055"/>
          </a:xfrm>
          <a:prstGeom prst="rect">
            <a:avLst/>
          </a:prstGeom>
          <a:noFill/>
        </p:spPr>
        <p:txBody>
          <a:bodyPr wrap="square" rtlCol="0">
            <a:spAutoFit/>
          </a:bodyPr>
          <a:lstStyle/>
          <a:p>
            <a:pPr algn="ctr"/>
            <a:r>
              <a:rPr lang="pt-BR" sz="700" dirty="0">
                <a:solidFill>
                  <a:schemeClr val="tx1">
                    <a:lumMod val="85000"/>
                    <a:lumOff val="15000"/>
                  </a:schemeClr>
                </a:solidFill>
                <a:latin typeface="Arial" panose="020B0604020202020204" pitchFamily="34" charset="0"/>
                <a:cs typeface="Arial" panose="020B0604020202020204" pitchFamily="34" charset="0"/>
              </a:rPr>
              <a:t>54,35%</a:t>
            </a:r>
          </a:p>
        </p:txBody>
      </p:sp>
      <p:sp>
        <p:nvSpPr>
          <p:cNvPr id="53" name="CaixaDeTexto 52">
            <a:extLst>
              <a:ext uri="{FF2B5EF4-FFF2-40B4-BE49-F238E27FC236}">
                <a16:creationId xmlns:a16="http://schemas.microsoft.com/office/drawing/2014/main" id="{EE1C5483-F972-4D28-A9E7-55A873BFE0A5}"/>
              </a:ext>
            </a:extLst>
          </p:cNvPr>
          <p:cNvSpPr txBox="1"/>
          <p:nvPr/>
        </p:nvSpPr>
        <p:spPr>
          <a:xfrm>
            <a:off x="3012756" y="2951212"/>
            <a:ext cx="548639" cy="200055"/>
          </a:xfrm>
          <a:prstGeom prst="rect">
            <a:avLst/>
          </a:prstGeom>
          <a:noFill/>
        </p:spPr>
        <p:txBody>
          <a:bodyPr wrap="square" rtlCol="0">
            <a:spAutoFit/>
          </a:bodyPr>
          <a:lstStyle/>
          <a:p>
            <a:pPr algn="ctr"/>
            <a:r>
              <a:rPr lang="pt-BR" sz="700" dirty="0">
                <a:solidFill>
                  <a:schemeClr val="tx1">
                    <a:lumMod val="85000"/>
                    <a:lumOff val="15000"/>
                  </a:schemeClr>
                </a:solidFill>
                <a:latin typeface="Arial" panose="020B0604020202020204" pitchFamily="34" charset="0"/>
                <a:cs typeface="Arial" panose="020B0604020202020204" pitchFamily="34" charset="0"/>
              </a:rPr>
              <a:t>5,36%</a:t>
            </a:r>
          </a:p>
        </p:txBody>
      </p:sp>
      <p:sp>
        <p:nvSpPr>
          <p:cNvPr id="54" name="CaixaDeTexto 53">
            <a:extLst>
              <a:ext uri="{FF2B5EF4-FFF2-40B4-BE49-F238E27FC236}">
                <a16:creationId xmlns:a16="http://schemas.microsoft.com/office/drawing/2014/main" id="{26017814-D59D-4FB5-83AF-1BE73151AEDD}"/>
              </a:ext>
            </a:extLst>
          </p:cNvPr>
          <p:cNvSpPr txBox="1"/>
          <p:nvPr/>
        </p:nvSpPr>
        <p:spPr>
          <a:xfrm>
            <a:off x="2743797" y="2783063"/>
            <a:ext cx="548639" cy="200055"/>
          </a:xfrm>
          <a:prstGeom prst="rect">
            <a:avLst/>
          </a:prstGeom>
          <a:noFill/>
        </p:spPr>
        <p:txBody>
          <a:bodyPr wrap="square" rtlCol="0">
            <a:spAutoFit/>
          </a:bodyPr>
          <a:lstStyle/>
          <a:p>
            <a:pPr algn="ctr"/>
            <a:r>
              <a:rPr lang="pt-BR" sz="700" dirty="0">
                <a:solidFill>
                  <a:schemeClr val="tx1">
                    <a:lumMod val="85000"/>
                    <a:lumOff val="15000"/>
                  </a:schemeClr>
                </a:solidFill>
                <a:latin typeface="Arial" panose="020B0604020202020204" pitchFamily="34" charset="0"/>
                <a:cs typeface="Arial" panose="020B0604020202020204" pitchFamily="34" charset="0"/>
              </a:rPr>
              <a:t>16,07%</a:t>
            </a:r>
          </a:p>
        </p:txBody>
      </p:sp>
      <p:sp>
        <p:nvSpPr>
          <p:cNvPr id="55" name="CaixaDeTexto 54">
            <a:extLst>
              <a:ext uri="{FF2B5EF4-FFF2-40B4-BE49-F238E27FC236}">
                <a16:creationId xmlns:a16="http://schemas.microsoft.com/office/drawing/2014/main" id="{0CCF1A9D-383F-41D7-B594-2854866CE3F1}"/>
              </a:ext>
            </a:extLst>
          </p:cNvPr>
          <p:cNvSpPr txBox="1"/>
          <p:nvPr/>
        </p:nvSpPr>
        <p:spPr>
          <a:xfrm>
            <a:off x="2449814" y="2454890"/>
            <a:ext cx="548639" cy="200055"/>
          </a:xfrm>
          <a:prstGeom prst="rect">
            <a:avLst/>
          </a:prstGeom>
          <a:noFill/>
        </p:spPr>
        <p:txBody>
          <a:bodyPr wrap="square" rtlCol="0">
            <a:spAutoFit/>
          </a:bodyPr>
          <a:lstStyle/>
          <a:p>
            <a:pPr algn="ctr"/>
            <a:r>
              <a:rPr lang="pt-BR" sz="700" dirty="0">
                <a:solidFill>
                  <a:schemeClr val="tx1">
                    <a:lumMod val="85000"/>
                    <a:lumOff val="15000"/>
                  </a:schemeClr>
                </a:solidFill>
                <a:latin typeface="Arial" panose="020B0604020202020204" pitchFamily="34" charset="0"/>
                <a:cs typeface="Arial" panose="020B0604020202020204" pitchFamily="34" charset="0"/>
              </a:rPr>
              <a:t>78,57%</a:t>
            </a:r>
          </a:p>
        </p:txBody>
      </p:sp>
      <p:sp>
        <p:nvSpPr>
          <p:cNvPr id="56" name="CaixaDeTexto 55">
            <a:extLst>
              <a:ext uri="{FF2B5EF4-FFF2-40B4-BE49-F238E27FC236}">
                <a16:creationId xmlns:a16="http://schemas.microsoft.com/office/drawing/2014/main" id="{2D1B0BC1-D6CB-4D12-AA1B-98BF9D777371}"/>
              </a:ext>
            </a:extLst>
          </p:cNvPr>
          <p:cNvSpPr txBox="1"/>
          <p:nvPr/>
        </p:nvSpPr>
        <p:spPr>
          <a:xfrm>
            <a:off x="4043978" y="2870411"/>
            <a:ext cx="548639" cy="200055"/>
          </a:xfrm>
          <a:prstGeom prst="rect">
            <a:avLst/>
          </a:prstGeom>
          <a:noFill/>
        </p:spPr>
        <p:txBody>
          <a:bodyPr wrap="square" rtlCol="0">
            <a:spAutoFit/>
          </a:bodyPr>
          <a:lstStyle/>
          <a:p>
            <a:pPr algn="ctr"/>
            <a:r>
              <a:rPr lang="pt-BR" sz="700" dirty="0">
                <a:solidFill>
                  <a:schemeClr val="tx1">
                    <a:lumMod val="85000"/>
                    <a:lumOff val="15000"/>
                  </a:schemeClr>
                </a:solidFill>
                <a:latin typeface="Arial" panose="020B0604020202020204" pitchFamily="34" charset="0"/>
                <a:cs typeface="Arial" panose="020B0604020202020204" pitchFamily="34" charset="0"/>
              </a:rPr>
              <a:t>15,46%</a:t>
            </a:r>
          </a:p>
        </p:txBody>
      </p:sp>
      <p:sp>
        <p:nvSpPr>
          <p:cNvPr id="57" name="CaixaDeTexto 56">
            <a:extLst>
              <a:ext uri="{FF2B5EF4-FFF2-40B4-BE49-F238E27FC236}">
                <a16:creationId xmlns:a16="http://schemas.microsoft.com/office/drawing/2014/main" id="{CEC5C187-C1F1-454D-9DC9-0424B5309633}"/>
              </a:ext>
            </a:extLst>
          </p:cNvPr>
          <p:cNvSpPr txBox="1"/>
          <p:nvPr/>
        </p:nvSpPr>
        <p:spPr>
          <a:xfrm>
            <a:off x="3762283" y="3011597"/>
            <a:ext cx="548639" cy="200055"/>
          </a:xfrm>
          <a:prstGeom prst="rect">
            <a:avLst/>
          </a:prstGeom>
          <a:noFill/>
        </p:spPr>
        <p:txBody>
          <a:bodyPr wrap="square" rtlCol="0">
            <a:spAutoFit/>
          </a:bodyPr>
          <a:lstStyle/>
          <a:p>
            <a:pPr algn="ctr"/>
            <a:r>
              <a:rPr lang="pt-BR" sz="700" dirty="0">
                <a:solidFill>
                  <a:schemeClr val="tx1">
                    <a:lumMod val="85000"/>
                    <a:lumOff val="15000"/>
                  </a:schemeClr>
                </a:solidFill>
                <a:latin typeface="Arial" panose="020B0604020202020204" pitchFamily="34" charset="0"/>
                <a:cs typeface="Arial" panose="020B0604020202020204" pitchFamily="34" charset="0"/>
              </a:rPr>
              <a:t>6,19%</a:t>
            </a:r>
          </a:p>
        </p:txBody>
      </p:sp>
      <p:sp>
        <p:nvSpPr>
          <p:cNvPr id="60" name="CaixaDeTexto 59">
            <a:extLst>
              <a:ext uri="{FF2B5EF4-FFF2-40B4-BE49-F238E27FC236}">
                <a16:creationId xmlns:a16="http://schemas.microsoft.com/office/drawing/2014/main" id="{9F854BC7-4F4E-4137-84B6-D039ADC541DC}"/>
              </a:ext>
            </a:extLst>
          </p:cNvPr>
          <p:cNvSpPr txBox="1"/>
          <p:nvPr/>
        </p:nvSpPr>
        <p:spPr>
          <a:xfrm>
            <a:off x="3534464" y="2182061"/>
            <a:ext cx="548639" cy="200055"/>
          </a:xfrm>
          <a:prstGeom prst="rect">
            <a:avLst/>
          </a:prstGeom>
          <a:noFill/>
        </p:spPr>
        <p:txBody>
          <a:bodyPr wrap="square" rtlCol="0">
            <a:spAutoFit/>
          </a:bodyPr>
          <a:lstStyle/>
          <a:p>
            <a:pPr algn="ctr"/>
            <a:r>
              <a:rPr lang="pt-BR" sz="700" dirty="0">
                <a:solidFill>
                  <a:schemeClr val="tx1">
                    <a:lumMod val="85000"/>
                    <a:lumOff val="15000"/>
                  </a:schemeClr>
                </a:solidFill>
                <a:latin typeface="Arial" panose="020B0604020202020204" pitchFamily="34" charset="0"/>
                <a:cs typeface="Arial" panose="020B0604020202020204" pitchFamily="34" charset="0"/>
              </a:rPr>
              <a:t>78,35%</a:t>
            </a:r>
          </a:p>
        </p:txBody>
      </p:sp>
      <p:sp>
        <p:nvSpPr>
          <p:cNvPr id="61" name="CaixaDeTexto 60">
            <a:extLst>
              <a:ext uri="{FF2B5EF4-FFF2-40B4-BE49-F238E27FC236}">
                <a16:creationId xmlns:a16="http://schemas.microsoft.com/office/drawing/2014/main" id="{AA53C8F8-A521-4D49-A01E-71337756BAC7}"/>
              </a:ext>
            </a:extLst>
          </p:cNvPr>
          <p:cNvSpPr txBox="1"/>
          <p:nvPr/>
        </p:nvSpPr>
        <p:spPr>
          <a:xfrm>
            <a:off x="5069839" y="2761097"/>
            <a:ext cx="548639" cy="200055"/>
          </a:xfrm>
          <a:prstGeom prst="rect">
            <a:avLst/>
          </a:prstGeom>
          <a:noFill/>
        </p:spPr>
        <p:txBody>
          <a:bodyPr wrap="square" rtlCol="0">
            <a:spAutoFit/>
          </a:bodyPr>
          <a:lstStyle/>
          <a:p>
            <a:pPr algn="ctr"/>
            <a:r>
              <a:rPr lang="pt-BR" sz="700" dirty="0">
                <a:solidFill>
                  <a:schemeClr val="tx1">
                    <a:lumMod val="85000"/>
                    <a:lumOff val="15000"/>
                  </a:schemeClr>
                </a:solidFill>
                <a:latin typeface="Arial" panose="020B0604020202020204" pitchFamily="34" charset="0"/>
                <a:cs typeface="Arial" panose="020B0604020202020204" pitchFamily="34" charset="0"/>
              </a:rPr>
              <a:t>13,25%</a:t>
            </a:r>
          </a:p>
        </p:txBody>
      </p:sp>
      <p:sp>
        <p:nvSpPr>
          <p:cNvPr id="62" name="CaixaDeTexto 61">
            <a:extLst>
              <a:ext uri="{FF2B5EF4-FFF2-40B4-BE49-F238E27FC236}">
                <a16:creationId xmlns:a16="http://schemas.microsoft.com/office/drawing/2014/main" id="{F909EBF0-E0EE-4387-A69E-AB7429DB958E}"/>
              </a:ext>
            </a:extLst>
          </p:cNvPr>
          <p:cNvSpPr txBox="1"/>
          <p:nvPr/>
        </p:nvSpPr>
        <p:spPr>
          <a:xfrm>
            <a:off x="4781877" y="2923927"/>
            <a:ext cx="548639" cy="200055"/>
          </a:xfrm>
          <a:prstGeom prst="rect">
            <a:avLst/>
          </a:prstGeom>
          <a:noFill/>
        </p:spPr>
        <p:txBody>
          <a:bodyPr wrap="square" rtlCol="0">
            <a:spAutoFit/>
          </a:bodyPr>
          <a:lstStyle/>
          <a:p>
            <a:pPr algn="ctr"/>
            <a:r>
              <a:rPr lang="pt-BR" sz="700" dirty="0">
                <a:solidFill>
                  <a:schemeClr val="tx1">
                    <a:lumMod val="85000"/>
                    <a:lumOff val="15000"/>
                  </a:schemeClr>
                </a:solidFill>
                <a:latin typeface="Arial" panose="020B0604020202020204" pitchFamily="34" charset="0"/>
                <a:cs typeface="Arial" panose="020B0604020202020204" pitchFamily="34" charset="0"/>
              </a:rPr>
              <a:t>6,02%</a:t>
            </a:r>
          </a:p>
        </p:txBody>
      </p:sp>
      <p:sp>
        <p:nvSpPr>
          <p:cNvPr id="63" name="CaixaDeTexto 62">
            <a:extLst>
              <a:ext uri="{FF2B5EF4-FFF2-40B4-BE49-F238E27FC236}">
                <a16:creationId xmlns:a16="http://schemas.microsoft.com/office/drawing/2014/main" id="{0BF12993-8CED-4F59-B140-384CF8255940}"/>
              </a:ext>
            </a:extLst>
          </p:cNvPr>
          <p:cNvSpPr txBox="1"/>
          <p:nvPr/>
        </p:nvSpPr>
        <p:spPr>
          <a:xfrm>
            <a:off x="4602207" y="2312662"/>
            <a:ext cx="548639" cy="200055"/>
          </a:xfrm>
          <a:prstGeom prst="rect">
            <a:avLst/>
          </a:prstGeom>
          <a:noFill/>
        </p:spPr>
        <p:txBody>
          <a:bodyPr wrap="square" rtlCol="0">
            <a:spAutoFit/>
          </a:bodyPr>
          <a:lstStyle/>
          <a:p>
            <a:pPr algn="ctr"/>
            <a:r>
              <a:rPr lang="pt-BR" sz="700" dirty="0">
                <a:solidFill>
                  <a:schemeClr val="tx1">
                    <a:lumMod val="85000"/>
                    <a:lumOff val="15000"/>
                  </a:schemeClr>
                </a:solidFill>
                <a:latin typeface="Arial" panose="020B0604020202020204" pitchFamily="34" charset="0"/>
                <a:cs typeface="Arial" panose="020B0604020202020204" pitchFamily="34" charset="0"/>
              </a:rPr>
              <a:t>80,72%</a:t>
            </a:r>
          </a:p>
        </p:txBody>
      </p:sp>
      <p:sp>
        <p:nvSpPr>
          <p:cNvPr id="66" name="CaixaDeTexto 65">
            <a:extLst>
              <a:ext uri="{FF2B5EF4-FFF2-40B4-BE49-F238E27FC236}">
                <a16:creationId xmlns:a16="http://schemas.microsoft.com/office/drawing/2014/main" id="{BD782CF6-6357-4629-A770-5FFD944CBD8A}"/>
              </a:ext>
            </a:extLst>
          </p:cNvPr>
          <p:cNvSpPr txBox="1"/>
          <p:nvPr/>
        </p:nvSpPr>
        <p:spPr>
          <a:xfrm>
            <a:off x="7673823" y="2939651"/>
            <a:ext cx="548639" cy="200055"/>
          </a:xfrm>
          <a:prstGeom prst="rect">
            <a:avLst/>
          </a:prstGeom>
          <a:noFill/>
        </p:spPr>
        <p:txBody>
          <a:bodyPr wrap="square" rtlCol="0">
            <a:spAutoFit/>
          </a:bodyPr>
          <a:lstStyle/>
          <a:p>
            <a:pPr algn="ctr"/>
            <a:r>
              <a:rPr lang="pt-BR" sz="700" dirty="0">
                <a:solidFill>
                  <a:schemeClr val="tx1">
                    <a:lumMod val="85000"/>
                    <a:lumOff val="15000"/>
                  </a:schemeClr>
                </a:solidFill>
                <a:latin typeface="Arial" panose="020B0604020202020204" pitchFamily="34" charset="0"/>
                <a:cs typeface="Arial" panose="020B0604020202020204" pitchFamily="34" charset="0"/>
              </a:rPr>
              <a:t>11,11%</a:t>
            </a:r>
          </a:p>
        </p:txBody>
      </p:sp>
      <p:sp>
        <p:nvSpPr>
          <p:cNvPr id="67" name="CaixaDeTexto 66">
            <a:extLst>
              <a:ext uri="{FF2B5EF4-FFF2-40B4-BE49-F238E27FC236}">
                <a16:creationId xmlns:a16="http://schemas.microsoft.com/office/drawing/2014/main" id="{9AFA75A9-0585-413B-9C61-A108BD4F73F9}"/>
              </a:ext>
            </a:extLst>
          </p:cNvPr>
          <p:cNvSpPr txBox="1"/>
          <p:nvPr/>
        </p:nvSpPr>
        <p:spPr>
          <a:xfrm>
            <a:off x="7419911" y="2761112"/>
            <a:ext cx="548639" cy="200055"/>
          </a:xfrm>
          <a:prstGeom prst="rect">
            <a:avLst/>
          </a:prstGeom>
          <a:noFill/>
        </p:spPr>
        <p:txBody>
          <a:bodyPr wrap="square" rtlCol="0">
            <a:spAutoFit/>
          </a:bodyPr>
          <a:lstStyle/>
          <a:p>
            <a:pPr algn="ctr"/>
            <a:r>
              <a:rPr lang="pt-BR" sz="700" dirty="0">
                <a:solidFill>
                  <a:schemeClr val="tx1">
                    <a:lumMod val="85000"/>
                    <a:lumOff val="15000"/>
                  </a:schemeClr>
                </a:solidFill>
                <a:latin typeface="Arial" panose="020B0604020202020204" pitchFamily="34" charset="0"/>
                <a:cs typeface="Arial" panose="020B0604020202020204" pitchFamily="34" charset="0"/>
              </a:rPr>
              <a:t>11,11%</a:t>
            </a:r>
          </a:p>
        </p:txBody>
      </p:sp>
      <p:sp>
        <p:nvSpPr>
          <p:cNvPr id="68" name="CaixaDeTexto 67">
            <a:extLst>
              <a:ext uri="{FF2B5EF4-FFF2-40B4-BE49-F238E27FC236}">
                <a16:creationId xmlns:a16="http://schemas.microsoft.com/office/drawing/2014/main" id="{B1EF8BA1-5E02-4187-ABDE-CD497BDA8A00}"/>
              </a:ext>
            </a:extLst>
          </p:cNvPr>
          <p:cNvSpPr txBox="1"/>
          <p:nvPr/>
        </p:nvSpPr>
        <p:spPr>
          <a:xfrm>
            <a:off x="7069924" y="2757787"/>
            <a:ext cx="548639" cy="200055"/>
          </a:xfrm>
          <a:prstGeom prst="rect">
            <a:avLst/>
          </a:prstGeom>
          <a:noFill/>
        </p:spPr>
        <p:txBody>
          <a:bodyPr wrap="square" rtlCol="0">
            <a:spAutoFit/>
          </a:bodyPr>
          <a:lstStyle/>
          <a:p>
            <a:pPr algn="ctr"/>
            <a:r>
              <a:rPr lang="pt-BR" sz="700" dirty="0">
                <a:solidFill>
                  <a:schemeClr val="tx1">
                    <a:lumMod val="85000"/>
                    <a:lumOff val="15000"/>
                  </a:schemeClr>
                </a:solidFill>
                <a:latin typeface="Arial" panose="020B0604020202020204" pitchFamily="34" charset="0"/>
                <a:cs typeface="Arial" panose="020B0604020202020204" pitchFamily="34" charset="0"/>
              </a:rPr>
              <a:t>77,78%</a:t>
            </a:r>
          </a:p>
        </p:txBody>
      </p:sp>
      <p:sp>
        <p:nvSpPr>
          <p:cNvPr id="69" name="CaixaDeTexto 68">
            <a:extLst>
              <a:ext uri="{FF2B5EF4-FFF2-40B4-BE49-F238E27FC236}">
                <a16:creationId xmlns:a16="http://schemas.microsoft.com/office/drawing/2014/main" id="{70655806-8AED-4605-9EEF-27288D47834E}"/>
              </a:ext>
            </a:extLst>
          </p:cNvPr>
          <p:cNvSpPr txBox="1"/>
          <p:nvPr/>
        </p:nvSpPr>
        <p:spPr>
          <a:xfrm>
            <a:off x="9448412" y="2851184"/>
            <a:ext cx="548639" cy="200055"/>
          </a:xfrm>
          <a:prstGeom prst="rect">
            <a:avLst/>
          </a:prstGeom>
          <a:noFill/>
        </p:spPr>
        <p:txBody>
          <a:bodyPr wrap="square" rtlCol="0">
            <a:spAutoFit/>
          </a:bodyPr>
          <a:lstStyle/>
          <a:p>
            <a:pPr algn="ctr"/>
            <a:r>
              <a:rPr lang="pt-BR" sz="700" dirty="0">
                <a:solidFill>
                  <a:schemeClr val="tx1">
                    <a:lumMod val="85000"/>
                    <a:lumOff val="15000"/>
                  </a:schemeClr>
                </a:solidFill>
                <a:latin typeface="Arial" panose="020B0604020202020204" pitchFamily="34" charset="0"/>
                <a:cs typeface="Arial" panose="020B0604020202020204" pitchFamily="34" charset="0"/>
              </a:rPr>
              <a:t>4,76%</a:t>
            </a:r>
          </a:p>
        </p:txBody>
      </p:sp>
      <p:sp>
        <p:nvSpPr>
          <p:cNvPr id="70" name="CaixaDeTexto 69">
            <a:extLst>
              <a:ext uri="{FF2B5EF4-FFF2-40B4-BE49-F238E27FC236}">
                <a16:creationId xmlns:a16="http://schemas.microsoft.com/office/drawing/2014/main" id="{567F09D4-4957-44A7-A060-7531615AA7CD}"/>
              </a:ext>
            </a:extLst>
          </p:cNvPr>
          <p:cNvSpPr txBox="1"/>
          <p:nvPr/>
        </p:nvSpPr>
        <p:spPr>
          <a:xfrm>
            <a:off x="9701610" y="2970438"/>
            <a:ext cx="548639" cy="200055"/>
          </a:xfrm>
          <a:prstGeom prst="rect">
            <a:avLst/>
          </a:prstGeom>
          <a:noFill/>
        </p:spPr>
        <p:txBody>
          <a:bodyPr wrap="square" rtlCol="0">
            <a:spAutoFit/>
          </a:bodyPr>
          <a:lstStyle/>
          <a:p>
            <a:pPr algn="ctr"/>
            <a:r>
              <a:rPr lang="pt-BR" sz="700" dirty="0">
                <a:solidFill>
                  <a:schemeClr val="tx1">
                    <a:lumMod val="85000"/>
                    <a:lumOff val="15000"/>
                  </a:schemeClr>
                </a:solidFill>
                <a:latin typeface="Arial" panose="020B0604020202020204" pitchFamily="34" charset="0"/>
                <a:cs typeface="Arial" panose="020B0604020202020204" pitchFamily="34" charset="0"/>
              </a:rPr>
              <a:t>4,76%</a:t>
            </a:r>
          </a:p>
        </p:txBody>
      </p:sp>
      <p:sp>
        <p:nvSpPr>
          <p:cNvPr id="71" name="CaixaDeTexto 70">
            <a:extLst>
              <a:ext uri="{FF2B5EF4-FFF2-40B4-BE49-F238E27FC236}">
                <a16:creationId xmlns:a16="http://schemas.microsoft.com/office/drawing/2014/main" id="{C41AF7A5-0DBA-4095-823B-511EEFBAED1C}"/>
              </a:ext>
            </a:extLst>
          </p:cNvPr>
          <p:cNvSpPr txBox="1"/>
          <p:nvPr/>
        </p:nvSpPr>
        <p:spPr>
          <a:xfrm>
            <a:off x="9172093" y="2341040"/>
            <a:ext cx="548639" cy="200055"/>
          </a:xfrm>
          <a:prstGeom prst="rect">
            <a:avLst/>
          </a:prstGeom>
          <a:noFill/>
        </p:spPr>
        <p:txBody>
          <a:bodyPr wrap="square" rtlCol="0">
            <a:spAutoFit/>
          </a:bodyPr>
          <a:lstStyle/>
          <a:p>
            <a:pPr algn="ctr"/>
            <a:r>
              <a:rPr lang="pt-BR" sz="700" dirty="0">
                <a:solidFill>
                  <a:schemeClr val="tx1">
                    <a:lumMod val="85000"/>
                    <a:lumOff val="15000"/>
                  </a:schemeClr>
                </a:solidFill>
                <a:latin typeface="Arial" panose="020B0604020202020204" pitchFamily="34" charset="0"/>
                <a:cs typeface="Arial" panose="020B0604020202020204" pitchFamily="34" charset="0"/>
              </a:rPr>
              <a:t>90,48%</a:t>
            </a:r>
          </a:p>
        </p:txBody>
      </p:sp>
      <p:sp>
        <p:nvSpPr>
          <p:cNvPr id="72" name="CaixaDeTexto 71">
            <a:extLst>
              <a:ext uri="{FF2B5EF4-FFF2-40B4-BE49-F238E27FC236}">
                <a16:creationId xmlns:a16="http://schemas.microsoft.com/office/drawing/2014/main" id="{98117F6D-7111-41A1-84CF-8FA64832A858}"/>
              </a:ext>
            </a:extLst>
          </p:cNvPr>
          <p:cNvSpPr txBox="1"/>
          <p:nvPr/>
        </p:nvSpPr>
        <p:spPr>
          <a:xfrm>
            <a:off x="8623454" y="2790000"/>
            <a:ext cx="548639" cy="200055"/>
          </a:xfrm>
          <a:prstGeom prst="rect">
            <a:avLst/>
          </a:prstGeom>
          <a:noFill/>
        </p:spPr>
        <p:txBody>
          <a:bodyPr wrap="square" rtlCol="0">
            <a:spAutoFit/>
          </a:bodyPr>
          <a:lstStyle/>
          <a:p>
            <a:pPr algn="ctr"/>
            <a:r>
              <a:rPr lang="pt-BR" sz="700" dirty="0">
                <a:solidFill>
                  <a:schemeClr val="tx1">
                    <a:lumMod val="85000"/>
                    <a:lumOff val="15000"/>
                  </a:schemeClr>
                </a:solidFill>
                <a:latin typeface="Arial" panose="020B0604020202020204" pitchFamily="34" charset="0"/>
                <a:cs typeface="Arial" panose="020B0604020202020204" pitchFamily="34" charset="0"/>
              </a:rPr>
              <a:t>45,45%</a:t>
            </a:r>
          </a:p>
        </p:txBody>
      </p:sp>
      <p:sp>
        <p:nvSpPr>
          <p:cNvPr id="74" name="CaixaDeTexto 73">
            <a:extLst>
              <a:ext uri="{FF2B5EF4-FFF2-40B4-BE49-F238E27FC236}">
                <a16:creationId xmlns:a16="http://schemas.microsoft.com/office/drawing/2014/main" id="{98E88123-AFB8-4E20-80F6-5894B3E41888}"/>
              </a:ext>
            </a:extLst>
          </p:cNvPr>
          <p:cNvSpPr txBox="1"/>
          <p:nvPr/>
        </p:nvSpPr>
        <p:spPr>
          <a:xfrm>
            <a:off x="8145048" y="2770383"/>
            <a:ext cx="548639" cy="200055"/>
          </a:xfrm>
          <a:prstGeom prst="rect">
            <a:avLst/>
          </a:prstGeom>
          <a:noFill/>
        </p:spPr>
        <p:txBody>
          <a:bodyPr wrap="square" rtlCol="0">
            <a:spAutoFit/>
          </a:bodyPr>
          <a:lstStyle/>
          <a:p>
            <a:pPr algn="ctr"/>
            <a:r>
              <a:rPr lang="pt-BR" sz="700" dirty="0">
                <a:solidFill>
                  <a:schemeClr val="tx1">
                    <a:lumMod val="85000"/>
                    <a:lumOff val="15000"/>
                  </a:schemeClr>
                </a:solidFill>
                <a:latin typeface="Arial" panose="020B0604020202020204" pitchFamily="34" charset="0"/>
                <a:cs typeface="Arial" panose="020B0604020202020204" pitchFamily="34" charset="0"/>
              </a:rPr>
              <a:t>54,55%</a:t>
            </a:r>
          </a:p>
        </p:txBody>
      </p:sp>
      <p:sp>
        <p:nvSpPr>
          <p:cNvPr id="75" name="CaixaDeTexto 74">
            <a:extLst>
              <a:ext uri="{FF2B5EF4-FFF2-40B4-BE49-F238E27FC236}">
                <a16:creationId xmlns:a16="http://schemas.microsoft.com/office/drawing/2014/main" id="{98D2212B-4E28-49BC-8F3D-ECB3F609B3EE}"/>
              </a:ext>
            </a:extLst>
          </p:cNvPr>
          <p:cNvSpPr txBox="1"/>
          <p:nvPr/>
        </p:nvSpPr>
        <p:spPr>
          <a:xfrm>
            <a:off x="10699099" y="2672151"/>
            <a:ext cx="548639" cy="200055"/>
          </a:xfrm>
          <a:prstGeom prst="rect">
            <a:avLst/>
          </a:prstGeom>
          <a:noFill/>
        </p:spPr>
        <p:txBody>
          <a:bodyPr wrap="square" rtlCol="0">
            <a:spAutoFit/>
          </a:bodyPr>
          <a:lstStyle/>
          <a:p>
            <a:pPr algn="ctr"/>
            <a:r>
              <a:rPr lang="pt-BR" sz="700" dirty="0">
                <a:solidFill>
                  <a:schemeClr val="tx1">
                    <a:lumMod val="85000"/>
                    <a:lumOff val="15000"/>
                  </a:schemeClr>
                </a:solidFill>
                <a:latin typeface="Arial" panose="020B0604020202020204" pitchFamily="34" charset="0"/>
                <a:cs typeface="Arial" panose="020B0604020202020204" pitchFamily="34" charset="0"/>
              </a:rPr>
              <a:t>30,77%</a:t>
            </a:r>
          </a:p>
        </p:txBody>
      </p:sp>
      <p:sp>
        <p:nvSpPr>
          <p:cNvPr id="76" name="CaixaDeTexto 75">
            <a:extLst>
              <a:ext uri="{FF2B5EF4-FFF2-40B4-BE49-F238E27FC236}">
                <a16:creationId xmlns:a16="http://schemas.microsoft.com/office/drawing/2014/main" id="{877BBDC0-697C-4755-AB50-EAFC85248040}"/>
              </a:ext>
            </a:extLst>
          </p:cNvPr>
          <p:cNvSpPr txBox="1"/>
          <p:nvPr/>
        </p:nvSpPr>
        <p:spPr>
          <a:xfrm>
            <a:off x="10452993" y="2871879"/>
            <a:ext cx="548639" cy="200055"/>
          </a:xfrm>
          <a:prstGeom prst="rect">
            <a:avLst/>
          </a:prstGeom>
          <a:noFill/>
        </p:spPr>
        <p:txBody>
          <a:bodyPr wrap="square" rtlCol="0">
            <a:spAutoFit/>
          </a:bodyPr>
          <a:lstStyle/>
          <a:p>
            <a:pPr algn="ctr"/>
            <a:r>
              <a:rPr lang="pt-BR" sz="700" dirty="0">
                <a:solidFill>
                  <a:schemeClr val="tx1">
                    <a:lumMod val="85000"/>
                    <a:lumOff val="15000"/>
                  </a:schemeClr>
                </a:solidFill>
                <a:latin typeface="Arial" panose="020B0604020202020204" pitchFamily="34" charset="0"/>
                <a:cs typeface="Arial" panose="020B0604020202020204" pitchFamily="34" charset="0"/>
              </a:rPr>
              <a:t>3,85%</a:t>
            </a:r>
          </a:p>
        </p:txBody>
      </p:sp>
      <p:sp>
        <p:nvSpPr>
          <p:cNvPr id="77" name="CaixaDeTexto 76">
            <a:extLst>
              <a:ext uri="{FF2B5EF4-FFF2-40B4-BE49-F238E27FC236}">
                <a16:creationId xmlns:a16="http://schemas.microsoft.com/office/drawing/2014/main" id="{8F2A1D46-9C73-4B01-9C27-291A114CD387}"/>
              </a:ext>
            </a:extLst>
          </p:cNvPr>
          <p:cNvSpPr txBox="1"/>
          <p:nvPr/>
        </p:nvSpPr>
        <p:spPr>
          <a:xfrm>
            <a:off x="10150460" y="2446742"/>
            <a:ext cx="548639" cy="200055"/>
          </a:xfrm>
          <a:prstGeom prst="rect">
            <a:avLst/>
          </a:prstGeom>
          <a:noFill/>
        </p:spPr>
        <p:txBody>
          <a:bodyPr wrap="square" rtlCol="0">
            <a:spAutoFit/>
          </a:bodyPr>
          <a:lstStyle/>
          <a:p>
            <a:pPr algn="ctr"/>
            <a:r>
              <a:rPr lang="pt-BR" sz="700" dirty="0">
                <a:solidFill>
                  <a:schemeClr val="tx1">
                    <a:lumMod val="85000"/>
                    <a:lumOff val="15000"/>
                  </a:schemeClr>
                </a:solidFill>
                <a:latin typeface="Arial" panose="020B0604020202020204" pitchFamily="34" charset="0"/>
                <a:cs typeface="Arial" panose="020B0604020202020204" pitchFamily="34" charset="0"/>
              </a:rPr>
              <a:t>65,38%</a:t>
            </a:r>
          </a:p>
        </p:txBody>
      </p:sp>
    </p:spTree>
    <p:extLst>
      <p:ext uri="{BB962C8B-B14F-4D97-AF65-F5344CB8AC3E}">
        <p14:creationId xmlns:p14="http://schemas.microsoft.com/office/powerpoint/2010/main" val="5812463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Imagem 38">
            <a:extLst>
              <a:ext uri="{FF2B5EF4-FFF2-40B4-BE49-F238E27FC236}">
                <a16:creationId xmlns:a16="http://schemas.microsoft.com/office/drawing/2014/main" id="{8F6A83EB-6687-479D-BD59-51B6B2B8CBF9}"/>
              </a:ext>
            </a:extLst>
          </p:cNvPr>
          <p:cNvPicPr>
            <a:picLocks noChangeAspect="1"/>
          </p:cNvPicPr>
          <p:nvPr/>
        </p:nvPicPr>
        <p:blipFill>
          <a:blip r:embed="rId2">
            <a:alphaModFix amt="4000"/>
          </a:blip>
          <a:stretch>
            <a:fillRect/>
          </a:stretch>
        </p:blipFill>
        <p:spPr>
          <a:xfrm>
            <a:off x="9190022" y="4582876"/>
            <a:ext cx="5030445" cy="5148116"/>
          </a:xfrm>
          <a:prstGeom prst="rect">
            <a:avLst/>
          </a:prstGeom>
          <a:effectLst/>
        </p:spPr>
      </p:pic>
      <p:pic>
        <p:nvPicPr>
          <p:cNvPr id="38" name="Imagem 37">
            <a:extLst>
              <a:ext uri="{FF2B5EF4-FFF2-40B4-BE49-F238E27FC236}">
                <a16:creationId xmlns:a16="http://schemas.microsoft.com/office/drawing/2014/main" id="{DE2A603E-716D-41D5-ABEF-1625839B46A3}"/>
              </a:ext>
            </a:extLst>
          </p:cNvPr>
          <p:cNvPicPr>
            <a:picLocks noChangeAspect="1"/>
          </p:cNvPicPr>
          <p:nvPr/>
        </p:nvPicPr>
        <p:blipFill>
          <a:blip r:embed="rId2">
            <a:alphaModFix amt="4000"/>
          </a:blip>
          <a:stretch>
            <a:fillRect/>
          </a:stretch>
        </p:blipFill>
        <p:spPr>
          <a:xfrm>
            <a:off x="-2128370" y="-2021305"/>
            <a:ext cx="5030445" cy="5148116"/>
          </a:xfrm>
          <a:prstGeom prst="rect">
            <a:avLst/>
          </a:prstGeom>
          <a:effectLst/>
        </p:spPr>
      </p:pic>
      <p:grpSp>
        <p:nvGrpSpPr>
          <p:cNvPr id="20" name="Google Shape;1964;p50">
            <a:extLst>
              <a:ext uri="{FF2B5EF4-FFF2-40B4-BE49-F238E27FC236}">
                <a16:creationId xmlns:a16="http://schemas.microsoft.com/office/drawing/2014/main" id="{644333FE-63B4-42DF-ADFA-AF9177DF58D7}"/>
              </a:ext>
            </a:extLst>
          </p:cNvPr>
          <p:cNvGrpSpPr/>
          <p:nvPr/>
        </p:nvGrpSpPr>
        <p:grpSpPr>
          <a:xfrm flipH="1">
            <a:off x="742950" y="537670"/>
            <a:ext cx="603644" cy="576232"/>
            <a:chOff x="4126815" y="2760704"/>
            <a:chExt cx="380393" cy="363118"/>
          </a:xfrm>
          <a:solidFill>
            <a:srgbClr val="0B5892"/>
          </a:solidFill>
        </p:grpSpPr>
        <p:sp>
          <p:nvSpPr>
            <p:cNvPr id="21" name="Google Shape;1965;p50">
              <a:extLst>
                <a:ext uri="{FF2B5EF4-FFF2-40B4-BE49-F238E27FC236}">
                  <a16:creationId xmlns:a16="http://schemas.microsoft.com/office/drawing/2014/main" id="{C90A8E2B-6430-4128-93A1-80EDBF3E3BED}"/>
                </a:ext>
              </a:extLst>
            </p:cNvPr>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966;p50">
              <a:extLst>
                <a:ext uri="{FF2B5EF4-FFF2-40B4-BE49-F238E27FC236}">
                  <a16:creationId xmlns:a16="http://schemas.microsoft.com/office/drawing/2014/main" id="{C220A82A-DCEF-47A8-9174-5A849CB2B75F}"/>
                </a:ext>
              </a:extLst>
            </p:cNvPr>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967;p50">
              <a:extLst>
                <a:ext uri="{FF2B5EF4-FFF2-40B4-BE49-F238E27FC236}">
                  <a16:creationId xmlns:a16="http://schemas.microsoft.com/office/drawing/2014/main" id="{446DDA74-F73B-4510-BFCE-608659C3FC02}"/>
                </a:ext>
              </a:extLst>
            </p:cNvPr>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968;p50">
              <a:extLst>
                <a:ext uri="{FF2B5EF4-FFF2-40B4-BE49-F238E27FC236}">
                  <a16:creationId xmlns:a16="http://schemas.microsoft.com/office/drawing/2014/main" id="{487DFEED-06C3-4B9B-9B7A-545AAF95F24C}"/>
                </a:ext>
              </a:extLst>
            </p:cNvPr>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Retângulo 28">
            <a:extLst>
              <a:ext uri="{FF2B5EF4-FFF2-40B4-BE49-F238E27FC236}">
                <a16:creationId xmlns:a16="http://schemas.microsoft.com/office/drawing/2014/main" id="{0BBC58FB-2C41-419E-8246-609C9177CDA9}"/>
              </a:ext>
            </a:extLst>
          </p:cNvPr>
          <p:cNvSpPr/>
          <p:nvPr/>
        </p:nvSpPr>
        <p:spPr>
          <a:xfrm>
            <a:off x="0" y="6707874"/>
            <a:ext cx="12192000" cy="334610"/>
          </a:xfrm>
          <a:prstGeom prst="rect">
            <a:avLst/>
          </a:prstGeom>
          <a:solidFill>
            <a:srgbClr val="0B58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 name="Imagem 7">
            <a:extLst>
              <a:ext uri="{FF2B5EF4-FFF2-40B4-BE49-F238E27FC236}">
                <a16:creationId xmlns:a16="http://schemas.microsoft.com/office/drawing/2014/main" id="{55CA91AA-A108-4071-B0A7-0374C74EDA09}"/>
              </a:ext>
            </a:extLst>
          </p:cNvPr>
          <p:cNvPicPr>
            <a:picLocks noChangeAspect="1"/>
          </p:cNvPicPr>
          <p:nvPr/>
        </p:nvPicPr>
        <p:blipFill>
          <a:blip r:embed="rId3"/>
          <a:stretch>
            <a:fillRect/>
          </a:stretch>
        </p:blipFill>
        <p:spPr>
          <a:xfrm>
            <a:off x="-124691" y="-20995"/>
            <a:ext cx="12316692" cy="88042"/>
          </a:xfrm>
          <a:prstGeom prst="rect">
            <a:avLst/>
          </a:prstGeom>
        </p:spPr>
      </p:pic>
      <p:sp>
        <p:nvSpPr>
          <p:cNvPr id="18" name="Título 1">
            <a:extLst>
              <a:ext uri="{FF2B5EF4-FFF2-40B4-BE49-F238E27FC236}">
                <a16:creationId xmlns:a16="http://schemas.microsoft.com/office/drawing/2014/main" id="{9BC75932-B40A-460F-B242-8264BFE06926}"/>
              </a:ext>
            </a:extLst>
          </p:cNvPr>
          <p:cNvSpPr txBox="1">
            <a:spLocks/>
          </p:cNvSpPr>
          <p:nvPr/>
        </p:nvSpPr>
        <p:spPr>
          <a:xfrm>
            <a:off x="1366068" y="448718"/>
            <a:ext cx="6453099"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spc="600" dirty="0">
                <a:solidFill>
                  <a:srgbClr val="0B5892"/>
                </a:solidFill>
                <a:latin typeface="Arial" panose="020B0604020202020204" pitchFamily="34" charset="0"/>
                <a:cs typeface="Arial" panose="020B0604020202020204" pitchFamily="34" charset="0"/>
              </a:rPr>
              <a:t>RANKING DE DESEMPENHO</a:t>
            </a:r>
          </a:p>
        </p:txBody>
      </p:sp>
      <p:sp>
        <p:nvSpPr>
          <p:cNvPr id="19" name="Título 1">
            <a:extLst>
              <a:ext uri="{FF2B5EF4-FFF2-40B4-BE49-F238E27FC236}">
                <a16:creationId xmlns:a16="http://schemas.microsoft.com/office/drawing/2014/main" id="{CB92D9AB-3FEB-47AD-8015-DD30B5F902CE}"/>
              </a:ext>
            </a:extLst>
          </p:cNvPr>
          <p:cNvSpPr txBox="1">
            <a:spLocks/>
          </p:cNvSpPr>
          <p:nvPr/>
        </p:nvSpPr>
        <p:spPr>
          <a:xfrm>
            <a:off x="1400358" y="716411"/>
            <a:ext cx="6950456"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600" spc="300" dirty="0">
                <a:solidFill>
                  <a:srgbClr val="0B5892"/>
                </a:solidFill>
                <a:latin typeface="Arial" panose="020B0604020202020204" pitchFamily="34" charset="0"/>
                <a:cs typeface="Arial" panose="020B0604020202020204" pitchFamily="34" charset="0"/>
              </a:rPr>
              <a:t>Quantidade total de monitorias realizadas</a:t>
            </a:r>
          </a:p>
        </p:txBody>
      </p:sp>
      <p:cxnSp>
        <p:nvCxnSpPr>
          <p:cNvPr id="25" name="Conector reto 24">
            <a:extLst>
              <a:ext uri="{FF2B5EF4-FFF2-40B4-BE49-F238E27FC236}">
                <a16:creationId xmlns:a16="http://schemas.microsoft.com/office/drawing/2014/main" id="{C6F5D155-7AE8-4277-A61A-2EF88BF2DADC}"/>
              </a:ext>
            </a:extLst>
          </p:cNvPr>
          <p:cNvCxnSpPr/>
          <p:nvPr/>
        </p:nvCxnSpPr>
        <p:spPr>
          <a:xfrm>
            <a:off x="725988" y="1185955"/>
            <a:ext cx="9855200" cy="0"/>
          </a:xfrm>
          <a:prstGeom prst="line">
            <a:avLst/>
          </a:prstGeom>
          <a:ln>
            <a:solidFill>
              <a:srgbClr val="0B5892"/>
            </a:solidFill>
          </a:ln>
        </p:spPr>
        <p:style>
          <a:lnRef idx="1">
            <a:schemeClr val="accent1"/>
          </a:lnRef>
          <a:fillRef idx="0">
            <a:schemeClr val="accent1"/>
          </a:fillRef>
          <a:effectRef idx="0">
            <a:schemeClr val="accent1"/>
          </a:effectRef>
          <a:fontRef idx="minor">
            <a:schemeClr val="tx1"/>
          </a:fontRef>
        </p:style>
      </p:cxnSp>
      <p:sp>
        <p:nvSpPr>
          <p:cNvPr id="27" name="Retângulo: Cantos Arredondados 26">
            <a:extLst>
              <a:ext uri="{FF2B5EF4-FFF2-40B4-BE49-F238E27FC236}">
                <a16:creationId xmlns:a16="http://schemas.microsoft.com/office/drawing/2014/main" id="{4ECBC702-8A0A-4D6D-9F12-E545E8615BE2}"/>
              </a:ext>
            </a:extLst>
          </p:cNvPr>
          <p:cNvSpPr/>
          <p:nvPr/>
        </p:nvSpPr>
        <p:spPr>
          <a:xfrm>
            <a:off x="7138142" y="1626082"/>
            <a:ext cx="4128654" cy="1706604"/>
          </a:xfrm>
          <a:prstGeom prst="roundRect">
            <a:avLst/>
          </a:prstGeom>
          <a:solidFill>
            <a:schemeClr val="bg1">
              <a:lumMod val="95000"/>
            </a:schemeClr>
          </a:solidFill>
          <a:ln>
            <a:noFill/>
          </a:ln>
          <a:effectLst>
            <a:outerShdw dist="101600" dir="10740000" algn="t" rotWithShape="0">
              <a:srgbClr val="0B5892"/>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49" name="Google Shape;1944;p50">
            <a:extLst>
              <a:ext uri="{FF2B5EF4-FFF2-40B4-BE49-F238E27FC236}">
                <a16:creationId xmlns:a16="http://schemas.microsoft.com/office/drawing/2014/main" id="{AE3E5632-39EC-498B-8446-16F7B46F0CF4}"/>
              </a:ext>
            </a:extLst>
          </p:cNvPr>
          <p:cNvGrpSpPr/>
          <p:nvPr/>
        </p:nvGrpSpPr>
        <p:grpSpPr>
          <a:xfrm>
            <a:off x="7308880" y="1717741"/>
            <a:ext cx="476316" cy="468384"/>
            <a:chOff x="860940" y="2746477"/>
            <a:chExt cx="371883" cy="365691"/>
          </a:xfrm>
          <a:solidFill>
            <a:srgbClr val="0B5892"/>
          </a:solidFill>
        </p:grpSpPr>
        <p:sp>
          <p:nvSpPr>
            <p:cNvPr id="50" name="Google Shape;1945;p50">
              <a:extLst>
                <a:ext uri="{FF2B5EF4-FFF2-40B4-BE49-F238E27FC236}">
                  <a16:creationId xmlns:a16="http://schemas.microsoft.com/office/drawing/2014/main" id="{F8E576BE-2CD1-4B21-BB2A-FA3D538B5E35}"/>
                </a:ext>
              </a:extLst>
            </p:cNvPr>
            <p:cNvSpPr/>
            <p:nvPr/>
          </p:nvSpPr>
          <p:spPr>
            <a:xfrm>
              <a:off x="908191" y="3026302"/>
              <a:ext cx="30294" cy="28961"/>
            </a:xfrm>
            <a:custGeom>
              <a:avLst/>
              <a:gdLst/>
              <a:ahLst/>
              <a:cxnLst/>
              <a:rect l="l" t="t" r="r" b="b"/>
              <a:pathLst>
                <a:path w="954" h="912" extrusionOk="0">
                  <a:moveTo>
                    <a:pt x="763" y="1"/>
                  </a:moveTo>
                  <a:cubicBezTo>
                    <a:pt x="718" y="1"/>
                    <a:pt x="674" y="16"/>
                    <a:pt x="644" y="45"/>
                  </a:cubicBezTo>
                  <a:lnTo>
                    <a:pt x="60" y="629"/>
                  </a:lnTo>
                  <a:cubicBezTo>
                    <a:pt x="1" y="688"/>
                    <a:pt x="1" y="807"/>
                    <a:pt x="60" y="867"/>
                  </a:cubicBezTo>
                  <a:cubicBezTo>
                    <a:pt x="90" y="897"/>
                    <a:pt x="135" y="911"/>
                    <a:pt x="179" y="911"/>
                  </a:cubicBezTo>
                  <a:cubicBezTo>
                    <a:pt x="224" y="911"/>
                    <a:pt x="269" y="897"/>
                    <a:pt x="299" y="867"/>
                  </a:cubicBezTo>
                  <a:lnTo>
                    <a:pt x="882" y="283"/>
                  </a:lnTo>
                  <a:cubicBezTo>
                    <a:pt x="953" y="224"/>
                    <a:pt x="953" y="105"/>
                    <a:pt x="882" y="45"/>
                  </a:cubicBezTo>
                  <a:cubicBezTo>
                    <a:pt x="852" y="16"/>
                    <a:pt x="807" y="1"/>
                    <a:pt x="76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946;p50">
              <a:extLst>
                <a:ext uri="{FF2B5EF4-FFF2-40B4-BE49-F238E27FC236}">
                  <a16:creationId xmlns:a16="http://schemas.microsoft.com/office/drawing/2014/main" id="{9F68CAA6-59B8-4F64-8643-1935A15F9675}"/>
                </a:ext>
              </a:extLst>
            </p:cNvPr>
            <p:cNvSpPr/>
            <p:nvPr/>
          </p:nvSpPr>
          <p:spPr>
            <a:xfrm>
              <a:off x="943757" y="3061836"/>
              <a:ext cx="30263" cy="28961"/>
            </a:xfrm>
            <a:custGeom>
              <a:avLst/>
              <a:gdLst/>
              <a:ahLst/>
              <a:cxnLst/>
              <a:rect l="l" t="t" r="r" b="b"/>
              <a:pathLst>
                <a:path w="953" h="912" extrusionOk="0">
                  <a:moveTo>
                    <a:pt x="762" y="1"/>
                  </a:moveTo>
                  <a:cubicBezTo>
                    <a:pt x="717" y="1"/>
                    <a:pt x="673" y="16"/>
                    <a:pt x="643" y="46"/>
                  </a:cubicBezTo>
                  <a:lnTo>
                    <a:pt x="60" y="629"/>
                  </a:lnTo>
                  <a:cubicBezTo>
                    <a:pt x="0" y="688"/>
                    <a:pt x="0" y="807"/>
                    <a:pt x="60" y="867"/>
                  </a:cubicBezTo>
                  <a:cubicBezTo>
                    <a:pt x="89" y="897"/>
                    <a:pt x="134" y="912"/>
                    <a:pt x="179" y="912"/>
                  </a:cubicBezTo>
                  <a:cubicBezTo>
                    <a:pt x="223" y="912"/>
                    <a:pt x="268" y="897"/>
                    <a:pt x="298" y="867"/>
                  </a:cubicBezTo>
                  <a:lnTo>
                    <a:pt x="881" y="284"/>
                  </a:lnTo>
                  <a:cubicBezTo>
                    <a:pt x="953" y="224"/>
                    <a:pt x="953" y="105"/>
                    <a:pt x="881" y="46"/>
                  </a:cubicBezTo>
                  <a:cubicBezTo>
                    <a:pt x="851" y="16"/>
                    <a:pt x="807" y="1"/>
                    <a:pt x="7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947;p50">
              <a:extLst>
                <a:ext uri="{FF2B5EF4-FFF2-40B4-BE49-F238E27FC236}">
                  <a16:creationId xmlns:a16="http://schemas.microsoft.com/office/drawing/2014/main" id="{EA4A187D-2E3F-46AA-BEA6-749B97B58F53}"/>
                </a:ext>
              </a:extLst>
            </p:cNvPr>
            <p:cNvSpPr/>
            <p:nvPr/>
          </p:nvSpPr>
          <p:spPr>
            <a:xfrm>
              <a:off x="926355" y="3044085"/>
              <a:ext cx="29881" cy="28579"/>
            </a:xfrm>
            <a:custGeom>
              <a:avLst/>
              <a:gdLst/>
              <a:ahLst/>
              <a:cxnLst/>
              <a:rect l="l" t="t" r="r" b="b"/>
              <a:pathLst>
                <a:path w="941" h="900" extrusionOk="0">
                  <a:moveTo>
                    <a:pt x="762" y="0"/>
                  </a:moveTo>
                  <a:cubicBezTo>
                    <a:pt x="718" y="0"/>
                    <a:pt x="673" y="15"/>
                    <a:pt x="643" y="45"/>
                  </a:cubicBezTo>
                  <a:lnTo>
                    <a:pt x="60" y="616"/>
                  </a:lnTo>
                  <a:cubicBezTo>
                    <a:pt x="0" y="676"/>
                    <a:pt x="0" y="795"/>
                    <a:pt x="60" y="855"/>
                  </a:cubicBezTo>
                  <a:cubicBezTo>
                    <a:pt x="90" y="884"/>
                    <a:pt x="134" y="899"/>
                    <a:pt x="179" y="899"/>
                  </a:cubicBezTo>
                  <a:cubicBezTo>
                    <a:pt x="224" y="899"/>
                    <a:pt x="268" y="884"/>
                    <a:pt x="298" y="855"/>
                  </a:cubicBezTo>
                  <a:lnTo>
                    <a:pt x="881" y="283"/>
                  </a:lnTo>
                  <a:cubicBezTo>
                    <a:pt x="941" y="224"/>
                    <a:pt x="941" y="116"/>
                    <a:pt x="881" y="45"/>
                  </a:cubicBezTo>
                  <a:cubicBezTo>
                    <a:pt x="852" y="15"/>
                    <a:pt x="807" y="0"/>
                    <a:pt x="76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948;p50">
              <a:extLst>
                <a:ext uri="{FF2B5EF4-FFF2-40B4-BE49-F238E27FC236}">
                  <a16:creationId xmlns:a16="http://schemas.microsoft.com/office/drawing/2014/main" id="{85D06B3A-A8F7-4804-B970-45AE95668DED}"/>
                </a:ext>
              </a:extLst>
            </p:cNvPr>
            <p:cNvSpPr/>
            <p:nvPr/>
          </p:nvSpPr>
          <p:spPr>
            <a:xfrm>
              <a:off x="860940" y="2746477"/>
              <a:ext cx="371883" cy="365691"/>
            </a:xfrm>
            <a:custGeom>
              <a:avLst/>
              <a:gdLst/>
              <a:ahLst/>
              <a:cxnLst/>
              <a:rect l="l" t="t" r="r" b="b"/>
              <a:pathLst>
                <a:path w="11711" h="11516" extrusionOk="0">
                  <a:moveTo>
                    <a:pt x="11312" y="344"/>
                  </a:moveTo>
                  <a:lnTo>
                    <a:pt x="10835" y="1987"/>
                  </a:lnTo>
                  <a:lnTo>
                    <a:pt x="9680" y="821"/>
                  </a:lnTo>
                  <a:lnTo>
                    <a:pt x="11312" y="344"/>
                  </a:lnTo>
                  <a:close/>
                  <a:moveTo>
                    <a:pt x="4882" y="3821"/>
                  </a:moveTo>
                  <a:lnTo>
                    <a:pt x="2822" y="5881"/>
                  </a:lnTo>
                  <a:lnTo>
                    <a:pt x="477" y="5690"/>
                  </a:lnTo>
                  <a:cubicBezTo>
                    <a:pt x="453" y="5690"/>
                    <a:pt x="429" y="5643"/>
                    <a:pt x="465" y="5631"/>
                  </a:cubicBezTo>
                  <a:cubicBezTo>
                    <a:pt x="1477" y="4619"/>
                    <a:pt x="2822" y="4000"/>
                    <a:pt x="4227" y="3881"/>
                  </a:cubicBezTo>
                  <a:lnTo>
                    <a:pt x="4882" y="3821"/>
                  </a:lnTo>
                  <a:close/>
                  <a:moveTo>
                    <a:pt x="2894" y="6297"/>
                  </a:moveTo>
                  <a:lnTo>
                    <a:pt x="3811" y="7226"/>
                  </a:lnTo>
                  <a:lnTo>
                    <a:pt x="3477" y="7571"/>
                  </a:lnTo>
                  <a:lnTo>
                    <a:pt x="2549" y="6643"/>
                  </a:lnTo>
                  <a:lnTo>
                    <a:pt x="2894" y="6297"/>
                  </a:lnTo>
                  <a:close/>
                  <a:moveTo>
                    <a:pt x="2727" y="7333"/>
                  </a:moveTo>
                  <a:lnTo>
                    <a:pt x="3203" y="7810"/>
                  </a:lnTo>
                  <a:lnTo>
                    <a:pt x="2799" y="8226"/>
                  </a:lnTo>
                  <a:cubicBezTo>
                    <a:pt x="2787" y="8238"/>
                    <a:pt x="2763" y="8262"/>
                    <a:pt x="2739" y="8298"/>
                  </a:cubicBezTo>
                  <a:lnTo>
                    <a:pt x="2310" y="7869"/>
                  </a:lnTo>
                  <a:cubicBezTo>
                    <a:pt x="2287" y="7833"/>
                    <a:pt x="2287" y="7774"/>
                    <a:pt x="2310" y="7750"/>
                  </a:cubicBezTo>
                  <a:lnTo>
                    <a:pt x="2727" y="7333"/>
                  </a:lnTo>
                  <a:close/>
                  <a:moveTo>
                    <a:pt x="9311" y="916"/>
                  </a:moveTo>
                  <a:lnTo>
                    <a:pt x="10740" y="2345"/>
                  </a:lnTo>
                  <a:lnTo>
                    <a:pt x="10299" y="3821"/>
                  </a:lnTo>
                  <a:lnTo>
                    <a:pt x="5597" y="8524"/>
                  </a:lnTo>
                  <a:lnTo>
                    <a:pt x="4680" y="7595"/>
                  </a:lnTo>
                  <a:lnTo>
                    <a:pt x="6823" y="5452"/>
                  </a:lnTo>
                  <a:cubicBezTo>
                    <a:pt x="6966" y="5309"/>
                    <a:pt x="7001" y="5035"/>
                    <a:pt x="6811" y="4833"/>
                  </a:cubicBezTo>
                  <a:cubicBezTo>
                    <a:pt x="6728" y="4750"/>
                    <a:pt x="6617" y="4708"/>
                    <a:pt x="6506" y="4708"/>
                  </a:cubicBezTo>
                  <a:cubicBezTo>
                    <a:pt x="6394" y="4708"/>
                    <a:pt x="6281" y="4750"/>
                    <a:pt x="6192" y="4833"/>
                  </a:cubicBezTo>
                  <a:lnTo>
                    <a:pt x="4049" y="6976"/>
                  </a:lnTo>
                  <a:lnTo>
                    <a:pt x="3132" y="6047"/>
                  </a:lnTo>
                  <a:lnTo>
                    <a:pt x="7835" y="1344"/>
                  </a:lnTo>
                  <a:lnTo>
                    <a:pt x="9311" y="916"/>
                  </a:lnTo>
                  <a:close/>
                  <a:moveTo>
                    <a:pt x="6495" y="5047"/>
                  </a:moveTo>
                  <a:cubicBezTo>
                    <a:pt x="6522" y="5047"/>
                    <a:pt x="6549" y="5059"/>
                    <a:pt x="6573" y="5083"/>
                  </a:cubicBezTo>
                  <a:cubicBezTo>
                    <a:pt x="6609" y="5131"/>
                    <a:pt x="6609" y="5178"/>
                    <a:pt x="6573" y="5226"/>
                  </a:cubicBezTo>
                  <a:lnTo>
                    <a:pt x="4311" y="7488"/>
                  </a:lnTo>
                  <a:lnTo>
                    <a:pt x="3203" y="8595"/>
                  </a:lnTo>
                  <a:cubicBezTo>
                    <a:pt x="3180" y="8619"/>
                    <a:pt x="3153" y="8631"/>
                    <a:pt x="3127" y="8631"/>
                  </a:cubicBezTo>
                  <a:cubicBezTo>
                    <a:pt x="3102" y="8631"/>
                    <a:pt x="3078" y="8619"/>
                    <a:pt x="3060" y="8595"/>
                  </a:cubicBezTo>
                  <a:cubicBezTo>
                    <a:pt x="3013" y="8548"/>
                    <a:pt x="3013" y="8488"/>
                    <a:pt x="3060" y="8441"/>
                  </a:cubicBezTo>
                  <a:lnTo>
                    <a:pt x="6418" y="5083"/>
                  </a:lnTo>
                  <a:cubicBezTo>
                    <a:pt x="6442" y="5059"/>
                    <a:pt x="6469" y="5047"/>
                    <a:pt x="6495" y="5047"/>
                  </a:cubicBezTo>
                  <a:close/>
                  <a:moveTo>
                    <a:pt x="4430" y="7857"/>
                  </a:moveTo>
                  <a:lnTo>
                    <a:pt x="5346" y="8786"/>
                  </a:lnTo>
                  <a:lnTo>
                    <a:pt x="5001" y="9119"/>
                  </a:lnTo>
                  <a:lnTo>
                    <a:pt x="4989" y="9119"/>
                  </a:lnTo>
                  <a:lnTo>
                    <a:pt x="4084" y="8202"/>
                  </a:lnTo>
                  <a:lnTo>
                    <a:pt x="4430" y="7857"/>
                  </a:lnTo>
                  <a:close/>
                  <a:moveTo>
                    <a:pt x="3846" y="8429"/>
                  </a:moveTo>
                  <a:lnTo>
                    <a:pt x="4323" y="8905"/>
                  </a:lnTo>
                  <a:lnTo>
                    <a:pt x="3906" y="9322"/>
                  </a:lnTo>
                  <a:cubicBezTo>
                    <a:pt x="3894" y="9334"/>
                    <a:pt x="3858" y="9357"/>
                    <a:pt x="3846" y="9357"/>
                  </a:cubicBezTo>
                  <a:cubicBezTo>
                    <a:pt x="3834" y="9357"/>
                    <a:pt x="3811" y="9357"/>
                    <a:pt x="3787" y="9322"/>
                  </a:cubicBezTo>
                  <a:lnTo>
                    <a:pt x="3358" y="8905"/>
                  </a:lnTo>
                  <a:cubicBezTo>
                    <a:pt x="3382" y="8893"/>
                    <a:pt x="3394" y="8881"/>
                    <a:pt x="3430" y="8845"/>
                  </a:cubicBezTo>
                  <a:lnTo>
                    <a:pt x="3846" y="8429"/>
                  </a:lnTo>
                  <a:close/>
                  <a:moveTo>
                    <a:pt x="11322" y="1"/>
                  </a:moveTo>
                  <a:cubicBezTo>
                    <a:pt x="11295" y="1"/>
                    <a:pt x="11267" y="4"/>
                    <a:pt x="11240" y="11"/>
                  </a:cubicBezTo>
                  <a:cubicBezTo>
                    <a:pt x="10514" y="213"/>
                    <a:pt x="8394" y="844"/>
                    <a:pt x="7704" y="1035"/>
                  </a:cubicBezTo>
                  <a:cubicBezTo>
                    <a:pt x="7668" y="1047"/>
                    <a:pt x="7656" y="1059"/>
                    <a:pt x="7621" y="1083"/>
                  </a:cubicBezTo>
                  <a:lnTo>
                    <a:pt x="5263" y="3440"/>
                  </a:lnTo>
                  <a:lnTo>
                    <a:pt x="4203" y="3535"/>
                  </a:lnTo>
                  <a:cubicBezTo>
                    <a:pt x="2703" y="3654"/>
                    <a:pt x="1286" y="4321"/>
                    <a:pt x="227" y="5381"/>
                  </a:cubicBezTo>
                  <a:cubicBezTo>
                    <a:pt x="1" y="5595"/>
                    <a:pt x="143" y="5988"/>
                    <a:pt x="465" y="6024"/>
                  </a:cubicBezTo>
                  <a:lnTo>
                    <a:pt x="2525" y="6190"/>
                  </a:lnTo>
                  <a:lnTo>
                    <a:pt x="2310" y="6405"/>
                  </a:lnTo>
                  <a:cubicBezTo>
                    <a:pt x="2179" y="6536"/>
                    <a:pt x="2179" y="6750"/>
                    <a:pt x="2310" y="6881"/>
                  </a:cubicBezTo>
                  <a:lnTo>
                    <a:pt x="2525" y="7083"/>
                  </a:lnTo>
                  <a:lnTo>
                    <a:pt x="2108" y="7500"/>
                  </a:lnTo>
                  <a:cubicBezTo>
                    <a:pt x="1941" y="7667"/>
                    <a:pt x="1941" y="7941"/>
                    <a:pt x="2108" y="8095"/>
                  </a:cubicBezTo>
                  <a:lnTo>
                    <a:pt x="3561" y="9560"/>
                  </a:lnTo>
                  <a:cubicBezTo>
                    <a:pt x="3644" y="9643"/>
                    <a:pt x="3751" y="9685"/>
                    <a:pt x="3858" y="9685"/>
                  </a:cubicBezTo>
                  <a:cubicBezTo>
                    <a:pt x="3965" y="9685"/>
                    <a:pt x="4073" y="9643"/>
                    <a:pt x="4156" y="9560"/>
                  </a:cubicBezTo>
                  <a:lnTo>
                    <a:pt x="4573" y="9143"/>
                  </a:lnTo>
                  <a:lnTo>
                    <a:pt x="4763" y="9334"/>
                  </a:lnTo>
                  <a:cubicBezTo>
                    <a:pt x="4835" y="9399"/>
                    <a:pt x="4924" y="9432"/>
                    <a:pt x="5015" y="9432"/>
                  </a:cubicBezTo>
                  <a:cubicBezTo>
                    <a:pt x="5105" y="9432"/>
                    <a:pt x="5198" y="9399"/>
                    <a:pt x="5275" y="9334"/>
                  </a:cubicBezTo>
                  <a:lnTo>
                    <a:pt x="5477" y="9131"/>
                  </a:lnTo>
                  <a:lnTo>
                    <a:pt x="5656" y="11179"/>
                  </a:lnTo>
                  <a:cubicBezTo>
                    <a:pt x="5680" y="11334"/>
                    <a:pt x="5763" y="11453"/>
                    <a:pt x="5894" y="11500"/>
                  </a:cubicBezTo>
                  <a:cubicBezTo>
                    <a:pt x="5935" y="11511"/>
                    <a:pt x="5975" y="11516"/>
                    <a:pt x="6015" y="11516"/>
                  </a:cubicBezTo>
                  <a:cubicBezTo>
                    <a:pt x="6115" y="11516"/>
                    <a:pt x="6210" y="11482"/>
                    <a:pt x="6287" y="11405"/>
                  </a:cubicBezTo>
                  <a:cubicBezTo>
                    <a:pt x="6942" y="10750"/>
                    <a:pt x="7430" y="9977"/>
                    <a:pt x="7763" y="9119"/>
                  </a:cubicBezTo>
                  <a:cubicBezTo>
                    <a:pt x="7787" y="9024"/>
                    <a:pt x="7740" y="8941"/>
                    <a:pt x="7656" y="8893"/>
                  </a:cubicBezTo>
                  <a:cubicBezTo>
                    <a:pt x="7635" y="8885"/>
                    <a:pt x="7614" y="8881"/>
                    <a:pt x="7594" y="8881"/>
                  </a:cubicBezTo>
                  <a:cubicBezTo>
                    <a:pt x="7525" y="8881"/>
                    <a:pt x="7467" y="8926"/>
                    <a:pt x="7430" y="9000"/>
                  </a:cubicBezTo>
                  <a:cubicBezTo>
                    <a:pt x="7132" y="9810"/>
                    <a:pt x="6656" y="10560"/>
                    <a:pt x="6037" y="11167"/>
                  </a:cubicBezTo>
                  <a:cubicBezTo>
                    <a:pt x="6027" y="11172"/>
                    <a:pt x="6015" y="11175"/>
                    <a:pt x="6005" y="11175"/>
                  </a:cubicBezTo>
                  <a:cubicBezTo>
                    <a:pt x="5990" y="11175"/>
                    <a:pt x="5978" y="11169"/>
                    <a:pt x="5978" y="11155"/>
                  </a:cubicBezTo>
                  <a:lnTo>
                    <a:pt x="5763" y="8822"/>
                  </a:lnTo>
                  <a:lnTo>
                    <a:pt x="7835" y="6750"/>
                  </a:lnTo>
                  <a:lnTo>
                    <a:pt x="7835" y="6750"/>
                  </a:lnTo>
                  <a:cubicBezTo>
                    <a:pt x="7763" y="7583"/>
                    <a:pt x="7740" y="7810"/>
                    <a:pt x="7656" y="8238"/>
                  </a:cubicBezTo>
                  <a:cubicBezTo>
                    <a:pt x="7644" y="8322"/>
                    <a:pt x="7680" y="8417"/>
                    <a:pt x="7787" y="8441"/>
                  </a:cubicBezTo>
                  <a:cubicBezTo>
                    <a:pt x="7803" y="8445"/>
                    <a:pt x="7819" y="8447"/>
                    <a:pt x="7834" y="8447"/>
                  </a:cubicBezTo>
                  <a:cubicBezTo>
                    <a:pt x="7909" y="8447"/>
                    <a:pt x="7972" y="8399"/>
                    <a:pt x="8002" y="8310"/>
                  </a:cubicBezTo>
                  <a:cubicBezTo>
                    <a:pt x="8121" y="7786"/>
                    <a:pt x="8121" y="7548"/>
                    <a:pt x="8216" y="6393"/>
                  </a:cubicBezTo>
                  <a:lnTo>
                    <a:pt x="10585" y="4023"/>
                  </a:lnTo>
                  <a:cubicBezTo>
                    <a:pt x="10597" y="4011"/>
                    <a:pt x="10621" y="3976"/>
                    <a:pt x="10633" y="3952"/>
                  </a:cubicBezTo>
                  <a:lnTo>
                    <a:pt x="11109" y="2345"/>
                  </a:lnTo>
                  <a:lnTo>
                    <a:pt x="11669" y="404"/>
                  </a:lnTo>
                  <a:cubicBezTo>
                    <a:pt x="11711" y="193"/>
                    <a:pt x="11529" y="1"/>
                    <a:pt x="1132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949;p50">
              <a:extLst>
                <a:ext uri="{FF2B5EF4-FFF2-40B4-BE49-F238E27FC236}">
                  <a16:creationId xmlns:a16="http://schemas.microsoft.com/office/drawing/2014/main" id="{0E034A1A-361D-430B-BD52-6D0AB6ACB680}"/>
                </a:ext>
              </a:extLst>
            </p:cNvPr>
            <p:cNvSpPr/>
            <p:nvPr/>
          </p:nvSpPr>
          <p:spPr>
            <a:xfrm>
              <a:off x="1070396" y="2832057"/>
              <a:ext cx="90406" cy="69035"/>
            </a:xfrm>
            <a:custGeom>
              <a:avLst/>
              <a:gdLst/>
              <a:ahLst/>
              <a:cxnLst/>
              <a:rect l="l" t="t" r="r" b="b"/>
              <a:pathLst>
                <a:path w="2847" h="2174" extrusionOk="0">
                  <a:moveTo>
                    <a:pt x="1730" y="0"/>
                  </a:moveTo>
                  <a:cubicBezTo>
                    <a:pt x="1668" y="0"/>
                    <a:pt x="1610" y="44"/>
                    <a:pt x="1584" y="114"/>
                  </a:cubicBezTo>
                  <a:cubicBezTo>
                    <a:pt x="1537" y="197"/>
                    <a:pt x="1584" y="293"/>
                    <a:pt x="1668" y="328"/>
                  </a:cubicBezTo>
                  <a:cubicBezTo>
                    <a:pt x="2179" y="554"/>
                    <a:pt x="2299" y="1221"/>
                    <a:pt x="1906" y="1614"/>
                  </a:cubicBezTo>
                  <a:cubicBezTo>
                    <a:pt x="1751" y="1769"/>
                    <a:pt x="1551" y="1846"/>
                    <a:pt x="1350" y="1846"/>
                  </a:cubicBezTo>
                  <a:cubicBezTo>
                    <a:pt x="1150" y="1846"/>
                    <a:pt x="947" y="1769"/>
                    <a:pt x="786" y="1614"/>
                  </a:cubicBezTo>
                  <a:cubicBezTo>
                    <a:pt x="405" y="1221"/>
                    <a:pt x="525" y="566"/>
                    <a:pt x="1025" y="328"/>
                  </a:cubicBezTo>
                  <a:cubicBezTo>
                    <a:pt x="1120" y="293"/>
                    <a:pt x="1144" y="197"/>
                    <a:pt x="1120" y="114"/>
                  </a:cubicBezTo>
                  <a:cubicBezTo>
                    <a:pt x="1083" y="41"/>
                    <a:pt x="1019" y="10"/>
                    <a:pt x="954" y="10"/>
                  </a:cubicBezTo>
                  <a:cubicBezTo>
                    <a:pt x="934" y="10"/>
                    <a:pt x="913" y="13"/>
                    <a:pt x="894" y="19"/>
                  </a:cubicBezTo>
                  <a:cubicBezTo>
                    <a:pt x="179" y="352"/>
                    <a:pt x="1" y="1281"/>
                    <a:pt x="572" y="1852"/>
                  </a:cubicBezTo>
                  <a:cubicBezTo>
                    <a:pt x="786" y="2078"/>
                    <a:pt x="1072" y="2174"/>
                    <a:pt x="1370" y="2174"/>
                  </a:cubicBezTo>
                  <a:cubicBezTo>
                    <a:pt x="2334" y="2162"/>
                    <a:pt x="2846" y="947"/>
                    <a:pt x="2132" y="245"/>
                  </a:cubicBezTo>
                  <a:cubicBezTo>
                    <a:pt x="2037" y="150"/>
                    <a:pt x="1918" y="66"/>
                    <a:pt x="1798" y="19"/>
                  </a:cubicBezTo>
                  <a:cubicBezTo>
                    <a:pt x="1776" y="6"/>
                    <a:pt x="1753" y="0"/>
                    <a:pt x="17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 name="CaixaDeTexto 54">
            <a:extLst>
              <a:ext uri="{FF2B5EF4-FFF2-40B4-BE49-F238E27FC236}">
                <a16:creationId xmlns:a16="http://schemas.microsoft.com/office/drawing/2014/main" id="{5151331E-ED22-483C-9A5F-F39D02811185}"/>
              </a:ext>
            </a:extLst>
          </p:cNvPr>
          <p:cNvSpPr txBox="1"/>
          <p:nvPr/>
        </p:nvSpPr>
        <p:spPr>
          <a:xfrm>
            <a:off x="7826628" y="1751439"/>
            <a:ext cx="1498347" cy="307777"/>
          </a:xfrm>
          <a:prstGeom prst="rect">
            <a:avLst/>
          </a:prstGeom>
          <a:solidFill>
            <a:schemeClr val="accent5">
              <a:lumMod val="20000"/>
              <a:lumOff val="80000"/>
            </a:schemeClr>
          </a:solidFill>
        </p:spPr>
        <p:txBody>
          <a:bodyPr wrap="square" rtlCol="0">
            <a:spAutoFit/>
          </a:bodyPr>
          <a:lstStyle/>
          <a:p>
            <a:r>
              <a:rPr lang="pt-BR" sz="1400" b="1" dirty="0">
                <a:solidFill>
                  <a:srgbClr val="0B5892"/>
                </a:solidFill>
                <a:latin typeface="Arial" panose="020B0604020202020204" pitchFamily="34" charset="0"/>
                <a:cs typeface="Arial" panose="020B0604020202020204" pitchFamily="34" charset="0"/>
              </a:rPr>
              <a:t>Promotores</a:t>
            </a:r>
          </a:p>
        </p:txBody>
      </p:sp>
      <p:sp>
        <p:nvSpPr>
          <p:cNvPr id="56" name="CaixaDeTexto 55">
            <a:extLst>
              <a:ext uri="{FF2B5EF4-FFF2-40B4-BE49-F238E27FC236}">
                <a16:creationId xmlns:a16="http://schemas.microsoft.com/office/drawing/2014/main" id="{3D7D8EBC-45F0-466E-AA24-76F7AF55B24C}"/>
              </a:ext>
            </a:extLst>
          </p:cNvPr>
          <p:cNvSpPr txBox="1"/>
          <p:nvPr/>
        </p:nvSpPr>
        <p:spPr>
          <a:xfrm>
            <a:off x="7414954" y="2117225"/>
            <a:ext cx="3295445" cy="1169551"/>
          </a:xfrm>
          <a:prstGeom prst="rect">
            <a:avLst/>
          </a:prstGeom>
          <a:noFill/>
        </p:spPr>
        <p:txBody>
          <a:bodyPr wrap="square" rtlCol="0">
            <a:spAutoFit/>
          </a:bodyPr>
          <a:lstStyle/>
          <a:p>
            <a:r>
              <a:rPr lang="pt-BR" sz="1400" dirty="0">
                <a:solidFill>
                  <a:srgbClr val="0B5892"/>
                </a:solidFill>
                <a:latin typeface="Arial" panose="020B0604020202020204" pitchFamily="34" charset="0"/>
                <a:cs typeface="Arial" panose="020B0604020202020204" pitchFamily="34" charset="0"/>
              </a:rPr>
              <a:t>Carolina Garcia Rodrigues Dos Santos</a:t>
            </a:r>
          </a:p>
          <a:p>
            <a:r>
              <a:rPr lang="pt-BR" sz="1400" dirty="0">
                <a:solidFill>
                  <a:srgbClr val="0B5892"/>
                </a:solidFill>
                <a:latin typeface="Arial" panose="020B0604020202020204" pitchFamily="34" charset="0"/>
                <a:cs typeface="Arial" panose="020B0604020202020204" pitchFamily="34" charset="0"/>
              </a:rPr>
              <a:t>Alessandro </a:t>
            </a:r>
            <a:r>
              <a:rPr lang="pt-BR" sz="1400" dirty="0" err="1">
                <a:solidFill>
                  <a:srgbClr val="0B5892"/>
                </a:solidFill>
                <a:latin typeface="Arial" panose="020B0604020202020204" pitchFamily="34" charset="0"/>
                <a:cs typeface="Arial" panose="020B0604020202020204" pitchFamily="34" charset="0"/>
              </a:rPr>
              <a:t>Zali</a:t>
            </a:r>
            <a:r>
              <a:rPr lang="pt-BR" sz="1400" dirty="0">
                <a:solidFill>
                  <a:srgbClr val="0B5892"/>
                </a:solidFill>
                <a:latin typeface="Arial" panose="020B0604020202020204" pitchFamily="34" charset="0"/>
                <a:cs typeface="Arial" panose="020B0604020202020204" pitchFamily="34" charset="0"/>
              </a:rPr>
              <a:t> Garcia Bobadilla</a:t>
            </a:r>
          </a:p>
          <a:p>
            <a:r>
              <a:rPr lang="pt-BR" sz="1400" dirty="0">
                <a:solidFill>
                  <a:srgbClr val="0B5892"/>
                </a:solidFill>
                <a:latin typeface="Arial" panose="020B0604020202020204" pitchFamily="34" charset="0"/>
                <a:cs typeface="Arial" panose="020B0604020202020204" pitchFamily="34" charset="0"/>
              </a:rPr>
              <a:t>Roberval Alves Barbosa Junior</a:t>
            </a:r>
          </a:p>
          <a:p>
            <a:r>
              <a:rPr lang="pt-BR" sz="1400" dirty="0">
                <a:solidFill>
                  <a:srgbClr val="0B5892"/>
                </a:solidFill>
                <a:latin typeface="Arial" panose="020B0604020202020204" pitchFamily="34" charset="0"/>
                <a:cs typeface="Arial" panose="020B0604020202020204" pitchFamily="34" charset="0"/>
              </a:rPr>
              <a:t>Isabelly Camille </a:t>
            </a:r>
            <a:r>
              <a:rPr lang="pt-BR" sz="1400" dirty="0" err="1">
                <a:solidFill>
                  <a:srgbClr val="0B5892"/>
                </a:solidFill>
                <a:latin typeface="Arial" panose="020B0604020202020204" pitchFamily="34" charset="0"/>
                <a:cs typeface="Arial" panose="020B0604020202020204" pitchFamily="34" charset="0"/>
              </a:rPr>
              <a:t>Oechsler</a:t>
            </a:r>
            <a:r>
              <a:rPr lang="pt-BR" sz="1400" dirty="0">
                <a:solidFill>
                  <a:srgbClr val="0B5892"/>
                </a:solidFill>
                <a:latin typeface="Arial" panose="020B0604020202020204" pitchFamily="34" charset="0"/>
                <a:cs typeface="Arial" panose="020B0604020202020204" pitchFamily="34" charset="0"/>
              </a:rPr>
              <a:t> Rosa</a:t>
            </a:r>
          </a:p>
          <a:p>
            <a:r>
              <a:rPr lang="pt-BR" sz="1400" dirty="0">
                <a:solidFill>
                  <a:srgbClr val="0B5892"/>
                </a:solidFill>
                <a:latin typeface="Arial" panose="020B0604020202020204" pitchFamily="34" charset="0"/>
                <a:cs typeface="Arial" panose="020B0604020202020204" pitchFamily="34" charset="0"/>
              </a:rPr>
              <a:t>Douglas </a:t>
            </a:r>
            <a:r>
              <a:rPr lang="pt-BR" sz="1400" dirty="0" err="1">
                <a:solidFill>
                  <a:srgbClr val="0B5892"/>
                </a:solidFill>
                <a:latin typeface="Arial" panose="020B0604020202020204" pitchFamily="34" charset="0"/>
                <a:cs typeface="Arial" panose="020B0604020202020204" pitchFamily="34" charset="0"/>
              </a:rPr>
              <a:t>Andre</a:t>
            </a:r>
            <a:r>
              <a:rPr lang="pt-BR" sz="1400" dirty="0">
                <a:solidFill>
                  <a:srgbClr val="0B5892"/>
                </a:solidFill>
                <a:latin typeface="Arial" panose="020B0604020202020204" pitchFamily="34" charset="0"/>
                <a:cs typeface="Arial" panose="020B0604020202020204" pitchFamily="34" charset="0"/>
              </a:rPr>
              <a:t> </a:t>
            </a:r>
            <a:r>
              <a:rPr lang="pt-BR" sz="1400" dirty="0" err="1">
                <a:solidFill>
                  <a:srgbClr val="0B5892"/>
                </a:solidFill>
                <a:latin typeface="Arial" panose="020B0604020202020204" pitchFamily="34" charset="0"/>
                <a:cs typeface="Arial" panose="020B0604020202020204" pitchFamily="34" charset="0"/>
              </a:rPr>
              <a:t>Locks</a:t>
            </a:r>
            <a:r>
              <a:rPr lang="pt-BR" sz="1400" dirty="0">
                <a:solidFill>
                  <a:srgbClr val="0B5892"/>
                </a:solidFill>
                <a:latin typeface="Arial" panose="020B0604020202020204" pitchFamily="34" charset="0"/>
                <a:cs typeface="Arial" panose="020B0604020202020204" pitchFamily="34" charset="0"/>
              </a:rPr>
              <a:t> Machado</a:t>
            </a:r>
          </a:p>
        </p:txBody>
      </p:sp>
      <p:sp>
        <p:nvSpPr>
          <p:cNvPr id="65" name="Retângulo: Cantos Arredondados 64">
            <a:extLst>
              <a:ext uri="{FF2B5EF4-FFF2-40B4-BE49-F238E27FC236}">
                <a16:creationId xmlns:a16="http://schemas.microsoft.com/office/drawing/2014/main" id="{BC700C3C-D613-4864-AB92-6017CB7A1E70}"/>
              </a:ext>
            </a:extLst>
          </p:cNvPr>
          <p:cNvSpPr/>
          <p:nvPr/>
        </p:nvSpPr>
        <p:spPr>
          <a:xfrm>
            <a:off x="7138142" y="3831068"/>
            <a:ext cx="4128654" cy="1948248"/>
          </a:xfrm>
          <a:prstGeom prst="roundRect">
            <a:avLst/>
          </a:prstGeom>
          <a:solidFill>
            <a:schemeClr val="bg1">
              <a:lumMod val="95000"/>
            </a:schemeClr>
          </a:solidFill>
          <a:ln>
            <a:noFill/>
          </a:ln>
          <a:effectLst>
            <a:outerShdw dist="101600" dir="10740000" algn="t" rotWithShape="0">
              <a:srgbClr val="0B5892"/>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66" name="Google Shape;1944;p50">
            <a:extLst>
              <a:ext uri="{FF2B5EF4-FFF2-40B4-BE49-F238E27FC236}">
                <a16:creationId xmlns:a16="http://schemas.microsoft.com/office/drawing/2014/main" id="{D992BF29-30A3-4BE4-B7C7-5CC12855C680}"/>
              </a:ext>
            </a:extLst>
          </p:cNvPr>
          <p:cNvGrpSpPr/>
          <p:nvPr/>
        </p:nvGrpSpPr>
        <p:grpSpPr>
          <a:xfrm rot="10417960">
            <a:off x="7308880" y="3994139"/>
            <a:ext cx="476316" cy="468384"/>
            <a:chOff x="860940" y="2746477"/>
            <a:chExt cx="371883" cy="365691"/>
          </a:xfrm>
          <a:solidFill>
            <a:srgbClr val="0B5892"/>
          </a:solidFill>
        </p:grpSpPr>
        <p:sp>
          <p:nvSpPr>
            <p:cNvPr id="67" name="Google Shape;1945;p50">
              <a:extLst>
                <a:ext uri="{FF2B5EF4-FFF2-40B4-BE49-F238E27FC236}">
                  <a16:creationId xmlns:a16="http://schemas.microsoft.com/office/drawing/2014/main" id="{D17A3269-EA0E-4DCD-A7FA-DB45599C4B11}"/>
                </a:ext>
              </a:extLst>
            </p:cNvPr>
            <p:cNvSpPr/>
            <p:nvPr/>
          </p:nvSpPr>
          <p:spPr>
            <a:xfrm>
              <a:off x="908191" y="3026302"/>
              <a:ext cx="30294" cy="28961"/>
            </a:xfrm>
            <a:custGeom>
              <a:avLst/>
              <a:gdLst/>
              <a:ahLst/>
              <a:cxnLst/>
              <a:rect l="l" t="t" r="r" b="b"/>
              <a:pathLst>
                <a:path w="954" h="912" extrusionOk="0">
                  <a:moveTo>
                    <a:pt x="763" y="1"/>
                  </a:moveTo>
                  <a:cubicBezTo>
                    <a:pt x="718" y="1"/>
                    <a:pt x="674" y="16"/>
                    <a:pt x="644" y="45"/>
                  </a:cubicBezTo>
                  <a:lnTo>
                    <a:pt x="60" y="629"/>
                  </a:lnTo>
                  <a:cubicBezTo>
                    <a:pt x="1" y="688"/>
                    <a:pt x="1" y="807"/>
                    <a:pt x="60" y="867"/>
                  </a:cubicBezTo>
                  <a:cubicBezTo>
                    <a:pt x="90" y="897"/>
                    <a:pt x="135" y="911"/>
                    <a:pt x="179" y="911"/>
                  </a:cubicBezTo>
                  <a:cubicBezTo>
                    <a:pt x="224" y="911"/>
                    <a:pt x="269" y="897"/>
                    <a:pt x="299" y="867"/>
                  </a:cubicBezTo>
                  <a:lnTo>
                    <a:pt x="882" y="283"/>
                  </a:lnTo>
                  <a:cubicBezTo>
                    <a:pt x="953" y="224"/>
                    <a:pt x="953" y="105"/>
                    <a:pt x="882" y="45"/>
                  </a:cubicBezTo>
                  <a:cubicBezTo>
                    <a:pt x="852" y="16"/>
                    <a:pt x="807" y="1"/>
                    <a:pt x="76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946;p50">
              <a:extLst>
                <a:ext uri="{FF2B5EF4-FFF2-40B4-BE49-F238E27FC236}">
                  <a16:creationId xmlns:a16="http://schemas.microsoft.com/office/drawing/2014/main" id="{619D078A-CF76-4D11-B528-09456D759EBC}"/>
                </a:ext>
              </a:extLst>
            </p:cNvPr>
            <p:cNvSpPr/>
            <p:nvPr/>
          </p:nvSpPr>
          <p:spPr>
            <a:xfrm>
              <a:off x="943757" y="3061836"/>
              <a:ext cx="30263" cy="28961"/>
            </a:xfrm>
            <a:custGeom>
              <a:avLst/>
              <a:gdLst/>
              <a:ahLst/>
              <a:cxnLst/>
              <a:rect l="l" t="t" r="r" b="b"/>
              <a:pathLst>
                <a:path w="953" h="912" extrusionOk="0">
                  <a:moveTo>
                    <a:pt x="762" y="1"/>
                  </a:moveTo>
                  <a:cubicBezTo>
                    <a:pt x="717" y="1"/>
                    <a:pt x="673" y="16"/>
                    <a:pt x="643" y="46"/>
                  </a:cubicBezTo>
                  <a:lnTo>
                    <a:pt x="60" y="629"/>
                  </a:lnTo>
                  <a:cubicBezTo>
                    <a:pt x="0" y="688"/>
                    <a:pt x="0" y="807"/>
                    <a:pt x="60" y="867"/>
                  </a:cubicBezTo>
                  <a:cubicBezTo>
                    <a:pt x="89" y="897"/>
                    <a:pt x="134" y="912"/>
                    <a:pt x="179" y="912"/>
                  </a:cubicBezTo>
                  <a:cubicBezTo>
                    <a:pt x="223" y="912"/>
                    <a:pt x="268" y="897"/>
                    <a:pt x="298" y="867"/>
                  </a:cubicBezTo>
                  <a:lnTo>
                    <a:pt x="881" y="284"/>
                  </a:lnTo>
                  <a:cubicBezTo>
                    <a:pt x="953" y="224"/>
                    <a:pt x="953" y="105"/>
                    <a:pt x="881" y="46"/>
                  </a:cubicBezTo>
                  <a:cubicBezTo>
                    <a:pt x="851" y="16"/>
                    <a:pt x="807" y="1"/>
                    <a:pt x="7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947;p50">
              <a:extLst>
                <a:ext uri="{FF2B5EF4-FFF2-40B4-BE49-F238E27FC236}">
                  <a16:creationId xmlns:a16="http://schemas.microsoft.com/office/drawing/2014/main" id="{B4EF2116-4816-47AF-A2F4-BF0E390808D8}"/>
                </a:ext>
              </a:extLst>
            </p:cNvPr>
            <p:cNvSpPr/>
            <p:nvPr/>
          </p:nvSpPr>
          <p:spPr>
            <a:xfrm>
              <a:off x="926355" y="3044085"/>
              <a:ext cx="29881" cy="28579"/>
            </a:xfrm>
            <a:custGeom>
              <a:avLst/>
              <a:gdLst/>
              <a:ahLst/>
              <a:cxnLst/>
              <a:rect l="l" t="t" r="r" b="b"/>
              <a:pathLst>
                <a:path w="941" h="900" extrusionOk="0">
                  <a:moveTo>
                    <a:pt x="762" y="0"/>
                  </a:moveTo>
                  <a:cubicBezTo>
                    <a:pt x="718" y="0"/>
                    <a:pt x="673" y="15"/>
                    <a:pt x="643" y="45"/>
                  </a:cubicBezTo>
                  <a:lnTo>
                    <a:pt x="60" y="616"/>
                  </a:lnTo>
                  <a:cubicBezTo>
                    <a:pt x="0" y="676"/>
                    <a:pt x="0" y="795"/>
                    <a:pt x="60" y="855"/>
                  </a:cubicBezTo>
                  <a:cubicBezTo>
                    <a:pt x="90" y="884"/>
                    <a:pt x="134" y="899"/>
                    <a:pt x="179" y="899"/>
                  </a:cubicBezTo>
                  <a:cubicBezTo>
                    <a:pt x="224" y="899"/>
                    <a:pt x="268" y="884"/>
                    <a:pt x="298" y="855"/>
                  </a:cubicBezTo>
                  <a:lnTo>
                    <a:pt x="881" y="283"/>
                  </a:lnTo>
                  <a:cubicBezTo>
                    <a:pt x="941" y="224"/>
                    <a:pt x="941" y="116"/>
                    <a:pt x="881" y="45"/>
                  </a:cubicBezTo>
                  <a:cubicBezTo>
                    <a:pt x="852" y="15"/>
                    <a:pt x="807" y="0"/>
                    <a:pt x="76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948;p50">
              <a:extLst>
                <a:ext uri="{FF2B5EF4-FFF2-40B4-BE49-F238E27FC236}">
                  <a16:creationId xmlns:a16="http://schemas.microsoft.com/office/drawing/2014/main" id="{AF85CE36-5327-4CFD-9945-648968C30A0B}"/>
                </a:ext>
              </a:extLst>
            </p:cNvPr>
            <p:cNvSpPr/>
            <p:nvPr/>
          </p:nvSpPr>
          <p:spPr>
            <a:xfrm>
              <a:off x="860940" y="2746477"/>
              <a:ext cx="371883" cy="365691"/>
            </a:xfrm>
            <a:custGeom>
              <a:avLst/>
              <a:gdLst/>
              <a:ahLst/>
              <a:cxnLst/>
              <a:rect l="l" t="t" r="r" b="b"/>
              <a:pathLst>
                <a:path w="11711" h="11516" extrusionOk="0">
                  <a:moveTo>
                    <a:pt x="11312" y="344"/>
                  </a:moveTo>
                  <a:lnTo>
                    <a:pt x="10835" y="1987"/>
                  </a:lnTo>
                  <a:lnTo>
                    <a:pt x="9680" y="821"/>
                  </a:lnTo>
                  <a:lnTo>
                    <a:pt x="11312" y="344"/>
                  </a:lnTo>
                  <a:close/>
                  <a:moveTo>
                    <a:pt x="4882" y="3821"/>
                  </a:moveTo>
                  <a:lnTo>
                    <a:pt x="2822" y="5881"/>
                  </a:lnTo>
                  <a:lnTo>
                    <a:pt x="477" y="5690"/>
                  </a:lnTo>
                  <a:cubicBezTo>
                    <a:pt x="453" y="5690"/>
                    <a:pt x="429" y="5643"/>
                    <a:pt x="465" y="5631"/>
                  </a:cubicBezTo>
                  <a:cubicBezTo>
                    <a:pt x="1477" y="4619"/>
                    <a:pt x="2822" y="4000"/>
                    <a:pt x="4227" y="3881"/>
                  </a:cubicBezTo>
                  <a:lnTo>
                    <a:pt x="4882" y="3821"/>
                  </a:lnTo>
                  <a:close/>
                  <a:moveTo>
                    <a:pt x="2894" y="6297"/>
                  </a:moveTo>
                  <a:lnTo>
                    <a:pt x="3811" y="7226"/>
                  </a:lnTo>
                  <a:lnTo>
                    <a:pt x="3477" y="7571"/>
                  </a:lnTo>
                  <a:lnTo>
                    <a:pt x="2549" y="6643"/>
                  </a:lnTo>
                  <a:lnTo>
                    <a:pt x="2894" y="6297"/>
                  </a:lnTo>
                  <a:close/>
                  <a:moveTo>
                    <a:pt x="2727" y="7333"/>
                  </a:moveTo>
                  <a:lnTo>
                    <a:pt x="3203" y="7810"/>
                  </a:lnTo>
                  <a:lnTo>
                    <a:pt x="2799" y="8226"/>
                  </a:lnTo>
                  <a:cubicBezTo>
                    <a:pt x="2787" y="8238"/>
                    <a:pt x="2763" y="8262"/>
                    <a:pt x="2739" y="8298"/>
                  </a:cubicBezTo>
                  <a:lnTo>
                    <a:pt x="2310" y="7869"/>
                  </a:lnTo>
                  <a:cubicBezTo>
                    <a:pt x="2287" y="7833"/>
                    <a:pt x="2287" y="7774"/>
                    <a:pt x="2310" y="7750"/>
                  </a:cubicBezTo>
                  <a:lnTo>
                    <a:pt x="2727" y="7333"/>
                  </a:lnTo>
                  <a:close/>
                  <a:moveTo>
                    <a:pt x="9311" y="916"/>
                  </a:moveTo>
                  <a:lnTo>
                    <a:pt x="10740" y="2345"/>
                  </a:lnTo>
                  <a:lnTo>
                    <a:pt x="10299" y="3821"/>
                  </a:lnTo>
                  <a:lnTo>
                    <a:pt x="5597" y="8524"/>
                  </a:lnTo>
                  <a:lnTo>
                    <a:pt x="4680" y="7595"/>
                  </a:lnTo>
                  <a:lnTo>
                    <a:pt x="6823" y="5452"/>
                  </a:lnTo>
                  <a:cubicBezTo>
                    <a:pt x="6966" y="5309"/>
                    <a:pt x="7001" y="5035"/>
                    <a:pt x="6811" y="4833"/>
                  </a:cubicBezTo>
                  <a:cubicBezTo>
                    <a:pt x="6728" y="4750"/>
                    <a:pt x="6617" y="4708"/>
                    <a:pt x="6506" y="4708"/>
                  </a:cubicBezTo>
                  <a:cubicBezTo>
                    <a:pt x="6394" y="4708"/>
                    <a:pt x="6281" y="4750"/>
                    <a:pt x="6192" y="4833"/>
                  </a:cubicBezTo>
                  <a:lnTo>
                    <a:pt x="4049" y="6976"/>
                  </a:lnTo>
                  <a:lnTo>
                    <a:pt x="3132" y="6047"/>
                  </a:lnTo>
                  <a:lnTo>
                    <a:pt x="7835" y="1344"/>
                  </a:lnTo>
                  <a:lnTo>
                    <a:pt x="9311" y="916"/>
                  </a:lnTo>
                  <a:close/>
                  <a:moveTo>
                    <a:pt x="6495" y="5047"/>
                  </a:moveTo>
                  <a:cubicBezTo>
                    <a:pt x="6522" y="5047"/>
                    <a:pt x="6549" y="5059"/>
                    <a:pt x="6573" y="5083"/>
                  </a:cubicBezTo>
                  <a:cubicBezTo>
                    <a:pt x="6609" y="5131"/>
                    <a:pt x="6609" y="5178"/>
                    <a:pt x="6573" y="5226"/>
                  </a:cubicBezTo>
                  <a:lnTo>
                    <a:pt x="4311" y="7488"/>
                  </a:lnTo>
                  <a:lnTo>
                    <a:pt x="3203" y="8595"/>
                  </a:lnTo>
                  <a:cubicBezTo>
                    <a:pt x="3180" y="8619"/>
                    <a:pt x="3153" y="8631"/>
                    <a:pt x="3127" y="8631"/>
                  </a:cubicBezTo>
                  <a:cubicBezTo>
                    <a:pt x="3102" y="8631"/>
                    <a:pt x="3078" y="8619"/>
                    <a:pt x="3060" y="8595"/>
                  </a:cubicBezTo>
                  <a:cubicBezTo>
                    <a:pt x="3013" y="8548"/>
                    <a:pt x="3013" y="8488"/>
                    <a:pt x="3060" y="8441"/>
                  </a:cubicBezTo>
                  <a:lnTo>
                    <a:pt x="6418" y="5083"/>
                  </a:lnTo>
                  <a:cubicBezTo>
                    <a:pt x="6442" y="5059"/>
                    <a:pt x="6469" y="5047"/>
                    <a:pt x="6495" y="5047"/>
                  </a:cubicBezTo>
                  <a:close/>
                  <a:moveTo>
                    <a:pt x="4430" y="7857"/>
                  </a:moveTo>
                  <a:lnTo>
                    <a:pt x="5346" y="8786"/>
                  </a:lnTo>
                  <a:lnTo>
                    <a:pt x="5001" y="9119"/>
                  </a:lnTo>
                  <a:lnTo>
                    <a:pt x="4989" y="9119"/>
                  </a:lnTo>
                  <a:lnTo>
                    <a:pt x="4084" y="8202"/>
                  </a:lnTo>
                  <a:lnTo>
                    <a:pt x="4430" y="7857"/>
                  </a:lnTo>
                  <a:close/>
                  <a:moveTo>
                    <a:pt x="3846" y="8429"/>
                  </a:moveTo>
                  <a:lnTo>
                    <a:pt x="4323" y="8905"/>
                  </a:lnTo>
                  <a:lnTo>
                    <a:pt x="3906" y="9322"/>
                  </a:lnTo>
                  <a:cubicBezTo>
                    <a:pt x="3894" y="9334"/>
                    <a:pt x="3858" y="9357"/>
                    <a:pt x="3846" y="9357"/>
                  </a:cubicBezTo>
                  <a:cubicBezTo>
                    <a:pt x="3834" y="9357"/>
                    <a:pt x="3811" y="9357"/>
                    <a:pt x="3787" y="9322"/>
                  </a:cubicBezTo>
                  <a:lnTo>
                    <a:pt x="3358" y="8905"/>
                  </a:lnTo>
                  <a:cubicBezTo>
                    <a:pt x="3382" y="8893"/>
                    <a:pt x="3394" y="8881"/>
                    <a:pt x="3430" y="8845"/>
                  </a:cubicBezTo>
                  <a:lnTo>
                    <a:pt x="3846" y="8429"/>
                  </a:lnTo>
                  <a:close/>
                  <a:moveTo>
                    <a:pt x="11322" y="1"/>
                  </a:moveTo>
                  <a:cubicBezTo>
                    <a:pt x="11295" y="1"/>
                    <a:pt x="11267" y="4"/>
                    <a:pt x="11240" y="11"/>
                  </a:cubicBezTo>
                  <a:cubicBezTo>
                    <a:pt x="10514" y="213"/>
                    <a:pt x="8394" y="844"/>
                    <a:pt x="7704" y="1035"/>
                  </a:cubicBezTo>
                  <a:cubicBezTo>
                    <a:pt x="7668" y="1047"/>
                    <a:pt x="7656" y="1059"/>
                    <a:pt x="7621" y="1083"/>
                  </a:cubicBezTo>
                  <a:lnTo>
                    <a:pt x="5263" y="3440"/>
                  </a:lnTo>
                  <a:lnTo>
                    <a:pt x="4203" y="3535"/>
                  </a:lnTo>
                  <a:cubicBezTo>
                    <a:pt x="2703" y="3654"/>
                    <a:pt x="1286" y="4321"/>
                    <a:pt x="227" y="5381"/>
                  </a:cubicBezTo>
                  <a:cubicBezTo>
                    <a:pt x="1" y="5595"/>
                    <a:pt x="143" y="5988"/>
                    <a:pt x="465" y="6024"/>
                  </a:cubicBezTo>
                  <a:lnTo>
                    <a:pt x="2525" y="6190"/>
                  </a:lnTo>
                  <a:lnTo>
                    <a:pt x="2310" y="6405"/>
                  </a:lnTo>
                  <a:cubicBezTo>
                    <a:pt x="2179" y="6536"/>
                    <a:pt x="2179" y="6750"/>
                    <a:pt x="2310" y="6881"/>
                  </a:cubicBezTo>
                  <a:lnTo>
                    <a:pt x="2525" y="7083"/>
                  </a:lnTo>
                  <a:lnTo>
                    <a:pt x="2108" y="7500"/>
                  </a:lnTo>
                  <a:cubicBezTo>
                    <a:pt x="1941" y="7667"/>
                    <a:pt x="1941" y="7941"/>
                    <a:pt x="2108" y="8095"/>
                  </a:cubicBezTo>
                  <a:lnTo>
                    <a:pt x="3561" y="9560"/>
                  </a:lnTo>
                  <a:cubicBezTo>
                    <a:pt x="3644" y="9643"/>
                    <a:pt x="3751" y="9685"/>
                    <a:pt x="3858" y="9685"/>
                  </a:cubicBezTo>
                  <a:cubicBezTo>
                    <a:pt x="3965" y="9685"/>
                    <a:pt x="4073" y="9643"/>
                    <a:pt x="4156" y="9560"/>
                  </a:cubicBezTo>
                  <a:lnTo>
                    <a:pt x="4573" y="9143"/>
                  </a:lnTo>
                  <a:lnTo>
                    <a:pt x="4763" y="9334"/>
                  </a:lnTo>
                  <a:cubicBezTo>
                    <a:pt x="4835" y="9399"/>
                    <a:pt x="4924" y="9432"/>
                    <a:pt x="5015" y="9432"/>
                  </a:cubicBezTo>
                  <a:cubicBezTo>
                    <a:pt x="5105" y="9432"/>
                    <a:pt x="5198" y="9399"/>
                    <a:pt x="5275" y="9334"/>
                  </a:cubicBezTo>
                  <a:lnTo>
                    <a:pt x="5477" y="9131"/>
                  </a:lnTo>
                  <a:lnTo>
                    <a:pt x="5656" y="11179"/>
                  </a:lnTo>
                  <a:cubicBezTo>
                    <a:pt x="5680" y="11334"/>
                    <a:pt x="5763" y="11453"/>
                    <a:pt x="5894" y="11500"/>
                  </a:cubicBezTo>
                  <a:cubicBezTo>
                    <a:pt x="5935" y="11511"/>
                    <a:pt x="5975" y="11516"/>
                    <a:pt x="6015" y="11516"/>
                  </a:cubicBezTo>
                  <a:cubicBezTo>
                    <a:pt x="6115" y="11516"/>
                    <a:pt x="6210" y="11482"/>
                    <a:pt x="6287" y="11405"/>
                  </a:cubicBezTo>
                  <a:cubicBezTo>
                    <a:pt x="6942" y="10750"/>
                    <a:pt x="7430" y="9977"/>
                    <a:pt x="7763" y="9119"/>
                  </a:cubicBezTo>
                  <a:cubicBezTo>
                    <a:pt x="7787" y="9024"/>
                    <a:pt x="7740" y="8941"/>
                    <a:pt x="7656" y="8893"/>
                  </a:cubicBezTo>
                  <a:cubicBezTo>
                    <a:pt x="7635" y="8885"/>
                    <a:pt x="7614" y="8881"/>
                    <a:pt x="7594" y="8881"/>
                  </a:cubicBezTo>
                  <a:cubicBezTo>
                    <a:pt x="7525" y="8881"/>
                    <a:pt x="7467" y="8926"/>
                    <a:pt x="7430" y="9000"/>
                  </a:cubicBezTo>
                  <a:cubicBezTo>
                    <a:pt x="7132" y="9810"/>
                    <a:pt x="6656" y="10560"/>
                    <a:pt x="6037" y="11167"/>
                  </a:cubicBezTo>
                  <a:cubicBezTo>
                    <a:pt x="6027" y="11172"/>
                    <a:pt x="6015" y="11175"/>
                    <a:pt x="6005" y="11175"/>
                  </a:cubicBezTo>
                  <a:cubicBezTo>
                    <a:pt x="5990" y="11175"/>
                    <a:pt x="5978" y="11169"/>
                    <a:pt x="5978" y="11155"/>
                  </a:cubicBezTo>
                  <a:lnTo>
                    <a:pt x="5763" y="8822"/>
                  </a:lnTo>
                  <a:lnTo>
                    <a:pt x="7835" y="6750"/>
                  </a:lnTo>
                  <a:lnTo>
                    <a:pt x="7835" y="6750"/>
                  </a:lnTo>
                  <a:cubicBezTo>
                    <a:pt x="7763" y="7583"/>
                    <a:pt x="7740" y="7810"/>
                    <a:pt x="7656" y="8238"/>
                  </a:cubicBezTo>
                  <a:cubicBezTo>
                    <a:pt x="7644" y="8322"/>
                    <a:pt x="7680" y="8417"/>
                    <a:pt x="7787" y="8441"/>
                  </a:cubicBezTo>
                  <a:cubicBezTo>
                    <a:pt x="7803" y="8445"/>
                    <a:pt x="7819" y="8447"/>
                    <a:pt x="7834" y="8447"/>
                  </a:cubicBezTo>
                  <a:cubicBezTo>
                    <a:pt x="7909" y="8447"/>
                    <a:pt x="7972" y="8399"/>
                    <a:pt x="8002" y="8310"/>
                  </a:cubicBezTo>
                  <a:cubicBezTo>
                    <a:pt x="8121" y="7786"/>
                    <a:pt x="8121" y="7548"/>
                    <a:pt x="8216" y="6393"/>
                  </a:cubicBezTo>
                  <a:lnTo>
                    <a:pt x="10585" y="4023"/>
                  </a:lnTo>
                  <a:cubicBezTo>
                    <a:pt x="10597" y="4011"/>
                    <a:pt x="10621" y="3976"/>
                    <a:pt x="10633" y="3952"/>
                  </a:cubicBezTo>
                  <a:lnTo>
                    <a:pt x="11109" y="2345"/>
                  </a:lnTo>
                  <a:lnTo>
                    <a:pt x="11669" y="404"/>
                  </a:lnTo>
                  <a:cubicBezTo>
                    <a:pt x="11711" y="193"/>
                    <a:pt x="11529" y="1"/>
                    <a:pt x="1132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949;p50">
              <a:extLst>
                <a:ext uri="{FF2B5EF4-FFF2-40B4-BE49-F238E27FC236}">
                  <a16:creationId xmlns:a16="http://schemas.microsoft.com/office/drawing/2014/main" id="{220B1891-A6FD-457A-A82D-A2CA406B1689}"/>
                </a:ext>
              </a:extLst>
            </p:cNvPr>
            <p:cNvSpPr/>
            <p:nvPr/>
          </p:nvSpPr>
          <p:spPr>
            <a:xfrm>
              <a:off x="1070396" y="2832057"/>
              <a:ext cx="90406" cy="69035"/>
            </a:xfrm>
            <a:custGeom>
              <a:avLst/>
              <a:gdLst/>
              <a:ahLst/>
              <a:cxnLst/>
              <a:rect l="l" t="t" r="r" b="b"/>
              <a:pathLst>
                <a:path w="2847" h="2174" extrusionOk="0">
                  <a:moveTo>
                    <a:pt x="1730" y="0"/>
                  </a:moveTo>
                  <a:cubicBezTo>
                    <a:pt x="1668" y="0"/>
                    <a:pt x="1610" y="44"/>
                    <a:pt x="1584" y="114"/>
                  </a:cubicBezTo>
                  <a:cubicBezTo>
                    <a:pt x="1537" y="197"/>
                    <a:pt x="1584" y="293"/>
                    <a:pt x="1668" y="328"/>
                  </a:cubicBezTo>
                  <a:cubicBezTo>
                    <a:pt x="2179" y="554"/>
                    <a:pt x="2299" y="1221"/>
                    <a:pt x="1906" y="1614"/>
                  </a:cubicBezTo>
                  <a:cubicBezTo>
                    <a:pt x="1751" y="1769"/>
                    <a:pt x="1551" y="1846"/>
                    <a:pt x="1350" y="1846"/>
                  </a:cubicBezTo>
                  <a:cubicBezTo>
                    <a:pt x="1150" y="1846"/>
                    <a:pt x="947" y="1769"/>
                    <a:pt x="786" y="1614"/>
                  </a:cubicBezTo>
                  <a:cubicBezTo>
                    <a:pt x="405" y="1221"/>
                    <a:pt x="525" y="566"/>
                    <a:pt x="1025" y="328"/>
                  </a:cubicBezTo>
                  <a:cubicBezTo>
                    <a:pt x="1120" y="293"/>
                    <a:pt x="1144" y="197"/>
                    <a:pt x="1120" y="114"/>
                  </a:cubicBezTo>
                  <a:cubicBezTo>
                    <a:pt x="1083" y="41"/>
                    <a:pt x="1019" y="10"/>
                    <a:pt x="954" y="10"/>
                  </a:cubicBezTo>
                  <a:cubicBezTo>
                    <a:pt x="934" y="10"/>
                    <a:pt x="913" y="13"/>
                    <a:pt x="894" y="19"/>
                  </a:cubicBezTo>
                  <a:cubicBezTo>
                    <a:pt x="179" y="352"/>
                    <a:pt x="1" y="1281"/>
                    <a:pt x="572" y="1852"/>
                  </a:cubicBezTo>
                  <a:cubicBezTo>
                    <a:pt x="786" y="2078"/>
                    <a:pt x="1072" y="2174"/>
                    <a:pt x="1370" y="2174"/>
                  </a:cubicBezTo>
                  <a:cubicBezTo>
                    <a:pt x="2334" y="2162"/>
                    <a:pt x="2846" y="947"/>
                    <a:pt x="2132" y="245"/>
                  </a:cubicBezTo>
                  <a:cubicBezTo>
                    <a:pt x="2037" y="150"/>
                    <a:pt x="1918" y="66"/>
                    <a:pt x="1798" y="19"/>
                  </a:cubicBezTo>
                  <a:cubicBezTo>
                    <a:pt x="1776" y="6"/>
                    <a:pt x="1753" y="0"/>
                    <a:pt x="17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 name="CaixaDeTexto 71">
            <a:extLst>
              <a:ext uri="{FF2B5EF4-FFF2-40B4-BE49-F238E27FC236}">
                <a16:creationId xmlns:a16="http://schemas.microsoft.com/office/drawing/2014/main" id="{F549BB60-0BF1-41F3-853E-103F8C42AD2E}"/>
              </a:ext>
            </a:extLst>
          </p:cNvPr>
          <p:cNvSpPr txBox="1"/>
          <p:nvPr/>
        </p:nvSpPr>
        <p:spPr>
          <a:xfrm>
            <a:off x="7826628" y="3958777"/>
            <a:ext cx="1498347" cy="307777"/>
          </a:xfrm>
          <a:prstGeom prst="rect">
            <a:avLst/>
          </a:prstGeom>
          <a:solidFill>
            <a:schemeClr val="accent5">
              <a:lumMod val="20000"/>
              <a:lumOff val="80000"/>
            </a:schemeClr>
          </a:solidFill>
        </p:spPr>
        <p:txBody>
          <a:bodyPr wrap="square" rtlCol="0">
            <a:spAutoFit/>
          </a:bodyPr>
          <a:lstStyle/>
          <a:p>
            <a:r>
              <a:rPr lang="pt-BR" sz="1400" b="1" dirty="0">
                <a:solidFill>
                  <a:srgbClr val="0B5892"/>
                </a:solidFill>
                <a:latin typeface="Arial" panose="020B0604020202020204" pitchFamily="34" charset="0"/>
                <a:cs typeface="Arial" panose="020B0604020202020204" pitchFamily="34" charset="0"/>
              </a:rPr>
              <a:t>Ofensores</a:t>
            </a:r>
          </a:p>
        </p:txBody>
      </p:sp>
      <p:sp>
        <p:nvSpPr>
          <p:cNvPr id="73" name="CaixaDeTexto 72">
            <a:extLst>
              <a:ext uri="{FF2B5EF4-FFF2-40B4-BE49-F238E27FC236}">
                <a16:creationId xmlns:a16="http://schemas.microsoft.com/office/drawing/2014/main" id="{6E0F3539-E83A-49C9-A0E1-B7C22DEA1CB9}"/>
              </a:ext>
            </a:extLst>
          </p:cNvPr>
          <p:cNvSpPr txBox="1"/>
          <p:nvPr/>
        </p:nvSpPr>
        <p:spPr>
          <a:xfrm>
            <a:off x="7453716" y="4339103"/>
            <a:ext cx="3424997" cy="1169551"/>
          </a:xfrm>
          <a:prstGeom prst="rect">
            <a:avLst/>
          </a:prstGeom>
          <a:noFill/>
        </p:spPr>
        <p:txBody>
          <a:bodyPr wrap="square" rtlCol="0">
            <a:spAutoFit/>
          </a:bodyPr>
          <a:lstStyle/>
          <a:p>
            <a:r>
              <a:rPr lang="pt-BR" sz="1400" dirty="0">
                <a:solidFill>
                  <a:srgbClr val="0B5892"/>
                </a:solidFill>
                <a:latin typeface="Arial" panose="020B0604020202020204" pitchFamily="34" charset="0"/>
                <a:cs typeface="Arial" panose="020B0604020202020204" pitchFamily="34" charset="0"/>
              </a:rPr>
              <a:t>Pedro Henrique Casagrande Goncalves</a:t>
            </a:r>
          </a:p>
          <a:p>
            <a:r>
              <a:rPr lang="pt-BR" sz="1400" dirty="0" err="1">
                <a:solidFill>
                  <a:srgbClr val="0B5892"/>
                </a:solidFill>
                <a:latin typeface="Arial" panose="020B0604020202020204" pitchFamily="34" charset="0"/>
                <a:cs typeface="Arial" panose="020B0604020202020204" pitchFamily="34" charset="0"/>
              </a:rPr>
              <a:t>Konny</a:t>
            </a:r>
            <a:r>
              <a:rPr lang="pt-BR" sz="1400" dirty="0">
                <a:solidFill>
                  <a:srgbClr val="0B5892"/>
                </a:solidFill>
                <a:latin typeface="Arial" panose="020B0604020202020204" pitchFamily="34" charset="0"/>
                <a:cs typeface="Arial" panose="020B0604020202020204" pitchFamily="34" charset="0"/>
              </a:rPr>
              <a:t> Mafra Castillo</a:t>
            </a:r>
          </a:p>
          <a:p>
            <a:r>
              <a:rPr lang="pt-BR" sz="1400" dirty="0">
                <a:solidFill>
                  <a:srgbClr val="0B5892"/>
                </a:solidFill>
                <a:latin typeface="Arial" panose="020B0604020202020204" pitchFamily="34" charset="0"/>
                <a:cs typeface="Arial" panose="020B0604020202020204" pitchFamily="34" charset="0"/>
              </a:rPr>
              <a:t>Bruno Weslley Ourique de Souza</a:t>
            </a:r>
          </a:p>
          <a:p>
            <a:r>
              <a:rPr lang="pt-BR" sz="1400" dirty="0">
                <a:solidFill>
                  <a:srgbClr val="0B5892"/>
                </a:solidFill>
                <a:latin typeface="Arial" panose="020B0604020202020204" pitchFamily="34" charset="0"/>
                <a:cs typeface="Arial" panose="020B0604020202020204" pitchFamily="34" charset="0"/>
              </a:rPr>
              <a:t>Samara Regiane Pereira</a:t>
            </a:r>
          </a:p>
          <a:p>
            <a:r>
              <a:rPr lang="pt-BR" sz="1400" dirty="0">
                <a:solidFill>
                  <a:srgbClr val="0B5892"/>
                </a:solidFill>
                <a:latin typeface="Arial" panose="020B0604020202020204" pitchFamily="34" charset="0"/>
                <a:cs typeface="Arial" panose="020B0604020202020204" pitchFamily="34" charset="0"/>
              </a:rPr>
              <a:t>João Vitor Rodrigues da Costa</a:t>
            </a:r>
          </a:p>
        </p:txBody>
      </p:sp>
      <p:sp>
        <p:nvSpPr>
          <p:cNvPr id="75" name="Retângulo: Cantos Arredondados 74">
            <a:extLst>
              <a:ext uri="{FF2B5EF4-FFF2-40B4-BE49-F238E27FC236}">
                <a16:creationId xmlns:a16="http://schemas.microsoft.com/office/drawing/2014/main" id="{19F7444E-86B2-4DF8-9BE5-F4C6CFF6FB01}"/>
              </a:ext>
            </a:extLst>
          </p:cNvPr>
          <p:cNvSpPr/>
          <p:nvPr/>
        </p:nvSpPr>
        <p:spPr>
          <a:xfrm>
            <a:off x="1298165" y="1622519"/>
            <a:ext cx="5353050" cy="1695128"/>
          </a:xfrm>
          <a:prstGeom prst="roundRect">
            <a:avLst/>
          </a:prstGeom>
          <a:solidFill>
            <a:schemeClr val="bg1">
              <a:lumMod val="95000"/>
            </a:schemeClr>
          </a:solidFill>
          <a:ln>
            <a:noFill/>
          </a:ln>
          <a:effectLst>
            <a:outerShdw dist="101600" dir="10740000" algn="t" rotWithShape="0">
              <a:schemeClr val="tx1">
                <a:lumMod val="65000"/>
                <a:lumOff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76" name="Google Shape;1944;p50">
            <a:extLst>
              <a:ext uri="{FF2B5EF4-FFF2-40B4-BE49-F238E27FC236}">
                <a16:creationId xmlns:a16="http://schemas.microsoft.com/office/drawing/2014/main" id="{23D4F9B8-B03B-4AD5-8AC1-B8C7EEE8B6CA}"/>
              </a:ext>
            </a:extLst>
          </p:cNvPr>
          <p:cNvGrpSpPr/>
          <p:nvPr/>
        </p:nvGrpSpPr>
        <p:grpSpPr>
          <a:xfrm rot="10417960">
            <a:off x="1460480" y="1657214"/>
            <a:ext cx="473619" cy="462234"/>
            <a:chOff x="860940" y="2746477"/>
            <a:chExt cx="371883" cy="365691"/>
          </a:xfrm>
          <a:solidFill>
            <a:srgbClr val="595959"/>
          </a:solidFill>
        </p:grpSpPr>
        <p:sp>
          <p:nvSpPr>
            <p:cNvPr id="77" name="Google Shape;1945;p50">
              <a:extLst>
                <a:ext uri="{FF2B5EF4-FFF2-40B4-BE49-F238E27FC236}">
                  <a16:creationId xmlns:a16="http://schemas.microsoft.com/office/drawing/2014/main" id="{71446081-35DF-4E60-A1F2-EEBC3EA75609}"/>
                </a:ext>
              </a:extLst>
            </p:cNvPr>
            <p:cNvSpPr/>
            <p:nvPr/>
          </p:nvSpPr>
          <p:spPr>
            <a:xfrm>
              <a:off x="908191" y="3026302"/>
              <a:ext cx="30294" cy="28961"/>
            </a:xfrm>
            <a:custGeom>
              <a:avLst/>
              <a:gdLst/>
              <a:ahLst/>
              <a:cxnLst/>
              <a:rect l="l" t="t" r="r" b="b"/>
              <a:pathLst>
                <a:path w="954" h="912" extrusionOk="0">
                  <a:moveTo>
                    <a:pt x="763" y="1"/>
                  </a:moveTo>
                  <a:cubicBezTo>
                    <a:pt x="718" y="1"/>
                    <a:pt x="674" y="16"/>
                    <a:pt x="644" y="45"/>
                  </a:cubicBezTo>
                  <a:lnTo>
                    <a:pt x="60" y="629"/>
                  </a:lnTo>
                  <a:cubicBezTo>
                    <a:pt x="1" y="688"/>
                    <a:pt x="1" y="807"/>
                    <a:pt x="60" y="867"/>
                  </a:cubicBezTo>
                  <a:cubicBezTo>
                    <a:pt x="90" y="897"/>
                    <a:pt x="135" y="911"/>
                    <a:pt x="179" y="911"/>
                  </a:cubicBezTo>
                  <a:cubicBezTo>
                    <a:pt x="224" y="911"/>
                    <a:pt x="269" y="897"/>
                    <a:pt x="299" y="867"/>
                  </a:cubicBezTo>
                  <a:lnTo>
                    <a:pt x="882" y="283"/>
                  </a:lnTo>
                  <a:cubicBezTo>
                    <a:pt x="953" y="224"/>
                    <a:pt x="953" y="105"/>
                    <a:pt x="882" y="45"/>
                  </a:cubicBezTo>
                  <a:cubicBezTo>
                    <a:pt x="852" y="16"/>
                    <a:pt x="807" y="1"/>
                    <a:pt x="76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lumMod val="50000"/>
                    <a:lumOff val="50000"/>
                  </a:schemeClr>
                </a:solidFill>
              </a:endParaRPr>
            </a:p>
          </p:txBody>
        </p:sp>
        <p:sp>
          <p:nvSpPr>
            <p:cNvPr id="78" name="Google Shape;1946;p50">
              <a:extLst>
                <a:ext uri="{FF2B5EF4-FFF2-40B4-BE49-F238E27FC236}">
                  <a16:creationId xmlns:a16="http://schemas.microsoft.com/office/drawing/2014/main" id="{B9B62BB4-7A78-4DC4-AD93-62C842D5F6AD}"/>
                </a:ext>
              </a:extLst>
            </p:cNvPr>
            <p:cNvSpPr/>
            <p:nvPr/>
          </p:nvSpPr>
          <p:spPr>
            <a:xfrm>
              <a:off x="943757" y="3061836"/>
              <a:ext cx="30263" cy="28961"/>
            </a:xfrm>
            <a:custGeom>
              <a:avLst/>
              <a:gdLst/>
              <a:ahLst/>
              <a:cxnLst/>
              <a:rect l="l" t="t" r="r" b="b"/>
              <a:pathLst>
                <a:path w="953" h="912" extrusionOk="0">
                  <a:moveTo>
                    <a:pt x="762" y="1"/>
                  </a:moveTo>
                  <a:cubicBezTo>
                    <a:pt x="717" y="1"/>
                    <a:pt x="673" y="16"/>
                    <a:pt x="643" y="46"/>
                  </a:cubicBezTo>
                  <a:lnTo>
                    <a:pt x="60" y="629"/>
                  </a:lnTo>
                  <a:cubicBezTo>
                    <a:pt x="0" y="688"/>
                    <a:pt x="0" y="807"/>
                    <a:pt x="60" y="867"/>
                  </a:cubicBezTo>
                  <a:cubicBezTo>
                    <a:pt x="89" y="897"/>
                    <a:pt x="134" y="912"/>
                    <a:pt x="179" y="912"/>
                  </a:cubicBezTo>
                  <a:cubicBezTo>
                    <a:pt x="223" y="912"/>
                    <a:pt x="268" y="897"/>
                    <a:pt x="298" y="867"/>
                  </a:cubicBezTo>
                  <a:lnTo>
                    <a:pt x="881" y="284"/>
                  </a:lnTo>
                  <a:cubicBezTo>
                    <a:pt x="953" y="224"/>
                    <a:pt x="953" y="105"/>
                    <a:pt x="881" y="46"/>
                  </a:cubicBezTo>
                  <a:cubicBezTo>
                    <a:pt x="851" y="16"/>
                    <a:pt x="807" y="1"/>
                    <a:pt x="7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lumMod val="50000"/>
                    <a:lumOff val="50000"/>
                  </a:schemeClr>
                </a:solidFill>
              </a:endParaRPr>
            </a:p>
          </p:txBody>
        </p:sp>
        <p:sp>
          <p:nvSpPr>
            <p:cNvPr id="79" name="Google Shape;1947;p50">
              <a:extLst>
                <a:ext uri="{FF2B5EF4-FFF2-40B4-BE49-F238E27FC236}">
                  <a16:creationId xmlns:a16="http://schemas.microsoft.com/office/drawing/2014/main" id="{88EC2143-2ECD-4B77-AE77-51D362C72CD8}"/>
                </a:ext>
              </a:extLst>
            </p:cNvPr>
            <p:cNvSpPr/>
            <p:nvPr/>
          </p:nvSpPr>
          <p:spPr>
            <a:xfrm>
              <a:off x="926355" y="3044085"/>
              <a:ext cx="29881" cy="28579"/>
            </a:xfrm>
            <a:custGeom>
              <a:avLst/>
              <a:gdLst/>
              <a:ahLst/>
              <a:cxnLst/>
              <a:rect l="l" t="t" r="r" b="b"/>
              <a:pathLst>
                <a:path w="941" h="900" extrusionOk="0">
                  <a:moveTo>
                    <a:pt x="762" y="0"/>
                  </a:moveTo>
                  <a:cubicBezTo>
                    <a:pt x="718" y="0"/>
                    <a:pt x="673" y="15"/>
                    <a:pt x="643" y="45"/>
                  </a:cubicBezTo>
                  <a:lnTo>
                    <a:pt x="60" y="616"/>
                  </a:lnTo>
                  <a:cubicBezTo>
                    <a:pt x="0" y="676"/>
                    <a:pt x="0" y="795"/>
                    <a:pt x="60" y="855"/>
                  </a:cubicBezTo>
                  <a:cubicBezTo>
                    <a:pt x="90" y="884"/>
                    <a:pt x="134" y="899"/>
                    <a:pt x="179" y="899"/>
                  </a:cubicBezTo>
                  <a:cubicBezTo>
                    <a:pt x="224" y="899"/>
                    <a:pt x="268" y="884"/>
                    <a:pt x="298" y="855"/>
                  </a:cubicBezTo>
                  <a:lnTo>
                    <a:pt x="881" y="283"/>
                  </a:lnTo>
                  <a:cubicBezTo>
                    <a:pt x="941" y="224"/>
                    <a:pt x="941" y="116"/>
                    <a:pt x="881" y="45"/>
                  </a:cubicBezTo>
                  <a:cubicBezTo>
                    <a:pt x="852" y="15"/>
                    <a:pt x="807" y="0"/>
                    <a:pt x="76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lumMod val="50000"/>
                    <a:lumOff val="50000"/>
                  </a:schemeClr>
                </a:solidFill>
              </a:endParaRPr>
            </a:p>
          </p:txBody>
        </p:sp>
        <p:sp>
          <p:nvSpPr>
            <p:cNvPr id="80" name="Google Shape;1948;p50">
              <a:extLst>
                <a:ext uri="{FF2B5EF4-FFF2-40B4-BE49-F238E27FC236}">
                  <a16:creationId xmlns:a16="http://schemas.microsoft.com/office/drawing/2014/main" id="{FA2F7CC1-E87A-4627-92E3-73CD74E11E82}"/>
                </a:ext>
              </a:extLst>
            </p:cNvPr>
            <p:cNvSpPr/>
            <p:nvPr/>
          </p:nvSpPr>
          <p:spPr>
            <a:xfrm>
              <a:off x="860940" y="2746477"/>
              <a:ext cx="371883" cy="365691"/>
            </a:xfrm>
            <a:custGeom>
              <a:avLst/>
              <a:gdLst/>
              <a:ahLst/>
              <a:cxnLst/>
              <a:rect l="l" t="t" r="r" b="b"/>
              <a:pathLst>
                <a:path w="11711" h="11516" extrusionOk="0">
                  <a:moveTo>
                    <a:pt x="11312" y="344"/>
                  </a:moveTo>
                  <a:lnTo>
                    <a:pt x="10835" y="1987"/>
                  </a:lnTo>
                  <a:lnTo>
                    <a:pt x="9680" y="821"/>
                  </a:lnTo>
                  <a:lnTo>
                    <a:pt x="11312" y="344"/>
                  </a:lnTo>
                  <a:close/>
                  <a:moveTo>
                    <a:pt x="4882" y="3821"/>
                  </a:moveTo>
                  <a:lnTo>
                    <a:pt x="2822" y="5881"/>
                  </a:lnTo>
                  <a:lnTo>
                    <a:pt x="477" y="5690"/>
                  </a:lnTo>
                  <a:cubicBezTo>
                    <a:pt x="453" y="5690"/>
                    <a:pt x="429" y="5643"/>
                    <a:pt x="465" y="5631"/>
                  </a:cubicBezTo>
                  <a:cubicBezTo>
                    <a:pt x="1477" y="4619"/>
                    <a:pt x="2822" y="4000"/>
                    <a:pt x="4227" y="3881"/>
                  </a:cubicBezTo>
                  <a:lnTo>
                    <a:pt x="4882" y="3821"/>
                  </a:lnTo>
                  <a:close/>
                  <a:moveTo>
                    <a:pt x="2894" y="6297"/>
                  </a:moveTo>
                  <a:lnTo>
                    <a:pt x="3811" y="7226"/>
                  </a:lnTo>
                  <a:lnTo>
                    <a:pt x="3477" y="7571"/>
                  </a:lnTo>
                  <a:lnTo>
                    <a:pt x="2549" y="6643"/>
                  </a:lnTo>
                  <a:lnTo>
                    <a:pt x="2894" y="6297"/>
                  </a:lnTo>
                  <a:close/>
                  <a:moveTo>
                    <a:pt x="2727" y="7333"/>
                  </a:moveTo>
                  <a:lnTo>
                    <a:pt x="3203" y="7810"/>
                  </a:lnTo>
                  <a:lnTo>
                    <a:pt x="2799" y="8226"/>
                  </a:lnTo>
                  <a:cubicBezTo>
                    <a:pt x="2787" y="8238"/>
                    <a:pt x="2763" y="8262"/>
                    <a:pt x="2739" y="8298"/>
                  </a:cubicBezTo>
                  <a:lnTo>
                    <a:pt x="2310" y="7869"/>
                  </a:lnTo>
                  <a:cubicBezTo>
                    <a:pt x="2287" y="7833"/>
                    <a:pt x="2287" y="7774"/>
                    <a:pt x="2310" y="7750"/>
                  </a:cubicBezTo>
                  <a:lnTo>
                    <a:pt x="2727" y="7333"/>
                  </a:lnTo>
                  <a:close/>
                  <a:moveTo>
                    <a:pt x="9311" y="916"/>
                  </a:moveTo>
                  <a:lnTo>
                    <a:pt x="10740" y="2345"/>
                  </a:lnTo>
                  <a:lnTo>
                    <a:pt x="10299" y="3821"/>
                  </a:lnTo>
                  <a:lnTo>
                    <a:pt x="5597" y="8524"/>
                  </a:lnTo>
                  <a:lnTo>
                    <a:pt x="4680" y="7595"/>
                  </a:lnTo>
                  <a:lnTo>
                    <a:pt x="6823" y="5452"/>
                  </a:lnTo>
                  <a:cubicBezTo>
                    <a:pt x="6966" y="5309"/>
                    <a:pt x="7001" y="5035"/>
                    <a:pt x="6811" y="4833"/>
                  </a:cubicBezTo>
                  <a:cubicBezTo>
                    <a:pt x="6728" y="4750"/>
                    <a:pt x="6617" y="4708"/>
                    <a:pt x="6506" y="4708"/>
                  </a:cubicBezTo>
                  <a:cubicBezTo>
                    <a:pt x="6394" y="4708"/>
                    <a:pt x="6281" y="4750"/>
                    <a:pt x="6192" y="4833"/>
                  </a:cubicBezTo>
                  <a:lnTo>
                    <a:pt x="4049" y="6976"/>
                  </a:lnTo>
                  <a:lnTo>
                    <a:pt x="3132" y="6047"/>
                  </a:lnTo>
                  <a:lnTo>
                    <a:pt x="7835" y="1344"/>
                  </a:lnTo>
                  <a:lnTo>
                    <a:pt x="9311" y="916"/>
                  </a:lnTo>
                  <a:close/>
                  <a:moveTo>
                    <a:pt x="6495" y="5047"/>
                  </a:moveTo>
                  <a:cubicBezTo>
                    <a:pt x="6522" y="5047"/>
                    <a:pt x="6549" y="5059"/>
                    <a:pt x="6573" y="5083"/>
                  </a:cubicBezTo>
                  <a:cubicBezTo>
                    <a:pt x="6609" y="5131"/>
                    <a:pt x="6609" y="5178"/>
                    <a:pt x="6573" y="5226"/>
                  </a:cubicBezTo>
                  <a:lnTo>
                    <a:pt x="4311" y="7488"/>
                  </a:lnTo>
                  <a:lnTo>
                    <a:pt x="3203" y="8595"/>
                  </a:lnTo>
                  <a:cubicBezTo>
                    <a:pt x="3180" y="8619"/>
                    <a:pt x="3153" y="8631"/>
                    <a:pt x="3127" y="8631"/>
                  </a:cubicBezTo>
                  <a:cubicBezTo>
                    <a:pt x="3102" y="8631"/>
                    <a:pt x="3078" y="8619"/>
                    <a:pt x="3060" y="8595"/>
                  </a:cubicBezTo>
                  <a:cubicBezTo>
                    <a:pt x="3013" y="8548"/>
                    <a:pt x="3013" y="8488"/>
                    <a:pt x="3060" y="8441"/>
                  </a:cubicBezTo>
                  <a:lnTo>
                    <a:pt x="6418" y="5083"/>
                  </a:lnTo>
                  <a:cubicBezTo>
                    <a:pt x="6442" y="5059"/>
                    <a:pt x="6469" y="5047"/>
                    <a:pt x="6495" y="5047"/>
                  </a:cubicBezTo>
                  <a:close/>
                  <a:moveTo>
                    <a:pt x="4430" y="7857"/>
                  </a:moveTo>
                  <a:lnTo>
                    <a:pt x="5346" y="8786"/>
                  </a:lnTo>
                  <a:lnTo>
                    <a:pt x="5001" y="9119"/>
                  </a:lnTo>
                  <a:lnTo>
                    <a:pt x="4989" y="9119"/>
                  </a:lnTo>
                  <a:lnTo>
                    <a:pt x="4084" y="8202"/>
                  </a:lnTo>
                  <a:lnTo>
                    <a:pt x="4430" y="7857"/>
                  </a:lnTo>
                  <a:close/>
                  <a:moveTo>
                    <a:pt x="3846" y="8429"/>
                  </a:moveTo>
                  <a:lnTo>
                    <a:pt x="4323" y="8905"/>
                  </a:lnTo>
                  <a:lnTo>
                    <a:pt x="3906" y="9322"/>
                  </a:lnTo>
                  <a:cubicBezTo>
                    <a:pt x="3894" y="9334"/>
                    <a:pt x="3858" y="9357"/>
                    <a:pt x="3846" y="9357"/>
                  </a:cubicBezTo>
                  <a:cubicBezTo>
                    <a:pt x="3834" y="9357"/>
                    <a:pt x="3811" y="9357"/>
                    <a:pt x="3787" y="9322"/>
                  </a:cubicBezTo>
                  <a:lnTo>
                    <a:pt x="3358" y="8905"/>
                  </a:lnTo>
                  <a:cubicBezTo>
                    <a:pt x="3382" y="8893"/>
                    <a:pt x="3394" y="8881"/>
                    <a:pt x="3430" y="8845"/>
                  </a:cubicBezTo>
                  <a:lnTo>
                    <a:pt x="3846" y="8429"/>
                  </a:lnTo>
                  <a:close/>
                  <a:moveTo>
                    <a:pt x="11322" y="1"/>
                  </a:moveTo>
                  <a:cubicBezTo>
                    <a:pt x="11295" y="1"/>
                    <a:pt x="11267" y="4"/>
                    <a:pt x="11240" y="11"/>
                  </a:cubicBezTo>
                  <a:cubicBezTo>
                    <a:pt x="10514" y="213"/>
                    <a:pt x="8394" y="844"/>
                    <a:pt x="7704" y="1035"/>
                  </a:cubicBezTo>
                  <a:cubicBezTo>
                    <a:pt x="7668" y="1047"/>
                    <a:pt x="7656" y="1059"/>
                    <a:pt x="7621" y="1083"/>
                  </a:cubicBezTo>
                  <a:lnTo>
                    <a:pt x="5263" y="3440"/>
                  </a:lnTo>
                  <a:lnTo>
                    <a:pt x="4203" y="3535"/>
                  </a:lnTo>
                  <a:cubicBezTo>
                    <a:pt x="2703" y="3654"/>
                    <a:pt x="1286" y="4321"/>
                    <a:pt x="227" y="5381"/>
                  </a:cubicBezTo>
                  <a:cubicBezTo>
                    <a:pt x="1" y="5595"/>
                    <a:pt x="143" y="5988"/>
                    <a:pt x="465" y="6024"/>
                  </a:cubicBezTo>
                  <a:lnTo>
                    <a:pt x="2525" y="6190"/>
                  </a:lnTo>
                  <a:lnTo>
                    <a:pt x="2310" y="6405"/>
                  </a:lnTo>
                  <a:cubicBezTo>
                    <a:pt x="2179" y="6536"/>
                    <a:pt x="2179" y="6750"/>
                    <a:pt x="2310" y="6881"/>
                  </a:cubicBezTo>
                  <a:lnTo>
                    <a:pt x="2525" y="7083"/>
                  </a:lnTo>
                  <a:lnTo>
                    <a:pt x="2108" y="7500"/>
                  </a:lnTo>
                  <a:cubicBezTo>
                    <a:pt x="1941" y="7667"/>
                    <a:pt x="1941" y="7941"/>
                    <a:pt x="2108" y="8095"/>
                  </a:cubicBezTo>
                  <a:lnTo>
                    <a:pt x="3561" y="9560"/>
                  </a:lnTo>
                  <a:cubicBezTo>
                    <a:pt x="3644" y="9643"/>
                    <a:pt x="3751" y="9685"/>
                    <a:pt x="3858" y="9685"/>
                  </a:cubicBezTo>
                  <a:cubicBezTo>
                    <a:pt x="3965" y="9685"/>
                    <a:pt x="4073" y="9643"/>
                    <a:pt x="4156" y="9560"/>
                  </a:cubicBezTo>
                  <a:lnTo>
                    <a:pt x="4573" y="9143"/>
                  </a:lnTo>
                  <a:lnTo>
                    <a:pt x="4763" y="9334"/>
                  </a:lnTo>
                  <a:cubicBezTo>
                    <a:pt x="4835" y="9399"/>
                    <a:pt x="4924" y="9432"/>
                    <a:pt x="5015" y="9432"/>
                  </a:cubicBezTo>
                  <a:cubicBezTo>
                    <a:pt x="5105" y="9432"/>
                    <a:pt x="5198" y="9399"/>
                    <a:pt x="5275" y="9334"/>
                  </a:cubicBezTo>
                  <a:lnTo>
                    <a:pt x="5477" y="9131"/>
                  </a:lnTo>
                  <a:lnTo>
                    <a:pt x="5656" y="11179"/>
                  </a:lnTo>
                  <a:cubicBezTo>
                    <a:pt x="5680" y="11334"/>
                    <a:pt x="5763" y="11453"/>
                    <a:pt x="5894" y="11500"/>
                  </a:cubicBezTo>
                  <a:cubicBezTo>
                    <a:pt x="5935" y="11511"/>
                    <a:pt x="5975" y="11516"/>
                    <a:pt x="6015" y="11516"/>
                  </a:cubicBezTo>
                  <a:cubicBezTo>
                    <a:pt x="6115" y="11516"/>
                    <a:pt x="6210" y="11482"/>
                    <a:pt x="6287" y="11405"/>
                  </a:cubicBezTo>
                  <a:cubicBezTo>
                    <a:pt x="6942" y="10750"/>
                    <a:pt x="7430" y="9977"/>
                    <a:pt x="7763" y="9119"/>
                  </a:cubicBezTo>
                  <a:cubicBezTo>
                    <a:pt x="7787" y="9024"/>
                    <a:pt x="7740" y="8941"/>
                    <a:pt x="7656" y="8893"/>
                  </a:cubicBezTo>
                  <a:cubicBezTo>
                    <a:pt x="7635" y="8885"/>
                    <a:pt x="7614" y="8881"/>
                    <a:pt x="7594" y="8881"/>
                  </a:cubicBezTo>
                  <a:cubicBezTo>
                    <a:pt x="7525" y="8881"/>
                    <a:pt x="7467" y="8926"/>
                    <a:pt x="7430" y="9000"/>
                  </a:cubicBezTo>
                  <a:cubicBezTo>
                    <a:pt x="7132" y="9810"/>
                    <a:pt x="6656" y="10560"/>
                    <a:pt x="6037" y="11167"/>
                  </a:cubicBezTo>
                  <a:cubicBezTo>
                    <a:pt x="6027" y="11172"/>
                    <a:pt x="6015" y="11175"/>
                    <a:pt x="6005" y="11175"/>
                  </a:cubicBezTo>
                  <a:cubicBezTo>
                    <a:pt x="5990" y="11175"/>
                    <a:pt x="5978" y="11169"/>
                    <a:pt x="5978" y="11155"/>
                  </a:cubicBezTo>
                  <a:lnTo>
                    <a:pt x="5763" y="8822"/>
                  </a:lnTo>
                  <a:lnTo>
                    <a:pt x="7835" y="6750"/>
                  </a:lnTo>
                  <a:lnTo>
                    <a:pt x="7835" y="6750"/>
                  </a:lnTo>
                  <a:cubicBezTo>
                    <a:pt x="7763" y="7583"/>
                    <a:pt x="7740" y="7810"/>
                    <a:pt x="7656" y="8238"/>
                  </a:cubicBezTo>
                  <a:cubicBezTo>
                    <a:pt x="7644" y="8322"/>
                    <a:pt x="7680" y="8417"/>
                    <a:pt x="7787" y="8441"/>
                  </a:cubicBezTo>
                  <a:cubicBezTo>
                    <a:pt x="7803" y="8445"/>
                    <a:pt x="7819" y="8447"/>
                    <a:pt x="7834" y="8447"/>
                  </a:cubicBezTo>
                  <a:cubicBezTo>
                    <a:pt x="7909" y="8447"/>
                    <a:pt x="7972" y="8399"/>
                    <a:pt x="8002" y="8310"/>
                  </a:cubicBezTo>
                  <a:cubicBezTo>
                    <a:pt x="8121" y="7786"/>
                    <a:pt x="8121" y="7548"/>
                    <a:pt x="8216" y="6393"/>
                  </a:cubicBezTo>
                  <a:lnTo>
                    <a:pt x="10585" y="4023"/>
                  </a:lnTo>
                  <a:cubicBezTo>
                    <a:pt x="10597" y="4011"/>
                    <a:pt x="10621" y="3976"/>
                    <a:pt x="10633" y="3952"/>
                  </a:cubicBezTo>
                  <a:lnTo>
                    <a:pt x="11109" y="2345"/>
                  </a:lnTo>
                  <a:lnTo>
                    <a:pt x="11669" y="404"/>
                  </a:lnTo>
                  <a:cubicBezTo>
                    <a:pt x="11711" y="193"/>
                    <a:pt x="11529" y="1"/>
                    <a:pt x="1132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lumMod val="50000"/>
                    <a:lumOff val="50000"/>
                  </a:schemeClr>
                </a:solidFill>
              </a:endParaRPr>
            </a:p>
          </p:txBody>
        </p:sp>
        <p:sp>
          <p:nvSpPr>
            <p:cNvPr id="81" name="Google Shape;1949;p50">
              <a:extLst>
                <a:ext uri="{FF2B5EF4-FFF2-40B4-BE49-F238E27FC236}">
                  <a16:creationId xmlns:a16="http://schemas.microsoft.com/office/drawing/2014/main" id="{70A0C0B0-8C76-4E89-8B6A-4D2C03C94300}"/>
                </a:ext>
              </a:extLst>
            </p:cNvPr>
            <p:cNvSpPr/>
            <p:nvPr/>
          </p:nvSpPr>
          <p:spPr>
            <a:xfrm>
              <a:off x="1070396" y="2832057"/>
              <a:ext cx="90406" cy="69035"/>
            </a:xfrm>
            <a:custGeom>
              <a:avLst/>
              <a:gdLst/>
              <a:ahLst/>
              <a:cxnLst/>
              <a:rect l="l" t="t" r="r" b="b"/>
              <a:pathLst>
                <a:path w="2847" h="2174" extrusionOk="0">
                  <a:moveTo>
                    <a:pt x="1730" y="0"/>
                  </a:moveTo>
                  <a:cubicBezTo>
                    <a:pt x="1668" y="0"/>
                    <a:pt x="1610" y="44"/>
                    <a:pt x="1584" y="114"/>
                  </a:cubicBezTo>
                  <a:cubicBezTo>
                    <a:pt x="1537" y="197"/>
                    <a:pt x="1584" y="293"/>
                    <a:pt x="1668" y="328"/>
                  </a:cubicBezTo>
                  <a:cubicBezTo>
                    <a:pt x="2179" y="554"/>
                    <a:pt x="2299" y="1221"/>
                    <a:pt x="1906" y="1614"/>
                  </a:cubicBezTo>
                  <a:cubicBezTo>
                    <a:pt x="1751" y="1769"/>
                    <a:pt x="1551" y="1846"/>
                    <a:pt x="1350" y="1846"/>
                  </a:cubicBezTo>
                  <a:cubicBezTo>
                    <a:pt x="1150" y="1846"/>
                    <a:pt x="947" y="1769"/>
                    <a:pt x="786" y="1614"/>
                  </a:cubicBezTo>
                  <a:cubicBezTo>
                    <a:pt x="405" y="1221"/>
                    <a:pt x="525" y="566"/>
                    <a:pt x="1025" y="328"/>
                  </a:cubicBezTo>
                  <a:cubicBezTo>
                    <a:pt x="1120" y="293"/>
                    <a:pt x="1144" y="197"/>
                    <a:pt x="1120" y="114"/>
                  </a:cubicBezTo>
                  <a:cubicBezTo>
                    <a:pt x="1083" y="41"/>
                    <a:pt x="1019" y="10"/>
                    <a:pt x="954" y="10"/>
                  </a:cubicBezTo>
                  <a:cubicBezTo>
                    <a:pt x="934" y="10"/>
                    <a:pt x="913" y="13"/>
                    <a:pt x="894" y="19"/>
                  </a:cubicBezTo>
                  <a:cubicBezTo>
                    <a:pt x="179" y="352"/>
                    <a:pt x="1" y="1281"/>
                    <a:pt x="572" y="1852"/>
                  </a:cubicBezTo>
                  <a:cubicBezTo>
                    <a:pt x="786" y="2078"/>
                    <a:pt x="1072" y="2174"/>
                    <a:pt x="1370" y="2174"/>
                  </a:cubicBezTo>
                  <a:cubicBezTo>
                    <a:pt x="2334" y="2162"/>
                    <a:pt x="2846" y="947"/>
                    <a:pt x="2132" y="245"/>
                  </a:cubicBezTo>
                  <a:cubicBezTo>
                    <a:pt x="2037" y="150"/>
                    <a:pt x="1918" y="66"/>
                    <a:pt x="1798" y="19"/>
                  </a:cubicBezTo>
                  <a:cubicBezTo>
                    <a:pt x="1776" y="6"/>
                    <a:pt x="1753" y="0"/>
                    <a:pt x="17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lumMod val="50000"/>
                    <a:lumOff val="50000"/>
                  </a:schemeClr>
                </a:solidFill>
              </a:endParaRPr>
            </a:p>
          </p:txBody>
        </p:sp>
      </p:grpSp>
      <p:sp>
        <p:nvSpPr>
          <p:cNvPr id="82" name="CaixaDeTexto 81">
            <a:extLst>
              <a:ext uri="{FF2B5EF4-FFF2-40B4-BE49-F238E27FC236}">
                <a16:creationId xmlns:a16="http://schemas.microsoft.com/office/drawing/2014/main" id="{A3FBEEA3-F03C-4393-A61C-516C388CADB5}"/>
              </a:ext>
            </a:extLst>
          </p:cNvPr>
          <p:cNvSpPr txBox="1"/>
          <p:nvPr/>
        </p:nvSpPr>
        <p:spPr>
          <a:xfrm>
            <a:off x="1983288" y="1721339"/>
            <a:ext cx="1721709" cy="246221"/>
          </a:xfrm>
          <a:prstGeom prst="rect">
            <a:avLst/>
          </a:prstGeom>
          <a:solidFill>
            <a:schemeClr val="bg1">
              <a:lumMod val="85000"/>
            </a:schemeClr>
          </a:solidFill>
        </p:spPr>
        <p:txBody>
          <a:bodyPr wrap="square" rtlCol="0">
            <a:spAutoFit/>
          </a:bodyPr>
          <a:lstStyle/>
          <a:p>
            <a:r>
              <a:rPr lang="pt-BR" sz="1000" b="1" dirty="0">
                <a:solidFill>
                  <a:schemeClr val="tx1">
                    <a:lumMod val="50000"/>
                    <a:lumOff val="50000"/>
                  </a:schemeClr>
                </a:solidFill>
                <a:latin typeface="Arial" panose="020B0604020202020204" pitchFamily="34" charset="0"/>
                <a:cs typeface="Arial" panose="020B0604020202020204" pitchFamily="34" charset="0"/>
              </a:rPr>
              <a:t>Ofensores - </a:t>
            </a:r>
            <a:r>
              <a:rPr lang="pt-BR" sz="1000" b="1" dirty="0" err="1">
                <a:solidFill>
                  <a:schemeClr val="tx1">
                    <a:lumMod val="50000"/>
                    <a:lumOff val="50000"/>
                  </a:schemeClr>
                </a:solidFill>
                <a:latin typeface="Arial" panose="020B0604020202020204" pitchFamily="34" charset="0"/>
                <a:cs typeface="Arial" panose="020B0604020202020204" pitchFamily="34" charset="0"/>
              </a:rPr>
              <a:t>Jun</a:t>
            </a:r>
            <a:endParaRPr lang="pt-BR" sz="1000" b="1"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117" name="Título 1">
            <a:extLst>
              <a:ext uri="{FF2B5EF4-FFF2-40B4-BE49-F238E27FC236}">
                <a16:creationId xmlns:a16="http://schemas.microsoft.com/office/drawing/2014/main" id="{3BFA4215-CEBC-4E4A-B5BE-522E878BB3D4}"/>
              </a:ext>
            </a:extLst>
          </p:cNvPr>
          <p:cNvSpPr txBox="1">
            <a:spLocks/>
          </p:cNvSpPr>
          <p:nvPr/>
        </p:nvSpPr>
        <p:spPr>
          <a:xfrm>
            <a:off x="5946417" y="431573"/>
            <a:ext cx="5811865"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pt-BR" sz="1600" spc="600" dirty="0">
                <a:solidFill>
                  <a:srgbClr val="0B5892"/>
                </a:solidFill>
                <a:latin typeface="Arial" panose="020B0604020202020204" pitchFamily="34" charset="0"/>
                <a:cs typeface="Arial" panose="020B0604020202020204" pitchFamily="34" charset="0"/>
              </a:rPr>
              <a:t>CRC</a:t>
            </a:r>
          </a:p>
        </p:txBody>
      </p:sp>
      <p:graphicFrame>
        <p:nvGraphicFramePr>
          <p:cNvPr id="122" name="Gráfico 121">
            <a:extLst>
              <a:ext uri="{FF2B5EF4-FFF2-40B4-BE49-F238E27FC236}">
                <a16:creationId xmlns:a16="http://schemas.microsoft.com/office/drawing/2014/main" id="{726FF657-C85B-4265-AFED-F8B96E5CC6F0}"/>
              </a:ext>
            </a:extLst>
          </p:cNvPr>
          <p:cNvGraphicFramePr/>
          <p:nvPr>
            <p:extLst>
              <p:ext uri="{D42A27DB-BD31-4B8C-83A1-F6EECF244321}">
                <p14:modId xmlns:p14="http://schemas.microsoft.com/office/powerpoint/2010/main" val="3573254368"/>
              </p:ext>
            </p:extLst>
          </p:nvPr>
        </p:nvGraphicFramePr>
        <p:xfrm>
          <a:off x="819973" y="3333398"/>
          <a:ext cx="5787167" cy="3251200"/>
        </p:xfrm>
        <a:graphic>
          <a:graphicData uri="http://schemas.openxmlformats.org/drawingml/2006/chart">
            <c:chart xmlns:c="http://schemas.openxmlformats.org/drawingml/2006/chart" xmlns:r="http://schemas.openxmlformats.org/officeDocument/2006/relationships" r:id="rId4"/>
          </a:graphicData>
        </a:graphic>
      </p:graphicFrame>
      <p:sp>
        <p:nvSpPr>
          <p:cNvPr id="123" name="CaixaDeTexto 122">
            <a:extLst>
              <a:ext uri="{FF2B5EF4-FFF2-40B4-BE49-F238E27FC236}">
                <a16:creationId xmlns:a16="http://schemas.microsoft.com/office/drawing/2014/main" id="{0AAAB71B-5B11-41AC-AD12-2B03BA4882A5}"/>
              </a:ext>
            </a:extLst>
          </p:cNvPr>
          <p:cNvSpPr txBox="1"/>
          <p:nvPr/>
        </p:nvSpPr>
        <p:spPr>
          <a:xfrm>
            <a:off x="10659905" y="4332567"/>
            <a:ext cx="825699" cy="1169551"/>
          </a:xfrm>
          <a:prstGeom prst="rect">
            <a:avLst/>
          </a:prstGeom>
          <a:noFill/>
        </p:spPr>
        <p:txBody>
          <a:bodyPr wrap="square" rtlCol="0">
            <a:spAutoFit/>
          </a:bodyPr>
          <a:lstStyle/>
          <a:p>
            <a:r>
              <a:rPr lang="pt-BR" sz="1400" dirty="0">
                <a:solidFill>
                  <a:srgbClr val="0B5892"/>
                </a:solidFill>
                <a:latin typeface="Arial" panose="020B0604020202020204" pitchFamily="34" charset="0"/>
                <a:cs typeface="Arial" panose="020B0604020202020204" pitchFamily="34" charset="0"/>
              </a:rPr>
              <a:t>0</a:t>
            </a:r>
          </a:p>
          <a:p>
            <a:r>
              <a:rPr lang="pt-BR" sz="1400" dirty="0">
                <a:solidFill>
                  <a:srgbClr val="0B5892"/>
                </a:solidFill>
                <a:latin typeface="Arial" panose="020B0604020202020204" pitchFamily="34" charset="0"/>
                <a:cs typeface="Arial" panose="020B0604020202020204" pitchFamily="34" charset="0"/>
              </a:rPr>
              <a:t>0</a:t>
            </a:r>
          </a:p>
          <a:p>
            <a:r>
              <a:rPr lang="pt-BR" sz="1400" dirty="0">
                <a:solidFill>
                  <a:srgbClr val="0B5892"/>
                </a:solidFill>
                <a:latin typeface="Arial" panose="020B0604020202020204" pitchFamily="34" charset="0"/>
                <a:cs typeface="Arial" panose="020B0604020202020204" pitchFamily="34" charset="0"/>
              </a:rPr>
              <a:t>0</a:t>
            </a:r>
          </a:p>
          <a:p>
            <a:r>
              <a:rPr lang="pt-BR" sz="1400" dirty="0">
                <a:solidFill>
                  <a:srgbClr val="0B5892"/>
                </a:solidFill>
                <a:latin typeface="Arial" panose="020B0604020202020204" pitchFamily="34" charset="0"/>
                <a:cs typeface="Arial" panose="020B0604020202020204" pitchFamily="34" charset="0"/>
              </a:rPr>
              <a:t>37,33</a:t>
            </a:r>
          </a:p>
          <a:p>
            <a:r>
              <a:rPr lang="pt-BR" sz="1400" dirty="0">
                <a:solidFill>
                  <a:srgbClr val="0B5892"/>
                </a:solidFill>
                <a:latin typeface="Arial" panose="020B0604020202020204" pitchFamily="34" charset="0"/>
                <a:cs typeface="Arial" panose="020B0604020202020204" pitchFamily="34" charset="0"/>
              </a:rPr>
              <a:t>39,33</a:t>
            </a:r>
          </a:p>
        </p:txBody>
      </p:sp>
      <p:sp>
        <p:nvSpPr>
          <p:cNvPr id="124" name="CaixaDeTexto 123">
            <a:extLst>
              <a:ext uri="{FF2B5EF4-FFF2-40B4-BE49-F238E27FC236}">
                <a16:creationId xmlns:a16="http://schemas.microsoft.com/office/drawing/2014/main" id="{3DBC294C-3EFC-4096-B5EC-DF30F9EADF3E}"/>
              </a:ext>
            </a:extLst>
          </p:cNvPr>
          <p:cNvSpPr txBox="1"/>
          <p:nvPr/>
        </p:nvSpPr>
        <p:spPr>
          <a:xfrm>
            <a:off x="10547171" y="2129396"/>
            <a:ext cx="825699" cy="1169551"/>
          </a:xfrm>
          <a:prstGeom prst="rect">
            <a:avLst/>
          </a:prstGeom>
          <a:noFill/>
        </p:spPr>
        <p:txBody>
          <a:bodyPr wrap="square" rtlCol="0">
            <a:spAutoFit/>
          </a:bodyPr>
          <a:lstStyle/>
          <a:p>
            <a:r>
              <a:rPr lang="pt-BR" sz="1400" dirty="0">
                <a:solidFill>
                  <a:srgbClr val="0B5892"/>
                </a:solidFill>
                <a:latin typeface="Arial" panose="020B0604020202020204" pitchFamily="34" charset="0"/>
                <a:cs typeface="Arial" panose="020B0604020202020204" pitchFamily="34" charset="0"/>
              </a:rPr>
              <a:t>99,5</a:t>
            </a:r>
          </a:p>
          <a:p>
            <a:r>
              <a:rPr lang="pt-BR" sz="1400" dirty="0">
                <a:solidFill>
                  <a:srgbClr val="0B5892"/>
                </a:solidFill>
                <a:latin typeface="Arial" panose="020B0604020202020204" pitchFamily="34" charset="0"/>
                <a:cs typeface="Arial" panose="020B0604020202020204" pitchFamily="34" charset="0"/>
              </a:rPr>
              <a:t>98</a:t>
            </a:r>
          </a:p>
          <a:p>
            <a:r>
              <a:rPr lang="pt-BR" sz="1400" dirty="0">
                <a:solidFill>
                  <a:srgbClr val="0B5892"/>
                </a:solidFill>
                <a:latin typeface="Arial" panose="020B0604020202020204" pitchFamily="34" charset="0"/>
                <a:cs typeface="Arial" panose="020B0604020202020204" pitchFamily="34" charset="0"/>
              </a:rPr>
              <a:t>97,17</a:t>
            </a:r>
          </a:p>
          <a:p>
            <a:r>
              <a:rPr lang="pt-BR" sz="1400" dirty="0">
                <a:solidFill>
                  <a:srgbClr val="0B5892"/>
                </a:solidFill>
                <a:latin typeface="Arial" panose="020B0604020202020204" pitchFamily="34" charset="0"/>
                <a:cs typeface="Arial" panose="020B0604020202020204" pitchFamily="34" charset="0"/>
              </a:rPr>
              <a:t>96,17</a:t>
            </a:r>
          </a:p>
          <a:p>
            <a:r>
              <a:rPr lang="pt-BR" sz="1400" dirty="0">
                <a:solidFill>
                  <a:srgbClr val="0B5892"/>
                </a:solidFill>
                <a:latin typeface="Arial" panose="020B0604020202020204" pitchFamily="34" charset="0"/>
                <a:cs typeface="Arial" panose="020B0604020202020204" pitchFamily="34" charset="0"/>
              </a:rPr>
              <a:t>95,83</a:t>
            </a:r>
          </a:p>
        </p:txBody>
      </p:sp>
      <p:sp>
        <p:nvSpPr>
          <p:cNvPr id="2" name="CaixaDeTexto 1">
            <a:extLst>
              <a:ext uri="{FF2B5EF4-FFF2-40B4-BE49-F238E27FC236}">
                <a16:creationId xmlns:a16="http://schemas.microsoft.com/office/drawing/2014/main" id="{ACDC1B17-8C8A-DEC8-798C-BD525D0A3755}"/>
              </a:ext>
            </a:extLst>
          </p:cNvPr>
          <p:cNvSpPr txBox="1"/>
          <p:nvPr/>
        </p:nvSpPr>
        <p:spPr>
          <a:xfrm>
            <a:off x="1431436" y="1336969"/>
            <a:ext cx="3992681" cy="307777"/>
          </a:xfrm>
          <a:prstGeom prst="rect">
            <a:avLst/>
          </a:prstGeom>
          <a:noFill/>
        </p:spPr>
        <p:txBody>
          <a:bodyPr wrap="square" rtlCol="0">
            <a:spAutoFit/>
          </a:bodyPr>
          <a:lstStyle/>
          <a:p>
            <a:pPr algn="ctr"/>
            <a:r>
              <a:rPr lang="pt-BR" sz="1400" b="1" dirty="0">
                <a:solidFill>
                  <a:schemeClr val="tx1">
                    <a:lumMod val="50000"/>
                    <a:lumOff val="50000"/>
                  </a:schemeClr>
                </a:solidFill>
                <a:latin typeface="Arial" panose="020B0604020202020204" pitchFamily="34" charset="0"/>
                <a:cs typeface="Arial" panose="020B0604020202020204" pitchFamily="34" charset="0"/>
              </a:rPr>
              <a:t>Comparativo dos Ofensores (Jun. </a:t>
            </a:r>
            <a:r>
              <a:rPr lang="pt-BR" sz="1400" b="1" dirty="0" err="1">
                <a:solidFill>
                  <a:schemeClr val="tx1">
                    <a:lumMod val="50000"/>
                    <a:lumOff val="50000"/>
                  </a:schemeClr>
                </a:solidFill>
                <a:latin typeface="Arial" panose="020B0604020202020204" pitchFamily="34" charset="0"/>
                <a:cs typeface="Arial" panose="020B0604020202020204" pitchFamily="34" charset="0"/>
              </a:rPr>
              <a:t>vs</a:t>
            </a:r>
            <a:r>
              <a:rPr lang="pt-BR" sz="1400" b="1" dirty="0">
                <a:solidFill>
                  <a:schemeClr val="tx1">
                    <a:lumMod val="50000"/>
                    <a:lumOff val="50000"/>
                  </a:schemeClr>
                </a:solidFill>
                <a:latin typeface="Arial" panose="020B0604020202020204" pitchFamily="34" charset="0"/>
                <a:cs typeface="Arial" panose="020B0604020202020204" pitchFamily="34" charset="0"/>
              </a:rPr>
              <a:t> Jul.)                                                                                                                                                                                                  </a:t>
            </a:r>
          </a:p>
        </p:txBody>
      </p:sp>
      <p:sp>
        <p:nvSpPr>
          <p:cNvPr id="3" name="CaixaDeTexto 2">
            <a:extLst>
              <a:ext uri="{FF2B5EF4-FFF2-40B4-BE49-F238E27FC236}">
                <a16:creationId xmlns:a16="http://schemas.microsoft.com/office/drawing/2014/main" id="{0FA3A953-59F5-4516-78E2-1A233DFD6398}"/>
              </a:ext>
            </a:extLst>
          </p:cNvPr>
          <p:cNvSpPr txBox="1"/>
          <p:nvPr/>
        </p:nvSpPr>
        <p:spPr>
          <a:xfrm>
            <a:off x="1887774" y="2015254"/>
            <a:ext cx="3104740" cy="1015663"/>
          </a:xfrm>
          <a:prstGeom prst="rect">
            <a:avLst/>
          </a:prstGeom>
          <a:noFill/>
        </p:spPr>
        <p:txBody>
          <a:bodyPr wrap="square" rtlCol="0">
            <a:spAutoFit/>
          </a:bodyPr>
          <a:lstStyle/>
          <a:p>
            <a:r>
              <a:rPr lang="pt-BR" sz="1200" dirty="0">
                <a:solidFill>
                  <a:schemeClr val="bg2">
                    <a:lumMod val="50000"/>
                  </a:schemeClr>
                </a:solidFill>
                <a:latin typeface="Arial" panose="020B0604020202020204" pitchFamily="34" charset="0"/>
                <a:cs typeface="Arial" panose="020B0604020202020204" pitchFamily="34" charset="0"/>
              </a:rPr>
              <a:t>Paulo Henrique Araujo Da Silva E Silva</a:t>
            </a:r>
          </a:p>
          <a:p>
            <a:r>
              <a:rPr lang="fr-FR" sz="1200" dirty="0">
                <a:solidFill>
                  <a:schemeClr val="bg2">
                    <a:lumMod val="50000"/>
                  </a:schemeClr>
                </a:solidFill>
                <a:latin typeface="Arial" panose="020B0604020202020204" pitchFamily="34" charset="0"/>
                <a:cs typeface="Arial" panose="020B0604020202020204" pitchFamily="34" charset="0"/>
              </a:rPr>
              <a:t>Bruno Weslley Ourique de Souza</a:t>
            </a:r>
          </a:p>
          <a:p>
            <a:r>
              <a:rPr lang="pt-BR" sz="1200" dirty="0">
                <a:solidFill>
                  <a:schemeClr val="bg2">
                    <a:lumMod val="50000"/>
                  </a:schemeClr>
                </a:solidFill>
                <a:latin typeface="Arial" panose="020B0604020202020204" pitchFamily="34" charset="0"/>
                <a:cs typeface="Arial" panose="020B0604020202020204" pitchFamily="34" charset="0"/>
              </a:rPr>
              <a:t>Douglas </a:t>
            </a:r>
            <a:r>
              <a:rPr lang="pt-BR" sz="1200" dirty="0" err="1">
                <a:solidFill>
                  <a:schemeClr val="bg2">
                    <a:lumMod val="50000"/>
                  </a:schemeClr>
                </a:solidFill>
                <a:latin typeface="Arial" panose="020B0604020202020204" pitchFamily="34" charset="0"/>
                <a:cs typeface="Arial" panose="020B0604020202020204" pitchFamily="34" charset="0"/>
              </a:rPr>
              <a:t>Andre</a:t>
            </a:r>
            <a:r>
              <a:rPr lang="pt-BR" sz="1200" dirty="0">
                <a:solidFill>
                  <a:schemeClr val="bg2">
                    <a:lumMod val="50000"/>
                  </a:schemeClr>
                </a:solidFill>
                <a:latin typeface="Arial" panose="020B0604020202020204" pitchFamily="34" charset="0"/>
                <a:cs typeface="Arial" panose="020B0604020202020204" pitchFamily="34" charset="0"/>
              </a:rPr>
              <a:t> </a:t>
            </a:r>
            <a:r>
              <a:rPr lang="pt-BR" sz="1200" dirty="0" err="1">
                <a:solidFill>
                  <a:schemeClr val="bg2">
                    <a:lumMod val="50000"/>
                  </a:schemeClr>
                </a:solidFill>
                <a:latin typeface="Arial" panose="020B0604020202020204" pitchFamily="34" charset="0"/>
                <a:cs typeface="Arial" panose="020B0604020202020204" pitchFamily="34" charset="0"/>
              </a:rPr>
              <a:t>Locks</a:t>
            </a:r>
            <a:r>
              <a:rPr lang="pt-BR" sz="1200" dirty="0">
                <a:solidFill>
                  <a:schemeClr val="bg2">
                    <a:lumMod val="50000"/>
                  </a:schemeClr>
                </a:solidFill>
                <a:latin typeface="Arial" panose="020B0604020202020204" pitchFamily="34" charset="0"/>
                <a:cs typeface="Arial" panose="020B0604020202020204" pitchFamily="34" charset="0"/>
              </a:rPr>
              <a:t> Machado</a:t>
            </a:r>
          </a:p>
          <a:p>
            <a:r>
              <a:rPr lang="pt-BR" sz="1200" dirty="0">
                <a:solidFill>
                  <a:schemeClr val="bg2">
                    <a:lumMod val="50000"/>
                  </a:schemeClr>
                </a:solidFill>
                <a:latin typeface="Arial" panose="020B0604020202020204" pitchFamily="34" charset="0"/>
                <a:cs typeface="Arial" panose="020B0604020202020204" pitchFamily="34" charset="0"/>
              </a:rPr>
              <a:t>Robson Maicon Reis Amador</a:t>
            </a:r>
          </a:p>
          <a:p>
            <a:r>
              <a:rPr lang="pt-BR" sz="1200" dirty="0">
                <a:solidFill>
                  <a:schemeClr val="bg2">
                    <a:lumMod val="50000"/>
                  </a:schemeClr>
                </a:solidFill>
                <a:latin typeface="Arial" panose="020B0604020202020204" pitchFamily="34" charset="0"/>
                <a:cs typeface="Arial" panose="020B0604020202020204" pitchFamily="34" charset="0"/>
              </a:rPr>
              <a:t>Eduardo Luiz Righetto</a:t>
            </a:r>
          </a:p>
        </p:txBody>
      </p:sp>
      <p:sp>
        <p:nvSpPr>
          <p:cNvPr id="4" name="CaixaDeTexto 3">
            <a:extLst>
              <a:ext uri="{FF2B5EF4-FFF2-40B4-BE49-F238E27FC236}">
                <a16:creationId xmlns:a16="http://schemas.microsoft.com/office/drawing/2014/main" id="{0C03C061-DE7F-B804-0FC9-F7A125221355}"/>
              </a:ext>
            </a:extLst>
          </p:cNvPr>
          <p:cNvSpPr txBox="1"/>
          <p:nvPr/>
        </p:nvSpPr>
        <p:spPr>
          <a:xfrm>
            <a:off x="4931455" y="2015254"/>
            <a:ext cx="825699" cy="1015663"/>
          </a:xfrm>
          <a:prstGeom prst="rect">
            <a:avLst/>
          </a:prstGeom>
          <a:noFill/>
        </p:spPr>
        <p:txBody>
          <a:bodyPr wrap="square" rtlCol="0">
            <a:spAutoFit/>
          </a:bodyPr>
          <a:lstStyle/>
          <a:p>
            <a:r>
              <a:rPr lang="pt-BR" sz="1200">
                <a:solidFill>
                  <a:schemeClr val="bg2">
                    <a:lumMod val="50000"/>
                  </a:schemeClr>
                </a:solidFill>
                <a:latin typeface="Arial" panose="020B0604020202020204" pitchFamily="34" charset="0"/>
                <a:cs typeface="Arial" panose="020B0604020202020204" pitchFamily="34" charset="0"/>
              </a:rPr>
              <a:t>30,33</a:t>
            </a:r>
          </a:p>
          <a:p>
            <a:r>
              <a:rPr lang="pt-BR" sz="1200">
                <a:solidFill>
                  <a:schemeClr val="bg2">
                    <a:lumMod val="50000"/>
                  </a:schemeClr>
                </a:solidFill>
                <a:latin typeface="Arial" panose="020B0604020202020204" pitchFamily="34" charset="0"/>
                <a:cs typeface="Arial" panose="020B0604020202020204" pitchFamily="34" charset="0"/>
              </a:rPr>
              <a:t>36,5</a:t>
            </a:r>
          </a:p>
          <a:p>
            <a:r>
              <a:rPr lang="pt-BR" sz="1200">
                <a:solidFill>
                  <a:schemeClr val="bg2">
                    <a:lumMod val="50000"/>
                  </a:schemeClr>
                </a:solidFill>
                <a:latin typeface="Arial" panose="020B0604020202020204" pitchFamily="34" charset="0"/>
                <a:cs typeface="Arial" panose="020B0604020202020204" pitchFamily="34" charset="0"/>
              </a:rPr>
              <a:t>44,67</a:t>
            </a:r>
          </a:p>
          <a:p>
            <a:r>
              <a:rPr lang="pt-BR" sz="1200">
                <a:solidFill>
                  <a:schemeClr val="bg2">
                    <a:lumMod val="50000"/>
                  </a:schemeClr>
                </a:solidFill>
                <a:latin typeface="Arial" panose="020B0604020202020204" pitchFamily="34" charset="0"/>
                <a:cs typeface="Arial" panose="020B0604020202020204" pitchFamily="34" charset="0"/>
              </a:rPr>
              <a:t>70</a:t>
            </a:r>
          </a:p>
          <a:p>
            <a:r>
              <a:rPr lang="pt-BR" sz="1200">
                <a:solidFill>
                  <a:schemeClr val="bg2">
                    <a:lumMod val="50000"/>
                  </a:schemeClr>
                </a:solidFill>
                <a:latin typeface="Arial" panose="020B0604020202020204" pitchFamily="34" charset="0"/>
                <a:cs typeface="Arial" panose="020B0604020202020204" pitchFamily="34" charset="0"/>
              </a:rPr>
              <a:t>53</a:t>
            </a:r>
            <a:endParaRPr lang="pt-BR" sz="1200" dirty="0">
              <a:solidFill>
                <a:schemeClr val="bg2">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221819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AC546-424A-6B02-2341-E2B7C46ADBED}"/>
            </a:ext>
          </a:extLst>
        </p:cNvPr>
        <p:cNvGrpSpPr/>
        <p:nvPr/>
      </p:nvGrpSpPr>
      <p:grpSpPr>
        <a:xfrm>
          <a:off x="0" y="0"/>
          <a:ext cx="0" cy="0"/>
          <a:chOff x="0" y="0"/>
          <a:chExt cx="0" cy="0"/>
        </a:xfrm>
      </p:grpSpPr>
      <p:pic>
        <p:nvPicPr>
          <p:cNvPr id="39" name="Imagem 38">
            <a:extLst>
              <a:ext uri="{FF2B5EF4-FFF2-40B4-BE49-F238E27FC236}">
                <a16:creationId xmlns:a16="http://schemas.microsoft.com/office/drawing/2014/main" id="{D3E56819-898B-CD97-C5AA-E379F1E24194}"/>
              </a:ext>
            </a:extLst>
          </p:cNvPr>
          <p:cNvPicPr>
            <a:picLocks noChangeAspect="1"/>
          </p:cNvPicPr>
          <p:nvPr/>
        </p:nvPicPr>
        <p:blipFill>
          <a:blip r:embed="rId2">
            <a:alphaModFix amt="4000"/>
          </a:blip>
          <a:stretch>
            <a:fillRect/>
          </a:stretch>
        </p:blipFill>
        <p:spPr>
          <a:xfrm>
            <a:off x="9190022" y="4582876"/>
            <a:ext cx="5030445" cy="5148116"/>
          </a:xfrm>
          <a:prstGeom prst="rect">
            <a:avLst/>
          </a:prstGeom>
          <a:effectLst/>
        </p:spPr>
      </p:pic>
      <p:pic>
        <p:nvPicPr>
          <p:cNvPr id="38" name="Imagem 37">
            <a:extLst>
              <a:ext uri="{FF2B5EF4-FFF2-40B4-BE49-F238E27FC236}">
                <a16:creationId xmlns:a16="http://schemas.microsoft.com/office/drawing/2014/main" id="{E6B8AEAD-0495-EE38-A1D9-4FAE3AA73EDD}"/>
              </a:ext>
            </a:extLst>
          </p:cNvPr>
          <p:cNvPicPr>
            <a:picLocks noChangeAspect="1"/>
          </p:cNvPicPr>
          <p:nvPr/>
        </p:nvPicPr>
        <p:blipFill>
          <a:blip r:embed="rId2">
            <a:alphaModFix amt="4000"/>
          </a:blip>
          <a:stretch>
            <a:fillRect/>
          </a:stretch>
        </p:blipFill>
        <p:spPr>
          <a:xfrm>
            <a:off x="-2091606" y="-1996437"/>
            <a:ext cx="5030445" cy="5148116"/>
          </a:xfrm>
          <a:prstGeom prst="rect">
            <a:avLst/>
          </a:prstGeom>
          <a:effectLst/>
        </p:spPr>
      </p:pic>
      <p:grpSp>
        <p:nvGrpSpPr>
          <p:cNvPr id="20" name="Google Shape;1964;p50">
            <a:extLst>
              <a:ext uri="{FF2B5EF4-FFF2-40B4-BE49-F238E27FC236}">
                <a16:creationId xmlns:a16="http://schemas.microsoft.com/office/drawing/2014/main" id="{58BD9AA4-AE6B-8DB9-E006-050AC483A80C}"/>
              </a:ext>
            </a:extLst>
          </p:cNvPr>
          <p:cNvGrpSpPr/>
          <p:nvPr/>
        </p:nvGrpSpPr>
        <p:grpSpPr>
          <a:xfrm flipH="1">
            <a:off x="742950" y="537670"/>
            <a:ext cx="603644" cy="576232"/>
            <a:chOff x="4126815" y="2760704"/>
            <a:chExt cx="380393" cy="363118"/>
          </a:xfrm>
          <a:solidFill>
            <a:srgbClr val="0B5892"/>
          </a:solidFill>
        </p:grpSpPr>
        <p:sp>
          <p:nvSpPr>
            <p:cNvPr id="21" name="Google Shape;1965;p50">
              <a:extLst>
                <a:ext uri="{FF2B5EF4-FFF2-40B4-BE49-F238E27FC236}">
                  <a16:creationId xmlns:a16="http://schemas.microsoft.com/office/drawing/2014/main" id="{43CAD80A-E25E-BFBA-7215-75B913B6E75F}"/>
                </a:ext>
              </a:extLst>
            </p:cNvPr>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966;p50">
              <a:extLst>
                <a:ext uri="{FF2B5EF4-FFF2-40B4-BE49-F238E27FC236}">
                  <a16:creationId xmlns:a16="http://schemas.microsoft.com/office/drawing/2014/main" id="{D9DB8688-1BED-ED71-F8C0-3CA8611D9319}"/>
                </a:ext>
              </a:extLst>
            </p:cNvPr>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967;p50">
              <a:extLst>
                <a:ext uri="{FF2B5EF4-FFF2-40B4-BE49-F238E27FC236}">
                  <a16:creationId xmlns:a16="http://schemas.microsoft.com/office/drawing/2014/main" id="{89EFD7BB-EA96-879F-2F80-7A5AE804C637}"/>
                </a:ext>
              </a:extLst>
            </p:cNvPr>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968;p50">
              <a:extLst>
                <a:ext uri="{FF2B5EF4-FFF2-40B4-BE49-F238E27FC236}">
                  <a16:creationId xmlns:a16="http://schemas.microsoft.com/office/drawing/2014/main" id="{42A09BB3-114E-969E-573A-F26BD3B80DAB}"/>
                </a:ext>
              </a:extLst>
            </p:cNvPr>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Retângulo 28">
            <a:extLst>
              <a:ext uri="{FF2B5EF4-FFF2-40B4-BE49-F238E27FC236}">
                <a16:creationId xmlns:a16="http://schemas.microsoft.com/office/drawing/2014/main" id="{8CCB87CF-3950-7819-4D40-01A7BE3D5575}"/>
              </a:ext>
            </a:extLst>
          </p:cNvPr>
          <p:cNvSpPr/>
          <p:nvPr/>
        </p:nvSpPr>
        <p:spPr>
          <a:xfrm>
            <a:off x="-449179" y="6707874"/>
            <a:ext cx="14054469" cy="334610"/>
          </a:xfrm>
          <a:prstGeom prst="rect">
            <a:avLst/>
          </a:prstGeom>
          <a:solidFill>
            <a:srgbClr val="0B58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 name="Imagem 7">
            <a:extLst>
              <a:ext uri="{FF2B5EF4-FFF2-40B4-BE49-F238E27FC236}">
                <a16:creationId xmlns:a16="http://schemas.microsoft.com/office/drawing/2014/main" id="{67726DAD-45E8-2A65-B9B9-AC8F31E86A69}"/>
              </a:ext>
            </a:extLst>
          </p:cNvPr>
          <p:cNvPicPr>
            <a:picLocks noChangeAspect="1"/>
          </p:cNvPicPr>
          <p:nvPr/>
        </p:nvPicPr>
        <p:blipFill>
          <a:blip r:embed="rId3"/>
          <a:stretch>
            <a:fillRect/>
          </a:stretch>
        </p:blipFill>
        <p:spPr>
          <a:xfrm>
            <a:off x="-124691" y="-20995"/>
            <a:ext cx="12316692" cy="88042"/>
          </a:xfrm>
          <a:prstGeom prst="rect">
            <a:avLst/>
          </a:prstGeom>
        </p:spPr>
      </p:pic>
      <p:sp>
        <p:nvSpPr>
          <p:cNvPr id="18" name="Título 1">
            <a:extLst>
              <a:ext uri="{FF2B5EF4-FFF2-40B4-BE49-F238E27FC236}">
                <a16:creationId xmlns:a16="http://schemas.microsoft.com/office/drawing/2014/main" id="{963E48D5-C42F-0467-8606-8E86FE36B6BD}"/>
              </a:ext>
            </a:extLst>
          </p:cNvPr>
          <p:cNvSpPr txBox="1">
            <a:spLocks/>
          </p:cNvSpPr>
          <p:nvPr/>
        </p:nvSpPr>
        <p:spPr>
          <a:xfrm>
            <a:off x="1366068" y="448718"/>
            <a:ext cx="6453099"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spc="600" dirty="0">
                <a:solidFill>
                  <a:srgbClr val="0B5892"/>
                </a:solidFill>
                <a:latin typeface="Arial" panose="020B0604020202020204" pitchFamily="34" charset="0"/>
                <a:cs typeface="Arial" panose="020B0604020202020204" pitchFamily="34" charset="0"/>
              </a:rPr>
              <a:t>RANKING DE DESEMPENHO</a:t>
            </a:r>
          </a:p>
        </p:txBody>
      </p:sp>
      <p:sp>
        <p:nvSpPr>
          <p:cNvPr id="19" name="Título 1">
            <a:extLst>
              <a:ext uri="{FF2B5EF4-FFF2-40B4-BE49-F238E27FC236}">
                <a16:creationId xmlns:a16="http://schemas.microsoft.com/office/drawing/2014/main" id="{8498E336-906F-6207-273A-3854D4850153}"/>
              </a:ext>
            </a:extLst>
          </p:cNvPr>
          <p:cNvSpPr txBox="1">
            <a:spLocks/>
          </p:cNvSpPr>
          <p:nvPr/>
        </p:nvSpPr>
        <p:spPr>
          <a:xfrm>
            <a:off x="1400358" y="716411"/>
            <a:ext cx="6950456"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600" spc="300" dirty="0">
                <a:solidFill>
                  <a:srgbClr val="0B5892"/>
                </a:solidFill>
                <a:latin typeface="Arial" panose="020B0604020202020204" pitchFamily="34" charset="0"/>
                <a:cs typeface="Arial" panose="020B0604020202020204" pitchFamily="34" charset="0"/>
              </a:rPr>
              <a:t>Quantidade total de monitorias realizadas</a:t>
            </a:r>
          </a:p>
        </p:txBody>
      </p:sp>
      <p:cxnSp>
        <p:nvCxnSpPr>
          <p:cNvPr id="25" name="Conector reto 24">
            <a:extLst>
              <a:ext uri="{FF2B5EF4-FFF2-40B4-BE49-F238E27FC236}">
                <a16:creationId xmlns:a16="http://schemas.microsoft.com/office/drawing/2014/main" id="{EB018658-18C2-D710-2466-33EF3A22303F}"/>
              </a:ext>
            </a:extLst>
          </p:cNvPr>
          <p:cNvCxnSpPr/>
          <p:nvPr/>
        </p:nvCxnSpPr>
        <p:spPr>
          <a:xfrm>
            <a:off x="725988" y="1185955"/>
            <a:ext cx="9855200" cy="0"/>
          </a:xfrm>
          <a:prstGeom prst="line">
            <a:avLst/>
          </a:prstGeom>
          <a:ln>
            <a:solidFill>
              <a:srgbClr val="0B5892"/>
            </a:solidFill>
          </a:ln>
        </p:spPr>
        <p:style>
          <a:lnRef idx="1">
            <a:schemeClr val="accent1"/>
          </a:lnRef>
          <a:fillRef idx="0">
            <a:schemeClr val="accent1"/>
          </a:fillRef>
          <a:effectRef idx="0">
            <a:schemeClr val="accent1"/>
          </a:effectRef>
          <a:fontRef idx="minor">
            <a:schemeClr val="tx1"/>
          </a:fontRef>
        </p:style>
      </p:cxnSp>
      <p:sp>
        <p:nvSpPr>
          <p:cNvPr id="65" name="Retângulo: Cantos Arredondados 64">
            <a:extLst>
              <a:ext uri="{FF2B5EF4-FFF2-40B4-BE49-F238E27FC236}">
                <a16:creationId xmlns:a16="http://schemas.microsoft.com/office/drawing/2014/main" id="{955434CB-69E3-C4B1-5210-EFE1C029D6DF}"/>
              </a:ext>
            </a:extLst>
          </p:cNvPr>
          <p:cNvSpPr/>
          <p:nvPr/>
        </p:nvSpPr>
        <p:spPr>
          <a:xfrm>
            <a:off x="1861933" y="1891816"/>
            <a:ext cx="4128654" cy="1948248"/>
          </a:xfrm>
          <a:prstGeom prst="roundRect">
            <a:avLst/>
          </a:prstGeom>
          <a:solidFill>
            <a:schemeClr val="bg1">
              <a:lumMod val="95000"/>
            </a:schemeClr>
          </a:solidFill>
          <a:ln>
            <a:noFill/>
          </a:ln>
          <a:effectLst>
            <a:outerShdw dist="101600" dir="10740000" algn="t" rotWithShape="0">
              <a:srgbClr val="0B5892"/>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66" name="Google Shape;1944;p50">
            <a:extLst>
              <a:ext uri="{FF2B5EF4-FFF2-40B4-BE49-F238E27FC236}">
                <a16:creationId xmlns:a16="http://schemas.microsoft.com/office/drawing/2014/main" id="{EBB012A3-B332-884F-9F7E-F3C77B957874}"/>
              </a:ext>
            </a:extLst>
          </p:cNvPr>
          <p:cNvGrpSpPr/>
          <p:nvPr/>
        </p:nvGrpSpPr>
        <p:grpSpPr>
          <a:xfrm rot="10417960">
            <a:off x="1988501" y="2031225"/>
            <a:ext cx="476316" cy="468384"/>
            <a:chOff x="860940" y="2746477"/>
            <a:chExt cx="371883" cy="365691"/>
          </a:xfrm>
          <a:solidFill>
            <a:srgbClr val="0B5892"/>
          </a:solidFill>
        </p:grpSpPr>
        <p:sp>
          <p:nvSpPr>
            <p:cNvPr id="67" name="Google Shape;1945;p50">
              <a:extLst>
                <a:ext uri="{FF2B5EF4-FFF2-40B4-BE49-F238E27FC236}">
                  <a16:creationId xmlns:a16="http://schemas.microsoft.com/office/drawing/2014/main" id="{2EC288A5-6D08-F60F-D295-5BEEFFFCBDF6}"/>
                </a:ext>
              </a:extLst>
            </p:cNvPr>
            <p:cNvSpPr/>
            <p:nvPr/>
          </p:nvSpPr>
          <p:spPr>
            <a:xfrm>
              <a:off x="908191" y="3026302"/>
              <a:ext cx="30294" cy="28961"/>
            </a:xfrm>
            <a:custGeom>
              <a:avLst/>
              <a:gdLst/>
              <a:ahLst/>
              <a:cxnLst/>
              <a:rect l="l" t="t" r="r" b="b"/>
              <a:pathLst>
                <a:path w="954" h="912" extrusionOk="0">
                  <a:moveTo>
                    <a:pt x="763" y="1"/>
                  </a:moveTo>
                  <a:cubicBezTo>
                    <a:pt x="718" y="1"/>
                    <a:pt x="674" y="16"/>
                    <a:pt x="644" y="45"/>
                  </a:cubicBezTo>
                  <a:lnTo>
                    <a:pt x="60" y="629"/>
                  </a:lnTo>
                  <a:cubicBezTo>
                    <a:pt x="1" y="688"/>
                    <a:pt x="1" y="807"/>
                    <a:pt x="60" y="867"/>
                  </a:cubicBezTo>
                  <a:cubicBezTo>
                    <a:pt x="90" y="897"/>
                    <a:pt x="135" y="911"/>
                    <a:pt x="179" y="911"/>
                  </a:cubicBezTo>
                  <a:cubicBezTo>
                    <a:pt x="224" y="911"/>
                    <a:pt x="269" y="897"/>
                    <a:pt x="299" y="867"/>
                  </a:cubicBezTo>
                  <a:lnTo>
                    <a:pt x="882" y="283"/>
                  </a:lnTo>
                  <a:cubicBezTo>
                    <a:pt x="953" y="224"/>
                    <a:pt x="953" y="105"/>
                    <a:pt x="882" y="45"/>
                  </a:cubicBezTo>
                  <a:cubicBezTo>
                    <a:pt x="852" y="16"/>
                    <a:pt x="807" y="1"/>
                    <a:pt x="76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946;p50">
              <a:extLst>
                <a:ext uri="{FF2B5EF4-FFF2-40B4-BE49-F238E27FC236}">
                  <a16:creationId xmlns:a16="http://schemas.microsoft.com/office/drawing/2014/main" id="{6975986C-F5B9-C0B2-D221-C800D2DC51CF}"/>
                </a:ext>
              </a:extLst>
            </p:cNvPr>
            <p:cNvSpPr/>
            <p:nvPr/>
          </p:nvSpPr>
          <p:spPr>
            <a:xfrm>
              <a:off x="943757" y="3061836"/>
              <a:ext cx="30263" cy="28961"/>
            </a:xfrm>
            <a:custGeom>
              <a:avLst/>
              <a:gdLst/>
              <a:ahLst/>
              <a:cxnLst/>
              <a:rect l="l" t="t" r="r" b="b"/>
              <a:pathLst>
                <a:path w="953" h="912" extrusionOk="0">
                  <a:moveTo>
                    <a:pt x="762" y="1"/>
                  </a:moveTo>
                  <a:cubicBezTo>
                    <a:pt x="717" y="1"/>
                    <a:pt x="673" y="16"/>
                    <a:pt x="643" y="46"/>
                  </a:cubicBezTo>
                  <a:lnTo>
                    <a:pt x="60" y="629"/>
                  </a:lnTo>
                  <a:cubicBezTo>
                    <a:pt x="0" y="688"/>
                    <a:pt x="0" y="807"/>
                    <a:pt x="60" y="867"/>
                  </a:cubicBezTo>
                  <a:cubicBezTo>
                    <a:pt x="89" y="897"/>
                    <a:pt x="134" y="912"/>
                    <a:pt x="179" y="912"/>
                  </a:cubicBezTo>
                  <a:cubicBezTo>
                    <a:pt x="223" y="912"/>
                    <a:pt x="268" y="897"/>
                    <a:pt x="298" y="867"/>
                  </a:cubicBezTo>
                  <a:lnTo>
                    <a:pt x="881" y="284"/>
                  </a:lnTo>
                  <a:cubicBezTo>
                    <a:pt x="953" y="224"/>
                    <a:pt x="953" y="105"/>
                    <a:pt x="881" y="46"/>
                  </a:cubicBezTo>
                  <a:cubicBezTo>
                    <a:pt x="851" y="16"/>
                    <a:pt x="807" y="1"/>
                    <a:pt x="7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947;p50">
              <a:extLst>
                <a:ext uri="{FF2B5EF4-FFF2-40B4-BE49-F238E27FC236}">
                  <a16:creationId xmlns:a16="http://schemas.microsoft.com/office/drawing/2014/main" id="{1A7D53BA-D5C2-5D9F-12C4-0730D57F4106}"/>
                </a:ext>
              </a:extLst>
            </p:cNvPr>
            <p:cNvSpPr/>
            <p:nvPr/>
          </p:nvSpPr>
          <p:spPr>
            <a:xfrm>
              <a:off x="926355" y="3044085"/>
              <a:ext cx="29881" cy="28579"/>
            </a:xfrm>
            <a:custGeom>
              <a:avLst/>
              <a:gdLst/>
              <a:ahLst/>
              <a:cxnLst/>
              <a:rect l="l" t="t" r="r" b="b"/>
              <a:pathLst>
                <a:path w="941" h="900" extrusionOk="0">
                  <a:moveTo>
                    <a:pt x="762" y="0"/>
                  </a:moveTo>
                  <a:cubicBezTo>
                    <a:pt x="718" y="0"/>
                    <a:pt x="673" y="15"/>
                    <a:pt x="643" y="45"/>
                  </a:cubicBezTo>
                  <a:lnTo>
                    <a:pt x="60" y="616"/>
                  </a:lnTo>
                  <a:cubicBezTo>
                    <a:pt x="0" y="676"/>
                    <a:pt x="0" y="795"/>
                    <a:pt x="60" y="855"/>
                  </a:cubicBezTo>
                  <a:cubicBezTo>
                    <a:pt x="90" y="884"/>
                    <a:pt x="134" y="899"/>
                    <a:pt x="179" y="899"/>
                  </a:cubicBezTo>
                  <a:cubicBezTo>
                    <a:pt x="224" y="899"/>
                    <a:pt x="268" y="884"/>
                    <a:pt x="298" y="855"/>
                  </a:cubicBezTo>
                  <a:lnTo>
                    <a:pt x="881" y="283"/>
                  </a:lnTo>
                  <a:cubicBezTo>
                    <a:pt x="941" y="224"/>
                    <a:pt x="941" y="116"/>
                    <a:pt x="881" y="45"/>
                  </a:cubicBezTo>
                  <a:cubicBezTo>
                    <a:pt x="852" y="15"/>
                    <a:pt x="807" y="0"/>
                    <a:pt x="76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948;p50">
              <a:extLst>
                <a:ext uri="{FF2B5EF4-FFF2-40B4-BE49-F238E27FC236}">
                  <a16:creationId xmlns:a16="http://schemas.microsoft.com/office/drawing/2014/main" id="{688FFEE6-E4E8-F52E-51B7-B7E651AD5EC2}"/>
                </a:ext>
              </a:extLst>
            </p:cNvPr>
            <p:cNvSpPr/>
            <p:nvPr/>
          </p:nvSpPr>
          <p:spPr>
            <a:xfrm>
              <a:off x="860940" y="2746477"/>
              <a:ext cx="371883" cy="365691"/>
            </a:xfrm>
            <a:custGeom>
              <a:avLst/>
              <a:gdLst/>
              <a:ahLst/>
              <a:cxnLst/>
              <a:rect l="l" t="t" r="r" b="b"/>
              <a:pathLst>
                <a:path w="11711" h="11516" extrusionOk="0">
                  <a:moveTo>
                    <a:pt x="11312" y="344"/>
                  </a:moveTo>
                  <a:lnTo>
                    <a:pt x="10835" y="1987"/>
                  </a:lnTo>
                  <a:lnTo>
                    <a:pt x="9680" y="821"/>
                  </a:lnTo>
                  <a:lnTo>
                    <a:pt x="11312" y="344"/>
                  </a:lnTo>
                  <a:close/>
                  <a:moveTo>
                    <a:pt x="4882" y="3821"/>
                  </a:moveTo>
                  <a:lnTo>
                    <a:pt x="2822" y="5881"/>
                  </a:lnTo>
                  <a:lnTo>
                    <a:pt x="477" y="5690"/>
                  </a:lnTo>
                  <a:cubicBezTo>
                    <a:pt x="453" y="5690"/>
                    <a:pt x="429" y="5643"/>
                    <a:pt x="465" y="5631"/>
                  </a:cubicBezTo>
                  <a:cubicBezTo>
                    <a:pt x="1477" y="4619"/>
                    <a:pt x="2822" y="4000"/>
                    <a:pt x="4227" y="3881"/>
                  </a:cubicBezTo>
                  <a:lnTo>
                    <a:pt x="4882" y="3821"/>
                  </a:lnTo>
                  <a:close/>
                  <a:moveTo>
                    <a:pt x="2894" y="6297"/>
                  </a:moveTo>
                  <a:lnTo>
                    <a:pt x="3811" y="7226"/>
                  </a:lnTo>
                  <a:lnTo>
                    <a:pt x="3477" y="7571"/>
                  </a:lnTo>
                  <a:lnTo>
                    <a:pt x="2549" y="6643"/>
                  </a:lnTo>
                  <a:lnTo>
                    <a:pt x="2894" y="6297"/>
                  </a:lnTo>
                  <a:close/>
                  <a:moveTo>
                    <a:pt x="2727" y="7333"/>
                  </a:moveTo>
                  <a:lnTo>
                    <a:pt x="3203" y="7810"/>
                  </a:lnTo>
                  <a:lnTo>
                    <a:pt x="2799" y="8226"/>
                  </a:lnTo>
                  <a:cubicBezTo>
                    <a:pt x="2787" y="8238"/>
                    <a:pt x="2763" y="8262"/>
                    <a:pt x="2739" y="8298"/>
                  </a:cubicBezTo>
                  <a:lnTo>
                    <a:pt x="2310" y="7869"/>
                  </a:lnTo>
                  <a:cubicBezTo>
                    <a:pt x="2287" y="7833"/>
                    <a:pt x="2287" y="7774"/>
                    <a:pt x="2310" y="7750"/>
                  </a:cubicBezTo>
                  <a:lnTo>
                    <a:pt x="2727" y="7333"/>
                  </a:lnTo>
                  <a:close/>
                  <a:moveTo>
                    <a:pt x="9311" y="916"/>
                  </a:moveTo>
                  <a:lnTo>
                    <a:pt x="10740" y="2345"/>
                  </a:lnTo>
                  <a:lnTo>
                    <a:pt x="10299" y="3821"/>
                  </a:lnTo>
                  <a:lnTo>
                    <a:pt x="5597" y="8524"/>
                  </a:lnTo>
                  <a:lnTo>
                    <a:pt x="4680" y="7595"/>
                  </a:lnTo>
                  <a:lnTo>
                    <a:pt x="6823" y="5452"/>
                  </a:lnTo>
                  <a:cubicBezTo>
                    <a:pt x="6966" y="5309"/>
                    <a:pt x="7001" y="5035"/>
                    <a:pt x="6811" y="4833"/>
                  </a:cubicBezTo>
                  <a:cubicBezTo>
                    <a:pt x="6728" y="4750"/>
                    <a:pt x="6617" y="4708"/>
                    <a:pt x="6506" y="4708"/>
                  </a:cubicBezTo>
                  <a:cubicBezTo>
                    <a:pt x="6394" y="4708"/>
                    <a:pt x="6281" y="4750"/>
                    <a:pt x="6192" y="4833"/>
                  </a:cubicBezTo>
                  <a:lnTo>
                    <a:pt x="4049" y="6976"/>
                  </a:lnTo>
                  <a:lnTo>
                    <a:pt x="3132" y="6047"/>
                  </a:lnTo>
                  <a:lnTo>
                    <a:pt x="7835" y="1344"/>
                  </a:lnTo>
                  <a:lnTo>
                    <a:pt x="9311" y="916"/>
                  </a:lnTo>
                  <a:close/>
                  <a:moveTo>
                    <a:pt x="6495" y="5047"/>
                  </a:moveTo>
                  <a:cubicBezTo>
                    <a:pt x="6522" y="5047"/>
                    <a:pt x="6549" y="5059"/>
                    <a:pt x="6573" y="5083"/>
                  </a:cubicBezTo>
                  <a:cubicBezTo>
                    <a:pt x="6609" y="5131"/>
                    <a:pt x="6609" y="5178"/>
                    <a:pt x="6573" y="5226"/>
                  </a:cubicBezTo>
                  <a:lnTo>
                    <a:pt x="4311" y="7488"/>
                  </a:lnTo>
                  <a:lnTo>
                    <a:pt x="3203" y="8595"/>
                  </a:lnTo>
                  <a:cubicBezTo>
                    <a:pt x="3180" y="8619"/>
                    <a:pt x="3153" y="8631"/>
                    <a:pt x="3127" y="8631"/>
                  </a:cubicBezTo>
                  <a:cubicBezTo>
                    <a:pt x="3102" y="8631"/>
                    <a:pt x="3078" y="8619"/>
                    <a:pt x="3060" y="8595"/>
                  </a:cubicBezTo>
                  <a:cubicBezTo>
                    <a:pt x="3013" y="8548"/>
                    <a:pt x="3013" y="8488"/>
                    <a:pt x="3060" y="8441"/>
                  </a:cubicBezTo>
                  <a:lnTo>
                    <a:pt x="6418" y="5083"/>
                  </a:lnTo>
                  <a:cubicBezTo>
                    <a:pt x="6442" y="5059"/>
                    <a:pt x="6469" y="5047"/>
                    <a:pt x="6495" y="5047"/>
                  </a:cubicBezTo>
                  <a:close/>
                  <a:moveTo>
                    <a:pt x="4430" y="7857"/>
                  </a:moveTo>
                  <a:lnTo>
                    <a:pt x="5346" y="8786"/>
                  </a:lnTo>
                  <a:lnTo>
                    <a:pt x="5001" y="9119"/>
                  </a:lnTo>
                  <a:lnTo>
                    <a:pt x="4989" y="9119"/>
                  </a:lnTo>
                  <a:lnTo>
                    <a:pt x="4084" y="8202"/>
                  </a:lnTo>
                  <a:lnTo>
                    <a:pt x="4430" y="7857"/>
                  </a:lnTo>
                  <a:close/>
                  <a:moveTo>
                    <a:pt x="3846" y="8429"/>
                  </a:moveTo>
                  <a:lnTo>
                    <a:pt x="4323" y="8905"/>
                  </a:lnTo>
                  <a:lnTo>
                    <a:pt x="3906" y="9322"/>
                  </a:lnTo>
                  <a:cubicBezTo>
                    <a:pt x="3894" y="9334"/>
                    <a:pt x="3858" y="9357"/>
                    <a:pt x="3846" y="9357"/>
                  </a:cubicBezTo>
                  <a:cubicBezTo>
                    <a:pt x="3834" y="9357"/>
                    <a:pt x="3811" y="9357"/>
                    <a:pt x="3787" y="9322"/>
                  </a:cubicBezTo>
                  <a:lnTo>
                    <a:pt x="3358" y="8905"/>
                  </a:lnTo>
                  <a:cubicBezTo>
                    <a:pt x="3382" y="8893"/>
                    <a:pt x="3394" y="8881"/>
                    <a:pt x="3430" y="8845"/>
                  </a:cubicBezTo>
                  <a:lnTo>
                    <a:pt x="3846" y="8429"/>
                  </a:lnTo>
                  <a:close/>
                  <a:moveTo>
                    <a:pt x="11322" y="1"/>
                  </a:moveTo>
                  <a:cubicBezTo>
                    <a:pt x="11295" y="1"/>
                    <a:pt x="11267" y="4"/>
                    <a:pt x="11240" y="11"/>
                  </a:cubicBezTo>
                  <a:cubicBezTo>
                    <a:pt x="10514" y="213"/>
                    <a:pt x="8394" y="844"/>
                    <a:pt x="7704" y="1035"/>
                  </a:cubicBezTo>
                  <a:cubicBezTo>
                    <a:pt x="7668" y="1047"/>
                    <a:pt x="7656" y="1059"/>
                    <a:pt x="7621" y="1083"/>
                  </a:cubicBezTo>
                  <a:lnTo>
                    <a:pt x="5263" y="3440"/>
                  </a:lnTo>
                  <a:lnTo>
                    <a:pt x="4203" y="3535"/>
                  </a:lnTo>
                  <a:cubicBezTo>
                    <a:pt x="2703" y="3654"/>
                    <a:pt x="1286" y="4321"/>
                    <a:pt x="227" y="5381"/>
                  </a:cubicBezTo>
                  <a:cubicBezTo>
                    <a:pt x="1" y="5595"/>
                    <a:pt x="143" y="5988"/>
                    <a:pt x="465" y="6024"/>
                  </a:cubicBezTo>
                  <a:lnTo>
                    <a:pt x="2525" y="6190"/>
                  </a:lnTo>
                  <a:lnTo>
                    <a:pt x="2310" y="6405"/>
                  </a:lnTo>
                  <a:cubicBezTo>
                    <a:pt x="2179" y="6536"/>
                    <a:pt x="2179" y="6750"/>
                    <a:pt x="2310" y="6881"/>
                  </a:cubicBezTo>
                  <a:lnTo>
                    <a:pt x="2525" y="7083"/>
                  </a:lnTo>
                  <a:lnTo>
                    <a:pt x="2108" y="7500"/>
                  </a:lnTo>
                  <a:cubicBezTo>
                    <a:pt x="1941" y="7667"/>
                    <a:pt x="1941" y="7941"/>
                    <a:pt x="2108" y="8095"/>
                  </a:cubicBezTo>
                  <a:lnTo>
                    <a:pt x="3561" y="9560"/>
                  </a:lnTo>
                  <a:cubicBezTo>
                    <a:pt x="3644" y="9643"/>
                    <a:pt x="3751" y="9685"/>
                    <a:pt x="3858" y="9685"/>
                  </a:cubicBezTo>
                  <a:cubicBezTo>
                    <a:pt x="3965" y="9685"/>
                    <a:pt x="4073" y="9643"/>
                    <a:pt x="4156" y="9560"/>
                  </a:cubicBezTo>
                  <a:lnTo>
                    <a:pt x="4573" y="9143"/>
                  </a:lnTo>
                  <a:lnTo>
                    <a:pt x="4763" y="9334"/>
                  </a:lnTo>
                  <a:cubicBezTo>
                    <a:pt x="4835" y="9399"/>
                    <a:pt x="4924" y="9432"/>
                    <a:pt x="5015" y="9432"/>
                  </a:cubicBezTo>
                  <a:cubicBezTo>
                    <a:pt x="5105" y="9432"/>
                    <a:pt x="5198" y="9399"/>
                    <a:pt x="5275" y="9334"/>
                  </a:cubicBezTo>
                  <a:lnTo>
                    <a:pt x="5477" y="9131"/>
                  </a:lnTo>
                  <a:lnTo>
                    <a:pt x="5656" y="11179"/>
                  </a:lnTo>
                  <a:cubicBezTo>
                    <a:pt x="5680" y="11334"/>
                    <a:pt x="5763" y="11453"/>
                    <a:pt x="5894" y="11500"/>
                  </a:cubicBezTo>
                  <a:cubicBezTo>
                    <a:pt x="5935" y="11511"/>
                    <a:pt x="5975" y="11516"/>
                    <a:pt x="6015" y="11516"/>
                  </a:cubicBezTo>
                  <a:cubicBezTo>
                    <a:pt x="6115" y="11516"/>
                    <a:pt x="6210" y="11482"/>
                    <a:pt x="6287" y="11405"/>
                  </a:cubicBezTo>
                  <a:cubicBezTo>
                    <a:pt x="6942" y="10750"/>
                    <a:pt x="7430" y="9977"/>
                    <a:pt x="7763" y="9119"/>
                  </a:cubicBezTo>
                  <a:cubicBezTo>
                    <a:pt x="7787" y="9024"/>
                    <a:pt x="7740" y="8941"/>
                    <a:pt x="7656" y="8893"/>
                  </a:cubicBezTo>
                  <a:cubicBezTo>
                    <a:pt x="7635" y="8885"/>
                    <a:pt x="7614" y="8881"/>
                    <a:pt x="7594" y="8881"/>
                  </a:cubicBezTo>
                  <a:cubicBezTo>
                    <a:pt x="7525" y="8881"/>
                    <a:pt x="7467" y="8926"/>
                    <a:pt x="7430" y="9000"/>
                  </a:cubicBezTo>
                  <a:cubicBezTo>
                    <a:pt x="7132" y="9810"/>
                    <a:pt x="6656" y="10560"/>
                    <a:pt x="6037" y="11167"/>
                  </a:cubicBezTo>
                  <a:cubicBezTo>
                    <a:pt x="6027" y="11172"/>
                    <a:pt x="6015" y="11175"/>
                    <a:pt x="6005" y="11175"/>
                  </a:cubicBezTo>
                  <a:cubicBezTo>
                    <a:pt x="5990" y="11175"/>
                    <a:pt x="5978" y="11169"/>
                    <a:pt x="5978" y="11155"/>
                  </a:cubicBezTo>
                  <a:lnTo>
                    <a:pt x="5763" y="8822"/>
                  </a:lnTo>
                  <a:lnTo>
                    <a:pt x="7835" y="6750"/>
                  </a:lnTo>
                  <a:lnTo>
                    <a:pt x="7835" y="6750"/>
                  </a:lnTo>
                  <a:cubicBezTo>
                    <a:pt x="7763" y="7583"/>
                    <a:pt x="7740" y="7810"/>
                    <a:pt x="7656" y="8238"/>
                  </a:cubicBezTo>
                  <a:cubicBezTo>
                    <a:pt x="7644" y="8322"/>
                    <a:pt x="7680" y="8417"/>
                    <a:pt x="7787" y="8441"/>
                  </a:cubicBezTo>
                  <a:cubicBezTo>
                    <a:pt x="7803" y="8445"/>
                    <a:pt x="7819" y="8447"/>
                    <a:pt x="7834" y="8447"/>
                  </a:cubicBezTo>
                  <a:cubicBezTo>
                    <a:pt x="7909" y="8447"/>
                    <a:pt x="7972" y="8399"/>
                    <a:pt x="8002" y="8310"/>
                  </a:cubicBezTo>
                  <a:cubicBezTo>
                    <a:pt x="8121" y="7786"/>
                    <a:pt x="8121" y="7548"/>
                    <a:pt x="8216" y="6393"/>
                  </a:cubicBezTo>
                  <a:lnTo>
                    <a:pt x="10585" y="4023"/>
                  </a:lnTo>
                  <a:cubicBezTo>
                    <a:pt x="10597" y="4011"/>
                    <a:pt x="10621" y="3976"/>
                    <a:pt x="10633" y="3952"/>
                  </a:cubicBezTo>
                  <a:lnTo>
                    <a:pt x="11109" y="2345"/>
                  </a:lnTo>
                  <a:lnTo>
                    <a:pt x="11669" y="404"/>
                  </a:lnTo>
                  <a:cubicBezTo>
                    <a:pt x="11711" y="193"/>
                    <a:pt x="11529" y="1"/>
                    <a:pt x="1132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949;p50">
              <a:extLst>
                <a:ext uri="{FF2B5EF4-FFF2-40B4-BE49-F238E27FC236}">
                  <a16:creationId xmlns:a16="http://schemas.microsoft.com/office/drawing/2014/main" id="{3BC49087-46AA-C3D5-A8F0-2528FFAC4241}"/>
                </a:ext>
              </a:extLst>
            </p:cNvPr>
            <p:cNvSpPr/>
            <p:nvPr/>
          </p:nvSpPr>
          <p:spPr>
            <a:xfrm>
              <a:off x="1070396" y="2832057"/>
              <a:ext cx="90406" cy="69035"/>
            </a:xfrm>
            <a:custGeom>
              <a:avLst/>
              <a:gdLst/>
              <a:ahLst/>
              <a:cxnLst/>
              <a:rect l="l" t="t" r="r" b="b"/>
              <a:pathLst>
                <a:path w="2847" h="2174" extrusionOk="0">
                  <a:moveTo>
                    <a:pt x="1730" y="0"/>
                  </a:moveTo>
                  <a:cubicBezTo>
                    <a:pt x="1668" y="0"/>
                    <a:pt x="1610" y="44"/>
                    <a:pt x="1584" y="114"/>
                  </a:cubicBezTo>
                  <a:cubicBezTo>
                    <a:pt x="1537" y="197"/>
                    <a:pt x="1584" y="293"/>
                    <a:pt x="1668" y="328"/>
                  </a:cubicBezTo>
                  <a:cubicBezTo>
                    <a:pt x="2179" y="554"/>
                    <a:pt x="2299" y="1221"/>
                    <a:pt x="1906" y="1614"/>
                  </a:cubicBezTo>
                  <a:cubicBezTo>
                    <a:pt x="1751" y="1769"/>
                    <a:pt x="1551" y="1846"/>
                    <a:pt x="1350" y="1846"/>
                  </a:cubicBezTo>
                  <a:cubicBezTo>
                    <a:pt x="1150" y="1846"/>
                    <a:pt x="947" y="1769"/>
                    <a:pt x="786" y="1614"/>
                  </a:cubicBezTo>
                  <a:cubicBezTo>
                    <a:pt x="405" y="1221"/>
                    <a:pt x="525" y="566"/>
                    <a:pt x="1025" y="328"/>
                  </a:cubicBezTo>
                  <a:cubicBezTo>
                    <a:pt x="1120" y="293"/>
                    <a:pt x="1144" y="197"/>
                    <a:pt x="1120" y="114"/>
                  </a:cubicBezTo>
                  <a:cubicBezTo>
                    <a:pt x="1083" y="41"/>
                    <a:pt x="1019" y="10"/>
                    <a:pt x="954" y="10"/>
                  </a:cubicBezTo>
                  <a:cubicBezTo>
                    <a:pt x="934" y="10"/>
                    <a:pt x="913" y="13"/>
                    <a:pt x="894" y="19"/>
                  </a:cubicBezTo>
                  <a:cubicBezTo>
                    <a:pt x="179" y="352"/>
                    <a:pt x="1" y="1281"/>
                    <a:pt x="572" y="1852"/>
                  </a:cubicBezTo>
                  <a:cubicBezTo>
                    <a:pt x="786" y="2078"/>
                    <a:pt x="1072" y="2174"/>
                    <a:pt x="1370" y="2174"/>
                  </a:cubicBezTo>
                  <a:cubicBezTo>
                    <a:pt x="2334" y="2162"/>
                    <a:pt x="2846" y="947"/>
                    <a:pt x="2132" y="245"/>
                  </a:cubicBezTo>
                  <a:cubicBezTo>
                    <a:pt x="2037" y="150"/>
                    <a:pt x="1918" y="66"/>
                    <a:pt x="1798" y="19"/>
                  </a:cubicBezTo>
                  <a:cubicBezTo>
                    <a:pt x="1776" y="6"/>
                    <a:pt x="1753" y="0"/>
                    <a:pt x="17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 name="CaixaDeTexto 71">
            <a:extLst>
              <a:ext uri="{FF2B5EF4-FFF2-40B4-BE49-F238E27FC236}">
                <a16:creationId xmlns:a16="http://schemas.microsoft.com/office/drawing/2014/main" id="{25BFAF11-D456-C434-D435-FC34CADC6190}"/>
              </a:ext>
            </a:extLst>
          </p:cNvPr>
          <p:cNvSpPr txBox="1"/>
          <p:nvPr/>
        </p:nvSpPr>
        <p:spPr>
          <a:xfrm>
            <a:off x="2506249" y="1995863"/>
            <a:ext cx="1498347" cy="307777"/>
          </a:xfrm>
          <a:prstGeom prst="rect">
            <a:avLst/>
          </a:prstGeom>
          <a:solidFill>
            <a:schemeClr val="accent5">
              <a:lumMod val="20000"/>
              <a:lumOff val="80000"/>
            </a:schemeClr>
          </a:solidFill>
        </p:spPr>
        <p:txBody>
          <a:bodyPr wrap="square" rtlCol="0">
            <a:spAutoFit/>
          </a:bodyPr>
          <a:lstStyle/>
          <a:p>
            <a:r>
              <a:rPr lang="pt-BR" sz="1400" b="1" dirty="0">
                <a:solidFill>
                  <a:srgbClr val="0B5892"/>
                </a:solidFill>
                <a:latin typeface="Arial" panose="020B0604020202020204" pitchFamily="34" charset="0"/>
                <a:cs typeface="Arial" panose="020B0604020202020204" pitchFamily="34" charset="0"/>
              </a:rPr>
              <a:t>Ofensores</a:t>
            </a:r>
          </a:p>
        </p:txBody>
      </p:sp>
      <p:sp>
        <p:nvSpPr>
          <p:cNvPr id="73" name="CaixaDeTexto 72">
            <a:extLst>
              <a:ext uri="{FF2B5EF4-FFF2-40B4-BE49-F238E27FC236}">
                <a16:creationId xmlns:a16="http://schemas.microsoft.com/office/drawing/2014/main" id="{54900A2C-8882-0D7E-9A4E-74F35483677A}"/>
              </a:ext>
            </a:extLst>
          </p:cNvPr>
          <p:cNvSpPr txBox="1"/>
          <p:nvPr/>
        </p:nvSpPr>
        <p:spPr>
          <a:xfrm>
            <a:off x="2453594" y="2355406"/>
            <a:ext cx="3104740" cy="307777"/>
          </a:xfrm>
          <a:prstGeom prst="rect">
            <a:avLst/>
          </a:prstGeom>
          <a:noFill/>
        </p:spPr>
        <p:txBody>
          <a:bodyPr wrap="square" rtlCol="0">
            <a:spAutoFit/>
          </a:bodyPr>
          <a:lstStyle/>
          <a:p>
            <a:r>
              <a:rPr lang="fr-FR" sz="1400" dirty="0">
                <a:solidFill>
                  <a:srgbClr val="0B5892"/>
                </a:solidFill>
                <a:latin typeface="Arial" panose="020B0604020202020204" pitchFamily="34" charset="0"/>
                <a:cs typeface="Arial" panose="020B0604020202020204" pitchFamily="34" charset="0"/>
              </a:rPr>
              <a:t>Bruno </a:t>
            </a:r>
            <a:r>
              <a:rPr lang="fr-FR" sz="1400" dirty="0" err="1">
                <a:solidFill>
                  <a:srgbClr val="0B5892"/>
                </a:solidFill>
                <a:latin typeface="Arial" panose="020B0604020202020204" pitchFamily="34" charset="0"/>
                <a:cs typeface="Arial" panose="020B0604020202020204" pitchFamily="34" charset="0"/>
              </a:rPr>
              <a:t>Weslley</a:t>
            </a:r>
            <a:r>
              <a:rPr lang="fr-FR" sz="1400" dirty="0">
                <a:solidFill>
                  <a:srgbClr val="0B5892"/>
                </a:solidFill>
                <a:latin typeface="Arial" panose="020B0604020202020204" pitchFamily="34" charset="0"/>
                <a:cs typeface="Arial" panose="020B0604020202020204" pitchFamily="34" charset="0"/>
              </a:rPr>
              <a:t> </a:t>
            </a:r>
            <a:r>
              <a:rPr lang="fr-FR" sz="1400" dirty="0" err="1">
                <a:solidFill>
                  <a:srgbClr val="0B5892"/>
                </a:solidFill>
                <a:latin typeface="Arial" panose="020B0604020202020204" pitchFamily="34" charset="0"/>
                <a:cs typeface="Arial" panose="020B0604020202020204" pitchFamily="34" charset="0"/>
              </a:rPr>
              <a:t>Ourique</a:t>
            </a:r>
            <a:r>
              <a:rPr lang="fr-FR" sz="1400" dirty="0">
                <a:solidFill>
                  <a:srgbClr val="0B5892"/>
                </a:solidFill>
                <a:latin typeface="Arial" panose="020B0604020202020204" pitchFamily="34" charset="0"/>
                <a:cs typeface="Arial" panose="020B0604020202020204" pitchFamily="34" charset="0"/>
              </a:rPr>
              <a:t> de Souza</a:t>
            </a:r>
          </a:p>
        </p:txBody>
      </p:sp>
      <p:sp>
        <p:nvSpPr>
          <p:cNvPr id="117" name="Título 1">
            <a:extLst>
              <a:ext uri="{FF2B5EF4-FFF2-40B4-BE49-F238E27FC236}">
                <a16:creationId xmlns:a16="http://schemas.microsoft.com/office/drawing/2014/main" id="{5FFF9E5F-8914-E5B3-42D9-5321BE4687A9}"/>
              </a:ext>
            </a:extLst>
          </p:cNvPr>
          <p:cNvSpPr txBox="1">
            <a:spLocks/>
          </p:cNvSpPr>
          <p:nvPr/>
        </p:nvSpPr>
        <p:spPr>
          <a:xfrm>
            <a:off x="5946417" y="431573"/>
            <a:ext cx="5811865"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pt-BR" sz="1600" spc="600" dirty="0">
                <a:solidFill>
                  <a:srgbClr val="0B5892"/>
                </a:solidFill>
                <a:latin typeface="Arial" panose="020B0604020202020204" pitchFamily="34" charset="0"/>
                <a:cs typeface="Arial" panose="020B0604020202020204" pitchFamily="34" charset="0"/>
              </a:rPr>
              <a:t>CRC</a:t>
            </a:r>
          </a:p>
        </p:txBody>
      </p:sp>
      <p:sp>
        <p:nvSpPr>
          <p:cNvPr id="12" name="Retângulo: Cantos Arredondados 11">
            <a:extLst>
              <a:ext uri="{FF2B5EF4-FFF2-40B4-BE49-F238E27FC236}">
                <a16:creationId xmlns:a16="http://schemas.microsoft.com/office/drawing/2014/main" id="{7590D6DE-1E5E-9DC1-EB8D-E1596F74E974}"/>
              </a:ext>
            </a:extLst>
          </p:cNvPr>
          <p:cNvSpPr/>
          <p:nvPr/>
        </p:nvSpPr>
        <p:spPr>
          <a:xfrm>
            <a:off x="6189468" y="1880023"/>
            <a:ext cx="4128654" cy="1948248"/>
          </a:xfrm>
          <a:prstGeom prst="roundRect">
            <a:avLst/>
          </a:prstGeom>
          <a:solidFill>
            <a:schemeClr val="bg1">
              <a:lumMod val="95000"/>
            </a:schemeClr>
          </a:solidFill>
          <a:ln>
            <a:noFill/>
          </a:ln>
          <a:effectLst>
            <a:outerShdw dist="101600" dir="10740000" algn="t" rotWithShape="0">
              <a:srgbClr val="0B5892"/>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13" name="Google Shape;1944;p50">
            <a:extLst>
              <a:ext uri="{FF2B5EF4-FFF2-40B4-BE49-F238E27FC236}">
                <a16:creationId xmlns:a16="http://schemas.microsoft.com/office/drawing/2014/main" id="{441A7889-0C96-76EB-84BD-1635C2F6427B}"/>
              </a:ext>
            </a:extLst>
          </p:cNvPr>
          <p:cNvGrpSpPr/>
          <p:nvPr/>
        </p:nvGrpSpPr>
        <p:grpSpPr>
          <a:xfrm rot="10417960">
            <a:off x="6360206" y="2043094"/>
            <a:ext cx="476316" cy="468384"/>
            <a:chOff x="860940" y="2746477"/>
            <a:chExt cx="371883" cy="365691"/>
          </a:xfrm>
          <a:solidFill>
            <a:srgbClr val="0B5892"/>
          </a:solidFill>
        </p:grpSpPr>
        <p:sp>
          <p:nvSpPr>
            <p:cNvPr id="14" name="Google Shape;1945;p50">
              <a:extLst>
                <a:ext uri="{FF2B5EF4-FFF2-40B4-BE49-F238E27FC236}">
                  <a16:creationId xmlns:a16="http://schemas.microsoft.com/office/drawing/2014/main" id="{816DDF79-C01A-C5FE-4D92-47161C032051}"/>
                </a:ext>
              </a:extLst>
            </p:cNvPr>
            <p:cNvSpPr/>
            <p:nvPr/>
          </p:nvSpPr>
          <p:spPr>
            <a:xfrm>
              <a:off x="908191" y="3026302"/>
              <a:ext cx="30294" cy="28961"/>
            </a:xfrm>
            <a:custGeom>
              <a:avLst/>
              <a:gdLst/>
              <a:ahLst/>
              <a:cxnLst/>
              <a:rect l="l" t="t" r="r" b="b"/>
              <a:pathLst>
                <a:path w="954" h="912" extrusionOk="0">
                  <a:moveTo>
                    <a:pt x="763" y="1"/>
                  </a:moveTo>
                  <a:cubicBezTo>
                    <a:pt x="718" y="1"/>
                    <a:pt x="674" y="16"/>
                    <a:pt x="644" y="45"/>
                  </a:cubicBezTo>
                  <a:lnTo>
                    <a:pt x="60" y="629"/>
                  </a:lnTo>
                  <a:cubicBezTo>
                    <a:pt x="1" y="688"/>
                    <a:pt x="1" y="807"/>
                    <a:pt x="60" y="867"/>
                  </a:cubicBezTo>
                  <a:cubicBezTo>
                    <a:pt x="90" y="897"/>
                    <a:pt x="135" y="911"/>
                    <a:pt x="179" y="911"/>
                  </a:cubicBezTo>
                  <a:cubicBezTo>
                    <a:pt x="224" y="911"/>
                    <a:pt x="269" y="897"/>
                    <a:pt x="299" y="867"/>
                  </a:cubicBezTo>
                  <a:lnTo>
                    <a:pt x="882" y="283"/>
                  </a:lnTo>
                  <a:cubicBezTo>
                    <a:pt x="953" y="224"/>
                    <a:pt x="953" y="105"/>
                    <a:pt x="882" y="45"/>
                  </a:cubicBezTo>
                  <a:cubicBezTo>
                    <a:pt x="852" y="16"/>
                    <a:pt x="807" y="1"/>
                    <a:pt x="76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946;p50">
              <a:extLst>
                <a:ext uri="{FF2B5EF4-FFF2-40B4-BE49-F238E27FC236}">
                  <a16:creationId xmlns:a16="http://schemas.microsoft.com/office/drawing/2014/main" id="{6D521B92-A3EC-5A1B-1D08-83F25C5D11D8}"/>
                </a:ext>
              </a:extLst>
            </p:cNvPr>
            <p:cNvSpPr/>
            <p:nvPr/>
          </p:nvSpPr>
          <p:spPr>
            <a:xfrm>
              <a:off x="943757" y="3061836"/>
              <a:ext cx="30263" cy="28961"/>
            </a:xfrm>
            <a:custGeom>
              <a:avLst/>
              <a:gdLst/>
              <a:ahLst/>
              <a:cxnLst/>
              <a:rect l="l" t="t" r="r" b="b"/>
              <a:pathLst>
                <a:path w="953" h="912" extrusionOk="0">
                  <a:moveTo>
                    <a:pt x="762" y="1"/>
                  </a:moveTo>
                  <a:cubicBezTo>
                    <a:pt x="717" y="1"/>
                    <a:pt x="673" y="16"/>
                    <a:pt x="643" y="46"/>
                  </a:cubicBezTo>
                  <a:lnTo>
                    <a:pt x="60" y="629"/>
                  </a:lnTo>
                  <a:cubicBezTo>
                    <a:pt x="0" y="688"/>
                    <a:pt x="0" y="807"/>
                    <a:pt x="60" y="867"/>
                  </a:cubicBezTo>
                  <a:cubicBezTo>
                    <a:pt x="89" y="897"/>
                    <a:pt x="134" y="912"/>
                    <a:pt x="179" y="912"/>
                  </a:cubicBezTo>
                  <a:cubicBezTo>
                    <a:pt x="223" y="912"/>
                    <a:pt x="268" y="897"/>
                    <a:pt x="298" y="867"/>
                  </a:cubicBezTo>
                  <a:lnTo>
                    <a:pt x="881" y="284"/>
                  </a:lnTo>
                  <a:cubicBezTo>
                    <a:pt x="953" y="224"/>
                    <a:pt x="953" y="105"/>
                    <a:pt x="881" y="46"/>
                  </a:cubicBezTo>
                  <a:cubicBezTo>
                    <a:pt x="851" y="16"/>
                    <a:pt x="807" y="1"/>
                    <a:pt x="7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947;p50">
              <a:extLst>
                <a:ext uri="{FF2B5EF4-FFF2-40B4-BE49-F238E27FC236}">
                  <a16:creationId xmlns:a16="http://schemas.microsoft.com/office/drawing/2014/main" id="{CB4BDB16-93DF-18A3-42EB-9DF72D4E3B01}"/>
                </a:ext>
              </a:extLst>
            </p:cNvPr>
            <p:cNvSpPr/>
            <p:nvPr/>
          </p:nvSpPr>
          <p:spPr>
            <a:xfrm>
              <a:off x="926355" y="3044085"/>
              <a:ext cx="29881" cy="28579"/>
            </a:xfrm>
            <a:custGeom>
              <a:avLst/>
              <a:gdLst/>
              <a:ahLst/>
              <a:cxnLst/>
              <a:rect l="l" t="t" r="r" b="b"/>
              <a:pathLst>
                <a:path w="941" h="900" extrusionOk="0">
                  <a:moveTo>
                    <a:pt x="762" y="0"/>
                  </a:moveTo>
                  <a:cubicBezTo>
                    <a:pt x="718" y="0"/>
                    <a:pt x="673" y="15"/>
                    <a:pt x="643" y="45"/>
                  </a:cubicBezTo>
                  <a:lnTo>
                    <a:pt x="60" y="616"/>
                  </a:lnTo>
                  <a:cubicBezTo>
                    <a:pt x="0" y="676"/>
                    <a:pt x="0" y="795"/>
                    <a:pt x="60" y="855"/>
                  </a:cubicBezTo>
                  <a:cubicBezTo>
                    <a:pt x="90" y="884"/>
                    <a:pt x="134" y="899"/>
                    <a:pt x="179" y="899"/>
                  </a:cubicBezTo>
                  <a:cubicBezTo>
                    <a:pt x="224" y="899"/>
                    <a:pt x="268" y="884"/>
                    <a:pt x="298" y="855"/>
                  </a:cubicBezTo>
                  <a:lnTo>
                    <a:pt x="881" y="283"/>
                  </a:lnTo>
                  <a:cubicBezTo>
                    <a:pt x="941" y="224"/>
                    <a:pt x="941" y="116"/>
                    <a:pt x="881" y="45"/>
                  </a:cubicBezTo>
                  <a:cubicBezTo>
                    <a:pt x="852" y="15"/>
                    <a:pt x="807" y="0"/>
                    <a:pt x="76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948;p50">
              <a:extLst>
                <a:ext uri="{FF2B5EF4-FFF2-40B4-BE49-F238E27FC236}">
                  <a16:creationId xmlns:a16="http://schemas.microsoft.com/office/drawing/2014/main" id="{6EEA8B9A-CA56-C473-D14A-3AAF61EB37DD}"/>
                </a:ext>
              </a:extLst>
            </p:cNvPr>
            <p:cNvSpPr/>
            <p:nvPr/>
          </p:nvSpPr>
          <p:spPr>
            <a:xfrm>
              <a:off x="860940" y="2746477"/>
              <a:ext cx="371883" cy="365691"/>
            </a:xfrm>
            <a:custGeom>
              <a:avLst/>
              <a:gdLst/>
              <a:ahLst/>
              <a:cxnLst/>
              <a:rect l="l" t="t" r="r" b="b"/>
              <a:pathLst>
                <a:path w="11711" h="11516" extrusionOk="0">
                  <a:moveTo>
                    <a:pt x="11312" y="344"/>
                  </a:moveTo>
                  <a:lnTo>
                    <a:pt x="10835" y="1987"/>
                  </a:lnTo>
                  <a:lnTo>
                    <a:pt x="9680" y="821"/>
                  </a:lnTo>
                  <a:lnTo>
                    <a:pt x="11312" y="344"/>
                  </a:lnTo>
                  <a:close/>
                  <a:moveTo>
                    <a:pt x="4882" y="3821"/>
                  </a:moveTo>
                  <a:lnTo>
                    <a:pt x="2822" y="5881"/>
                  </a:lnTo>
                  <a:lnTo>
                    <a:pt x="477" y="5690"/>
                  </a:lnTo>
                  <a:cubicBezTo>
                    <a:pt x="453" y="5690"/>
                    <a:pt x="429" y="5643"/>
                    <a:pt x="465" y="5631"/>
                  </a:cubicBezTo>
                  <a:cubicBezTo>
                    <a:pt x="1477" y="4619"/>
                    <a:pt x="2822" y="4000"/>
                    <a:pt x="4227" y="3881"/>
                  </a:cubicBezTo>
                  <a:lnTo>
                    <a:pt x="4882" y="3821"/>
                  </a:lnTo>
                  <a:close/>
                  <a:moveTo>
                    <a:pt x="2894" y="6297"/>
                  </a:moveTo>
                  <a:lnTo>
                    <a:pt x="3811" y="7226"/>
                  </a:lnTo>
                  <a:lnTo>
                    <a:pt x="3477" y="7571"/>
                  </a:lnTo>
                  <a:lnTo>
                    <a:pt x="2549" y="6643"/>
                  </a:lnTo>
                  <a:lnTo>
                    <a:pt x="2894" y="6297"/>
                  </a:lnTo>
                  <a:close/>
                  <a:moveTo>
                    <a:pt x="2727" y="7333"/>
                  </a:moveTo>
                  <a:lnTo>
                    <a:pt x="3203" y="7810"/>
                  </a:lnTo>
                  <a:lnTo>
                    <a:pt x="2799" y="8226"/>
                  </a:lnTo>
                  <a:cubicBezTo>
                    <a:pt x="2787" y="8238"/>
                    <a:pt x="2763" y="8262"/>
                    <a:pt x="2739" y="8298"/>
                  </a:cubicBezTo>
                  <a:lnTo>
                    <a:pt x="2310" y="7869"/>
                  </a:lnTo>
                  <a:cubicBezTo>
                    <a:pt x="2287" y="7833"/>
                    <a:pt x="2287" y="7774"/>
                    <a:pt x="2310" y="7750"/>
                  </a:cubicBezTo>
                  <a:lnTo>
                    <a:pt x="2727" y="7333"/>
                  </a:lnTo>
                  <a:close/>
                  <a:moveTo>
                    <a:pt x="9311" y="916"/>
                  </a:moveTo>
                  <a:lnTo>
                    <a:pt x="10740" y="2345"/>
                  </a:lnTo>
                  <a:lnTo>
                    <a:pt x="10299" y="3821"/>
                  </a:lnTo>
                  <a:lnTo>
                    <a:pt x="5597" y="8524"/>
                  </a:lnTo>
                  <a:lnTo>
                    <a:pt x="4680" y="7595"/>
                  </a:lnTo>
                  <a:lnTo>
                    <a:pt x="6823" y="5452"/>
                  </a:lnTo>
                  <a:cubicBezTo>
                    <a:pt x="6966" y="5309"/>
                    <a:pt x="7001" y="5035"/>
                    <a:pt x="6811" y="4833"/>
                  </a:cubicBezTo>
                  <a:cubicBezTo>
                    <a:pt x="6728" y="4750"/>
                    <a:pt x="6617" y="4708"/>
                    <a:pt x="6506" y="4708"/>
                  </a:cubicBezTo>
                  <a:cubicBezTo>
                    <a:pt x="6394" y="4708"/>
                    <a:pt x="6281" y="4750"/>
                    <a:pt x="6192" y="4833"/>
                  </a:cubicBezTo>
                  <a:lnTo>
                    <a:pt x="4049" y="6976"/>
                  </a:lnTo>
                  <a:lnTo>
                    <a:pt x="3132" y="6047"/>
                  </a:lnTo>
                  <a:lnTo>
                    <a:pt x="7835" y="1344"/>
                  </a:lnTo>
                  <a:lnTo>
                    <a:pt x="9311" y="916"/>
                  </a:lnTo>
                  <a:close/>
                  <a:moveTo>
                    <a:pt x="6495" y="5047"/>
                  </a:moveTo>
                  <a:cubicBezTo>
                    <a:pt x="6522" y="5047"/>
                    <a:pt x="6549" y="5059"/>
                    <a:pt x="6573" y="5083"/>
                  </a:cubicBezTo>
                  <a:cubicBezTo>
                    <a:pt x="6609" y="5131"/>
                    <a:pt x="6609" y="5178"/>
                    <a:pt x="6573" y="5226"/>
                  </a:cubicBezTo>
                  <a:lnTo>
                    <a:pt x="4311" y="7488"/>
                  </a:lnTo>
                  <a:lnTo>
                    <a:pt x="3203" y="8595"/>
                  </a:lnTo>
                  <a:cubicBezTo>
                    <a:pt x="3180" y="8619"/>
                    <a:pt x="3153" y="8631"/>
                    <a:pt x="3127" y="8631"/>
                  </a:cubicBezTo>
                  <a:cubicBezTo>
                    <a:pt x="3102" y="8631"/>
                    <a:pt x="3078" y="8619"/>
                    <a:pt x="3060" y="8595"/>
                  </a:cubicBezTo>
                  <a:cubicBezTo>
                    <a:pt x="3013" y="8548"/>
                    <a:pt x="3013" y="8488"/>
                    <a:pt x="3060" y="8441"/>
                  </a:cubicBezTo>
                  <a:lnTo>
                    <a:pt x="6418" y="5083"/>
                  </a:lnTo>
                  <a:cubicBezTo>
                    <a:pt x="6442" y="5059"/>
                    <a:pt x="6469" y="5047"/>
                    <a:pt x="6495" y="5047"/>
                  </a:cubicBezTo>
                  <a:close/>
                  <a:moveTo>
                    <a:pt x="4430" y="7857"/>
                  </a:moveTo>
                  <a:lnTo>
                    <a:pt x="5346" y="8786"/>
                  </a:lnTo>
                  <a:lnTo>
                    <a:pt x="5001" y="9119"/>
                  </a:lnTo>
                  <a:lnTo>
                    <a:pt x="4989" y="9119"/>
                  </a:lnTo>
                  <a:lnTo>
                    <a:pt x="4084" y="8202"/>
                  </a:lnTo>
                  <a:lnTo>
                    <a:pt x="4430" y="7857"/>
                  </a:lnTo>
                  <a:close/>
                  <a:moveTo>
                    <a:pt x="3846" y="8429"/>
                  </a:moveTo>
                  <a:lnTo>
                    <a:pt x="4323" y="8905"/>
                  </a:lnTo>
                  <a:lnTo>
                    <a:pt x="3906" y="9322"/>
                  </a:lnTo>
                  <a:cubicBezTo>
                    <a:pt x="3894" y="9334"/>
                    <a:pt x="3858" y="9357"/>
                    <a:pt x="3846" y="9357"/>
                  </a:cubicBezTo>
                  <a:cubicBezTo>
                    <a:pt x="3834" y="9357"/>
                    <a:pt x="3811" y="9357"/>
                    <a:pt x="3787" y="9322"/>
                  </a:cubicBezTo>
                  <a:lnTo>
                    <a:pt x="3358" y="8905"/>
                  </a:lnTo>
                  <a:cubicBezTo>
                    <a:pt x="3382" y="8893"/>
                    <a:pt x="3394" y="8881"/>
                    <a:pt x="3430" y="8845"/>
                  </a:cubicBezTo>
                  <a:lnTo>
                    <a:pt x="3846" y="8429"/>
                  </a:lnTo>
                  <a:close/>
                  <a:moveTo>
                    <a:pt x="11322" y="1"/>
                  </a:moveTo>
                  <a:cubicBezTo>
                    <a:pt x="11295" y="1"/>
                    <a:pt x="11267" y="4"/>
                    <a:pt x="11240" y="11"/>
                  </a:cubicBezTo>
                  <a:cubicBezTo>
                    <a:pt x="10514" y="213"/>
                    <a:pt x="8394" y="844"/>
                    <a:pt x="7704" y="1035"/>
                  </a:cubicBezTo>
                  <a:cubicBezTo>
                    <a:pt x="7668" y="1047"/>
                    <a:pt x="7656" y="1059"/>
                    <a:pt x="7621" y="1083"/>
                  </a:cubicBezTo>
                  <a:lnTo>
                    <a:pt x="5263" y="3440"/>
                  </a:lnTo>
                  <a:lnTo>
                    <a:pt x="4203" y="3535"/>
                  </a:lnTo>
                  <a:cubicBezTo>
                    <a:pt x="2703" y="3654"/>
                    <a:pt x="1286" y="4321"/>
                    <a:pt x="227" y="5381"/>
                  </a:cubicBezTo>
                  <a:cubicBezTo>
                    <a:pt x="1" y="5595"/>
                    <a:pt x="143" y="5988"/>
                    <a:pt x="465" y="6024"/>
                  </a:cubicBezTo>
                  <a:lnTo>
                    <a:pt x="2525" y="6190"/>
                  </a:lnTo>
                  <a:lnTo>
                    <a:pt x="2310" y="6405"/>
                  </a:lnTo>
                  <a:cubicBezTo>
                    <a:pt x="2179" y="6536"/>
                    <a:pt x="2179" y="6750"/>
                    <a:pt x="2310" y="6881"/>
                  </a:cubicBezTo>
                  <a:lnTo>
                    <a:pt x="2525" y="7083"/>
                  </a:lnTo>
                  <a:lnTo>
                    <a:pt x="2108" y="7500"/>
                  </a:lnTo>
                  <a:cubicBezTo>
                    <a:pt x="1941" y="7667"/>
                    <a:pt x="1941" y="7941"/>
                    <a:pt x="2108" y="8095"/>
                  </a:cubicBezTo>
                  <a:lnTo>
                    <a:pt x="3561" y="9560"/>
                  </a:lnTo>
                  <a:cubicBezTo>
                    <a:pt x="3644" y="9643"/>
                    <a:pt x="3751" y="9685"/>
                    <a:pt x="3858" y="9685"/>
                  </a:cubicBezTo>
                  <a:cubicBezTo>
                    <a:pt x="3965" y="9685"/>
                    <a:pt x="4073" y="9643"/>
                    <a:pt x="4156" y="9560"/>
                  </a:cubicBezTo>
                  <a:lnTo>
                    <a:pt x="4573" y="9143"/>
                  </a:lnTo>
                  <a:lnTo>
                    <a:pt x="4763" y="9334"/>
                  </a:lnTo>
                  <a:cubicBezTo>
                    <a:pt x="4835" y="9399"/>
                    <a:pt x="4924" y="9432"/>
                    <a:pt x="5015" y="9432"/>
                  </a:cubicBezTo>
                  <a:cubicBezTo>
                    <a:pt x="5105" y="9432"/>
                    <a:pt x="5198" y="9399"/>
                    <a:pt x="5275" y="9334"/>
                  </a:cubicBezTo>
                  <a:lnTo>
                    <a:pt x="5477" y="9131"/>
                  </a:lnTo>
                  <a:lnTo>
                    <a:pt x="5656" y="11179"/>
                  </a:lnTo>
                  <a:cubicBezTo>
                    <a:pt x="5680" y="11334"/>
                    <a:pt x="5763" y="11453"/>
                    <a:pt x="5894" y="11500"/>
                  </a:cubicBezTo>
                  <a:cubicBezTo>
                    <a:pt x="5935" y="11511"/>
                    <a:pt x="5975" y="11516"/>
                    <a:pt x="6015" y="11516"/>
                  </a:cubicBezTo>
                  <a:cubicBezTo>
                    <a:pt x="6115" y="11516"/>
                    <a:pt x="6210" y="11482"/>
                    <a:pt x="6287" y="11405"/>
                  </a:cubicBezTo>
                  <a:cubicBezTo>
                    <a:pt x="6942" y="10750"/>
                    <a:pt x="7430" y="9977"/>
                    <a:pt x="7763" y="9119"/>
                  </a:cubicBezTo>
                  <a:cubicBezTo>
                    <a:pt x="7787" y="9024"/>
                    <a:pt x="7740" y="8941"/>
                    <a:pt x="7656" y="8893"/>
                  </a:cubicBezTo>
                  <a:cubicBezTo>
                    <a:pt x="7635" y="8885"/>
                    <a:pt x="7614" y="8881"/>
                    <a:pt x="7594" y="8881"/>
                  </a:cubicBezTo>
                  <a:cubicBezTo>
                    <a:pt x="7525" y="8881"/>
                    <a:pt x="7467" y="8926"/>
                    <a:pt x="7430" y="9000"/>
                  </a:cubicBezTo>
                  <a:cubicBezTo>
                    <a:pt x="7132" y="9810"/>
                    <a:pt x="6656" y="10560"/>
                    <a:pt x="6037" y="11167"/>
                  </a:cubicBezTo>
                  <a:cubicBezTo>
                    <a:pt x="6027" y="11172"/>
                    <a:pt x="6015" y="11175"/>
                    <a:pt x="6005" y="11175"/>
                  </a:cubicBezTo>
                  <a:cubicBezTo>
                    <a:pt x="5990" y="11175"/>
                    <a:pt x="5978" y="11169"/>
                    <a:pt x="5978" y="11155"/>
                  </a:cubicBezTo>
                  <a:lnTo>
                    <a:pt x="5763" y="8822"/>
                  </a:lnTo>
                  <a:lnTo>
                    <a:pt x="7835" y="6750"/>
                  </a:lnTo>
                  <a:lnTo>
                    <a:pt x="7835" y="6750"/>
                  </a:lnTo>
                  <a:cubicBezTo>
                    <a:pt x="7763" y="7583"/>
                    <a:pt x="7740" y="7810"/>
                    <a:pt x="7656" y="8238"/>
                  </a:cubicBezTo>
                  <a:cubicBezTo>
                    <a:pt x="7644" y="8322"/>
                    <a:pt x="7680" y="8417"/>
                    <a:pt x="7787" y="8441"/>
                  </a:cubicBezTo>
                  <a:cubicBezTo>
                    <a:pt x="7803" y="8445"/>
                    <a:pt x="7819" y="8447"/>
                    <a:pt x="7834" y="8447"/>
                  </a:cubicBezTo>
                  <a:cubicBezTo>
                    <a:pt x="7909" y="8447"/>
                    <a:pt x="7972" y="8399"/>
                    <a:pt x="8002" y="8310"/>
                  </a:cubicBezTo>
                  <a:cubicBezTo>
                    <a:pt x="8121" y="7786"/>
                    <a:pt x="8121" y="7548"/>
                    <a:pt x="8216" y="6393"/>
                  </a:cubicBezTo>
                  <a:lnTo>
                    <a:pt x="10585" y="4023"/>
                  </a:lnTo>
                  <a:cubicBezTo>
                    <a:pt x="10597" y="4011"/>
                    <a:pt x="10621" y="3976"/>
                    <a:pt x="10633" y="3952"/>
                  </a:cubicBezTo>
                  <a:lnTo>
                    <a:pt x="11109" y="2345"/>
                  </a:lnTo>
                  <a:lnTo>
                    <a:pt x="11669" y="404"/>
                  </a:lnTo>
                  <a:cubicBezTo>
                    <a:pt x="11711" y="193"/>
                    <a:pt x="11529" y="1"/>
                    <a:pt x="1132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949;p50">
              <a:extLst>
                <a:ext uri="{FF2B5EF4-FFF2-40B4-BE49-F238E27FC236}">
                  <a16:creationId xmlns:a16="http://schemas.microsoft.com/office/drawing/2014/main" id="{A2F11078-74D1-5321-5F00-B03619F40651}"/>
                </a:ext>
              </a:extLst>
            </p:cNvPr>
            <p:cNvSpPr/>
            <p:nvPr/>
          </p:nvSpPr>
          <p:spPr>
            <a:xfrm>
              <a:off x="1070396" y="2832057"/>
              <a:ext cx="90406" cy="69035"/>
            </a:xfrm>
            <a:custGeom>
              <a:avLst/>
              <a:gdLst/>
              <a:ahLst/>
              <a:cxnLst/>
              <a:rect l="l" t="t" r="r" b="b"/>
              <a:pathLst>
                <a:path w="2847" h="2174" extrusionOk="0">
                  <a:moveTo>
                    <a:pt x="1730" y="0"/>
                  </a:moveTo>
                  <a:cubicBezTo>
                    <a:pt x="1668" y="0"/>
                    <a:pt x="1610" y="44"/>
                    <a:pt x="1584" y="114"/>
                  </a:cubicBezTo>
                  <a:cubicBezTo>
                    <a:pt x="1537" y="197"/>
                    <a:pt x="1584" y="293"/>
                    <a:pt x="1668" y="328"/>
                  </a:cubicBezTo>
                  <a:cubicBezTo>
                    <a:pt x="2179" y="554"/>
                    <a:pt x="2299" y="1221"/>
                    <a:pt x="1906" y="1614"/>
                  </a:cubicBezTo>
                  <a:cubicBezTo>
                    <a:pt x="1751" y="1769"/>
                    <a:pt x="1551" y="1846"/>
                    <a:pt x="1350" y="1846"/>
                  </a:cubicBezTo>
                  <a:cubicBezTo>
                    <a:pt x="1150" y="1846"/>
                    <a:pt x="947" y="1769"/>
                    <a:pt x="786" y="1614"/>
                  </a:cubicBezTo>
                  <a:cubicBezTo>
                    <a:pt x="405" y="1221"/>
                    <a:pt x="525" y="566"/>
                    <a:pt x="1025" y="328"/>
                  </a:cubicBezTo>
                  <a:cubicBezTo>
                    <a:pt x="1120" y="293"/>
                    <a:pt x="1144" y="197"/>
                    <a:pt x="1120" y="114"/>
                  </a:cubicBezTo>
                  <a:cubicBezTo>
                    <a:pt x="1083" y="41"/>
                    <a:pt x="1019" y="10"/>
                    <a:pt x="954" y="10"/>
                  </a:cubicBezTo>
                  <a:cubicBezTo>
                    <a:pt x="934" y="10"/>
                    <a:pt x="913" y="13"/>
                    <a:pt x="894" y="19"/>
                  </a:cubicBezTo>
                  <a:cubicBezTo>
                    <a:pt x="179" y="352"/>
                    <a:pt x="1" y="1281"/>
                    <a:pt x="572" y="1852"/>
                  </a:cubicBezTo>
                  <a:cubicBezTo>
                    <a:pt x="786" y="2078"/>
                    <a:pt x="1072" y="2174"/>
                    <a:pt x="1370" y="2174"/>
                  </a:cubicBezTo>
                  <a:cubicBezTo>
                    <a:pt x="2334" y="2162"/>
                    <a:pt x="2846" y="947"/>
                    <a:pt x="2132" y="245"/>
                  </a:cubicBezTo>
                  <a:cubicBezTo>
                    <a:pt x="2037" y="150"/>
                    <a:pt x="1918" y="66"/>
                    <a:pt x="1798" y="19"/>
                  </a:cubicBezTo>
                  <a:cubicBezTo>
                    <a:pt x="1776" y="6"/>
                    <a:pt x="1753" y="0"/>
                    <a:pt x="17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CaixaDeTexto 27">
            <a:extLst>
              <a:ext uri="{FF2B5EF4-FFF2-40B4-BE49-F238E27FC236}">
                <a16:creationId xmlns:a16="http://schemas.microsoft.com/office/drawing/2014/main" id="{0B260C15-7547-1A52-E0DB-D6E649D6CFEF}"/>
              </a:ext>
            </a:extLst>
          </p:cNvPr>
          <p:cNvSpPr txBox="1"/>
          <p:nvPr/>
        </p:nvSpPr>
        <p:spPr>
          <a:xfrm>
            <a:off x="6877954" y="2007732"/>
            <a:ext cx="1498347" cy="307777"/>
          </a:xfrm>
          <a:prstGeom prst="rect">
            <a:avLst/>
          </a:prstGeom>
          <a:solidFill>
            <a:schemeClr val="accent5">
              <a:lumMod val="20000"/>
              <a:lumOff val="80000"/>
            </a:schemeClr>
          </a:solidFill>
        </p:spPr>
        <p:txBody>
          <a:bodyPr wrap="square" rtlCol="0">
            <a:spAutoFit/>
          </a:bodyPr>
          <a:lstStyle/>
          <a:p>
            <a:r>
              <a:rPr lang="pt-BR" sz="1400" b="1" dirty="0">
                <a:solidFill>
                  <a:srgbClr val="0B5892"/>
                </a:solidFill>
                <a:latin typeface="Arial" panose="020B0604020202020204" pitchFamily="34" charset="0"/>
                <a:cs typeface="Arial" panose="020B0604020202020204" pitchFamily="34" charset="0"/>
              </a:rPr>
              <a:t>Ofensores</a:t>
            </a:r>
          </a:p>
        </p:txBody>
      </p:sp>
      <p:sp>
        <p:nvSpPr>
          <p:cNvPr id="32" name="CaixaDeTexto 31">
            <a:extLst>
              <a:ext uri="{FF2B5EF4-FFF2-40B4-BE49-F238E27FC236}">
                <a16:creationId xmlns:a16="http://schemas.microsoft.com/office/drawing/2014/main" id="{80520710-3B0C-0FEA-ABBC-9084E2B64F65}"/>
              </a:ext>
            </a:extLst>
          </p:cNvPr>
          <p:cNvSpPr txBox="1"/>
          <p:nvPr/>
        </p:nvSpPr>
        <p:spPr>
          <a:xfrm>
            <a:off x="6687303" y="2321450"/>
            <a:ext cx="3104740" cy="307777"/>
          </a:xfrm>
          <a:prstGeom prst="rect">
            <a:avLst/>
          </a:prstGeom>
          <a:noFill/>
        </p:spPr>
        <p:txBody>
          <a:bodyPr wrap="square" rtlCol="0">
            <a:spAutoFit/>
          </a:bodyPr>
          <a:lstStyle/>
          <a:p>
            <a:r>
              <a:rPr lang="pt-BR" sz="1400" dirty="0">
                <a:solidFill>
                  <a:srgbClr val="0B5892"/>
                </a:solidFill>
                <a:latin typeface="Arial" panose="020B0604020202020204" pitchFamily="34" charset="0"/>
                <a:cs typeface="Arial" panose="020B0604020202020204" pitchFamily="34" charset="0"/>
              </a:rPr>
              <a:t>Samara Regiane Pereira</a:t>
            </a:r>
          </a:p>
        </p:txBody>
      </p:sp>
      <p:sp>
        <p:nvSpPr>
          <p:cNvPr id="40" name="Retângulo: Cantos Arredondados 39">
            <a:extLst>
              <a:ext uri="{FF2B5EF4-FFF2-40B4-BE49-F238E27FC236}">
                <a16:creationId xmlns:a16="http://schemas.microsoft.com/office/drawing/2014/main" id="{73CE732F-7C08-6759-D7FB-B633CEED32E4}"/>
              </a:ext>
            </a:extLst>
          </p:cNvPr>
          <p:cNvSpPr/>
          <p:nvPr/>
        </p:nvSpPr>
        <p:spPr>
          <a:xfrm>
            <a:off x="1817763" y="4042407"/>
            <a:ext cx="4128654" cy="2226294"/>
          </a:xfrm>
          <a:prstGeom prst="roundRect">
            <a:avLst/>
          </a:prstGeom>
          <a:solidFill>
            <a:schemeClr val="bg1">
              <a:lumMod val="95000"/>
            </a:schemeClr>
          </a:solidFill>
          <a:ln>
            <a:noFill/>
          </a:ln>
          <a:effectLst>
            <a:outerShdw dist="101600" dir="10740000" algn="t" rotWithShape="0">
              <a:srgbClr val="0B5892"/>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41" name="Google Shape;1944;p50">
            <a:extLst>
              <a:ext uri="{FF2B5EF4-FFF2-40B4-BE49-F238E27FC236}">
                <a16:creationId xmlns:a16="http://schemas.microsoft.com/office/drawing/2014/main" id="{DD1AD57C-955E-9D49-0D6A-A9996E8D9F91}"/>
              </a:ext>
            </a:extLst>
          </p:cNvPr>
          <p:cNvGrpSpPr/>
          <p:nvPr/>
        </p:nvGrpSpPr>
        <p:grpSpPr>
          <a:xfrm rot="10417960">
            <a:off x="1988501" y="4205478"/>
            <a:ext cx="476316" cy="468384"/>
            <a:chOff x="860940" y="2746477"/>
            <a:chExt cx="371883" cy="365691"/>
          </a:xfrm>
          <a:solidFill>
            <a:srgbClr val="0B5892"/>
          </a:solidFill>
        </p:grpSpPr>
        <p:sp>
          <p:nvSpPr>
            <p:cNvPr id="42" name="Google Shape;1945;p50">
              <a:extLst>
                <a:ext uri="{FF2B5EF4-FFF2-40B4-BE49-F238E27FC236}">
                  <a16:creationId xmlns:a16="http://schemas.microsoft.com/office/drawing/2014/main" id="{B4E6D957-F040-8E1E-F3CE-A6403ACF85CC}"/>
                </a:ext>
              </a:extLst>
            </p:cNvPr>
            <p:cNvSpPr/>
            <p:nvPr/>
          </p:nvSpPr>
          <p:spPr>
            <a:xfrm>
              <a:off x="908191" y="3026302"/>
              <a:ext cx="30294" cy="28961"/>
            </a:xfrm>
            <a:custGeom>
              <a:avLst/>
              <a:gdLst/>
              <a:ahLst/>
              <a:cxnLst/>
              <a:rect l="l" t="t" r="r" b="b"/>
              <a:pathLst>
                <a:path w="954" h="912" extrusionOk="0">
                  <a:moveTo>
                    <a:pt x="763" y="1"/>
                  </a:moveTo>
                  <a:cubicBezTo>
                    <a:pt x="718" y="1"/>
                    <a:pt x="674" y="16"/>
                    <a:pt x="644" y="45"/>
                  </a:cubicBezTo>
                  <a:lnTo>
                    <a:pt x="60" y="629"/>
                  </a:lnTo>
                  <a:cubicBezTo>
                    <a:pt x="1" y="688"/>
                    <a:pt x="1" y="807"/>
                    <a:pt x="60" y="867"/>
                  </a:cubicBezTo>
                  <a:cubicBezTo>
                    <a:pt x="90" y="897"/>
                    <a:pt x="135" y="911"/>
                    <a:pt x="179" y="911"/>
                  </a:cubicBezTo>
                  <a:cubicBezTo>
                    <a:pt x="224" y="911"/>
                    <a:pt x="269" y="897"/>
                    <a:pt x="299" y="867"/>
                  </a:cubicBezTo>
                  <a:lnTo>
                    <a:pt x="882" y="283"/>
                  </a:lnTo>
                  <a:cubicBezTo>
                    <a:pt x="953" y="224"/>
                    <a:pt x="953" y="105"/>
                    <a:pt x="882" y="45"/>
                  </a:cubicBezTo>
                  <a:cubicBezTo>
                    <a:pt x="852" y="16"/>
                    <a:pt x="807" y="1"/>
                    <a:pt x="76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946;p50">
              <a:extLst>
                <a:ext uri="{FF2B5EF4-FFF2-40B4-BE49-F238E27FC236}">
                  <a16:creationId xmlns:a16="http://schemas.microsoft.com/office/drawing/2014/main" id="{5A13010B-13CF-7272-1B1D-E3187FC47728}"/>
                </a:ext>
              </a:extLst>
            </p:cNvPr>
            <p:cNvSpPr/>
            <p:nvPr/>
          </p:nvSpPr>
          <p:spPr>
            <a:xfrm>
              <a:off x="943757" y="3061836"/>
              <a:ext cx="30263" cy="28961"/>
            </a:xfrm>
            <a:custGeom>
              <a:avLst/>
              <a:gdLst/>
              <a:ahLst/>
              <a:cxnLst/>
              <a:rect l="l" t="t" r="r" b="b"/>
              <a:pathLst>
                <a:path w="953" h="912" extrusionOk="0">
                  <a:moveTo>
                    <a:pt x="762" y="1"/>
                  </a:moveTo>
                  <a:cubicBezTo>
                    <a:pt x="717" y="1"/>
                    <a:pt x="673" y="16"/>
                    <a:pt x="643" y="46"/>
                  </a:cubicBezTo>
                  <a:lnTo>
                    <a:pt x="60" y="629"/>
                  </a:lnTo>
                  <a:cubicBezTo>
                    <a:pt x="0" y="688"/>
                    <a:pt x="0" y="807"/>
                    <a:pt x="60" y="867"/>
                  </a:cubicBezTo>
                  <a:cubicBezTo>
                    <a:pt x="89" y="897"/>
                    <a:pt x="134" y="912"/>
                    <a:pt x="179" y="912"/>
                  </a:cubicBezTo>
                  <a:cubicBezTo>
                    <a:pt x="223" y="912"/>
                    <a:pt x="268" y="897"/>
                    <a:pt x="298" y="867"/>
                  </a:cubicBezTo>
                  <a:lnTo>
                    <a:pt x="881" y="284"/>
                  </a:lnTo>
                  <a:cubicBezTo>
                    <a:pt x="953" y="224"/>
                    <a:pt x="953" y="105"/>
                    <a:pt x="881" y="46"/>
                  </a:cubicBezTo>
                  <a:cubicBezTo>
                    <a:pt x="851" y="16"/>
                    <a:pt x="807" y="1"/>
                    <a:pt x="7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947;p50">
              <a:extLst>
                <a:ext uri="{FF2B5EF4-FFF2-40B4-BE49-F238E27FC236}">
                  <a16:creationId xmlns:a16="http://schemas.microsoft.com/office/drawing/2014/main" id="{4ADA615A-DD8D-1E83-BB91-6A1B86BC81AB}"/>
                </a:ext>
              </a:extLst>
            </p:cNvPr>
            <p:cNvSpPr/>
            <p:nvPr/>
          </p:nvSpPr>
          <p:spPr>
            <a:xfrm>
              <a:off x="926355" y="3044085"/>
              <a:ext cx="29881" cy="28579"/>
            </a:xfrm>
            <a:custGeom>
              <a:avLst/>
              <a:gdLst/>
              <a:ahLst/>
              <a:cxnLst/>
              <a:rect l="l" t="t" r="r" b="b"/>
              <a:pathLst>
                <a:path w="941" h="900" extrusionOk="0">
                  <a:moveTo>
                    <a:pt x="762" y="0"/>
                  </a:moveTo>
                  <a:cubicBezTo>
                    <a:pt x="718" y="0"/>
                    <a:pt x="673" y="15"/>
                    <a:pt x="643" y="45"/>
                  </a:cubicBezTo>
                  <a:lnTo>
                    <a:pt x="60" y="616"/>
                  </a:lnTo>
                  <a:cubicBezTo>
                    <a:pt x="0" y="676"/>
                    <a:pt x="0" y="795"/>
                    <a:pt x="60" y="855"/>
                  </a:cubicBezTo>
                  <a:cubicBezTo>
                    <a:pt x="90" y="884"/>
                    <a:pt x="134" y="899"/>
                    <a:pt x="179" y="899"/>
                  </a:cubicBezTo>
                  <a:cubicBezTo>
                    <a:pt x="224" y="899"/>
                    <a:pt x="268" y="884"/>
                    <a:pt x="298" y="855"/>
                  </a:cubicBezTo>
                  <a:lnTo>
                    <a:pt x="881" y="283"/>
                  </a:lnTo>
                  <a:cubicBezTo>
                    <a:pt x="941" y="224"/>
                    <a:pt x="941" y="116"/>
                    <a:pt x="881" y="45"/>
                  </a:cubicBezTo>
                  <a:cubicBezTo>
                    <a:pt x="852" y="15"/>
                    <a:pt x="807" y="0"/>
                    <a:pt x="76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948;p50">
              <a:extLst>
                <a:ext uri="{FF2B5EF4-FFF2-40B4-BE49-F238E27FC236}">
                  <a16:creationId xmlns:a16="http://schemas.microsoft.com/office/drawing/2014/main" id="{3975391A-516B-127C-C706-BA30B4ECAF0C}"/>
                </a:ext>
              </a:extLst>
            </p:cNvPr>
            <p:cNvSpPr/>
            <p:nvPr/>
          </p:nvSpPr>
          <p:spPr>
            <a:xfrm>
              <a:off x="860940" y="2746477"/>
              <a:ext cx="371883" cy="365691"/>
            </a:xfrm>
            <a:custGeom>
              <a:avLst/>
              <a:gdLst/>
              <a:ahLst/>
              <a:cxnLst/>
              <a:rect l="l" t="t" r="r" b="b"/>
              <a:pathLst>
                <a:path w="11711" h="11516" extrusionOk="0">
                  <a:moveTo>
                    <a:pt x="11312" y="344"/>
                  </a:moveTo>
                  <a:lnTo>
                    <a:pt x="10835" y="1987"/>
                  </a:lnTo>
                  <a:lnTo>
                    <a:pt x="9680" y="821"/>
                  </a:lnTo>
                  <a:lnTo>
                    <a:pt x="11312" y="344"/>
                  </a:lnTo>
                  <a:close/>
                  <a:moveTo>
                    <a:pt x="4882" y="3821"/>
                  </a:moveTo>
                  <a:lnTo>
                    <a:pt x="2822" y="5881"/>
                  </a:lnTo>
                  <a:lnTo>
                    <a:pt x="477" y="5690"/>
                  </a:lnTo>
                  <a:cubicBezTo>
                    <a:pt x="453" y="5690"/>
                    <a:pt x="429" y="5643"/>
                    <a:pt x="465" y="5631"/>
                  </a:cubicBezTo>
                  <a:cubicBezTo>
                    <a:pt x="1477" y="4619"/>
                    <a:pt x="2822" y="4000"/>
                    <a:pt x="4227" y="3881"/>
                  </a:cubicBezTo>
                  <a:lnTo>
                    <a:pt x="4882" y="3821"/>
                  </a:lnTo>
                  <a:close/>
                  <a:moveTo>
                    <a:pt x="2894" y="6297"/>
                  </a:moveTo>
                  <a:lnTo>
                    <a:pt x="3811" y="7226"/>
                  </a:lnTo>
                  <a:lnTo>
                    <a:pt x="3477" y="7571"/>
                  </a:lnTo>
                  <a:lnTo>
                    <a:pt x="2549" y="6643"/>
                  </a:lnTo>
                  <a:lnTo>
                    <a:pt x="2894" y="6297"/>
                  </a:lnTo>
                  <a:close/>
                  <a:moveTo>
                    <a:pt x="2727" y="7333"/>
                  </a:moveTo>
                  <a:lnTo>
                    <a:pt x="3203" y="7810"/>
                  </a:lnTo>
                  <a:lnTo>
                    <a:pt x="2799" y="8226"/>
                  </a:lnTo>
                  <a:cubicBezTo>
                    <a:pt x="2787" y="8238"/>
                    <a:pt x="2763" y="8262"/>
                    <a:pt x="2739" y="8298"/>
                  </a:cubicBezTo>
                  <a:lnTo>
                    <a:pt x="2310" y="7869"/>
                  </a:lnTo>
                  <a:cubicBezTo>
                    <a:pt x="2287" y="7833"/>
                    <a:pt x="2287" y="7774"/>
                    <a:pt x="2310" y="7750"/>
                  </a:cubicBezTo>
                  <a:lnTo>
                    <a:pt x="2727" y="7333"/>
                  </a:lnTo>
                  <a:close/>
                  <a:moveTo>
                    <a:pt x="9311" y="916"/>
                  </a:moveTo>
                  <a:lnTo>
                    <a:pt x="10740" y="2345"/>
                  </a:lnTo>
                  <a:lnTo>
                    <a:pt x="10299" y="3821"/>
                  </a:lnTo>
                  <a:lnTo>
                    <a:pt x="5597" y="8524"/>
                  </a:lnTo>
                  <a:lnTo>
                    <a:pt x="4680" y="7595"/>
                  </a:lnTo>
                  <a:lnTo>
                    <a:pt x="6823" y="5452"/>
                  </a:lnTo>
                  <a:cubicBezTo>
                    <a:pt x="6966" y="5309"/>
                    <a:pt x="7001" y="5035"/>
                    <a:pt x="6811" y="4833"/>
                  </a:cubicBezTo>
                  <a:cubicBezTo>
                    <a:pt x="6728" y="4750"/>
                    <a:pt x="6617" y="4708"/>
                    <a:pt x="6506" y="4708"/>
                  </a:cubicBezTo>
                  <a:cubicBezTo>
                    <a:pt x="6394" y="4708"/>
                    <a:pt x="6281" y="4750"/>
                    <a:pt x="6192" y="4833"/>
                  </a:cubicBezTo>
                  <a:lnTo>
                    <a:pt x="4049" y="6976"/>
                  </a:lnTo>
                  <a:lnTo>
                    <a:pt x="3132" y="6047"/>
                  </a:lnTo>
                  <a:lnTo>
                    <a:pt x="7835" y="1344"/>
                  </a:lnTo>
                  <a:lnTo>
                    <a:pt x="9311" y="916"/>
                  </a:lnTo>
                  <a:close/>
                  <a:moveTo>
                    <a:pt x="6495" y="5047"/>
                  </a:moveTo>
                  <a:cubicBezTo>
                    <a:pt x="6522" y="5047"/>
                    <a:pt x="6549" y="5059"/>
                    <a:pt x="6573" y="5083"/>
                  </a:cubicBezTo>
                  <a:cubicBezTo>
                    <a:pt x="6609" y="5131"/>
                    <a:pt x="6609" y="5178"/>
                    <a:pt x="6573" y="5226"/>
                  </a:cubicBezTo>
                  <a:lnTo>
                    <a:pt x="4311" y="7488"/>
                  </a:lnTo>
                  <a:lnTo>
                    <a:pt x="3203" y="8595"/>
                  </a:lnTo>
                  <a:cubicBezTo>
                    <a:pt x="3180" y="8619"/>
                    <a:pt x="3153" y="8631"/>
                    <a:pt x="3127" y="8631"/>
                  </a:cubicBezTo>
                  <a:cubicBezTo>
                    <a:pt x="3102" y="8631"/>
                    <a:pt x="3078" y="8619"/>
                    <a:pt x="3060" y="8595"/>
                  </a:cubicBezTo>
                  <a:cubicBezTo>
                    <a:pt x="3013" y="8548"/>
                    <a:pt x="3013" y="8488"/>
                    <a:pt x="3060" y="8441"/>
                  </a:cubicBezTo>
                  <a:lnTo>
                    <a:pt x="6418" y="5083"/>
                  </a:lnTo>
                  <a:cubicBezTo>
                    <a:pt x="6442" y="5059"/>
                    <a:pt x="6469" y="5047"/>
                    <a:pt x="6495" y="5047"/>
                  </a:cubicBezTo>
                  <a:close/>
                  <a:moveTo>
                    <a:pt x="4430" y="7857"/>
                  </a:moveTo>
                  <a:lnTo>
                    <a:pt x="5346" y="8786"/>
                  </a:lnTo>
                  <a:lnTo>
                    <a:pt x="5001" y="9119"/>
                  </a:lnTo>
                  <a:lnTo>
                    <a:pt x="4989" y="9119"/>
                  </a:lnTo>
                  <a:lnTo>
                    <a:pt x="4084" y="8202"/>
                  </a:lnTo>
                  <a:lnTo>
                    <a:pt x="4430" y="7857"/>
                  </a:lnTo>
                  <a:close/>
                  <a:moveTo>
                    <a:pt x="3846" y="8429"/>
                  </a:moveTo>
                  <a:lnTo>
                    <a:pt x="4323" y="8905"/>
                  </a:lnTo>
                  <a:lnTo>
                    <a:pt x="3906" y="9322"/>
                  </a:lnTo>
                  <a:cubicBezTo>
                    <a:pt x="3894" y="9334"/>
                    <a:pt x="3858" y="9357"/>
                    <a:pt x="3846" y="9357"/>
                  </a:cubicBezTo>
                  <a:cubicBezTo>
                    <a:pt x="3834" y="9357"/>
                    <a:pt x="3811" y="9357"/>
                    <a:pt x="3787" y="9322"/>
                  </a:cubicBezTo>
                  <a:lnTo>
                    <a:pt x="3358" y="8905"/>
                  </a:lnTo>
                  <a:cubicBezTo>
                    <a:pt x="3382" y="8893"/>
                    <a:pt x="3394" y="8881"/>
                    <a:pt x="3430" y="8845"/>
                  </a:cubicBezTo>
                  <a:lnTo>
                    <a:pt x="3846" y="8429"/>
                  </a:lnTo>
                  <a:close/>
                  <a:moveTo>
                    <a:pt x="11322" y="1"/>
                  </a:moveTo>
                  <a:cubicBezTo>
                    <a:pt x="11295" y="1"/>
                    <a:pt x="11267" y="4"/>
                    <a:pt x="11240" y="11"/>
                  </a:cubicBezTo>
                  <a:cubicBezTo>
                    <a:pt x="10514" y="213"/>
                    <a:pt x="8394" y="844"/>
                    <a:pt x="7704" y="1035"/>
                  </a:cubicBezTo>
                  <a:cubicBezTo>
                    <a:pt x="7668" y="1047"/>
                    <a:pt x="7656" y="1059"/>
                    <a:pt x="7621" y="1083"/>
                  </a:cubicBezTo>
                  <a:lnTo>
                    <a:pt x="5263" y="3440"/>
                  </a:lnTo>
                  <a:lnTo>
                    <a:pt x="4203" y="3535"/>
                  </a:lnTo>
                  <a:cubicBezTo>
                    <a:pt x="2703" y="3654"/>
                    <a:pt x="1286" y="4321"/>
                    <a:pt x="227" y="5381"/>
                  </a:cubicBezTo>
                  <a:cubicBezTo>
                    <a:pt x="1" y="5595"/>
                    <a:pt x="143" y="5988"/>
                    <a:pt x="465" y="6024"/>
                  </a:cubicBezTo>
                  <a:lnTo>
                    <a:pt x="2525" y="6190"/>
                  </a:lnTo>
                  <a:lnTo>
                    <a:pt x="2310" y="6405"/>
                  </a:lnTo>
                  <a:cubicBezTo>
                    <a:pt x="2179" y="6536"/>
                    <a:pt x="2179" y="6750"/>
                    <a:pt x="2310" y="6881"/>
                  </a:cubicBezTo>
                  <a:lnTo>
                    <a:pt x="2525" y="7083"/>
                  </a:lnTo>
                  <a:lnTo>
                    <a:pt x="2108" y="7500"/>
                  </a:lnTo>
                  <a:cubicBezTo>
                    <a:pt x="1941" y="7667"/>
                    <a:pt x="1941" y="7941"/>
                    <a:pt x="2108" y="8095"/>
                  </a:cubicBezTo>
                  <a:lnTo>
                    <a:pt x="3561" y="9560"/>
                  </a:lnTo>
                  <a:cubicBezTo>
                    <a:pt x="3644" y="9643"/>
                    <a:pt x="3751" y="9685"/>
                    <a:pt x="3858" y="9685"/>
                  </a:cubicBezTo>
                  <a:cubicBezTo>
                    <a:pt x="3965" y="9685"/>
                    <a:pt x="4073" y="9643"/>
                    <a:pt x="4156" y="9560"/>
                  </a:cubicBezTo>
                  <a:lnTo>
                    <a:pt x="4573" y="9143"/>
                  </a:lnTo>
                  <a:lnTo>
                    <a:pt x="4763" y="9334"/>
                  </a:lnTo>
                  <a:cubicBezTo>
                    <a:pt x="4835" y="9399"/>
                    <a:pt x="4924" y="9432"/>
                    <a:pt x="5015" y="9432"/>
                  </a:cubicBezTo>
                  <a:cubicBezTo>
                    <a:pt x="5105" y="9432"/>
                    <a:pt x="5198" y="9399"/>
                    <a:pt x="5275" y="9334"/>
                  </a:cubicBezTo>
                  <a:lnTo>
                    <a:pt x="5477" y="9131"/>
                  </a:lnTo>
                  <a:lnTo>
                    <a:pt x="5656" y="11179"/>
                  </a:lnTo>
                  <a:cubicBezTo>
                    <a:pt x="5680" y="11334"/>
                    <a:pt x="5763" y="11453"/>
                    <a:pt x="5894" y="11500"/>
                  </a:cubicBezTo>
                  <a:cubicBezTo>
                    <a:pt x="5935" y="11511"/>
                    <a:pt x="5975" y="11516"/>
                    <a:pt x="6015" y="11516"/>
                  </a:cubicBezTo>
                  <a:cubicBezTo>
                    <a:pt x="6115" y="11516"/>
                    <a:pt x="6210" y="11482"/>
                    <a:pt x="6287" y="11405"/>
                  </a:cubicBezTo>
                  <a:cubicBezTo>
                    <a:pt x="6942" y="10750"/>
                    <a:pt x="7430" y="9977"/>
                    <a:pt x="7763" y="9119"/>
                  </a:cubicBezTo>
                  <a:cubicBezTo>
                    <a:pt x="7787" y="9024"/>
                    <a:pt x="7740" y="8941"/>
                    <a:pt x="7656" y="8893"/>
                  </a:cubicBezTo>
                  <a:cubicBezTo>
                    <a:pt x="7635" y="8885"/>
                    <a:pt x="7614" y="8881"/>
                    <a:pt x="7594" y="8881"/>
                  </a:cubicBezTo>
                  <a:cubicBezTo>
                    <a:pt x="7525" y="8881"/>
                    <a:pt x="7467" y="8926"/>
                    <a:pt x="7430" y="9000"/>
                  </a:cubicBezTo>
                  <a:cubicBezTo>
                    <a:pt x="7132" y="9810"/>
                    <a:pt x="6656" y="10560"/>
                    <a:pt x="6037" y="11167"/>
                  </a:cubicBezTo>
                  <a:cubicBezTo>
                    <a:pt x="6027" y="11172"/>
                    <a:pt x="6015" y="11175"/>
                    <a:pt x="6005" y="11175"/>
                  </a:cubicBezTo>
                  <a:cubicBezTo>
                    <a:pt x="5990" y="11175"/>
                    <a:pt x="5978" y="11169"/>
                    <a:pt x="5978" y="11155"/>
                  </a:cubicBezTo>
                  <a:lnTo>
                    <a:pt x="5763" y="8822"/>
                  </a:lnTo>
                  <a:lnTo>
                    <a:pt x="7835" y="6750"/>
                  </a:lnTo>
                  <a:lnTo>
                    <a:pt x="7835" y="6750"/>
                  </a:lnTo>
                  <a:cubicBezTo>
                    <a:pt x="7763" y="7583"/>
                    <a:pt x="7740" y="7810"/>
                    <a:pt x="7656" y="8238"/>
                  </a:cubicBezTo>
                  <a:cubicBezTo>
                    <a:pt x="7644" y="8322"/>
                    <a:pt x="7680" y="8417"/>
                    <a:pt x="7787" y="8441"/>
                  </a:cubicBezTo>
                  <a:cubicBezTo>
                    <a:pt x="7803" y="8445"/>
                    <a:pt x="7819" y="8447"/>
                    <a:pt x="7834" y="8447"/>
                  </a:cubicBezTo>
                  <a:cubicBezTo>
                    <a:pt x="7909" y="8447"/>
                    <a:pt x="7972" y="8399"/>
                    <a:pt x="8002" y="8310"/>
                  </a:cubicBezTo>
                  <a:cubicBezTo>
                    <a:pt x="8121" y="7786"/>
                    <a:pt x="8121" y="7548"/>
                    <a:pt x="8216" y="6393"/>
                  </a:cubicBezTo>
                  <a:lnTo>
                    <a:pt x="10585" y="4023"/>
                  </a:lnTo>
                  <a:cubicBezTo>
                    <a:pt x="10597" y="4011"/>
                    <a:pt x="10621" y="3976"/>
                    <a:pt x="10633" y="3952"/>
                  </a:cubicBezTo>
                  <a:lnTo>
                    <a:pt x="11109" y="2345"/>
                  </a:lnTo>
                  <a:lnTo>
                    <a:pt x="11669" y="404"/>
                  </a:lnTo>
                  <a:cubicBezTo>
                    <a:pt x="11711" y="193"/>
                    <a:pt x="11529" y="1"/>
                    <a:pt x="1132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949;p50">
              <a:extLst>
                <a:ext uri="{FF2B5EF4-FFF2-40B4-BE49-F238E27FC236}">
                  <a16:creationId xmlns:a16="http://schemas.microsoft.com/office/drawing/2014/main" id="{D177D536-76E9-F395-A6FD-52F76C0CE985}"/>
                </a:ext>
              </a:extLst>
            </p:cNvPr>
            <p:cNvSpPr/>
            <p:nvPr/>
          </p:nvSpPr>
          <p:spPr>
            <a:xfrm>
              <a:off x="1070396" y="2832057"/>
              <a:ext cx="90406" cy="69035"/>
            </a:xfrm>
            <a:custGeom>
              <a:avLst/>
              <a:gdLst/>
              <a:ahLst/>
              <a:cxnLst/>
              <a:rect l="l" t="t" r="r" b="b"/>
              <a:pathLst>
                <a:path w="2847" h="2174" extrusionOk="0">
                  <a:moveTo>
                    <a:pt x="1730" y="0"/>
                  </a:moveTo>
                  <a:cubicBezTo>
                    <a:pt x="1668" y="0"/>
                    <a:pt x="1610" y="44"/>
                    <a:pt x="1584" y="114"/>
                  </a:cubicBezTo>
                  <a:cubicBezTo>
                    <a:pt x="1537" y="197"/>
                    <a:pt x="1584" y="293"/>
                    <a:pt x="1668" y="328"/>
                  </a:cubicBezTo>
                  <a:cubicBezTo>
                    <a:pt x="2179" y="554"/>
                    <a:pt x="2299" y="1221"/>
                    <a:pt x="1906" y="1614"/>
                  </a:cubicBezTo>
                  <a:cubicBezTo>
                    <a:pt x="1751" y="1769"/>
                    <a:pt x="1551" y="1846"/>
                    <a:pt x="1350" y="1846"/>
                  </a:cubicBezTo>
                  <a:cubicBezTo>
                    <a:pt x="1150" y="1846"/>
                    <a:pt x="947" y="1769"/>
                    <a:pt x="786" y="1614"/>
                  </a:cubicBezTo>
                  <a:cubicBezTo>
                    <a:pt x="405" y="1221"/>
                    <a:pt x="525" y="566"/>
                    <a:pt x="1025" y="328"/>
                  </a:cubicBezTo>
                  <a:cubicBezTo>
                    <a:pt x="1120" y="293"/>
                    <a:pt x="1144" y="197"/>
                    <a:pt x="1120" y="114"/>
                  </a:cubicBezTo>
                  <a:cubicBezTo>
                    <a:pt x="1083" y="41"/>
                    <a:pt x="1019" y="10"/>
                    <a:pt x="954" y="10"/>
                  </a:cubicBezTo>
                  <a:cubicBezTo>
                    <a:pt x="934" y="10"/>
                    <a:pt x="913" y="13"/>
                    <a:pt x="894" y="19"/>
                  </a:cubicBezTo>
                  <a:cubicBezTo>
                    <a:pt x="179" y="352"/>
                    <a:pt x="1" y="1281"/>
                    <a:pt x="572" y="1852"/>
                  </a:cubicBezTo>
                  <a:cubicBezTo>
                    <a:pt x="786" y="2078"/>
                    <a:pt x="1072" y="2174"/>
                    <a:pt x="1370" y="2174"/>
                  </a:cubicBezTo>
                  <a:cubicBezTo>
                    <a:pt x="2334" y="2162"/>
                    <a:pt x="2846" y="947"/>
                    <a:pt x="2132" y="245"/>
                  </a:cubicBezTo>
                  <a:cubicBezTo>
                    <a:pt x="2037" y="150"/>
                    <a:pt x="1918" y="66"/>
                    <a:pt x="1798" y="19"/>
                  </a:cubicBezTo>
                  <a:cubicBezTo>
                    <a:pt x="1776" y="6"/>
                    <a:pt x="1753" y="0"/>
                    <a:pt x="17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CaixaDeTexto 46">
            <a:extLst>
              <a:ext uri="{FF2B5EF4-FFF2-40B4-BE49-F238E27FC236}">
                <a16:creationId xmlns:a16="http://schemas.microsoft.com/office/drawing/2014/main" id="{02812CA8-EA63-3CCD-30B3-0BC34964E3E0}"/>
              </a:ext>
            </a:extLst>
          </p:cNvPr>
          <p:cNvSpPr txBox="1"/>
          <p:nvPr/>
        </p:nvSpPr>
        <p:spPr>
          <a:xfrm>
            <a:off x="2506249" y="4170116"/>
            <a:ext cx="1498347" cy="307777"/>
          </a:xfrm>
          <a:prstGeom prst="rect">
            <a:avLst/>
          </a:prstGeom>
          <a:solidFill>
            <a:schemeClr val="accent5">
              <a:lumMod val="20000"/>
              <a:lumOff val="80000"/>
            </a:schemeClr>
          </a:solidFill>
        </p:spPr>
        <p:txBody>
          <a:bodyPr wrap="square" rtlCol="0">
            <a:spAutoFit/>
          </a:bodyPr>
          <a:lstStyle/>
          <a:p>
            <a:r>
              <a:rPr lang="pt-BR" sz="1400" b="1" dirty="0">
                <a:solidFill>
                  <a:srgbClr val="0B5892"/>
                </a:solidFill>
                <a:latin typeface="Arial" panose="020B0604020202020204" pitchFamily="34" charset="0"/>
                <a:cs typeface="Arial" panose="020B0604020202020204" pitchFamily="34" charset="0"/>
              </a:rPr>
              <a:t>Ofensores</a:t>
            </a:r>
          </a:p>
        </p:txBody>
      </p:sp>
      <p:sp>
        <p:nvSpPr>
          <p:cNvPr id="64" name="Retângulo: Cantos Arredondados 63">
            <a:extLst>
              <a:ext uri="{FF2B5EF4-FFF2-40B4-BE49-F238E27FC236}">
                <a16:creationId xmlns:a16="http://schemas.microsoft.com/office/drawing/2014/main" id="{39A916A8-ED18-E9CA-B076-453BF223B9EA}"/>
              </a:ext>
            </a:extLst>
          </p:cNvPr>
          <p:cNvSpPr/>
          <p:nvPr/>
        </p:nvSpPr>
        <p:spPr>
          <a:xfrm>
            <a:off x="6141287" y="4011278"/>
            <a:ext cx="4323525" cy="2296924"/>
          </a:xfrm>
          <a:prstGeom prst="roundRect">
            <a:avLst/>
          </a:prstGeom>
          <a:solidFill>
            <a:schemeClr val="bg1">
              <a:lumMod val="95000"/>
            </a:schemeClr>
          </a:solidFill>
          <a:ln>
            <a:noFill/>
          </a:ln>
          <a:effectLst>
            <a:outerShdw dist="101600" dir="10740000" algn="t" rotWithShape="0">
              <a:srgbClr val="0B5892"/>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74" name="Google Shape;1944;p50">
            <a:extLst>
              <a:ext uri="{FF2B5EF4-FFF2-40B4-BE49-F238E27FC236}">
                <a16:creationId xmlns:a16="http://schemas.microsoft.com/office/drawing/2014/main" id="{59EDF763-758A-2371-6E32-98982F0F574A}"/>
              </a:ext>
            </a:extLst>
          </p:cNvPr>
          <p:cNvGrpSpPr/>
          <p:nvPr/>
        </p:nvGrpSpPr>
        <p:grpSpPr>
          <a:xfrm rot="10417960">
            <a:off x="6312026" y="4217160"/>
            <a:ext cx="476316" cy="468384"/>
            <a:chOff x="860940" y="2746477"/>
            <a:chExt cx="371883" cy="365691"/>
          </a:xfrm>
          <a:solidFill>
            <a:srgbClr val="0B5892"/>
          </a:solidFill>
        </p:grpSpPr>
        <p:sp>
          <p:nvSpPr>
            <p:cNvPr id="83" name="Google Shape;1945;p50">
              <a:extLst>
                <a:ext uri="{FF2B5EF4-FFF2-40B4-BE49-F238E27FC236}">
                  <a16:creationId xmlns:a16="http://schemas.microsoft.com/office/drawing/2014/main" id="{AA1CBBAA-CC43-4D15-6A81-F1E8FB5016C8}"/>
                </a:ext>
              </a:extLst>
            </p:cNvPr>
            <p:cNvSpPr/>
            <p:nvPr/>
          </p:nvSpPr>
          <p:spPr>
            <a:xfrm>
              <a:off x="908191" y="3026302"/>
              <a:ext cx="30294" cy="28961"/>
            </a:xfrm>
            <a:custGeom>
              <a:avLst/>
              <a:gdLst/>
              <a:ahLst/>
              <a:cxnLst/>
              <a:rect l="l" t="t" r="r" b="b"/>
              <a:pathLst>
                <a:path w="954" h="912" extrusionOk="0">
                  <a:moveTo>
                    <a:pt x="763" y="1"/>
                  </a:moveTo>
                  <a:cubicBezTo>
                    <a:pt x="718" y="1"/>
                    <a:pt x="674" y="16"/>
                    <a:pt x="644" y="45"/>
                  </a:cubicBezTo>
                  <a:lnTo>
                    <a:pt x="60" y="629"/>
                  </a:lnTo>
                  <a:cubicBezTo>
                    <a:pt x="1" y="688"/>
                    <a:pt x="1" y="807"/>
                    <a:pt x="60" y="867"/>
                  </a:cubicBezTo>
                  <a:cubicBezTo>
                    <a:pt x="90" y="897"/>
                    <a:pt x="135" y="911"/>
                    <a:pt x="179" y="911"/>
                  </a:cubicBezTo>
                  <a:cubicBezTo>
                    <a:pt x="224" y="911"/>
                    <a:pt x="269" y="897"/>
                    <a:pt x="299" y="867"/>
                  </a:cubicBezTo>
                  <a:lnTo>
                    <a:pt x="882" y="283"/>
                  </a:lnTo>
                  <a:cubicBezTo>
                    <a:pt x="953" y="224"/>
                    <a:pt x="953" y="105"/>
                    <a:pt x="882" y="45"/>
                  </a:cubicBezTo>
                  <a:cubicBezTo>
                    <a:pt x="852" y="16"/>
                    <a:pt x="807" y="1"/>
                    <a:pt x="76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946;p50">
              <a:extLst>
                <a:ext uri="{FF2B5EF4-FFF2-40B4-BE49-F238E27FC236}">
                  <a16:creationId xmlns:a16="http://schemas.microsoft.com/office/drawing/2014/main" id="{47E09FDC-6510-0AC9-5C1D-10E381B97459}"/>
                </a:ext>
              </a:extLst>
            </p:cNvPr>
            <p:cNvSpPr/>
            <p:nvPr/>
          </p:nvSpPr>
          <p:spPr>
            <a:xfrm>
              <a:off x="943757" y="3061836"/>
              <a:ext cx="30263" cy="28961"/>
            </a:xfrm>
            <a:custGeom>
              <a:avLst/>
              <a:gdLst/>
              <a:ahLst/>
              <a:cxnLst/>
              <a:rect l="l" t="t" r="r" b="b"/>
              <a:pathLst>
                <a:path w="953" h="912" extrusionOk="0">
                  <a:moveTo>
                    <a:pt x="762" y="1"/>
                  </a:moveTo>
                  <a:cubicBezTo>
                    <a:pt x="717" y="1"/>
                    <a:pt x="673" y="16"/>
                    <a:pt x="643" y="46"/>
                  </a:cubicBezTo>
                  <a:lnTo>
                    <a:pt x="60" y="629"/>
                  </a:lnTo>
                  <a:cubicBezTo>
                    <a:pt x="0" y="688"/>
                    <a:pt x="0" y="807"/>
                    <a:pt x="60" y="867"/>
                  </a:cubicBezTo>
                  <a:cubicBezTo>
                    <a:pt x="89" y="897"/>
                    <a:pt x="134" y="912"/>
                    <a:pt x="179" y="912"/>
                  </a:cubicBezTo>
                  <a:cubicBezTo>
                    <a:pt x="223" y="912"/>
                    <a:pt x="268" y="897"/>
                    <a:pt x="298" y="867"/>
                  </a:cubicBezTo>
                  <a:lnTo>
                    <a:pt x="881" y="284"/>
                  </a:lnTo>
                  <a:cubicBezTo>
                    <a:pt x="953" y="224"/>
                    <a:pt x="953" y="105"/>
                    <a:pt x="881" y="46"/>
                  </a:cubicBezTo>
                  <a:cubicBezTo>
                    <a:pt x="851" y="16"/>
                    <a:pt x="807" y="1"/>
                    <a:pt x="7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947;p50">
              <a:extLst>
                <a:ext uri="{FF2B5EF4-FFF2-40B4-BE49-F238E27FC236}">
                  <a16:creationId xmlns:a16="http://schemas.microsoft.com/office/drawing/2014/main" id="{0F9606EB-C09F-2245-A59D-347E1FF8DD2D}"/>
                </a:ext>
              </a:extLst>
            </p:cNvPr>
            <p:cNvSpPr/>
            <p:nvPr/>
          </p:nvSpPr>
          <p:spPr>
            <a:xfrm>
              <a:off x="926355" y="3044085"/>
              <a:ext cx="29881" cy="28579"/>
            </a:xfrm>
            <a:custGeom>
              <a:avLst/>
              <a:gdLst/>
              <a:ahLst/>
              <a:cxnLst/>
              <a:rect l="l" t="t" r="r" b="b"/>
              <a:pathLst>
                <a:path w="941" h="900" extrusionOk="0">
                  <a:moveTo>
                    <a:pt x="762" y="0"/>
                  </a:moveTo>
                  <a:cubicBezTo>
                    <a:pt x="718" y="0"/>
                    <a:pt x="673" y="15"/>
                    <a:pt x="643" y="45"/>
                  </a:cubicBezTo>
                  <a:lnTo>
                    <a:pt x="60" y="616"/>
                  </a:lnTo>
                  <a:cubicBezTo>
                    <a:pt x="0" y="676"/>
                    <a:pt x="0" y="795"/>
                    <a:pt x="60" y="855"/>
                  </a:cubicBezTo>
                  <a:cubicBezTo>
                    <a:pt x="90" y="884"/>
                    <a:pt x="134" y="899"/>
                    <a:pt x="179" y="899"/>
                  </a:cubicBezTo>
                  <a:cubicBezTo>
                    <a:pt x="224" y="899"/>
                    <a:pt x="268" y="884"/>
                    <a:pt x="298" y="855"/>
                  </a:cubicBezTo>
                  <a:lnTo>
                    <a:pt x="881" y="283"/>
                  </a:lnTo>
                  <a:cubicBezTo>
                    <a:pt x="941" y="224"/>
                    <a:pt x="941" y="116"/>
                    <a:pt x="881" y="45"/>
                  </a:cubicBezTo>
                  <a:cubicBezTo>
                    <a:pt x="852" y="15"/>
                    <a:pt x="807" y="0"/>
                    <a:pt x="76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948;p50">
              <a:extLst>
                <a:ext uri="{FF2B5EF4-FFF2-40B4-BE49-F238E27FC236}">
                  <a16:creationId xmlns:a16="http://schemas.microsoft.com/office/drawing/2014/main" id="{974C7CD0-3D42-3984-E986-A11195F86E9E}"/>
                </a:ext>
              </a:extLst>
            </p:cNvPr>
            <p:cNvSpPr/>
            <p:nvPr/>
          </p:nvSpPr>
          <p:spPr>
            <a:xfrm>
              <a:off x="860940" y="2746477"/>
              <a:ext cx="371883" cy="365691"/>
            </a:xfrm>
            <a:custGeom>
              <a:avLst/>
              <a:gdLst/>
              <a:ahLst/>
              <a:cxnLst/>
              <a:rect l="l" t="t" r="r" b="b"/>
              <a:pathLst>
                <a:path w="11711" h="11516" extrusionOk="0">
                  <a:moveTo>
                    <a:pt x="11312" y="344"/>
                  </a:moveTo>
                  <a:lnTo>
                    <a:pt x="10835" y="1987"/>
                  </a:lnTo>
                  <a:lnTo>
                    <a:pt x="9680" y="821"/>
                  </a:lnTo>
                  <a:lnTo>
                    <a:pt x="11312" y="344"/>
                  </a:lnTo>
                  <a:close/>
                  <a:moveTo>
                    <a:pt x="4882" y="3821"/>
                  </a:moveTo>
                  <a:lnTo>
                    <a:pt x="2822" y="5881"/>
                  </a:lnTo>
                  <a:lnTo>
                    <a:pt x="477" y="5690"/>
                  </a:lnTo>
                  <a:cubicBezTo>
                    <a:pt x="453" y="5690"/>
                    <a:pt x="429" y="5643"/>
                    <a:pt x="465" y="5631"/>
                  </a:cubicBezTo>
                  <a:cubicBezTo>
                    <a:pt x="1477" y="4619"/>
                    <a:pt x="2822" y="4000"/>
                    <a:pt x="4227" y="3881"/>
                  </a:cubicBezTo>
                  <a:lnTo>
                    <a:pt x="4882" y="3821"/>
                  </a:lnTo>
                  <a:close/>
                  <a:moveTo>
                    <a:pt x="2894" y="6297"/>
                  </a:moveTo>
                  <a:lnTo>
                    <a:pt x="3811" y="7226"/>
                  </a:lnTo>
                  <a:lnTo>
                    <a:pt x="3477" y="7571"/>
                  </a:lnTo>
                  <a:lnTo>
                    <a:pt x="2549" y="6643"/>
                  </a:lnTo>
                  <a:lnTo>
                    <a:pt x="2894" y="6297"/>
                  </a:lnTo>
                  <a:close/>
                  <a:moveTo>
                    <a:pt x="2727" y="7333"/>
                  </a:moveTo>
                  <a:lnTo>
                    <a:pt x="3203" y="7810"/>
                  </a:lnTo>
                  <a:lnTo>
                    <a:pt x="2799" y="8226"/>
                  </a:lnTo>
                  <a:cubicBezTo>
                    <a:pt x="2787" y="8238"/>
                    <a:pt x="2763" y="8262"/>
                    <a:pt x="2739" y="8298"/>
                  </a:cubicBezTo>
                  <a:lnTo>
                    <a:pt x="2310" y="7869"/>
                  </a:lnTo>
                  <a:cubicBezTo>
                    <a:pt x="2287" y="7833"/>
                    <a:pt x="2287" y="7774"/>
                    <a:pt x="2310" y="7750"/>
                  </a:cubicBezTo>
                  <a:lnTo>
                    <a:pt x="2727" y="7333"/>
                  </a:lnTo>
                  <a:close/>
                  <a:moveTo>
                    <a:pt x="9311" y="916"/>
                  </a:moveTo>
                  <a:lnTo>
                    <a:pt x="10740" y="2345"/>
                  </a:lnTo>
                  <a:lnTo>
                    <a:pt x="10299" y="3821"/>
                  </a:lnTo>
                  <a:lnTo>
                    <a:pt x="5597" y="8524"/>
                  </a:lnTo>
                  <a:lnTo>
                    <a:pt x="4680" y="7595"/>
                  </a:lnTo>
                  <a:lnTo>
                    <a:pt x="6823" y="5452"/>
                  </a:lnTo>
                  <a:cubicBezTo>
                    <a:pt x="6966" y="5309"/>
                    <a:pt x="7001" y="5035"/>
                    <a:pt x="6811" y="4833"/>
                  </a:cubicBezTo>
                  <a:cubicBezTo>
                    <a:pt x="6728" y="4750"/>
                    <a:pt x="6617" y="4708"/>
                    <a:pt x="6506" y="4708"/>
                  </a:cubicBezTo>
                  <a:cubicBezTo>
                    <a:pt x="6394" y="4708"/>
                    <a:pt x="6281" y="4750"/>
                    <a:pt x="6192" y="4833"/>
                  </a:cubicBezTo>
                  <a:lnTo>
                    <a:pt x="4049" y="6976"/>
                  </a:lnTo>
                  <a:lnTo>
                    <a:pt x="3132" y="6047"/>
                  </a:lnTo>
                  <a:lnTo>
                    <a:pt x="7835" y="1344"/>
                  </a:lnTo>
                  <a:lnTo>
                    <a:pt x="9311" y="916"/>
                  </a:lnTo>
                  <a:close/>
                  <a:moveTo>
                    <a:pt x="6495" y="5047"/>
                  </a:moveTo>
                  <a:cubicBezTo>
                    <a:pt x="6522" y="5047"/>
                    <a:pt x="6549" y="5059"/>
                    <a:pt x="6573" y="5083"/>
                  </a:cubicBezTo>
                  <a:cubicBezTo>
                    <a:pt x="6609" y="5131"/>
                    <a:pt x="6609" y="5178"/>
                    <a:pt x="6573" y="5226"/>
                  </a:cubicBezTo>
                  <a:lnTo>
                    <a:pt x="4311" y="7488"/>
                  </a:lnTo>
                  <a:lnTo>
                    <a:pt x="3203" y="8595"/>
                  </a:lnTo>
                  <a:cubicBezTo>
                    <a:pt x="3180" y="8619"/>
                    <a:pt x="3153" y="8631"/>
                    <a:pt x="3127" y="8631"/>
                  </a:cubicBezTo>
                  <a:cubicBezTo>
                    <a:pt x="3102" y="8631"/>
                    <a:pt x="3078" y="8619"/>
                    <a:pt x="3060" y="8595"/>
                  </a:cubicBezTo>
                  <a:cubicBezTo>
                    <a:pt x="3013" y="8548"/>
                    <a:pt x="3013" y="8488"/>
                    <a:pt x="3060" y="8441"/>
                  </a:cubicBezTo>
                  <a:lnTo>
                    <a:pt x="6418" y="5083"/>
                  </a:lnTo>
                  <a:cubicBezTo>
                    <a:pt x="6442" y="5059"/>
                    <a:pt x="6469" y="5047"/>
                    <a:pt x="6495" y="5047"/>
                  </a:cubicBezTo>
                  <a:close/>
                  <a:moveTo>
                    <a:pt x="4430" y="7857"/>
                  </a:moveTo>
                  <a:lnTo>
                    <a:pt x="5346" y="8786"/>
                  </a:lnTo>
                  <a:lnTo>
                    <a:pt x="5001" y="9119"/>
                  </a:lnTo>
                  <a:lnTo>
                    <a:pt x="4989" y="9119"/>
                  </a:lnTo>
                  <a:lnTo>
                    <a:pt x="4084" y="8202"/>
                  </a:lnTo>
                  <a:lnTo>
                    <a:pt x="4430" y="7857"/>
                  </a:lnTo>
                  <a:close/>
                  <a:moveTo>
                    <a:pt x="3846" y="8429"/>
                  </a:moveTo>
                  <a:lnTo>
                    <a:pt x="4323" y="8905"/>
                  </a:lnTo>
                  <a:lnTo>
                    <a:pt x="3906" y="9322"/>
                  </a:lnTo>
                  <a:cubicBezTo>
                    <a:pt x="3894" y="9334"/>
                    <a:pt x="3858" y="9357"/>
                    <a:pt x="3846" y="9357"/>
                  </a:cubicBezTo>
                  <a:cubicBezTo>
                    <a:pt x="3834" y="9357"/>
                    <a:pt x="3811" y="9357"/>
                    <a:pt x="3787" y="9322"/>
                  </a:cubicBezTo>
                  <a:lnTo>
                    <a:pt x="3358" y="8905"/>
                  </a:lnTo>
                  <a:cubicBezTo>
                    <a:pt x="3382" y="8893"/>
                    <a:pt x="3394" y="8881"/>
                    <a:pt x="3430" y="8845"/>
                  </a:cubicBezTo>
                  <a:lnTo>
                    <a:pt x="3846" y="8429"/>
                  </a:lnTo>
                  <a:close/>
                  <a:moveTo>
                    <a:pt x="11322" y="1"/>
                  </a:moveTo>
                  <a:cubicBezTo>
                    <a:pt x="11295" y="1"/>
                    <a:pt x="11267" y="4"/>
                    <a:pt x="11240" y="11"/>
                  </a:cubicBezTo>
                  <a:cubicBezTo>
                    <a:pt x="10514" y="213"/>
                    <a:pt x="8394" y="844"/>
                    <a:pt x="7704" y="1035"/>
                  </a:cubicBezTo>
                  <a:cubicBezTo>
                    <a:pt x="7668" y="1047"/>
                    <a:pt x="7656" y="1059"/>
                    <a:pt x="7621" y="1083"/>
                  </a:cubicBezTo>
                  <a:lnTo>
                    <a:pt x="5263" y="3440"/>
                  </a:lnTo>
                  <a:lnTo>
                    <a:pt x="4203" y="3535"/>
                  </a:lnTo>
                  <a:cubicBezTo>
                    <a:pt x="2703" y="3654"/>
                    <a:pt x="1286" y="4321"/>
                    <a:pt x="227" y="5381"/>
                  </a:cubicBezTo>
                  <a:cubicBezTo>
                    <a:pt x="1" y="5595"/>
                    <a:pt x="143" y="5988"/>
                    <a:pt x="465" y="6024"/>
                  </a:cubicBezTo>
                  <a:lnTo>
                    <a:pt x="2525" y="6190"/>
                  </a:lnTo>
                  <a:lnTo>
                    <a:pt x="2310" y="6405"/>
                  </a:lnTo>
                  <a:cubicBezTo>
                    <a:pt x="2179" y="6536"/>
                    <a:pt x="2179" y="6750"/>
                    <a:pt x="2310" y="6881"/>
                  </a:cubicBezTo>
                  <a:lnTo>
                    <a:pt x="2525" y="7083"/>
                  </a:lnTo>
                  <a:lnTo>
                    <a:pt x="2108" y="7500"/>
                  </a:lnTo>
                  <a:cubicBezTo>
                    <a:pt x="1941" y="7667"/>
                    <a:pt x="1941" y="7941"/>
                    <a:pt x="2108" y="8095"/>
                  </a:cubicBezTo>
                  <a:lnTo>
                    <a:pt x="3561" y="9560"/>
                  </a:lnTo>
                  <a:cubicBezTo>
                    <a:pt x="3644" y="9643"/>
                    <a:pt x="3751" y="9685"/>
                    <a:pt x="3858" y="9685"/>
                  </a:cubicBezTo>
                  <a:cubicBezTo>
                    <a:pt x="3965" y="9685"/>
                    <a:pt x="4073" y="9643"/>
                    <a:pt x="4156" y="9560"/>
                  </a:cubicBezTo>
                  <a:lnTo>
                    <a:pt x="4573" y="9143"/>
                  </a:lnTo>
                  <a:lnTo>
                    <a:pt x="4763" y="9334"/>
                  </a:lnTo>
                  <a:cubicBezTo>
                    <a:pt x="4835" y="9399"/>
                    <a:pt x="4924" y="9432"/>
                    <a:pt x="5015" y="9432"/>
                  </a:cubicBezTo>
                  <a:cubicBezTo>
                    <a:pt x="5105" y="9432"/>
                    <a:pt x="5198" y="9399"/>
                    <a:pt x="5275" y="9334"/>
                  </a:cubicBezTo>
                  <a:lnTo>
                    <a:pt x="5477" y="9131"/>
                  </a:lnTo>
                  <a:lnTo>
                    <a:pt x="5656" y="11179"/>
                  </a:lnTo>
                  <a:cubicBezTo>
                    <a:pt x="5680" y="11334"/>
                    <a:pt x="5763" y="11453"/>
                    <a:pt x="5894" y="11500"/>
                  </a:cubicBezTo>
                  <a:cubicBezTo>
                    <a:pt x="5935" y="11511"/>
                    <a:pt x="5975" y="11516"/>
                    <a:pt x="6015" y="11516"/>
                  </a:cubicBezTo>
                  <a:cubicBezTo>
                    <a:pt x="6115" y="11516"/>
                    <a:pt x="6210" y="11482"/>
                    <a:pt x="6287" y="11405"/>
                  </a:cubicBezTo>
                  <a:cubicBezTo>
                    <a:pt x="6942" y="10750"/>
                    <a:pt x="7430" y="9977"/>
                    <a:pt x="7763" y="9119"/>
                  </a:cubicBezTo>
                  <a:cubicBezTo>
                    <a:pt x="7787" y="9024"/>
                    <a:pt x="7740" y="8941"/>
                    <a:pt x="7656" y="8893"/>
                  </a:cubicBezTo>
                  <a:cubicBezTo>
                    <a:pt x="7635" y="8885"/>
                    <a:pt x="7614" y="8881"/>
                    <a:pt x="7594" y="8881"/>
                  </a:cubicBezTo>
                  <a:cubicBezTo>
                    <a:pt x="7525" y="8881"/>
                    <a:pt x="7467" y="8926"/>
                    <a:pt x="7430" y="9000"/>
                  </a:cubicBezTo>
                  <a:cubicBezTo>
                    <a:pt x="7132" y="9810"/>
                    <a:pt x="6656" y="10560"/>
                    <a:pt x="6037" y="11167"/>
                  </a:cubicBezTo>
                  <a:cubicBezTo>
                    <a:pt x="6027" y="11172"/>
                    <a:pt x="6015" y="11175"/>
                    <a:pt x="6005" y="11175"/>
                  </a:cubicBezTo>
                  <a:cubicBezTo>
                    <a:pt x="5990" y="11175"/>
                    <a:pt x="5978" y="11169"/>
                    <a:pt x="5978" y="11155"/>
                  </a:cubicBezTo>
                  <a:lnTo>
                    <a:pt x="5763" y="8822"/>
                  </a:lnTo>
                  <a:lnTo>
                    <a:pt x="7835" y="6750"/>
                  </a:lnTo>
                  <a:lnTo>
                    <a:pt x="7835" y="6750"/>
                  </a:lnTo>
                  <a:cubicBezTo>
                    <a:pt x="7763" y="7583"/>
                    <a:pt x="7740" y="7810"/>
                    <a:pt x="7656" y="8238"/>
                  </a:cubicBezTo>
                  <a:cubicBezTo>
                    <a:pt x="7644" y="8322"/>
                    <a:pt x="7680" y="8417"/>
                    <a:pt x="7787" y="8441"/>
                  </a:cubicBezTo>
                  <a:cubicBezTo>
                    <a:pt x="7803" y="8445"/>
                    <a:pt x="7819" y="8447"/>
                    <a:pt x="7834" y="8447"/>
                  </a:cubicBezTo>
                  <a:cubicBezTo>
                    <a:pt x="7909" y="8447"/>
                    <a:pt x="7972" y="8399"/>
                    <a:pt x="8002" y="8310"/>
                  </a:cubicBezTo>
                  <a:cubicBezTo>
                    <a:pt x="8121" y="7786"/>
                    <a:pt x="8121" y="7548"/>
                    <a:pt x="8216" y="6393"/>
                  </a:cubicBezTo>
                  <a:lnTo>
                    <a:pt x="10585" y="4023"/>
                  </a:lnTo>
                  <a:cubicBezTo>
                    <a:pt x="10597" y="4011"/>
                    <a:pt x="10621" y="3976"/>
                    <a:pt x="10633" y="3952"/>
                  </a:cubicBezTo>
                  <a:lnTo>
                    <a:pt x="11109" y="2345"/>
                  </a:lnTo>
                  <a:lnTo>
                    <a:pt x="11669" y="404"/>
                  </a:lnTo>
                  <a:cubicBezTo>
                    <a:pt x="11711" y="193"/>
                    <a:pt x="11529" y="1"/>
                    <a:pt x="1132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949;p50">
              <a:extLst>
                <a:ext uri="{FF2B5EF4-FFF2-40B4-BE49-F238E27FC236}">
                  <a16:creationId xmlns:a16="http://schemas.microsoft.com/office/drawing/2014/main" id="{016806B0-155D-A6D8-5BE3-DAF8003365DF}"/>
                </a:ext>
              </a:extLst>
            </p:cNvPr>
            <p:cNvSpPr/>
            <p:nvPr/>
          </p:nvSpPr>
          <p:spPr>
            <a:xfrm>
              <a:off x="1070396" y="2832057"/>
              <a:ext cx="90406" cy="69035"/>
            </a:xfrm>
            <a:custGeom>
              <a:avLst/>
              <a:gdLst/>
              <a:ahLst/>
              <a:cxnLst/>
              <a:rect l="l" t="t" r="r" b="b"/>
              <a:pathLst>
                <a:path w="2847" h="2174" extrusionOk="0">
                  <a:moveTo>
                    <a:pt x="1730" y="0"/>
                  </a:moveTo>
                  <a:cubicBezTo>
                    <a:pt x="1668" y="0"/>
                    <a:pt x="1610" y="44"/>
                    <a:pt x="1584" y="114"/>
                  </a:cubicBezTo>
                  <a:cubicBezTo>
                    <a:pt x="1537" y="197"/>
                    <a:pt x="1584" y="293"/>
                    <a:pt x="1668" y="328"/>
                  </a:cubicBezTo>
                  <a:cubicBezTo>
                    <a:pt x="2179" y="554"/>
                    <a:pt x="2299" y="1221"/>
                    <a:pt x="1906" y="1614"/>
                  </a:cubicBezTo>
                  <a:cubicBezTo>
                    <a:pt x="1751" y="1769"/>
                    <a:pt x="1551" y="1846"/>
                    <a:pt x="1350" y="1846"/>
                  </a:cubicBezTo>
                  <a:cubicBezTo>
                    <a:pt x="1150" y="1846"/>
                    <a:pt x="947" y="1769"/>
                    <a:pt x="786" y="1614"/>
                  </a:cubicBezTo>
                  <a:cubicBezTo>
                    <a:pt x="405" y="1221"/>
                    <a:pt x="525" y="566"/>
                    <a:pt x="1025" y="328"/>
                  </a:cubicBezTo>
                  <a:cubicBezTo>
                    <a:pt x="1120" y="293"/>
                    <a:pt x="1144" y="197"/>
                    <a:pt x="1120" y="114"/>
                  </a:cubicBezTo>
                  <a:cubicBezTo>
                    <a:pt x="1083" y="41"/>
                    <a:pt x="1019" y="10"/>
                    <a:pt x="954" y="10"/>
                  </a:cubicBezTo>
                  <a:cubicBezTo>
                    <a:pt x="934" y="10"/>
                    <a:pt x="913" y="13"/>
                    <a:pt x="894" y="19"/>
                  </a:cubicBezTo>
                  <a:cubicBezTo>
                    <a:pt x="179" y="352"/>
                    <a:pt x="1" y="1281"/>
                    <a:pt x="572" y="1852"/>
                  </a:cubicBezTo>
                  <a:cubicBezTo>
                    <a:pt x="786" y="2078"/>
                    <a:pt x="1072" y="2174"/>
                    <a:pt x="1370" y="2174"/>
                  </a:cubicBezTo>
                  <a:cubicBezTo>
                    <a:pt x="2334" y="2162"/>
                    <a:pt x="2846" y="947"/>
                    <a:pt x="2132" y="245"/>
                  </a:cubicBezTo>
                  <a:cubicBezTo>
                    <a:pt x="2037" y="150"/>
                    <a:pt x="1918" y="66"/>
                    <a:pt x="1798" y="19"/>
                  </a:cubicBezTo>
                  <a:cubicBezTo>
                    <a:pt x="1776" y="6"/>
                    <a:pt x="1753" y="0"/>
                    <a:pt x="17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CaixaDeTexto 87">
            <a:extLst>
              <a:ext uri="{FF2B5EF4-FFF2-40B4-BE49-F238E27FC236}">
                <a16:creationId xmlns:a16="http://schemas.microsoft.com/office/drawing/2014/main" id="{2EEDF671-61B3-D102-267B-4619E8426E5B}"/>
              </a:ext>
            </a:extLst>
          </p:cNvPr>
          <p:cNvSpPr txBox="1"/>
          <p:nvPr/>
        </p:nvSpPr>
        <p:spPr>
          <a:xfrm>
            <a:off x="6829774" y="4181798"/>
            <a:ext cx="1498347" cy="307777"/>
          </a:xfrm>
          <a:prstGeom prst="rect">
            <a:avLst/>
          </a:prstGeom>
          <a:solidFill>
            <a:schemeClr val="accent5">
              <a:lumMod val="20000"/>
              <a:lumOff val="80000"/>
            </a:schemeClr>
          </a:solidFill>
        </p:spPr>
        <p:txBody>
          <a:bodyPr wrap="square" rtlCol="0">
            <a:spAutoFit/>
          </a:bodyPr>
          <a:lstStyle/>
          <a:p>
            <a:r>
              <a:rPr lang="pt-BR" sz="1400" b="1" dirty="0">
                <a:solidFill>
                  <a:srgbClr val="0B5892"/>
                </a:solidFill>
                <a:latin typeface="Arial" panose="020B0604020202020204" pitchFamily="34" charset="0"/>
                <a:cs typeface="Arial" panose="020B0604020202020204" pitchFamily="34" charset="0"/>
              </a:rPr>
              <a:t>Ofensores</a:t>
            </a:r>
          </a:p>
        </p:txBody>
      </p:sp>
      <p:sp>
        <p:nvSpPr>
          <p:cNvPr id="95" name="CaixaDeTexto 94">
            <a:extLst>
              <a:ext uri="{FF2B5EF4-FFF2-40B4-BE49-F238E27FC236}">
                <a16:creationId xmlns:a16="http://schemas.microsoft.com/office/drawing/2014/main" id="{FD3F3826-F5A1-A4BB-FB25-1B0B41D173DF}"/>
              </a:ext>
            </a:extLst>
          </p:cNvPr>
          <p:cNvSpPr txBox="1"/>
          <p:nvPr/>
        </p:nvSpPr>
        <p:spPr>
          <a:xfrm>
            <a:off x="6812846" y="4568326"/>
            <a:ext cx="3104740" cy="307777"/>
          </a:xfrm>
          <a:prstGeom prst="rect">
            <a:avLst/>
          </a:prstGeom>
          <a:noFill/>
        </p:spPr>
        <p:txBody>
          <a:bodyPr wrap="square" rtlCol="0">
            <a:spAutoFit/>
          </a:bodyPr>
          <a:lstStyle/>
          <a:p>
            <a:r>
              <a:rPr lang="pt-BR" sz="1400" dirty="0" err="1">
                <a:solidFill>
                  <a:srgbClr val="0B5892"/>
                </a:solidFill>
                <a:latin typeface="Arial" panose="020B0604020202020204" pitchFamily="34" charset="0"/>
                <a:cs typeface="Arial" panose="020B0604020202020204" pitchFamily="34" charset="0"/>
              </a:rPr>
              <a:t>Konny</a:t>
            </a:r>
            <a:r>
              <a:rPr lang="pt-BR" sz="1400" dirty="0">
                <a:solidFill>
                  <a:srgbClr val="0B5892"/>
                </a:solidFill>
                <a:latin typeface="Arial" panose="020B0604020202020204" pitchFamily="34" charset="0"/>
                <a:cs typeface="Arial" panose="020B0604020202020204" pitchFamily="34" charset="0"/>
              </a:rPr>
              <a:t> Mafra</a:t>
            </a:r>
          </a:p>
        </p:txBody>
      </p:sp>
      <p:sp>
        <p:nvSpPr>
          <p:cNvPr id="98" name="CaixaDeTexto 97">
            <a:extLst>
              <a:ext uri="{FF2B5EF4-FFF2-40B4-BE49-F238E27FC236}">
                <a16:creationId xmlns:a16="http://schemas.microsoft.com/office/drawing/2014/main" id="{4EC56CC6-53D1-506A-B2B7-E8D337A8B33B}"/>
              </a:ext>
            </a:extLst>
          </p:cNvPr>
          <p:cNvSpPr txBox="1"/>
          <p:nvPr/>
        </p:nvSpPr>
        <p:spPr>
          <a:xfrm>
            <a:off x="1431436" y="1336969"/>
            <a:ext cx="6064238" cy="307777"/>
          </a:xfrm>
          <a:prstGeom prst="rect">
            <a:avLst/>
          </a:prstGeom>
          <a:noFill/>
        </p:spPr>
        <p:txBody>
          <a:bodyPr wrap="square" rtlCol="0">
            <a:spAutoFit/>
          </a:bodyPr>
          <a:lstStyle/>
          <a:p>
            <a:r>
              <a:rPr lang="pt-BR" sz="1400" b="1" dirty="0">
                <a:solidFill>
                  <a:schemeClr val="tx1">
                    <a:lumMod val="50000"/>
                    <a:lumOff val="50000"/>
                  </a:schemeClr>
                </a:solidFill>
                <a:latin typeface="Arial" panose="020B0604020202020204" pitchFamily="34" charset="0"/>
                <a:cs typeface="Arial" panose="020B0604020202020204" pitchFamily="34" charset="0"/>
              </a:rPr>
              <a:t>Análises do Perfil dos Ofensores</a:t>
            </a:r>
          </a:p>
        </p:txBody>
      </p:sp>
      <p:sp>
        <p:nvSpPr>
          <p:cNvPr id="3" name="CaixaDeTexto 2">
            <a:extLst>
              <a:ext uri="{FF2B5EF4-FFF2-40B4-BE49-F238E27FC236}">
                <a16:creationId xmlns:a16="http://schemas.microsoft.com/office/drawing/2014/main" id="{83AB80C7-E7AB-ACD7-E789-44FE7D61971E}"/>
              </a:ext>
            </a:extLst>
          </p:cNvPr>
          <p:cNvSpPr txBox="1"/>
          <p:nvPr/>
        </p:nvSpPr>
        <p:spPr>
          <a:xfrm>
            <a:off x="6370264" y="2590447"/>
            <a:ext cx="3947858" cy="1200329"/>
          </a:xfrm>
          <a:prstGeom prst="rect">
            <a:avLst/>
          </a:prstGeom>
          <a:noFill/>
        </p:spPr>
        <p:txBody>
          <a:bodyPr wrap="square" rtlCol="0">
            <a:spAutoFit/>
          </a:bodyPr>
          <a:lstStyle/>
          <a:p>
            <a:pPr lvl="0" algn="just"/>
            <a:r>
              <a:rPr lang="pt-BR" sz="1200" dirty="0">
                <a:solidFill>
                  <a:schemeClr val="tx1">
                    <a:lumMod val="65000"/>
                    <a:lumOff val="35000"/>
                  </a:schemeClr>
                </a:solidFill>
                <a:latin typeface="Arial" panose="020B0604020202020204" pitchFamily="34" charset="0"/>
                <a:cs typeface="Arial" panose="020B0604020202020204" pitchFamily="34" charset="0"/>
              </a:rPr>
              <a:t>Apresenta oportunidades na execução prática dos procedimentos e na utilização da plataforma, principalmente em fluxos que envolvem várias etapas e informações. Ausência de evidências obrigatórias, como RS70, RS33 e RKSP; Casos finalizados sem todos os registros necessários.</a:t>
            </a:r>
          </a:p>
        </p:txBody>
      </p:sp>
      <p:sp>
        <p:nvSpPr>
          <p:cNvPr id="6" name="CaixaDeTexto 5">
            <a:extLst>
              <a:ext uri="{FF2B5EF4-FFF2-40B4-BE49-F238E27FC236}">
                <a16:creationId xmlns:a16="http://schemas.microsoft.com/office/drawing/2014/main" id="{F858608B-5BFE-81D0-81A7-99601875B428}"/>
              </a:ext>
            </a:extLst>
          </p:cNvPr>
          <p:cNvSpPr txBox="1"/>
          <p:nvPr/>
        </p:nvSpPr>
        <p:spPr>
          <a:xfrm>
            <a:off x="8449825" y="3941679"/>
            <a:ext cx="2014988" cy="261610"/>
          </a:xfrm>
          <a:prstGeom prst="rect">
            <a:avLst/>
          </a:prstGeom>
          <a:solidFill>
            <a:schemeClr val="bg1">
              <a:lumMod val="75000"/>
            </a:schemeClr>
          </a:solidFill>
        </p:spPr>
        <p:txBody>
          <a:bodyPr wrap="square" rtlCol="0">
            <a:spAutoFit/>
          </a:bodyPr>
          <a:lstStyle/>
          <a:p>
            <a:pPr algn="ctr"/>
            <a:r>
              <a:rPr lang="pt-BR" sz="1100" b="1" dirty="0">
                <a:solidFill>
                  <a:schemeClr val="bg2">
                    <a:lumMod val="25000"/>
                  </a:schemeClr>
                </a:solidFill>
                <a:latin typeface="Arial" panose="020B0604020202020204" pitchFamily="34" charset="0"/>
                <a:cs typeface="Arial" panose="020B0604020202020204" pitchFamily="34" charset="0"/>
              </a:rPr>
              <a:t>Média atual: 81,05</a:t>
            </a:r>
          </a:p>
        </p:txBody>
      </p:sp>
      <p:sp>
        <p:nvSpPr>
          <p:cNvPr id="7" name="CaixaDeTexto 6">
            <a:extLst>
              <a:ext uri="{FF2B5EF4-FFF2-40B4-BE49-F238E27FC236}">
                <a16:creationId xmlns:a16="http://schemas.microsoft.com/office/drawing/2014/main" id="{AD26D712-92B5-77F3-0A47-E175ED221F83}"/>
              </a:ext>
            </a:extLst>
          </p:cNvPr>
          <p:cNvSpPr txBox="1"/>
          <p:nvPr/>
        </p:nvSpPr>
        <p:spPr>
          <a:xfrm>
            <a:off x="8449825" y="1691814"/>
            <a:ext cx="2014988" cy="261610"/>
          </a:xfrm>
          <a:prstGeom prst="rect">
            <a:avLst/>
          </a:prstGeom>
          <a:solidFill>
            <a:schemeClr val="bg1">
              <a:lumMod val="75000"/>
            </a:schemeClr>
          </a:solidFill>
        </p:spPr>
        <p:txBody>
          <a:bodyPr wrap="square" rtlCol="0">
            <a:spAutoFit/>
          </a:bodyPr>
          <a:lstStyle/>
          <a:p>
            <a:pPr algn="ctr"/>
            <a:r>
              <a:rPr lang="pt-BR" sz="1100" b="1" dirty="0">
                <a:solidFill>
                  <a:schemeClr val="bg2">
                    <a:lumMod val="25000"/>
                  </a:schemeClr>
                </a:solidFill>
                <a:latin typeface="Arial" panose="020B0604020202020204" pitchFamily="34" charset="0"/>
                <a:cs typeface="Arial" panose="020B0604020202020204" pitchFamily="34" charset="0"/>
              </a:rPr>
              <a:t>Média atual: 40,00</a:t>
            </a:r>
          </a:p>
        </p:txBody>
      </p:sp>
      <p:sp>
        <p:nvSpPr>
          <p:cNvPr id="9" name="CaixaDeTexto 8">
            <a:extLst>
              <a:ext uri="{FF2B5EF4-FFF2-40B4-BE49-F238E27FC236}">
                <a16:creationId xmlns:a16="http://schemas.microsoft.com/office/drawing/2014/main" id="{403D2BD3-684D-0D9A-9CDC-68F16B583859}"/>
              </a:ext>
            </a:extLst>
          </p:cNvPr>
          <p:cNvSpPr txBox="1"/>
          <p:nvPr/>
        </p:nvSpPr>
        <p:spPr>
          <a:xfrm>
            <a:off x="3930270" y="3998047"/>
            <a:ext cx="2014988" cy="261610"/>
          </a:xfrm>
          <a:prstGeom prst="rect">
            <a:avLst/>
          </a:prstGeom>
          <a:solidFill>
            <a:schemeClr val="bg1">
              <a:lumMod val="75000"/>
            </a:schemeClr>
          </a:solidFill>
        </p:spPr>
        <p:txBody>
          <a:bodyPr wrap="square" rtlCol="0">
            <a:spAutoFit/>
          </a:bodyPr>
          <a:lstStyle/>
          <a:p>
            <a:pPr algn="ctr"/>
            <a:r>
              <a:rPr lang="pt-BR" sz="1100" b="1" dirty="0">
                <a:solidFill>
                  <a:schemeClr val="bg2">
                    <a:lumMod val="25000"/>
                  </a:schemeClr>
                </a:solidFill>
                <a:latin typeface="Arial" panose="020B0604020202020204" pitchFamily="34" charset="0"/>
                <a:cs typeface="Arial" panose="020B0604020202020204" pitchFamily="34" charset="0"/>
              </a:rPr>
              <a:t>Média atual: 45,00</a:t>
            </a:r>
          </a:p>
        </p:txBody>
      </p:sp>
      <p:sp>
        <p:nvSpPr>
          <p:cNvPr id="10" name="CaixaDeTexto 9">
            <a:extLst>
              <a:ext uri="{FF2B5EF4-FFF2-40B4-BE49-F238E27FC236}">
                <a16:creationId xmlns:a16="http://schemas.microsoft.com/office/drawing/2014/main" id="{892207BA-05FA-1C59-6ECD-1E26DCC8C58F}"/>
              </a:ext>
            </a:extLst>
          </p:cNvPr>
          <p:cNvSpPr txBox="1"/>
          <p:nvPr/>
        </p:nvSpPr>
        <p:spPr>
          <a:xfrm>
            <a:off x="3930270" y="1748182"/>
            <a:ext cx="2014988" cy="261610"/>
          </a:xfrm>
          <a:prstGeom prst="rect">
            <a:avLst/>
          </a:prstGeom>
          <a:solidFill>
            <a:schemeClr val="bg1">
              <a:lumMod val="75000"/>
            </a:schemeClr>
          </a:solidFill>
        </p:spPr>
        <p:txBody>
          <a:bodyPr wrap="square" rtlCol="0">
            <a:spAutoFit/>
          </a:bodyPr>
          <a:lstStyle/>
          <a:p>
            <a:pPr algn="ctr"/>
            <a:r>
              <a:rPr lang="pt-BR" sz="1100" b="1" dirty="0">
                <a:solidFill>
                  <a:schemeClr val="bg2">
                    <a:lumMod val="25000"/>
                  </a:schemeClr>
                </a:solidFill>
                <a:latin typeface="Arial" panose="020B0604020202020204" pitchFamily="34" charset="0"/>
                <a:cs typeface="Arial" panose="020B0604020202020204" pitchFamily="34" charset="0"/>
              </a:rPr>
              <a:t>Média atual:0,00</a:t>
            </a:r>
          </a:p>
        </p:txBody>
      </p:sp>
      <p:sp>
        <p:nvSpPr>
          <p:cNvPr id="57" name="CaixaDeTexto 56">
            <a:extLst>
              <a:ext uri="{FF2B5EF4-FFF2-40B4-BE49-F238E27FC236}">
                <a16:creationId xmlns:a16="http://schemas.microsoft.com/office/drawing/2014/main" id="{25E71BDA-9D17-4583-97D0-A66B4F9A22A0}"/>
              </a:ext>
            </a:extLst>
          </p:cNvPr>
          <p:cNvSpPr txBox="1"/>
          <p:nvPr/>
        </p:nvSpPr>
        <p:spPr>
          <a:xfrm>
            <a:off x="2221859" y="4495275"/>
            <a:ext cx="3857943" cy="1785104"/>
          </a:xfrm>
          <a:prstGeom prst="rect">
            <a:avLst/>
          </a:prstGeom>
          <a:noFill/>
        </p:spPr>
        <p:txBody>
          <a:bodyPr wrap="square" rtlCol="0">
            <a:spAutoFit/>
          </a:bodyPr>
          <a:lstStyle/>
          <a:p>
            <a:r>
              <a:rPr lang="fr-FR" sz="1400" dirty="0">
                <a:solidFill>
                  <a:srgbClr val="0B5892"/>
                </a:solidFill>
                <a:latin typeface="Arial" panose="020B0604020202020204" pitchFamily="34" charset="0"/>
                <a:cs typeface="Arial" panose="020B0604020202020204" pitchFamily="34" charset="0"/>
              </a:rPr>
              <a:t>Joao Vitor Rodrigues </a:t>
            </a:r>
            <a:br>
              <a:rPr lang="fr-FR" sz="1400" dirty="0">
                <a:solidFill>
                  <a:srgbClr val="0B5892"/>
                </a:solidFill>
                <a:latin typeface="Arial" panose="020B0604020202020204" pitchFamily="34" charset="0"/>
                <a:cs typeface="Arial" panose="020B0604020202020204" pitchFamily="34" charset="0"/>
              </a:rPr>
            </a:br>
            <a:r>
              <a:rPr lang="pt-BR" sz="1200" dirty="0">
                <a:solidFill>
                  <a:schemeClr val="tx1">
                    <a:lumMod val="65000"/>
                    <a:lumOff val="35000"/>
                  </a:schemeClr>
                </a:solidFill>
                <a:latin typeface="Arial" panose="020B0604020202020204" pitchFamily="34" charset="0"/>
                <a:cs typeface="Arial" panose="020B0604020202020204" pitchFamily="34" charset="0"/>
              </a:rPr>
              <a:t>Apresenta potencial para realizar atendimentos de boa qualidade, porém ainda possui oportunidades relacionadas à consistência na condução, à postura profissional e à aderência aos padrões esperados. Também é necessário reforçar o domínio e a aplicação dos procedimentos técnicos, buscando maior segurança e assertividade nas tratativas.</a:t>
            </a:r>
            <a:br>
              <a:rPr lang="fr-FR" sz="1200" dirty="0">
                <a:solidFill>
                  <a:srgbClr val="0B5892"/>
                </a:solidFill>
                <a:latin typeface="Arial" panose="020B0604020202020204" pitchFamily="34" charset="0"/>
                <a:cs typeface="Arial" panose="020B0604020202020204" pitchFamily="34" charset="0"/>
              </a:rPr>
            </a:br>
            <a:endParaRPr lang="fr-FR" sz="1200" dirty="0">
              <a:solidFill>
                <a:srgbClr val="0B5892"/>
              </a:solidFill>
              <a:latin typeface="Arial" panose="020B0604020202020204" pitchFamily="34" charset="0"/>
              <a:cs typeface="Arial" panose="020B0604020202020204" pitchFamily="34" charset="0"/>
            </a:endParaRPr>
          </a:p>
        </p:txBody>
      </p:sp>
      <p:sp>
        <p:nvSpPr>
          <p:cNvPr id="2" name="CaixaDeTexto 1">
            <a:extLst>
              <a:ext uri="{FF2B5EF4-FFF2-40B4-BE49-F238E27FC236}">
                <a16:creationId xmlns:a16="http://schemas.microsoft.com/office/drawing/2014/main" id="{95582F55-C0EC-5874-A837-B5F15625993E}"/>
              </a:ext>
            </a:extLst>
          </p:cNvPr>
          <p:cNvSpPr txBox="1"/>
          <p:nvPr/>
        </p:nvSpPr>
        <p:spPr>
          <a:xfrm>
            <a:off x="1952331" y="2604432"/>
            <a:ext cx="3947858" cy="1223412"/>
          </a:xfrm>
          <a:prstGeom prst="rect">
            <a:avLst/>
          </a:prstGeom>
          <a:noFill/>
        </p:spPr>
        <p:txBody>
          <a:bodyPr wrap="square" rtlCol="0">
            <a:spAutoFit/>
          </a:bodyPr>
          <a:lstStyle/>
          <a:p>
            <a:pPr lvl="0" algn="just"/>
            <a:r>
              <a:rPr lang="pt-BR" sz="1050" dirty="0">
                <a:solidFill>
                  <a:schemeClr val="tx1">
                    <a:lumMod val="65000"/>
                    <a:lumOff val="35000"/>
                  </a:schemeClr>
                </a:solidFill>
                <a:latin typeface="Arial" panose="020B0604020202020204" pitchFamily="34" charset="0"/>
                <a:cs typeface="Arial" panose="020B0604020202020204" pitchFamily="34" charset="0"/>
              </a:rPr>
              <a:t>Apresentou 3 ocorrências no período, sendo 1 relacionada a procedimento incorreto, por não orientar o consumidor sobre o prazo para registro do pedido de contestação, e 2 ocorrências de recorrência, identificadas na mesma monitoria, relacionadas à não confirmação de dados e ausência de sondagem, reforçando a necessidade de maior atenção na condução e no cumprimento das etapas do atendimento.</a:t>
            </a:r>
          </a:p>
        </p:txBody>
      </p:sp>
      <p:sp>
        <p:nvSpPr>
          <p:cNvPr id="5" name="CaixaDeTexto 4">
            <a:extLst>
              <a:ext uri="{FF2B5EF4-FFF2-40B4-BE49-F238E27FC236}">
                <a16:creationId xmlns:a16="http://schemas.microsoft.com/office/drawing/2014/main" id="{CF8F608F-47E8-D26A-5D81-4F0FF798AD75}"/>
              </a:ext>
            </a:extLst>
          </p:cNvPr>
          <p:cNvSpPr txBox="1"/>
          <p:nvPr/>
        </p:nvSpPr>
        <p:spPr>
          <a:xfrm>
            <a:off x="6274672" y="4819565"/>
            <a:ext cx="3947858" cy="1384995"/>
          </a:xfrm>
          <a:prstGeom prst="rect">
            <a:avLst/>
          </a:prstGeom>
          <a:noFill/>
        </p:spPr>
        <p:txBody>
          <a:bodyPr wrap="square" rtlCol="0">
            <a:spAutoFit/>
          </a:bodyPr>
          <a:lstStyle/>
          <a:p>
            <a:pPr lvl="0" algn="just"/>
            <a:r>
              <a:rPr lang="pt-BR" sz="1200" dirty="0">
                <a:solidFill>
                  <a:schemeClr val="tx1">
                    <a:lumMod val="65000"/>
                    <a:lumOff val="35000"/>
                  </a:schemeClr>
                </a:solidFill>
                <a:latin typeface="Arial" panose="020B0604020202020204" pitchFamily="34" charset="0"/>
                <a:cs typeface="Arial" panose="020B0604020202020204" pitchFamily="34" charset="0"/>
              </a:rPr>
              <a:t>Apresenta recorrência no descumprimento de procedimentos obrigatórios, principalmente na solicitação do NPS, além da ausência da evidência RS70 e repasse de contatos externos. Os apontamentos reforçam a necessidade de maior atenção e aderência aos fluxos estabelecidos, com acompanhamento para redução das reincidências.</a:t>
            </a:r>
          </a:p>
        </p:txBody>
      </p:sp>
    </p:spTree>
    <p:extLst>
      <p:ext uri="{BB962C8B-B14F-4D97-AF65-F5344CB8AC3E}">
        <p14:creationId xmlns:p14="http://schemas.microsoft.com/office/powerpoint/2010/main" val="15285343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tângulo: Cantos Arredondados 42">
            <a:extLst>
              <a:ext uri="{FF2B5EF4-FFF2-40B4-BE49-F238E27FC236}">
                <a16:creationId xmlns:a16="http://schemas.microsoft.com/office/drawing/2014/main" id="{C1D32C22-2BB4-4AA9-AC92-F27F756F9A46}"/>
              </a:ext>
            </a:extLst>
          </p:cNvPr>
          <p:cNvSpPr/>
          <p:nvPr/>
        </p:nvSpPr>
        <p:spPr>
          <a:xfrm>
            <a:off x="9727562" y="551224"/>
            <a:ext cx="2020973" cy="375927"/>
          </a:xfrm>
          <a:prstGeom prst="roundRect">
            <a:avLst>
              <a:gd name="adj" fmla="val 13727"/>
            </a:avLst>
          </a:prstGeom>
          <a:solidFill>
            <a:srgbClr val="0B589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4" name="Retângulo: Cantos Arredondados 43">
            <a:extLst>
              <a:ext uri="{FF2B5EF4-FFF2-40B4-BE49-F238E27FC236}">
                <a16:creationId xmlns:a16="http://schemas.microsoft.com/office/drawing/2014/main" id="{1B017911-3FA8-4E15-AE1D-B1FD14D64222}"/>
              </a:ext>
            </a:extLst>
          </p:cNvPr>
          <p:cNvSpPr/>
          <p:nvPr/>
        </p:nvSpPr>
        <p:spPr>
          <a:xfrm>
            <a:off x="9773512" y="588962"/>
            <a:ext cx="1992680" cy="341643"/>
          </a:xfrm>
          <a:prstGeom prst="roundRect">
            <a:avLst>
              <a:gd name="adj" fmla="val 13727"/>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38" name="Imagem 37">
            <a:extLst>
              <a:ext uri="{FF2B5EF4-FFF2-40B4-BE49-F238E27FC236}">
                <a16:creationId xmlns:a16="http://schemas.microsoft.com/office/drawing/2014/main" id="{DE2A603E-716D-41D5-ABEF-1625839B46A3}"/>
              </a:ext>
            </a:extLst>
          </p:cNvPr>
          <p:cNvPicPr>
            <a:picLocks noChangeAspect="1"/>
          </p:cNvPicPr>
          <p:nvPr/>
        </p:nvPicPr>
        <p:blipFill>
          <a:blip r:embed="rId2">
            <a:alphaModFix amt="4000"/>
          </a:blip>
          <a:stretch>
            <a:fillRect/>
          </a:stretch>
        </p:blipFill>
        <p:spPr>
          <a:xfrm>
            <a:off x="-2192539" y="-1973179"/>
            <a:ext cx="5030445" cy="5148116"/>
          </a:xfrm>
          <a:prstGeom prst="rect">
            <a:avLst/>
          </a:prstGeom>
          <a:effectLst/>
        </p:spPr>
      </p:pic>
      <p:pic>
        <p:nvPicPr>
          <p:cNvPr id="39" name="Imagem 38">
            <a:extLst>
              <a:ext uri="{FF2B5EF4-FFF2-40B4-BE49-F238E27FC236}">
                <a16:creationId xmlns:a16="http://schemas.microsoft.com/office/drawing/2014/main" id="{8F6A83EB-6687-479D-BD59-51B6B2B8CBF9}"/>
              </a:ext>
            </a:extLst>
          </p:cNvPr>
          <p:cNvPicPr>
            <a:picLocks noChangeAspect="1"/>
          </p:cNvPicPr>
          <p:nvPr/>
        </p:nvPicPr>
        <p:blipFill>
          <a:blip r:embed="rId2">
            <a:alphaModFix amt="4000"/>
          </a:blip>
          <a:stretch>
            <a:fillRect/>
          </a:stretch>
        </p:blipFill>
        <p:spPr>
          <a:xfrm>
            <a:off x="9157251" y="4596063"/>
            <a:ext cx="5030445" cy="5148116"/>
          </a:xfrm>
          <a:prstGeom prst="rect">
            <a:avLst/>
          </a:prstGeom>
          <a:effectLst/>
        </p:spPr>
      </p:pic>
      <p:sp>
        <p:nvSpPr>
          <p:cNvPr id="10" name="Título 1">
            <a:extLst>
              <a:ext uri="{FF2B5EF4-FFF2-40B4-BE49-F238E27FC236}">
                <a16:creationId xmlns:a16="http://schemas.microsoft.com/office/drawing/2014/main" id="{A5950180-9DDC-4E06-9746-C88850FA434F}"/>
              </a:ext>
            </a:extLst>
          </p:cNvPr>
          <p:cNvSpPr txBox="1">
            <a:spLocks/>
          </p:cNvSpPr>
          <p:nvPr/>
        </p:nvSpPr>
        <p:spPr>
          <a:xfrm>
            <a:off x="-1" y="855616"/>
            <a:ext cx="12192001" cy="5580185"/>
          </a:xfrm>
          <a:prstGeom prst="rect">
            <a:avLst/>
          </a:prstGeom>
          <a:effectLst>
            <a:reflection blurRad="6350" stA="50000" endA="295" endPos="92000" dist="101600" dir="5400000" sy="-100000" algn="bl" rotWithShape="0"/>
          </a:effectLst>
        </p:spPr>
        <p:txBody>
          <a:bodyPr vert="horz" lIns="91440" tIns="45720" rIns="91440" bIns="45720" rtlCol="0" anchor="b">
            <a:normAutofit fontScale="9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pt-BR" sz="43300" b="1" spc="-300" dirty="0">
                <a:solidFill>
                  <a:schemeClr val="tx1">
                    <a:lumMod val="50000"/>
                    <a:lumOff val="50000"/>
                    <a:alpha val="11000"/>
                  </a:schemeClr>
                </a:solidFill>
                <a:latin typeface="Arial" panose="020B0604020202020204" pitchFamily="34" charset="0"/>
                <a:cs typeface="Arial" panose="020B0604020202020204" pitchFamily="34" charset="0"/>
              </a:rPr>
              <a:t>2026</a:t>
            </a:r>
          </a:p>
        </p:txBody>
      </p:sp>
      <p:sp>
        <p:nvSpPr>
          <p:cNvPr id="15" name="Retângulo: Cantos Arredondados 14">
            <a:extLst>
              <a:ext uri="{FF2B5EF4-FFF2-40B4-BE49-F238E27FC236}">
                <a16:creationId xmlns:a16="http://schemas.microsoft.com/office/drawing/2014/main" id="{1B71EADA-2995-4F0E-898A-DAD0EBF1629A}"/>
              </a:ext>
            </a:extLst>
          </p:cNvPr>
          <p:cNvSpPr/>
          <p:nvPr/>
        </p:nvSpPr>
        <p:spPr>
          <a:xfrm>
            <a:off x="940477" y="2158889"/>
            <a:ext cx="2437660" cy="408165"/>
          </a:xfrm>
          <a:prstGeom prst="round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rgbClr val="0B5892"/>
              </a:solidFill>
            </a:endParaRPr>
          </a:p>
        </p:txBody>
      </p:sp>
      <p:sp>
        <p:nvSpPr>
          <p:cNvPr id="2" name="Título 1">
            <a:extLst>
              <a:ext uri="{FF2B5EF4-FFF2-40B4-BE49-F238E27FC236}">
                <a16:creationId xmlns:a16="http://schemas.microsoft.com/office/drawing/2014/main" id="{F311001D-7B27-4D1E-8727-3B5C67488BE8}"/>
              </a:ext>
            </a:extLst>
          </p:cNvPr>
          <p:cNvSpPr>
            <a:spLocks noGrp="1"/>
          </p:cNvSpPr>
          <p:nvPr>
            <p:ph type="ctrTitle"/>
          </p:nvPr>
        </p:nvSpPr>
        <p:spPr>
          <a:xfrm>
            <a:off x="3207224" y="3091934"/>
            <a:ext cx="5172501" cy="1189342"/>
          </a:xfrm>
          <a:effectLst/>
        </p:spPr>
        <p:txBody>
          <a:bodyPr>
            <a:noAutofit/>
          </a:bodyPr>
          <a:lstStyle/>
          <a:p>
            <a:r>
              <a:rPr lang="pt-BR" sz="10300" b="1" dirty="0">
                <a:solidFill>
                  <a:srgbClr val="00B0F0"/>
                </a:solidFill>
                <a:latin typeface="Arial" panose="020B0604020202020204" pitchFamily="34" charset="0"/>
                <a:cs typeface="Arial" panose="020B0604020202020204" pitchFamily="34" charset="0"/>
              </a:rPr>
              <a:t>CP</a:t>
            </a:r>
            <a:endParaRPr lang="pt-BR" sz="12400" b="1" dirty="0">
              <a:solidFill>
                <a:srgbClr val="00B0F0"/>
              </a:solidFill>
              <a:latin typeface="Arial" panose="020B0604020202020204" pitchFamily="34" charset="0"/>
              <a:cs typeface="Arial" panose="020B0604020202020204" pitchFamily="34" charset="0"/>
            </a:endParaRPr>
          </a:p>
        </p:txBody>
      </p:sp>
      <p:sp>
        <p:nvSpPr>
          <p:cNvPr id="6" name="Título 1">
            <a:extLst>
              <a:ext uri="{FF2B5EF4-FFF2-40B4-BE49-F238E27FC236}">
                <a16:creationId xmlns:a16="http://schemas.microsoft.com/office/drawing/2014/main" id="{F19E4ED5-6191-4819-BC5E-0686AFC2CEAF}"/>
              </a:ext>
            </a:extLst>
          </p:cNvPr>
          <p:cNvSpPr txBox="1">
            <a:spLocks/>
          </p:cNvSpPr>
          <p:nvPr/>
        </p:nvSpPr>
        <p:spPr>
          <a:xfrm>
            <a:off x="395849" y="431573"/>
            <a:ext cx="5811865"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600" spc="600" dirty="0">
                <a:solidFill>
                  <a:schemeClr val="tx1">
                    <a:lumMod val="50000"/>
                    <a:lumOff val="50000"/>
                  </a:schemeClr>
                </a:solidFill>
                <a:latin typeface="Arial" panose="020B0604020202020204" pitchFamily="34" charset="0"/>
                <a:cs typeface="Arial" panose="020B0604020202020204" pitchFamily="34" charset="0"/>
              </a:rPr>
              <a:t>RELATÓRIO MENSAL</a:t>
            </a:r>
          </a:p>
        </p:txBody>
      </p:sp>
      <p:sp>
        <p:nvSpPr>
          <p:cNvPr id="3" name="Retângulo: Cantos Arredondados 2">
            <a:extLst>
              <a:ext uri="{FF2B5EF4-FFF2-40B4-BE49-F238E27FC236}">
                <a16:creationId xmlns:a16="http://schemas.microsoft.com/office/drawing/2014/main" id="{6021C8E1-11F0-459F-8C87-DCB9B6EC7814}"/>
              </a:ext>
            </a:extLst>
          </p:cNvPr>
          <p:cNvSpPr/>
          <p:nvPr/>
        </p:nvSpPr>
        <p:spPr>
          <a:xfrm>
            <a:off x="3214255" y="4289580"/>
            <a:ext cx="5167746" cy="422031"/>
          </a:xfrm>
          <a:prstGeom prst="roundRect">
            <a:avLst/>
          </a:prstGeom>
          <a:gradFill flip="none" rotWithShape="1">
            <a:gsLst>
              <a:gs pos="0">
                <a:schemeClr val="bg2">
                  <a:lumMod val="75000"/>
                  <a:tint val="66000"/>
                  <a:satMod val="160000"/>
                </a:schemeClr>
              </a:gs>
              <a:gs pos="50000">
                <a:schemeClr val="bg2">
                  <a:lumMod val="75000"/>
                  <a:tint val="44500"/>
                  <a:satMod val="160000"/>
                </a:schemeClr>
              </a:gs>
              <a:gs pos="100000">
                <a:schemeClr val="bg2">
                  <a:lumMod val="75000"/>
                  <a:tint val="23500"/>
                  <a:satMod val="160000"/>
                </a:schemeClr>
              </a:gs>
            </a:gsLst>
            <a:lin ang="1350000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Título 1">
            <a:extLst>
              <a:ext uri="{FF2B5EF4-FFF2-40B4-BE49-F238E27FC236}">
                <a16:creationId xmlns:a16="http://schemas.microsoft.com/office/drawing/2014/main" id="{9EF44465-2770-491B-BA4E-94ADD8550292}"/>
              </a:ext>
            </a:extLst>
          </p:cNvPr>
          <p:cNvSpPr txBox="1">
            <a:spLocks/>
          </p:cNvSpPr>
          <p:nvPr/>
        </p:nvSpPr>
        <p:spPr>
          <a:xfrm>
            <a:off x="3846918" y="4184846"/>
            <a:ext cx="4313409"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800" dirty="0">
                <a:solidFill>
                  <a:srgbClr val="00B0F0"/>
                </a:solidFill>
                <a:latin typeface="Arial" panose="020B0604020202020204" pitchFamily="34" charset="0"/>
                <a:cs typeface="Arial" panose="020B0604020202020204" pitchFamily="34" charset="0"/>
              </a:rPr>
              <a:t>RESULTADOS OPERACIONAIS  - VOZ</a:t>
            </a:r>
          </a:p>
        </p:txBody>
      </p:sp>
      <p:grpSp>
        <p:nvGrpSpPr>
          <p:cNvPr id="20" name="Google Shape;1964;p50">
            <a:extLst>
              <a:ext uri="{FF2B5EF4-FFF2-40B4-BE49-F238E27FC236}">
                <a16:creationId xmlns:a16="http://schemas.microsoft.com/office/drawing/2014/main" id="{644333FE-63B4-42DF-ADFA-AF9177DF58D7}"/>
              </a:ext>
            </a:extLst>
          </p:cNvPr>
          <p:cNvGrpSpPr/>
          <p:nvPr/>
        </p:nvGrpSpPr>
        <p:grpSpPr>
          <a:xfrm>
            <a:off x="3417784" y="4365535"/>
            <a:ext cx="293131" cy="279819"/>
            <a:chOff x="4126815" y="2760704"/>
            <a:chExt cx="380393" cy="363118"/>
          </a:xfrm>
          <a:solidFill>
            <a:srgbClr val="00B0F0"/>
          </a:solidFill>
        </p:grpSpPr>
        <p:sp>
          <p:nvSpPr>
            <p:cNvPr id="21" name="Google Shape;1965;p50">
              <a:extLst>
                <a:ext uri="{FF2B5EF4-FFF2-40B4-BE49-F238E27FC236}">
                  <a16:creationId xmlns:a16="http://schemas.microsoft.com/office/drawing/2014/main" id="{C90A8E2B-6430-4128-93A1-80EDBF3E3BED}"/>
                </a:ext>
              </a:extLst>
            </p:cNvPr>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966;p50">
              <a:extLst>
                <a:ext uri="{FF2B5EF4-FFF2-40B4-BE49-F238E27FC236}">
                  <a16:creationId xmlns:a16="http://schemas.microsoft.com/office/drawing/2014/main" id="{C220A82A-DCEF-47A8-9174-5A849CB2B75F}"/>
                </a:ext>
              </a:extLst>
            </p:cNvPr>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967;p50">
              <a:extLst>
                <a:ext uri="{FF2B5EF4-FFF2-40B4-BE49-F238E27FC236}">
                  <a16:creationId xmlns:a16="http://schemas.microsoft.com/office/drawing/2014/main" id="{446DDA74-F73B-4510-BFCE-608659C3FC02}"/>
                </a:ext>
              </a:extLst>
            </p:cNvPr>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968;p50">
              <a:extLst>
                <a:ext uri="{FF2B5EF4-FFF2-40B4-BE49-F238E27FC236}">
                  <a16:creationId xmlns:a16="http://schemas.microsoft.com/office/drawing/2014/main" id="{487DFEED-06C3-4B9B-9B7A-545AAF95F24C}"/>
                </a:ext>
              </a:extLst>
            </p:cNvPr>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Retângulo 28">
            <a:extLst>
              <a:ext uri="{FF2B5EF4-FFF2-40B4-BE49-F238E27FC236}">
                <a16:creationId xmlns:a16="http://schemas.microsoft.com/office/drawing/2014/main" id="{0BBC58FB-2C41-419E-8246-609C9177CDA9}"/>
              </a:ext>
            </a:extLst>
          </p:cNvPr>
          <p:cNvSpPr/>
          <p:nvPr/>
        </p:nvSpPr>
        <p:spPr>
          <a:xfrm>
            <a:off x="-503922" y="6707874"/>
            <a:ext cx="13708160" cy="30025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3" name="Título 1">
            <a:extLst>
              <a:ext uri="{FF2B5EF4-FFF2-40B4-BE49-F238E27FC236}">
                <a16:creationId xmlns:a16="http://schemas.microsoft.com/office/drawing/2014/main" id="{E8ED96BD-2906-4BD9-86CD-086D77D840E8}"/>
              </a:ext>
            </a:extLst>
          </p:cNvPr>
          <p:cNvSpPr txBox="1">
            <a:spLocks/>
          </p:cNvSpPr>
          <p:nvPr/>
        </p:nvSpPr>
        <p:spPr>
          <a:xfrm>
            <a:off x="0" y="5391500"/>
            <a:ext cx="12192000"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pt-BR" sz="1600" spc="600" dirty="0">
                <a:solidFill>
                  <a:srgbClr val="00B0F0"/>
                </a:solidFill>
                <a:latin typeface="Arial" panose="020B0604020202020204" pitchFamily="34" charset="0"/>
                <a:cs typeface="Arial" panose="020B0604020202020204" pitchFamily="34" charset="0"/>
              </a:rPr>
              <a:t>Excelência não é um ato, é um hábito diário.</a:t>
            </a:r>
          </a:p>
        </p:txBody>
      </p:sp>
      <p:sp>
        <p:nvSpPr>
          <p:cNvPr id="40" name="Título 1">
            <a:extLst>
              <a:ext uri="{FF2B5EF4-FFF2-40B4-BE49-F238E27FC236}">
                <a16:creationId xmlns:a16="http://schemas.microsoft.com/office/drawing/2014/main" id="{8B24F100-4168-4C22-95ED-00150A20E58B}"/>
              </a:ext>
            </a:extLst>
          </p:cNvPr>
          <p:cNvSpPr txBox="1">
            <a:spLocks/>
          </p:cNvSpPr>
          <p:nvPr/>
        </p:nvSpPr>
        <p:spPr>
          <a:xfrm>
            <a:off x="10010273" y="673769"/>
            <a:ext cx="1744579" cy="228600"/>
          </a:xfrm>
          <a:prstGeom prst="rect">
            <a:avLst/>
          </a:prstGeom>
        </p:spPr>
        <p:txBody>
          <a:bodyPr vert="horz" lIns="91440" tIns="45720" rIns="91440" bIns="45720" rtlCol="0" anchor="b">
            <a:normAutofit fontScale="8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pt-BR" sz="1400" spc="300" dirty="0">
                <a:solidFill>
                  <a:srgbClr val="0B5892"/>
                </a:solidFill>
                <a:latin typeface="Arial" panose="020B0604020202020204" pitchFamily="34" charset="0"/>
                <a:cs typeface="Arial" panose="020B0604020202020204" pitchFamily="34" charset="0"/>
              </a:rPr>
              <a:t>Julho</a:t>
            </a:r>
          </a:p>
        </p:txBody>
      </p:sp>
      <p:grpSp>
        <p:nvGrpSpPr>
          <p:cNvPr id="64" name="Google Shape;2286;p50">
            <a:extLst>
              <a:ext uri="{FF2B5EF4-FFF2-40B4-BE49-F238E27FC236}">
                <a16:creationId xmlns:a16="http://schemas.microsoft.com/office/drawing/2014/main" id="{DD2CD91E-4B95-4BA2-97EA-B75F30F1F20D}"/>
              </a:ext>
            </a:extLst>
          </p:cNvPr>
          <p:cNvGrpSpPr/>
          <p:nvPr/>
        </p:nvGrpSpPr>
        <p:grpSpPr>
          <a:xfrm>
            <a:off x="9914641" y="640516"/>
            <a:ext cx="256996" cy="256996"/>
            <a:chOff x="10170398" y="2275581"/>
            <a:chExt cx="1044240" cy="1044240"/>
          </a:xfrm>
          <a:solidFill>
            <a:srgbClr val="0B5892"/>
          </a:solidFill>
        </p:grpSpPr>
        <p:sp>
          <p:nvSpPr>
            <p:cNvPr id="65" name="Google Shape;2287;p50">
              <a:extLst>
                <a:ext uri="{FF2B5EF4-FFF2-40B4-BE49-F238E27FC236}">
                  <a16:creationId xmlns:a16="http://schemas.microsoft.com/office/drawing/2014/main" id="{A45AE1BE-32EF-4AEA-A507-6978FDF05586}"/>
                </a:ext>
              </a:extLst>
            </p:cNvPr>
            <p:cNvSpPr/>
            <p:nvPr/>
          </p:nvSpPr>
          <p:spPr>
            <a:xfrm>
              <a:off x="10170398" y="2275581"/>
              <a:ext cx="1044240" cy="1044240"/>
            </a:xfrm>
            <a:custGeom>
              <a:avLst/>
              <a:gdLst/>
              <a:ahLst/>
              <a:cxnLst/>
              <a:rect l="l" t="t" r="r" b="b"/>
              <a:pathLst>
                <a:path w="1044240" h="1044240" extrusionOk="0">
                  <a:moveTo>
                    <a:pt x="1043243" y="1023511"/>
                  </a:moveTo>
                  <a:lnTo>
                    <a:pt x="890278" y="620562"/>
                  </a:lnTo>
                  <a:cubicBezTo>
                    <a:pt x="889008" y="617215"/>
                    <a:pt x="886603" y="614420"/>
                    <a:pt x="883487" y="612664"/>
                  </a:cubicBezTo>
                  <a:lnTo>
                    <a:pt x="720557" y="520873"/>
                  </a:lnTo>
                  <a:lnTo>
                    <a:pt x="768125" y="445452"/>
                  </a:lnTo>
                  <a:cubicBezTo>
                    <a:pt x="797319" y="399126"/>
                    <a:pt x="812752" y="345590"/>
                    <a:pt x="812752" y="290633"/>
                  </a:cubicBezTo>
                  <a:cubicBezTo>
                    <a:pt x="812752" y="130377"/>
                    <a:pt x="682375" y="0"/>
                    <a:pt x="522119" y="0"/>
                  </a:cubicBezTo>
                  <a:cubicBezTo>
                    <a:pt x="361863" y="0"/>
                    <a:pt x="231486" y="130377"/>
                    <a:pt x="231486" y="290633"/>
                  </a:cubicBezTo>
                  <a:cubicBezTo>
                    <a:pt x="231486" y="345604"/>
                    <a:pt x="246925" y="399142"/>
                    <a:pt x="276135" y="445456"/>
                  </a:cubicBezTo>
                  <a:cubicBezTo>
                    <a:pt x="276917" y="446698"/>
                    <a:pt x="323691" y="520877"/>
                    <a:pt x="323691" y="520877"/>
                  </a:cubicBezTo>
                  <a:lnTo>
                    <a:pt x="160755" y="612664"/>
                  </a:lnTo>
                  <a:cubicBezTo>
                    <a:pt x="157637" y="614420"/>
                    <a:pt x="155232" y="617215"/>
                    <a:pt x="153961" y="620562"/>
                  </a:cubicBezTo>
                  <a:lnTo>
                    <a:pt x="997" y="1023511"/>
                  </a:lnTo>
                  <a:cubicBezTo>
                    <a:pt x="-1290" y="1029532"/>
                    <a:pt x="442" y="1036340"/>
                    <a:pt x="5323" y="1040539"/>
                  </a:cubicBezTo>
                  <a:cubicBezTo>
                    <a:pt x="10209" y="1044741"/>
                    <a:pt x="17195" y="1045432"/>
                    <a:pt x="22805" y="1042269"/>
                  </a:cubicBezTo>
                  <a:lnTo>
                    <a:pt x="268707" y="903732"/>
                  </a:lnTo>
                  <a:lnTo>
                    <a:pt x="514609" y="1042269"/>
                  </a:lnTo>
                  <a:cubicBezTo>
                    <a:pt x="519270" y="1044894"/>
                    <a:pt x="524966" y="1044894"/>
                    <a:pt x="529626" y="1042269"/>
                  </a:cubicBezTo>
                  <a:lnTo>
                    <a:pt x="775528" y="903732"/>
                  </a:lnTo>
                  <a:lnTo>
                    <a:pt x="1021430" y="1042269"/>
                  </a:lnTo>
                  <a:cubicBezTo>
                    <a:pt x="1023776" y="1043590"/>
                    <a:pt x="1026364" y="1044239"/>
                    <a:pt x="1028938" y="1044239"/>
                  </a:cubicBezTo>
                  <a:cubicBezTo>
                    <a:pt x="1032519" y="1044239"/>
                    <a:pt x="1036072" y="1042985"/>
                    <a:pt x="1038915" y="1040541"/>
                  </a:cubicBezTo>
                  <a:cubicBezTo>
                    <a:pt x="1043800" y="1036340"/>
                    <a:pt x="1045529" y="1029532"/>
                    <a:pt x="1043243" y="1023511"/>
                  </a:cubicBezTo>
                  <a:close/>
                  <a:moveTo>
                    <a:pt x="537417" y="792788"/>
                  </a:moveTo>
                  <a:cubicBezTo>
                    <a:pt x="546987" y="789410"/>
                    <a:pt x="555284" y="782904"/>
                    <a:pt x="560915" y="773989"/>
                  </a:cubicBezTo>
                  <a:cubicBezTo>
                    <a:pt x="561692" y="772765"/>
                    <a:pt x="691912" y="566296"/>
                    <a:pt x="691912" y="566296"/>
                  </a:cubicBezTo>
                  <a:lnTo>
                    <a:pt x="758235" y="878360"/>
                  </a:lnTo>
                  <a:lnTo>
                    <a:pt x="537417" y="1002763"/>
                  </a:lnTo>
                  <a:close/>
                  <a:moveTo>
                    <a:pt x="302013" y="429133"/>
                  </a:moveTo>
                  <a:cubicBezTo>
                    <a:pt x="275889" y="387710"/>
                    <a:pt x="262081" y="339818"/>
                    <a:pt x="262081" y="290631"/>
                  </a:cubicBezTo>
                  <a:cubicBezTo>
                    <a:pt x="262081" y="147244"/>
                    <a:pt x="378734" y="30591"/>
                    <a:pt x="522121" y="30591"/>
                  </a:cubicBezTo>
                  <a:cubicBezTo>
                    <a:pt x="665508" y="30591"/>
                    <a:pt x="782161" y="147244"/>
                    <a:pt x="782161" y="290631"/>
                  </a:cubicBezTo>
                  <a:cubicBezTo>
                    <a:pt x="782161" y="339808"/>
                    <a:pt x="768357" y="387704"/>
                    <a:pt x="742249" y="429133"/>
                  </a:cubicBezTo>
                  <a:cubicBezTo>
                    <a:pt x="740208" y="432370"/>
                    <a:pt x="538658" y="751989"/>
                    <a:pt x="535141" y="757510"/>
                  </a:cubicBezTo>
                  <a:cubicBezTo>
                    <a:pt x="535109" y="757557"/>
                    <a:pt x="535080" y="757606"/>
                    <a:pt x="535050" y="757653"/>
                  </a:cubicBezTo>
                  <a:cubicBezTo>
                    <a:pt x="532213" y="762139"/>
                    <a:pt x="527381" y="764821"/>
                    <a:pt x="522121" y="764821"/>
                  </a:cubicBezTo>
                  <a:cubicBezTo>
                    <a:pt x="516857" y="764821"/>
                    <a:pt x="512003" y="762127"/>
                    <a:pt x="509162" y="757661"/>
                  </a:cubicBezTo>
                  <a:cubicBezTo>
                    <a:pt x="507118" y="754420"/>
                    <a:pt x="305166" y="434169"/>
                    <a:pt x="302082" y="429245"/>
                  </a:cubicBezTo>
                  <a:cubicBezTo>
                    <a:pt x="302060" y="429209"/>
                    <a:pt x="302035" y="429172"/>
                    <a:pt x="302013" y="429133"/>
                  </a:cubicBezTo>
                  <a:close/>
                  <a:moveTo>
                    <a:pt x="180596" y="636598"/>
                  </a:moveTo>
                  <a:lnTo>
                    <a:pt x="323191" y="556267"/>
                  </a:lnTo>
                  <a:lnTo>
                    <a:pt x="298350" y="673141"/>
                  </a:lnTo>
                  <a:cubicBezTo>
                    <a:pt x="296594" y="681405"/>
                    <a:pt x="301868" y="689526"/>
                    <a:pt x="310130" y="691284"/>
                  </a:cubicBezTo>
                  <a:cubicBezTo>
                    <a:pt x="311203" y="691513"/>
                    <a:pt x="312274" y="691623"/>
                    <a:pt x="313326" y="691623"/>
                  </a:cubicBezTo>
                  <a:cubicBezTo>
                    <a:pt x="320393" y="691623"/>
                    <a:pt x="326744" y="686693"/>
                    <a:pt x="328272" y="679504"/>
                  </a:cubicBezTo>
                  <a:lnTo>
                    <a:pt x="352332" y="566306"/>
                  </a:lnTo>
                  <a:lnTo>
                    <a:pt x="483313" y="774030"/>
                  </a:lnTo>
                  <a:cubicBezTo>
                    <a:pt x="488964" y="782920"/>
                    <a:pt x="497267" y="789412"/>
                    <a:pt x="506820" y="792785"/>
                  </a:cubicBezTo>
                  <a:lnTo>
                    <a:pt x="506820" y="1002767"/>
                  </a:lnTo>
                  <a:lnTo>
                    <a:pt x="286007" y="878362"/>
                  </a:lnTo>
                  <a:lnTo>
                    <a:pt x="315553" y="739350"/>
                  </a:lnTo>
                  <a:cubicBezTo>
                    <a:pt x="317309" y="731086"/>
                    <a:pt x="312035" y="722964"/>
                    <a:pt x="303773" y="721206"/>
                  </a:cubicBezTo>
                  <a:cubicBezTo>
                    <a:pt x="295501" y="719440"/>
                    <a:pt x="287385" y="724726"/>
                    <a:pt x="285629" y="732986"/>
                  </a:cubicBezTo>
                  <a:lnTo>
                    <a:pt x="255181" y="876235"/>
                  </a:lnTo>
                  <a:lnTo>
                    <a:pt x="44588" y="994882"/>
                  </a:lnTo>
                  <a:close/>
                  <a:moveTo>
                    <a:pt x="789059" y="876237"/>
                  </a:moveTo>
                  <a:lnTo>
                    <a:pt x="721055" y="556265"/>
                  </a:lnTo>
                  <a:lnTo>
                    <a:pt x="863644" y="636598"/>
                  </a:lnTo>
                  <a:lnTo>
                    <a:pt x="999654" y="994882"/>
                  </a:lnTo>
                  <a:close/>
                </a:path>
              </a:pathLst>
            </a:custGeom>
            <a:grp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 name="Google Shape;2288;p50">
              <a:extLst>
                <a:ext uri="{FF2B5EF4-FFF2-40B4-BE49-F238E27FC236}">
                  <a16:creationId xmlns:a16="http://schemas.microsoft.com/office/drawing/2014/main" id="{A6AE6957-2411-41B9-955C-B436C14393C1}"/>
                </a:ext>
              </a:extLst>
            </p:cNvPr>
            <p:cNvSpPr/>
            <p:nvPr/>
          </p:nvSpPr>
          <p:spPr>
            <a:xfrm>
              <a:off x="10524258" y="2397950"/>
              <a:ext cx="336522" cy="336522"/>
            </a:xfrm>
            <a:custGeom>
              <a:avLst/>
              <a:gdLst/>
              <a:ahLst/>
              <a:cxnLst/>
              <a:rect l="l" t="t" r="r" b="b"/>
              <a:pathLst>
                <a:path w="336522" h="336522" extrusionOk="0">
                  <a:moveTo>
                    <a:pt x="336522" y="168261"/>
                  </a:moveTo>
                  <a:cubicBezTo>
                    <a:pt x="336522" y="75483"/>
                    <a:pt x="261039" y="0"/>
                    <a:pt x="168261" y="0"/>
                  </a:cubicBezTo>
                  <a:cubicBezTo>
                    <a:pt x="75483" y="0"/>
                    <a:pt x="0" y="75483"/>
                    <a:pt x="0" y="168261"/>
                  </a:cubicBezTo>
                  <a:cubicBezTo>
                    <a:pt x="0" y="261039"/>
                    <a:pt x="75483" y="336522"/>
                    <a:pt x="168261" y="336522"/>
                  </a:cubicBezTo>
                  <a:cubicBezTo>
                    <a:pt x="261039" y="336522"/>
                    <a:pt x="336522" y="261039"/>
                    <a:pt x="336522" y="168261"/>
                  </a:cubicBezTo>
                  <a:close/>
                  <a:moveTo>
                    <a:pt x="30593" y="168261"/>
                  </a:moveTo>
                  <a:cubicBezTo>
                    <a:pt x="30593" y="92350"/>
                    <a:pt x="92350" y="30593"/>
                    <a:pt x="168261" y="30593"/>
                  </a:cubicBezTo>
                  <a:cubicBezTo>
                    <a:pt x="244172" y="30593"/>
                    <a:pt x="305929" y="92350"/>
                    <a:pt x="305929" y="168261"/>
                  </a:cubicBezTo>
                  <a:cubicBezTo>
                    <a:pt x="305929" y="244172"/>
                    <a:pt x="244172" y="305929"/>
                    <a:pt x="168261" y="305929"/>
                  </a:cubicBezTo>
                  <a:cubicBezTo>
                    <a:pt x="92350" y="305929"/>
                    <a:pt x="30593" y="244172"/>
                    <a:pt x="30593" y="168261"/>
                  </a:cubicBezTo>
                  <a:close/>
                </a:path>
              </a:pathLst>
            </a:custGeom>
            <a:grp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 name="Google Shape;2289;p50">
              <a:extLst>
                <a:ext uri="{FF2B5EF4-FFF2-40B4-BE49-F238E27FC236}">
                  <a16:creationId xmlns:a16="http://schemas.microsoft.com/office/drawing/2014/main" id="{45390312-E95B-4BA5-B6BB-066662AEF39E}"/>
                </a:ext>
              </a:extLst>
            </p:cNvPr>
            <p:cNvSpPr/>
            <p:nvPr/>
          </p:nvSpPr>
          <p:spPr>
            <a:xfrm>
              <a:off x="10585444" y="2459136"/>
              <a:ext cx="214150" cy="214150"/>
            </a:xfrm>
            <a:custGeom>
              <a:avLst/>
              <a:gdLst/>
              <a:ahLst/>
              <a:cxnLst/>
              <a:rect l="l" t="t" r="r" b="b"/>
              <a:pathLst>
                <a:path w="214150" h="214150" extrusionOk="0">
                  <a:moveTo>
                    <a:pt x="214151" y="107075"/>
                  </a:moveTo>
                  <a:cubicBezTo>
                    <a:pt x="214151" y="48035"/>
                    <a:pt x="166116" y="0"/>
                    <a:pt x="107075" y="0"/>
                  </a:cubicBezTo>
                  <a:cubicBezTo>
                    <a:pt x="48035" y="0"/>
                    <a:pt x="0" y="48035"/>
                    <a:pt x="0" y="107075"/>
                  </a:cubicBezTo>
                  <a:cubicBezTo>
                    <a:pt x="0" y="166116"/>
                    <a:pt x="48035" y="214151"/>
                    <a:pt x="107075" y="214151"/>
                  </a:cubicBezTo>
                  <a:cubicBezTo>
                    <a:pt x="166116" y="214151"/>
                    <a:pt x="214151" y="166116"/>
                    <a:pt x="214151" y="107075"/>
                  </a:cubicBezTo>
                  <a:close/>
                  <a:moveTo>
                    <a:pt x="30593" y="107075"/>
                  </a:moveTo>
                  <a:cubicBezTo>
                    <a:pt x="30593" y="64902"/>
                    <a:pt x="64902" y="30593"/>
                    <a:pt x="107075" y="30593"/>
                  </a:cubicBezTo>
                  <a:cubicBezTo>
                    <a:pt x="149249" y="30593"/>
                    <a:pt x="183558" y="64902"/>
                    <a:pt x="183558" y="107075"/>
                  </a:cubicBezTo>
                  <a:cubicBezTo>
                    <a:pt x="183558" y="149249"/>
                    <a:pt x="149249" y="183558"/>
                    <a:pt x="107075" y="183558"/>
                  </a:cubicBezTo>
                  <a:cubicBezTo>
                    <a:pt x="64902" y="183558"/>
                    <a:pt x="30593" y="149249"/>
                    <a:pt x="30593" y="107075"/>
                  </a:cubicBezTo>
                  <a:close/>
                </a:path>
              </a:pathLst>
            </a:custGeom>
            <a:grp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27" name="Imagem 26">
            <a:extLst>
              <a:ext uri="{FF2B5EF4-FFF2-40B4-BE49-F238E27FC236}">
                <a16:creationId xmlns:a16="http://schemas.microsoft.com/office/drawing/2014/main" id="{9CAA8198-4547-4A10-BE16-89B365535323}"/>
              </a:ext>
            </a:extLst>
          </p:cNvPr>
          <p:cNvPicPr>
            <a:picLocks noChangeAspect="1"/>
          </p:cNvPicPr>
          <p:nvPr/>
        </p:nvPicPr>
        <p:blipFill>
          <a:blip r:embed="rId3"/>
          <a:stretch>
            <a:fillRect/>
          </a:stretch>
        </p:blipFill>
        <p:spPr>
          <a:xfrm>
            <a:off x="-124691" y="-20995"/>
            <a:ext cx="12316692" cy="88042"/>
          </a:xfrm>
          <a:prstGeom prst="rect">
            <a:avLst/>
          </a:prstGeom>
        </p:spPr>
      </p:pic>
      <p:sp>
        <p:nvSpPr>
          <p:cNvPr id="30" name="Título 1">
            <a:extLst>
              <a:ext uri="{FF2B5EF4-FFF2-40B4-BE49-F238E27FC236}">
                <a16:creationId xmlns:a16="http://schemas.microsoft.com/office/drawing/2014/main" id="{B5F01839-255A-433E-AC3A-3912E0BB8220}"/>
              </a:ext>
            </a:extLst>
          </p:cNvPr>
          <p:cNvSpPr txBox="1">
            <a:spLocks/>
          </p:cNvSpPr>
          <p:nvPr/>
        </p:nvSpPr>
        <p:spPr>
          <a:xfrm>
            <a:off x="3248168" y="3864620"/>
            <a:ext cx="5131558" cy="44807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pt-BR" sz="1600" dirty="0">
                <a:solidFill>
                  <a:srgbClr val="00B0F0"/>
                </a:solidFill>
                <a:latin typeface="Arial" panose="020B0604020202020204" pitchFamily="34" charset="0"/>
                <a:cs typeface="Arial" panose="020B0604020202020204" pitchFamily="34" charset="0"/>
              </a:rPr>
              <a:t>Cadastro Positivo</a:t>
            </a:r>
            <a:endParaRPr lang="pt-BR" sz="2400" dirty="0">
              <a:solidFill>
                <a:srgbClr val="00B0F0"/>
              </a:solidFill>
              <a:latin typeface="Arial" panose="020B0604020202020204" pitchFamily="34" charset="0"/>
              <a:cs typeface="Arial" panose="020B0604020202020204" pitchFamily="34" charset="0"/>
            </a:endParaRPr>
          </a:p>
        </p:txBody>
      </p:sp>
      <p:pic>
        <p:nvPicPr>
          <p:cNvPr id="31" name="Imagem 30">
            <a:extLst>
              <a:ext uri="{FF2B5EF4-FFF2-40B4-BE49-F238E27FC236}">
                <a16:creationId xmlns:a16="http://schemas.microsoft.com/office/drawing/2014/main" id="{F3CF74EE-56DC-40E5-881F-8C2EA2525EFB}"/>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7759146" y="2565415"/>
            <a:ext cx="2132458" cy="2132458"/>
          </a:xfrm>
          <a:prstGeom prst="rect">
            <a:avLst/>
          </a:prstGeom>
          <a:effectLst>
            <a:outerShdw blurRad="457200" dist="38100" dir="2700000" sx="106000" sy="106000" algn="tl" rotWithShape="0">
              <a:prstClr val="black">
                <a:alpha val="40000"/>
              </a:prstClr>
            </a:outerShdw>
            <a:reflection blurRad="6350" stA="50000" endA="300" endPos="55500" dist="101600" dir="5400000" sy="-100000" algn="bl" rotWithShape="0"/>
          </a:effectLst>
        </p:spPr>
      </p:pic>
    </p:spTree>
    <p:extLst>
      <p:ext uri="{BB962C8B-B14F-4D97-AF65-F5344CB8AC3E}">
        <p14:creationId xmlns:p14="http://schemas.microsoft.com/office/powerpoint/2010/main" val="35937114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Retângulo: Cantos Arredondados 79">
            <a:extLst>
              <a:ext uri="{FF2B5EF4-FFF2-40B4-BE49-F238E27FC236}">
                <a16:creationId xmlns:a16="http://schemas.microsoft.com/office/drawing/2014/main" id="{75B4443A-AB0F-41A7-8EBD-850DB095055A}"/>
              </a:ext>
            </a:extLst>
          </p:cNvPr>
          <p:cNvSpPr/>
          <p:nvPr/>
        </p:nvSpPr>
        <p:spPr>
          <a:xfrm>
            <a:off x="3748030" y="4080959"/>
            <a:ext cx="4814164" cy="1752907"/>
          </a:xfrm>
          <a:prstGeom prst="roundRect">
            <a:avLst/>
          </a:prstGeom>
          <a:solidFill>
            <a:schemeClr val="bg1">
              <a:alpha val="76000"/>
            </a:schemeClr>
          </a:solidFill>
          <a:ln>
            <a:noFill/>
          </a:ln>
          <a:effectLst>
            <a:outerShdw blurRad="177800" dist="38100" dir="5400000" sx="107000" sy="107000" algn="t" rotWithShape="0">
              <a:prstClr val="black">
                <a:alpha val="1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81" name="Retângulo: Cantos Arredondados 80">
            <a:extLst>
              <a:ext uri="{FF2B5EF4-FFF2-40B4-BE49-F238E27FC236}">
                <a16:creationId xmlns:a16="http://schemas.microsoft.com/office/drawing/2014/main" id="{CA314B76-9ED7-405F-8836-ADF96DD6847A}"/>
              </a:ext>
            </a:extLst>
          </p:cNvPr>
          <p:cNvSpPr/>
          <p:nvPr/>
        </p:nvSpPr>
        <p:spPr>
          <a:xfrm>
            <a:off x="3793751" y="4080960"/>
            <a:ext cx="4814164" cy="1752907"/>
          </a:xfrm>
          <a:prstGeom prst="roundRect">
            <a:avLst/>
          </a:prstGeom>
          <a:solidFill>
            <a:schemeClr val="bg1"/>
          </a:solidFill>
          <a:ln>
            <a:noFill/>
          </a:ln>
          <a:effectLst>
            <a:outerShdw dist="101600" dir="10740000" algn="t" rotWithShape="0">
              <a:srgbClr val="00B0F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76" name="Retângulo: Cantos Arredondados 75">
            <a:extLst>
              <a:ext uri="{FF2B5EF4-FFF2-40B4-BE49-F238E27FC236}">
                <a16:creationId xmlns:a16="http://schemas.microsoft.com/office/drawing/2014/main" id="{F9B8545C-EE3B-4A2D-88AF-B393E3C17F99}"/>
              </a:ext>
            </a:extLst>
          </p:cNvPr>
          <p:cNvSpPr/>
          <p:nvPr/>
        </p:nvSpPr>
        <p:spPr>
          <a:xfrm>
            <a:off x="6369022" y="2049479"/>
            <a:ext cx="4814164" cy="1737667"/>
          </a:xfrm>
          <a:prstGeom prst="roundRect">
            <a:avLst/>
          </a:prstGeom>
          <a:solidFill>
            <a:schemeClr val="bg1">
              <a:alpha val="76000"/>
            </a:schemeClr>
          </a:solidFill>
          <a:ln>
            <a:noFill/>
          </a:ln>
          <a:effectLst>
            <a:outerShdw blurRad="177800" dist="38100" dir="5400000" sx="107000" sy="107000" algn="t" rotWithShape="0">
              <a:prstClr val="black">
                <a:alpha val="1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77" name="Retângulo: Cantos Arredondados 76">
            <a:extLst>
              <a:ext uri="{FF2B5EF4-FFF2-40B4-BE49-F238E27FC236}">
                <a16:creationId xmlns:a16="http://schemas.microsoft.com/office/drawing/2014/main" id="{60D24A15-7CCF-4245-A75F-347C77ED1F42}"/>
              </a:ext>
            </a:extLst>
          </p:cNvPr>
          <p:cNvSpPr/>
          <p:nvPr/>
        </p:nvSpPr>
        <p:spPr>
          <a:xfrm>
            <a:off x="6391883" y="2060910"/>
            <a:ext cx="4814164" cy="1737667"/>
          </a:xfrm>
          <a:prstGeom prst="roundRect">
            <a:avLst/>
          </a:prstGeom>
          <a:solidFill>
            <a:schemeClr val="bg1"/>
          </a:solidFill>
          <a:ln>
            <a:noFill/>
          </a:ln>
          <a:effectLst>
            <a:outerShdw dist="101600" dir="10740000" algn="t" rotWithShape="0">
              <a:srgbClr val="00B0F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39" name="Imagem 38">
            <a:extLst>
              <a:ext uri="{FF2B5EF4-FFF2-40B4-BE49-F238E27FC236}">
                <a16:creationId xmlns:a16="http://schemas.microsoft.com/office/drawing/2014/main" id="{8F6A83EB-6687-479D-BD59-51B6B2B8CBF9}"/>
              </a:ext>
            </a:extLst>
          </p:cNvPr>
          <p:cNvPicPr>
            <a:picLocks noChangeAspect="1"/>
          </p:cNvPicPr>
          <p:nvPr/>
        </p:nvPicPr>
        <p:blipFill>
          <a:blip r:embed="rId2">
            <a:alphaModFix amt="4000"/>
          </a:blip>
          <a:stretch>
            <a:fillRect/>
          </a:stretch>
        </p:blipFill>
        <p:spPr>
          <a:xfrm>
            <a:off x="9157251" y="4596063"/>
            <a:ext cx="5030445" cy="5148116"/>
          </a:xfrm>
          <a:prstGeom prst="rect">
            <a:avLst/>
          </a:prstGeom>
          <a:effectLst/>
        </p:spPr>
      </p:pic>
      <p:pic>
        <p:nvPicPr>
          <p:cNvPr id="38" name="Imagem 37">
            <a:extLst>
              <a:ext uri="{FF2B5EF4-FFF2-40B4-BE49-F238E27FC236}">
                <a16:creationId xmlns:a16="http://schemas.microsoft.com/office/drawing/2014/main" id="{DE2A603E-716D-41D5-ABEF-1625839B46A3}"/>
              </a:ext>
            </a:extLst>
          </p:cNvPr>
          <p:cNvPicPr>
            <a:picLocks noChangeAspect="1"/>
          </p:cNvPicPr>
          <p:nvPr/>
        </p:nvPicPr>
        <p:blipFill>
          <a:blip r:embed="rId2">
            <a:alphaModFix amt="4000"/>
          </a:blip>
          <a:stretch>
            <a:fillRect/>
          </a:stretch>
        </p:blipFill>
        <p:spPr>
          <a:xfrm>
            <a:off x="-2128370" y="-2021305"/>
            <a:ext cx="5030445" cy="5148116"/>
          </a:xfrm>
          <a:prstGeom prst="rect">
            <a:avLst/>
          </a:prstGeom>
          <a:effectLst/>
        </p:spPr>
      </p:pic>
      <p:sp>
        <p:nvSpPr>
          <p:cNvPr id="15" name="Retângulo: Cantos Arredondados 14">
            <a:extLst>
              <a:ext uri="{FF2B5EF4-FFF2-40B4-BE49-F238E27FC236}">
                <a16:creationId xmlns:a16="http://schemas.microsoft.com/office/drawing/2014/main" id="{1B71EADA-2995-4F0E-898A-DAD0EBF1629A}"/>
              </a:ext>
            </a:extLst>
          </p:cNvPr>
          <p:cNvSpPr/>
          <p:nvPr/>
        </p:nvSpPr>
        <p:spPr>
          <a:xfrm>
            <a:off x="1112763" y="2608476"/>
            <a:ext cx="3625927" cy="527350"/>
          </a:xfrm>
          <a:prstGeom prst="round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rgbClr val="0B5892"/>
              </a:solidFill>
            </a:endParaRPr>
          </a:p>
        </p:txBody>
      </p:sp>
      <p:sp>
        <p:nvSpPr>
          <p:cNvPr id="6" name="Título 1">
            <a:extLst>
              <a:ext uri="{FF2B5EF4-FFF2-40B4-BE49-F238E27FC236}">
                <a16:creationId xmlns:a16="http://schemas.microsoft.com/office/drawing/2014/main" id="{F19E4ED5-6191-4819-BC5E-0686AFC2CEAF}"/>
              </a:ext>
            </a:extLst>
          </p:cNvPr>
          <p:cNvSpPr txBox="1">
            <a:spLocks/>
          </p:cNvSpPr>
          <p:nvPr/>
        </p:nvSpPr>
        <p:spPr>
          <a:xfrm>
            <a:off x="5946417" y="431573"/>
            <a:ext cx="5811865"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pt-BR" sz="1600" spc="600" dirty="0">
                <a:solidFill>
                  <a:srgbClr val="00B0F0"/>
                </a:solidFill>
                <a:latin typeface="Arial" panose="020B0604020202020204" pitchFamily="34" charset="0"/>
                <a:cs typeface="Arial" panose="020B0604020202020204" pitchFamily="34" charset="0"/>
              </a:rPr>
              <a:t>CADASTRO POSITIVO</a:t>
            </a:r>
          </a:p>
        </p:txBody>
      </p:sp>
      <p:grpSp>
        <p:nvGrpSpPr>
          <p:cNvPr id="20" name="Google Shape;1964;p50">
            <a:extLst>
              <a:ext uri="{FF2B5EF4-FFF2-40B4-BE49-F238E27FC236}">
                <a16:creationId xmlns:a16="http://schemas.microsoft.com/office/drawing/2014/main" id="{644333FE-63B4-42DF-ADFA-AF9177DF58D7}"/>
              </a:ext>
            </a:extLst>
          </p:cNvPr>
          <p:cNvGrpSpPr/>
          <p:nvPr/>
        </p:nvGrpSpPr>
        <p:grpSpPr>
          <a:xfrm flipH="1">
            <a:off x="742950" y="537670"/>
            <a:ext cx="603644" cy="576232"/>
            <a:chOff x="4126815" y="2760704"/>
            <a:chExt cx="380393" cy="363118"/>
          </a:xfrm>
          <a:solidFill>
            <a:srgbClr val="0B5892"/>
          </a:solidFill>
        </p:grpSpPr>
        <p:sp>
          <p:nvSpPr>
            <p:cNvPr id="21" name="Google Shape;1965;p50">
              <a:extLst>
                <a:ext uri="{FF2B5EF4-FFF2-40B4-BE49-F238E27FC236}">
                  <a16:creationId xmlns:a16="http://schemas.microsoft.com/office/drawing/2014/main" id="{C90A8E2B-6430-4128-93A1-80EDBF3E3BED}"/>
                </a:ext>
              </a:extLst>
            </p:cNvPr>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966;p50">
              <a:extLst>
                <a:ext uri="{FF2B5EF4-FFF2-40B4-BE49-F238E27FC236}">
                  <a16:creationId xmlns:a16="http://schemas.microsoft.com/office/drawing/2014/main" id="{C220A82A-DCEF-47A8-9174-5A849CB2B75F}"/>
                </a:ext>
              </a:extLst>
            </p:cNvPr>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967;p50">
              <a:extLst>
                <a:ext uri="{FF2B5EF4-FFF2-40B4-BE49-F238E27FC236}">
                  <a16:creationId xmlns:a16="http://schemas.microsoft.com/office/drawing/2014/main" id="{446DDA74-F73B-4510-BFCE-608659C3FC02}"/>
                </a:ext>
              </a:extLst>
            </p:cNvPr>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968;p50">
              <a:extLst>
                <a:ext uri="{FF2B5EF4-FFF2-40B4-BE49-F238E27FC236}">
                  <a16:creationId xmlns:a16="http://schemas.microsoft.com/office/drawing/2014/main" id="{487DFEED-06C3-4B9B-9B7A-545AAF95F24C}"/>
                </a:ext>
              </a:extLst>
            </p:cNvPr>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Retângulo 28">
            <a:extLst>
              <a:ext uri="{FF2B5EF4-FFF2-40B4-BE49-F238E27FC236}">
                <a16:creationId xmlns:a16="http://schemas.microsoft.com/office/drawing/2014/main" id="{0BBC58FB-2C41-419E-8246-609C9177CDA9}"/>
              </a:ext>
            </a:extLst>
          </p:cNvPr>
          <p:cNvSpPr/>
          <p:nvPr/>
        </p:nvSpPr>
        <p:spPr>
          <a:xfrm>
            <a:off x="-449179" y="6707874"/>
            <a:ext cx="14054469" cy="33461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 name="Imagem 7">
            <a:extLst>
              <a:ext uri="{FF2B5EF4-FFF2-40B4-BE49-F238E27FC236}">
                <a16:creationId xmlns:a16="http://schemas.microsoft.com/office/drawing/2014/main" id="{55CA91AA-A108-4071-B0A7-0374C74EDA09}"/>
              </a:ext>
            </a:extLst>
          </p:cNvPr>
          <p:cNvPicPr>
            <a:picLocks noChangeAspect="1"/>
          </p:cNvPicPr>
          <p:nvPr/>
        </p:nvPicPr>
        <p:blipFill>
          <a:blip r:embed="rId3"/>
          <a:stretch>
            <a:fillRect/>
          </a:stretch>
        </p:blipFill>
        <p:spPr>
          <a:xfrm>
            <a:off x="-124691" y="-20995"/>
            <a:ext cx="12316692" cy="88042"/>
          </a:xfrm>
          <a:prstGeom prst="rect">
            <a:avLst/>
          </a:prstGeom>
        </p:spPr>
      </p:pic>
      <p:sp>
        <p:nvSpPr>
          <p:cNvPr id="18" name="Título 1">
            <a:extLst>
              <a:ext uri="{FF2B5EF4-FFF2-40B4-BE49-F238E27FC236}">
                <a16:creationId xmlns:a16="http://schemas.microsoft.com/office/drawing/2014/main" id="{9BC75932-B40A-460F-B242-8264BFE06926}"/>
              </a:ext>
            </a:extLst>
          </p:cNvPr>
          <p:cNvSpPr txBox="1">
            <a:spLocks/>
          </p:cNvSpPr>
          <p:nvPr/>
        </p:nvSpPr>
        <p:spPr>
          <a:xfrm>
            <a:off x="1366068" y="448718"/>
            <a:ext cx="6453099"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spc="600" dirty="0">
                <a:solidFill>
                  <a:srgbClr val="0B5892"/>
                </a:solidFill>
                <a:latin typeface="Arial" panose="020B0604020202020204" pitchFamily="34" charset="0"/>
                <a:cs typeface="Arial" panose="020B0604020202020204" pitchFamily="34" charset="0"/>
              </a:rPr>
              <a:t>VISÃO GERAL DO CANAL</a:t>
            </a:r>
          </a:p>
        </p:txBody>
      </p:sp>
      <p:sp>
        <p:nvSpPr>
          <p:cNvPr id="19" name="Título 1">
            <a:extLst>
              <a:ext uri="{FF2B5EF4-FFF2-40B4-BE49-F238E27FC236}">
                <a16:creationId xmlns:a16="http://schemas.microsoft.com/office/drawing/2014/main" id="{CB92D9AB-3FEB-47AD-8015-DD30B5F902CE}"/>
              </a:ext>
            </a:extLst>
          </p:cNvPr>
          <p:cNvSpPr txBox="1">
            <a:spLocks/>
          </p:cNvSpPr>
          <p:nvPr/>
        </p:nvSpPr>
        <p:spPr>
          <a:xfrm>
            <a:off x="1400358" y="716411"/>
            <a:ext cx="6950456"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600" spc="300" dirty="0">
                <a:solidFill>
                  <a:srgbClr val="0B5892"/>
                </a:solidFill>
                <a:latin typeface="Arial" panose="020B0604020202020204" pitchFamily="34" charset="0"/>
                <a:cs typeface="Arial" panose="020B0604020202020204" pitchFamily="34" charset="0"/>
              </a:rPr>
              <a:t>Quantidade total de monitorias realizadas</a:t>
            </a:r>
          </a:p>
        </p:txBody>
      </p:sp>
      <p:cxnSp>
        <p:nvCxnSpPr>
          <p:cNvPr id="25" name="Conector reto 24">
            <a:extLst>
              <a:ext uri="{FF2B5EF4-FFF2-40B4-BE49-F238E27FC236}">
                <a16:creationId xmlns:a16="http://schemas.microsoft.com/office/drawing/2014/main" id="{C6F5D155-7AE8-4277-A61A-2EF88BF2DADC}"/>
              </a:ext>
            </a:extLst>
          </p:cNvPr>
          <p:cNvCxnSpPr/>
          <p:nvPr/>
        </p:nvCxnSpPr>
        <p:spPr>
          <a:xfrm>
            <a:off x="725988" y="1185955"/>
            <a:ext cx="9855200" cy="0"/>
          </a:xfrm>
          <a:prstGeom prst="line">
            <a:avLst/>
          </a:prstGeom>
          <a:ln>
            <a:solidFill>
              <a:srgbClr val="0B5892"/>
            </a:solidFill>
          </a:ln>
        </p:spPr>
        <p:style>
          <a:lnRef idx="1">
            <a:schemeClr val="accent1"/>
          </a:lnRef>
          <a:fillRef idx="0">
            <a:schemeClr val="accent1"/>
          </a:fillRef>
          <a:effectRef idx="0">
            <a:schemeClr val="accent1"/>
          </a:effectRef>
          <a:fontRef idx="minor">
            <a:schemeClr val="tx1"/>
          </a:fontRef>
        </p:style>
      </p:cxnSp>
      <p:sp>
        <p:nvSpPr>
          <p:cNvPr id="26" name="Retângulo: Cantos Arredondados 25">
            <a:extLst>
              <a:ext uri="{FF2B5EF4-FFF2-40B4-BE49-F238E27FC236}">
                <a16:creationId xmlns:a16="http://schemas.microsoft.com/office/drawing/2014/main" id="{D6CE0130-151A-4297-A436-4220E143FB10}"/>
              </a:ext>
            </a:extLst>
          </p:cNvPr>
          <p:cNvSpPr/>
          <p:nvPr/>
        </p:nvSpPr>
        <p:spPr>
          <a:xfrm>
            <a:off x="1038832" y="2022809"/>
            <a:ext cx="4814164" cy="1752907"/>
          </a:xfrm>
          <a:prstGeom prst="roundRect">
            <a:avLst/>
          </a:prstGeom>
          <a:solidFill>
            <a:schemeClr val="bg1">
              <a:alpha val="76000"/>
            </a:schemeClr>
          </a:solidFill>
          <a:ln>
            <a:noFill/>
          </a:ln>
          <a:effectLst>
            <a:outerShdw blurRad="177800" dist="38100" dir="5400000" sx="107000" sy="107000" algn="t" rotWithShape="0">
              <a:prstClr val="black">
                <a:alpha val="1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7" name="Retângulo: Cantos Arredondados 26">
            <a:extLst>
              <a:ext uri="{FF2B5EF4-FFF2-40B4-BE49-F238E27FC236}">
                <a16:creationId xmlns:a16="http://schemas.microsoft.com/office/drawing/2014/main" id="{7BB5200E-D583-4DFF-A3A0-F34072602F9F}"/>
              </a:ext>
            </a:extLst>
          </p:cNvPr>
          <p:cNvSpPr/>
          <p:nvPr/>
        </p:nvSpPr>
        <p:spPr>
          <a:xfrm>
            <a:off x="1084553" y="2022810"/>
            <a:ext cx="4814164" cy="1752907"/>
          </a:xfrm>
          <a:prstGeom prst="roundRect">
            <a:avLst/>
          </a:prstGeom>
          <a:solidFill>
            <a:schemeClr val="bg1"/>
          </a:solidFill>
          <a:ln>
            <a:noFill/>
          </a:ln>
          <a:effectLst>
            <a:outerShdw dist="101600" dir="10740000" algn="t" rotWithShape="0">
              <a:srgbClr val="00B0F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0" name="CaixaDeTexto 29">
            <a:extLst>
              <a:ext uri="{FF2B5EF4-FFF2-40B4-BE49-F238E27FC236}">
                <a16:creationId xmlns:a16="http://schemas.microsoft.com/office/drawing/2014/main" id="{3F7528B4-88F4-468A-8E7C-E472BD29EE3C}"/>
              </a:ext>
            </a:extLst>
          </p:cNvPr>
          <p:cNvSpPr txBox="1"/>
          <p:nvPr/>
        </p:nvSpPr>
        <p:spPr>
          <a:xfrm>
            <a:off x="1416624" y="2289908"/>
            <a:ext cx="3758268" cy="276999"/>
          </a:xfrm>
          <a:prstGeom prst="rect">
            <a:avLst/>
          </a:prstGeom>
          <a:noFill/>
        </p:spPr>
        <p:txBody>
          <a:bodyPr wrap="square" rtlCol="0">
            <a:spAutoFit/>
          </a:bodyPr>
          <a:lstStyle/>
          <a:p>
            <a:r>
              <a:rPr lang="pt-BR" sz="1200" b="1" dirty="0">
                <a:solidFill>
                  <a:schemeClr val="tx1">
                    <a:lumMod val="50000"/>
                    <a:lumOff val="50000"/>
                  </a:schemeClr>
                </a:solidFill>
                <a:latin typeface="Arial" panose="020B0604020202020204" pitchFamily="34" charset="0"/>
                <a:cs typeface="Arial" panose="020B0604020202020204" pitchFamily="34" charset="0"/>
              </a:rPr>
              <a:t>Volume de Monitorias </a:t>
            </a:r>
          </a:p>
        </p:txBody>
      </p:sp>
      <p:sp>
        <p:nvSpPr>
          <p:cNvPr id="31" name="CaixaDeTexto 30">
            <a:extLst>
              <a:ext uri="{FF2B5EF4-FFF2-40B4-BE49-F238E27FC236}">
                <a16:creationId xmlns:a16="http://schemas.microsoft.com/office/drawing/2014/main" id="{C04A5897-BEF2-4BD8-BE02-EA3E5D4A80D1}"/>
              </a:ext>
            </a:extLst>
          </p:cNvPr>
          <p:cNvSpPr txBox="1"/>
          <p:nvPr/>
        </p:nvSpPr>
        <p:spPr>
          <a:xfrm>
            <a:off x="1401154" y="2440436"/>
            <a:ext cx="1838183" cy="1107996"/>
          </a:xfrm>
          <a:prstGeom prst="rect">
            <a:avLst/>
          </a:prstGeom>
          <a:noFill/>
        </p:spPr>
        <p:txBody>
          <a:bodyPr wrap="square" rtlCol="0">
            <a:spAutoFit/>
          </a:bodyPr>
          <a:lstStyle/>
          <a:p>
            <a:r>
              <a:rPr lang="pt-BR" sz="6600" b="1" dirty="0">
                <a:solidFill>
                  <a:schemeClr val="tx1">
                    <a:lumMod val="50000"/>
                    <a:lumOff val="50000"/>
                  </a:schemeClr>
                </a:solidFill>
                <a:latin typeface="Arial" panose="020B0604020202020204" pitchFamily="34" charset="0"/>
                <a:cs typeface="Arial" panose="020B0604020202020204" pitchFamily="34" charset="0"/>
              </a:rPr>
              <a:t>23</a:t>
            </a:r>
          </a:p>
        </p:txBody>
      </p:sp>
      <p:sp>
        <p:nvSpPr>
          <p:cNvPr id="32" name="Google Shape;2081;p50">
            <a:extLst>
              <a:ext uri="{FF2B5EF4-FFF2-40B4-BE49-F238E27FC236}">
                <a16:creationId xmlns:a16="http://schemas.microsoft.com/office/drawing/2014/main" id="{BCBB39BF-ABF4-4D46-A5A2-ED525A956FBF}"/>
              </a:ext>
            </a:extLst>
          </p:cNvPr>
          <p:cNvSpPr/>
          <p:nvPr/>
        </p:nvSpPr>
        <p:spPr>
          <a:xfrm>
            <a:off x="5257022" y="2209326"/>
            <a:ext cx="192116" cy="240512"/>
          </a:xfrm>
          <a:custGeom>
            <a:avLst/>
            <a:gdLst/>
            <a:ahLst/>
            <a:cxnLst/>
            <a:rect l="l" t="t" r="r" b="b"/>
            <a:pathLst>
              <a:path w="7240" h="11467" extrusionOk="0">
                <a:moveTo>
                  <a:pt x="1048" y="346"/>
                </a:moveTo>
                <a:cubicBezTo>
                  <a:pt x="1156" y="346"/>
                  <a:pt x="1239" y="441"/>
                  <a:pt x="1239" y="537"/>
                </a:cubicBezTo>
                <a:cubicBezTo>
                  <a:pt x="1239" y="644"/>
                  <a:pt x="1156" y="727"/>
                  <a:pt x="1048" y="727"/>
                </a:cubicBezTo>
                <a:cubicBezTo>
                  <a:pt x="941" y="727"/>
                  <a:pt x="858" y="644"/>
                  <a:pt x="858" y="537"/>
                </a:cubicBezTo>
                <a:cubicBezTo>
                  <a:pt x="858" y="429"/>
                  <a:pt x="941" y="346"/>
                  <a:pt x="1048" y="346"/>
                </a:cubicBezTo>
                <a:close/>
                <a:moveTo>
                  <a:pt x="3549" y="1203"/>
                </a:moveTo>
                <a:lnTo>
                  <a:pt x="3906" y="1453"/>
                </a:lnTo>
                <a:lnTo>
                  <a:pt x="3549" y="1453"/>
                </a:lnTo>
                <a:lnTo>
                  <a:pt x="3549" y="1203"/>
                </a:lnTo>
                <a:close/>
                <a:moveTo>
                  <a:pt x="6883" y="1060"/>
                </a:moveTo>
                <a:lnTo>
                  <a:pt x="6883" y="1072"/>
                </a:lnTo>
                <a:lnTo>
                  <a:pt x="6097" y="2799"/>
                </a:lnTo>
                <a:cubicBezTo>
                  <a:pt x="6085" y="2846"/>
                  <a:pt x="6085" y="2894"/>
                  <a:pt x="6097" y="2942"/>
                </a:cubicBezTo>
                <a:lnTo>
                  <a:pt x="6883" y="4680"/>
                </a:lnTo>
                <a:lnTo>
                  <a:pt x="4620" y="4680"/>
                </a:lnTo>
                <a:lnTo>
                  <a:pt x="4620" y="1608"/>
                </a:lnTo>
                <a:cubicBezTo>
                  <a:pt x="4620" y="1549"/>
                  <a:pt x="4597" y="1501"/>
                  <a:pt x="4549" y="1477"/>
                </a:cubicBezTo>
                <a:lnTo>
                  <a:pt x="3942" y="1060"/>
                </a:lnTo>
                <a:close/>
                <a:moveTo>
                  <a:pt x="6883" y="4680"/>
                </a:moveTo>
                <a:cubicBezTo>
                  <a:pt x="6883" y="4686"/>
                  <a:pt x="6880" y="4689"/>
                  <a:pt x="6878" y="4689"/>
                </a:cubicBezTo>
                <a:cubicBezTo>
                  <a:pt x="6877" y="4689"/>
                  <a:pt x="6877" y="4686"/>
                  <a:pt x="6883" y="4680"/>
                </a:cubicBezTo>
                <a:close/>
                <a:moveTo>
                  <a:pt x="4299" y="1787"/>
                </a:moveTo>
                <a:lnTo>
                  <a:pt x="4299" y="5394"/>
                </a:lnTo>
                <a:lnTo>
                  <a:pt x="1941" y="5406"/>
                </a:lnTo>
                <a:lnTo>
                  <a:pt x="1941" y="2692"/>
                </a:lnTo>
                <a:cubicBezTo>
                  <a:pt x="1941" y="2608"/>
                  <a:pt x="1870" y="2537"/>
                  <a:pt x="1787" y="2537"/>
                </a:cubicBezTo>
                <a:cubicBezTo>
                  <a:pt x="1691" y="2537"/>
                  <a:pt x="1620" y="2608"/>
                  <a:pt x="1620" y="2692"/>
                </a:cubicBezTo>
                <a:lnTo>
                  <a:pt x="1620" y="5406"/>
                </a:lnTo>
                <a:lnTo>
                  <a:pt x="1227" y="5406"/>
                </a:lnTo>
                <a:lnTo>
                  <a:pt x="1227" y="1787"/>
                </a:lnTo>
                <a:lnTo>
                  <a:pt x="1620" y="1787"/>
                </a:lnTo>
                <a:lnTo>
                  <a:pt x="1620" y="1989"/>
                </a:lnTo>
                <a:cubicBezTo>
                  <a:pt x="1620" y="2072"/>
                  <a:pt x="1691" y="2144"/>
                  <a:pt x="1787" y="2144"/>
                </a:cubicBezTo>
                <a:cubicBezTo>
                  <a:pt x="1870" y="2144"/>
                  <a:pt x="1941" y="2072"/>
                  <a:pt x="1941" y="1989"/>
                </a:cubicBezTo>
                <a:lnTo>
                  <a:pt x="1941" y="1787"/>
                </a:lnTo>
                <a:close/>
                <a:moveTo>
                  <a:pt x="1584" y="10764"/>
                </a:moveTo>
                <a:cubicBezTo>
                  <a:pt x="1691" y="10764"/>
                  <a:pt x="1787" y="10859"/>
                  <a:pt x="1787" y="10954"/>
                </a:cubicBezTo>
                <a:lnTo>
                  <a:pt x="1787" y="11145"/>
                </a:lnTo>
                <a:lnTo>
                  <a:pt x="322" y="11145"/>
                </a:lnTo>
                <a:lnTo>
                  <a:pt x="322" y="10954"/>
                </a:lnTo>
                <a:cubicBezTo>
                  <a:pt x="322" y="10847"/>
                  <a:pt x="417" y="10764"/>
                  <a:pt x="513" y="10764"/>
                </a:cubicBezTo>
                <a:close/>
                <a:moveTo>
                  <a:pt x="1048" y="1"/>
                </a:moveTo>
                <a:cubicBezTo>
                  <a:pt x="775" y="1"/>
                  <a:pt x="536" y="239"/>
                  <a:pt x="536" y="525"/>
                </a:cubicBezTo>
                <a:cubicBezTo>
                  <a:pt x="536" y="763"/>
                  <a:pt x="679" y="953"/>
                  <a:pt x="894" y="1037"/>
                </a:cubicBezTo>
                <a:lnTo>
                  <a:pt x="894" y="10419"/>
                </a:lnTo>
                <a:lnTo>
                  <a:pt x="513" y="10419"/>
                </a:lnTo>
                <a:cubicBezTo>
                  <a:pt x="215" y="10419"/>
                  <a:pt x="1" y="10657"/>
                  <a:pt x="1" y="10943"/>
                </a:cubicBezTo>
                <a:lnTo>
                  <a:pt x="1" y="11300"/>
                </a:lnTo>
                <a:cubicBezTo>
                  <a:pt x="1" y="11395"/>
                  <a:pt x="72" y="11466"/>
                  <a:pt x="155" y="11466"/>
                </a:cubicBezTo>
                <a:lnTo>
                  <a:pt x="1965" y="11466"/>
                </a:lnTo>
                <a:cubicBezTo>
                  <a:pt x="2049" y="11466"/>
                  <a:pt x="2120" y="11395"/>
                  <a:pt x="2120" y="11300"/>
                </a:cubicBezTo>
                <a:lnTo>
                  <a:pt x="2120" y="10943"/>
                </a:lnTo>
                <a:cubicBezTo>
                  <a:pt x="2120" y="10645"/>
                  <a:pt x="1882" y="10419"/>
                  <a:pt x="1608" y="10419"/>
                </a:cubicBezTo>
                <a:lnTo>
                  <a:pt x="1227" y="10419"/>
                </a:lnTo>
                <a:lnTo>
                  <a:pt x="1227" y="5740"/>
                </a:lnTo>
                <a:lnTo>
                  <a:pt x="4299" y="5740"/>
                </a:lnTo>
                <a:cubicBezTo>
                  <a:pt x="4489" y="5740"/>
                  <a:pt x="4632" y="5585"/>
                  <a:pt x="4632" y="5394"/>
                </a:cubicBezTo>
                <a:lnTo>
                  <a:pt x="4632" y="5025"/>
                </a:lnTo>
                <a:lnTo>
                  <a:pt x="6883" y="5025"/>
                </a:lnTo>
                <a:cubicBezTo>
                  <a:pt x="7002" y="5025"/>
                  <a:pt x="7109" y="4966"/>
                  <a:pt x="7180" y="4859"/>
                </a:cubicBezTo>
                <a:cubicBezTo>
                  <a:pt x="7228" y="4763"/>
                  <a:pt x="7240" y="4632"/>
                  <a:pt x="7180" y="4525"/>
                </a:cubicBezTo>
                <a:lnTo>
                  <a:pt x="6442" y="2882"/>
                </a:lnTo>
                <a:lnTo>
                  <a:pt x="7180" y="1227"/>
                </a:lnTo>
                <a:cubicBezTo>
                  <a:pt x="7228" y="1120"/>
                  <a:pt x="7228" y="989"/>
                  <a:pt x="7156" y="894"/>
                </a:cubicBezTo>
                <a:cubicBezTo>
                  <a:pt x="7097" y="787"/>
                  <a:pt x="6978" y="727"/>
                  <a:pt x="6859" y="727"/>
                </a:cubicBezTo>
                <a:lnTo>
                  <a:pt x="3358" y="727"/>
                </a:lnTo>
                <a:cubicBezTo>
                  <a:pt x="3275" y="727"/>
                  <a:pt x="3192" y="810"/>
                  <a:pt x="3192" y="894"/>
                </a:cubicBezTo>
                <a:lnTo>
                  <a:pt x="3192" y="1453"/>
                </a:lnTo>
                <a:lnTo>
                  <a:pt x="1215" y="1453"/>
                </a:lnTo>
                <a:lnTo>
                  <a:pt x="1215" y="1037"/>
                </a:lnTo>
                <a:cubicBezTo>
                  <a:pt x="1429" y="953"/>
                  <a:pt x="1572" y="763"/>
                  <a:pt x="1572" y="525"/>
                </a:cubicBezTo>
                <a:cubicBezTo>
                  <a:pt x="1572" y="227"/>
                  <a:pt x="1334" y="1"/>
                  <a:pt x="1048" y="1"/>
                </a:cubicBezTo>
                <a:close/>
              </a:path>
            </a:pathLst>
          </a:custGeom>
          <a:solidFill>
            <a:schemeClr val="tx1">
              <a:lumMod val="85000"/>
              <a:lumOff val="1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CaixaDeTexto 32">
            <a:extLst>
              <a:ext uri="{FF2B5EF4-FFF2-40B4-BE49-F238E27FC236}">
                <a16:creationId xmlns:a16="http://schemas.microsoft.com/office/drawing/2014/main" id="{0CA63353-40AC-40B2-A5C2-734BB29F6637}"/>
              </a:ext>
            </a:extLst>
          </p:cNvPr>
          <p:cNvSpPr txBox="1"/>
          <p:nvPr/>
        </p:nvSpPr>
        <p:spPr>
          <a:xfrm>
            <a:off x="1404413" y="3360345"/>
            <a:ext cx="3953866" cy="246221"/>
          </a:xfrm>
          <a:prstGeom prst="rect">
            <a:avLst/>
          </a:prstGeom>
          <a:noFill/>
        </p:spPr>
        <p:txBody>
          <a:bodyPr wrap="square" rtlCol="0">
            <a:spAutoFit/>
          </a:bodyPr>
          <a:lstStyle/>
          <a:p>
            <a:r>
              <a:rPr lang="pt-BR" sz="1000" b="1" dirty="0">
                <a:solidFill>
                  <a:schemeClr val="tx1">
                    <a:lumMod val="50000"/>
                    <a:lumOff val="50000"/>
                  </a:schemeClr>
                </a:solidFill>
                <a:latin typeface="Arial" panose="020B0604020202020204" pitchFamily="34" charset="0"/>
                <a:cs typeface="Arial" panose="020B0604020202020204" pitchFamily="34" charset="0"/>
              </a:rPr>
              <a:t>(Qualidade + Operação)</a:t>
            </a:r>
          </a:p>
        </p:txBody>
      </p:sp>
      <p:sp>
        <p:nvSpPr>
          <p:cNvPr id="36" name="CaixaDeTexto 35">
            <a:extLst>
              <a:ext uri="{FF2B5EF4-FFF2-40B4-BE49-F238E27FC236}">
                <a16:creationId xmlns:a16="http://schemas.microsoft.com/office/drawing/2014/main" id="{5A9E22E9-AA98-4B42-8F8D-6BE3DA249752}"/>
              </a:ext>
            </a:extLst>
          </p:cNvPr>
          <p:cNvSpPr txBox="1"/>
          <p:nvPr/>
        </p:nvSpPr>
        <p:spPr>
          <a:xfrm>
            <a:off x="6709767" y="2198468"/>
            <a:ext cx="1811109" cy="276999"/>
          </a:xfrm>
          <a:prstGeom prst="rect">
            <a:avLst/>
          </a:prstGeom>
          <a:noFill/>
        </p:spPr>
        <p:txBody>
          <a:bodyPr wrap="square" rtlCol="0">
            <a:spAutoFit/>
          </a:bodyPr>
          <a:lstStyle/>
          <a:p>
            <a:r>
              <a:rPr lang="pt-BR" sz="1200" b="1" dirty="0">
                <a:solidFill>
                  <a:schemeClr val="tx1">
                    <a:lumMod val="50000"/>
                    <a:lumOff val="50000"/>
                  </a:schemeClr>
                </a:solidFill>
                <a:latin typeface="Arial" panose="020B0604020202020204" pitchFamily="34" charset="0"/>
                <a:cs typeface="Arial" panose="020B0604020202020204" pitchFamily="34" charset="0"/>
              </a:rPr>
              <a:t>Média Do Mês</a:t>
            </a:r>
          </a:p>
        </p:txBody>
      </p:sp>
      <p:sp>
        <p:nvSpPr>
          <p:cNvPr id="37" name="CaixaDeTexto 36">
            <a:extLst>
              <a:ext uri="{FF2B5EF4-FFF2-40B4-BE49-F238E27FC236}">
                <a16:creationId xmlns:a16="http://schemas.microsoft.com/office/drawing/2014/main" id="{CD33852A-A47C-4576-9C4A-3C972DD40094}"/>
              </a:ext>
            </a:extLst>
          </p:cNvPr>
          <p:cNvSpPr txBox="1"/>
          <p:nvPr/>
        </p:nvSpPr>
        <p:spPr>
          <a:xfrm>
            <a:off x="6625864" y="2463476"/>
            <a:ext cx="3160305" cy="1015663"/>
          </a:xfrm>
          <a:prstGeom prst="rect">
            <a:avLst/>
          </a:prstGeom>
          <a:noFill/>
        </p:spPr>
        <p:txBody>
          <a:bodyPr wrap="square" rtlCol="0">
            <a:spAutoFit/>
          </a:bodyPr>
          <a:lstStyle/>
          <a:p>
            <a:r>
              <a:rPr lang="pt-BR" sz="6000" b="1" dirty="0">
                <a:solidFill>
                  <a:schemeClr val="tx1">
                    <a:lumMod val="50000"/>
                    <a:lumOff val="50000"/>
                  </a:schemeClr>
                </a:solidFill>
                <a:latin typeface="Arial" panose="020B0604020202020204" pitchFamily="34" charset="0"/>
                <a:cs typeface="Arial" panose="020B0604020202020204" pitchFamily="34" charset="0"/>
              </a:rPr>
              <a:t>94,61</a:t>
            </a:r>
          </a:p>
        </p:txBody>
      </p:sp>
      <p:sp>
        <p:nvSpPr>
          <p:cNvPr id="40" name="CaixaDeTexto 39">
            <a:extLst>
              <a:ext uri="{FF2B5EF4-FFF2-40B4-BE49-F238E27FC236}">
                <a16:creationId xmlns:a16="http://schemas.microsoft.com/office/drawing/2014/main" id="{C31C7B74-2118-4CDD-B0D0-DE1F77107782}"/>
              </a:ext>
            </a:extLst>
          </p:cNvPr>
          <p:cNvSpPr txBox="1"/>
          <p:nvPr/>
        </p:nvSpPr>
        <p:spPr>
          <a:xfrm>
            <a:off x="6699471" y="3432865"/>
            <a:ext cx="1727871" cy="246221"/>
          </a:xfrm>
          <a:prstGeom prst="rect">
            <a:avLst/>
          </a:prstGeom>
          <a:noFill/>
        </p:spPr>
        <p:txBody>
          <a:bodyPr wrap="square" rtlCol="0">
            <a:spAutoFit/>
          </a:bodyPr>
          <a:lstStyle/>
          <a:p>
            <a:r>
              <a:rPr lang="pt-BR" sz="1000" b="1" dirty="0">
                <a:solidFill>
                  <a:schemeClr val="tx1">
                    <a:lumMod val="50000"/>
                    <a:lumOff val="50000"/>
                  </a:schemeClr>
                </a:solidFill>
                <a:latin typeface="Arial" panose="020B0604020202020204" pitchFamily="34" charset="0"/>
                <a:cs typeface="Arial" panose="020B0604020202020204" pitchFamily="34" charset="0"/>
              </a:rPr>
              <a:t>(Qualidade + Operação)</a:t>
            </a:r>
          </a:p>
        </p:txBody>
      </p:sp>
      <p:grpSp>
        <p:nvGrpSpPr>
          <p:cNvPr id="41" name="Google Shape;2561;p51">
            <a:extLst>
              <a:ext uri="{FF2B5EF4-FFF2-40B4-BE49-F238E27FC236}">
                <a16:creationId xmlns:a16="http://schemas.microsoft.com/office/drawing/2014/main" id="{6FBEF20F-E903-44C4-881A-70AE6F8AEF33}"/>
              </a:ext>
            </a:extLst>
          </p:cNvPr>
          <p:cNvGrpSpPr/>
          <p:nvPr/>
        </p:nvGrpSpPr>
        <p:grpSpPr>
          <a:xfrm>
            <a:off x="10600511" y="2217726"/>
            <a:ext cx="230870" cy="230118"/>
            <a:chOff x="852385" y="1510916"/>
            <a:chExt cx="353145" cy="351998"/>
          </a:xfrm>
          <a:solidFill>
            <a:schemeClr val="tx1">
              <a:lumMod val="85000"/>
              <a:lumOff val="15000"/>
            </a:schemeClr>
          </a:solidFill>
        </p:grpSpPr>
        <p:sp>
          <p:nvSpPr>
            <p:cNvPr id="42" name="Google Shape;2562;p51">
              <a:extLst>
                <a:ext uri="{FF2B5EF4-FFF2-40B4-BE49-F238E27FC236}">
                  <a16:creationId xmlns:a16="http://schemas.microsoft.com/office/drawing/2014/main" id="{864D4EBC-4F20-4F03-B58B-E924ED9A2A8A}"/>
                </a:ext>
              </a:extLst>
            </p:cNvPr>
            <p:cNvSpPr/>
            <p:nvPr/>
          </p:nvSpPr>
          <p:spPr>
            <a:xfrm>
              <a:off x="852385" y="1510916"/>
              <a:ext cx="353145" cy="187785"/>
            </a:xfrm>
            <a:custGeom>
              <a:avLst/>
              <a:gdLst/>
              <a:ahLst/>
              <a:cxnLst/>
              <a:rect l="l" t="t" r="r" b="b"/>
              <a:pathLst>
                <a:path w="11086" h="5895" extrusionOk="0">
                  <a:moveTo>
                    <a:pt x="6145" y="334"/>
                  </a:moveTo>
                  <a:lnTo>
                    <a:pt x="6145" y="703"/>
                  </a:lnTo>
                  <a:lnTo>
                    <a:pt x="4942" y="703"/>
                  </a:lnTo>
                  <a:lnTo>
                    <a:pt x="4942" y="334"/>
                  </a:lnTo>
                  <a:close/>
                  <a:moveTo>
                    <a:pt x="10764" y="1025"/>
                  </a:moveTo>
                  <a:lnTo>
                    <a:pt x="10764" y="1596"/>
                  </a:lnTo>
                  <a:lnTo>
                    <a:pt x="346" y="1596"/>
                  </a:lnTo>
                  <a:lnTo>
                    <a:pt x="346" y="1025"/>
                  </a:lnTo>
                  <a:close/>
                  <a:moveTo>
                    <a:pt x="4775" y="1"/>
                  </a:moveTo>
                  <a:cubicBezTo>
                    <a:pt x="4692" y="1"/>
                    <a:pt x="4621" y="84"/>
                    <a:pt x="4621" y="167"/>
                  </a:cubicBezTo>
                  <a:lnTo>
                    <a:pt x="4621" y="703"/>
                  </a:lnTo>
                  <a:lnTo>
                    <a:pt x="168" y="703"/>
                  </a:lnTo>
                  <a:cubicBezTo>
                    <a:pt x="72" y="703"/>
                    <a:pt x="1" y="775"/>
                    <a:pt x="1" y="870"/>
                  </a:cubicBezTo>
                  <a:lnTo>
                    <a:pt x="1" y="1751"/>
                  </a:lnTo>
                  <a:cubicBezTo>
                    <a:pt x="1" y="1834"/>
                    <a:pt x="72" y="1906"/>
                    <a:pt x="168" y="1906"/>
                  </a:cubicBezTo>
                  <a:lnTo>
                    <a:pt x="656" y="1906"/>
                  </a:lnTo>
                  <a:lnTo>
                    <a:pt x="656" y="2620"/>
                  </a:lnTo>
                  <a:cubicBezTo>
                    <a:pt x="656" y="2715"/>
                    <a:pt x="727" y="2787"/>
                    <a:pt x="822" y="2787"/>
                  </a:cubicBezTo>
                  <a:cubicBezTo>
                    <a:pt x="906" y="2787"/>
                    <a:pt x="989" y="2715"/>
                    <a:pt x="989" y="2620"/>
                  </a:cubicBezTo>
                  <a:lnTo>
                    <a:pt x="989" y="1906"/>
                  </a:lnTo>
                  <a:lnTo>
                    <a:pt x="10109" y="1906"/>
                  </a:lnTo>
                  <a:lnTo>
                    <a:pt x="10109" y="5740"/>
                  </a:lnTo>
                  <a:cubicBezTo>
                    <a:pt x="10109" y="5823"/>
                    <a:pt x="10181" y="5894"/>
                    <a:pt x="10276" y="5894"/>
                  </a:cubicBezTo>
                  <a:cubicBezTo>
                    <a:pt x="10359" y="5894"/>
                    <a:pt x="10431" y="5823"/>
                    <a:pt x="10431" y="5740"/>
                  </a:cubicBezTo>
                  <a:lnTo>
                    <a:pt x="10431" y="1918"/>
                  </a:lnTo>
                  <a:lnTo>
                    <a:pt x="10931" y="1918"/>
                  </a:lnTo>
                  <a:cubicBezTo>
                    <a:pt x="11014" y="1918"/>
                    <a:pt x="11086" y="1846"/>
                    <a:pt x="11086" y="1763"/>
                  </a:cubicBezTo>
                  <a:lnTo>
                    <a:pt x="11086" y="882"/>
                  </a:lnTo>
                  <a:cubicBezTo>
                    <a:pt x="11086" y="775"/>
                    <a:pt x="11014" y="703"/>
                    <a:pt x="10931" y="703"/>
                  </a:cubicBezTo>
                  <a:lnTo>
                    <a:pt x="6478" y="703"/>
                  </a:lnTo>
                  <a:lnTo>
                    <a:pt x="6478" y="167"/>
                  </a:lnTo>
                  <a:cubicBezTo>
                    <a:pt x="6478" y="84"/>
                    <a:pt x="6406" y="1"/>
                    <a:pt x="631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563;p51">
              <a:extLst>
                <a:ext uri="{FF2B5EF4-FFF2-40B4-BE49-F238E27FC236}">
                  <a16:creationId xmlns:a16="http://schemas.microsoft.com/office/drawing/2014/main" id="{B6FB790E-6181-494B-8F66-47D168E05014}"/>
                </a:ext>
              </a:extLst>
            </p:cNvPr>
            <p:cNvSpPr/>
            <p:nvPr/>
          </p:nvSpPr>
          <p:spPr>
            <a:xfrm>
              <a:off x="852385" y="1609921"/>
              <a:ext cx="353145" cy="252992"/>
            </a:xfrm>
            <a:custGeom>
              <a:avLst/>
              <a:gdLst/>
              <a:ahLst/>
              <a:cxnLst/>
              <a:rect l="l" t="t" r="r" b="b"/>
              <a:pathLst>
                <a:path w="11086" h="7942" extrusionOk="0">
                  <a:moveTo>
                    <a:pt x="10764" y="4382"/>
                  </a:moveTo>
                  <a:lnTo>
                    <a:pt x="10764" y="4953"/>
                  </a:lnTo>
                  <a:lnTo>
                    <a:pt x="346" y="4953"/>
                  </a:lnTo>
                  <a:lnTo>
                    <a:pt x="346" y="4382"/>
                  </a:lnTo>
                  <a:close/>
                  <a:moveTo>
                    <a:pt x="6406" y="5275"/>
                  </a:moveTo>
                  <a:lnTo>
                    <a:pt x="6895" y="6168"/>
                  </a:lnTo>
                  <a:lnTo>
                    <a:pt x="4228" y="6168"/>
                  </a:lnTo>
                  <a:lnTo>
                    <a:pt x="4716" y="5275"/>
                  </a:lnTo>
                  <a:close/>
                  <a:moveTo>
                    <a:pt x="4335" y="5275"/>
                  </a:moveTo>
                  <a:lnTo>
                    <a:pt x="3049" y="7608"/>
                  </a:lnTo>
                  <a:lnTo>
                    <a:pt x="2573" y="7608"/>
                  </a:lnTo>
                  <a:lnTo>
                    <a:pt x="3859" y="5275"/>
                  </a:lnTo>
                  <a:close/>
                  <a:moveTo>
                    <a:pt x="7240" y="5275"/>
                  </a:moveTo>
                  <a:lnTo>
                    <a:pt x="8514" y="7608"/>
                  </a:lnTo>
                  <a:lnTo>
                    <a:pt x="8038" y="7608"/>
                  </a:lnTo>
                  <a:lnTo>
                    <a:pt x="6764" y="5275"/>
                  </a:lnTo>
                  <a:close/>
                  <a:moveTo>
                    <a:pt x="822" y="0"/>
                  </a:moveTo>
                  <a:cubicBezTo>
                    <a:pt x="727" y="0"/>
                    <a:pt x="656" y="84"/>
                    <a:pt x="656" y="167"/>
                  </a:cubicBezTo>
                  <a:lnTo>
                    <a:pt x="656" y="4072"/>
                  </a:lnTo>
                  <a:lnTo>
                    <a:pt x="168" y="4072"/>
                  </a:lnTo>
                  <a:cubicBezTo>
                    <a:pt x="72" y="4072"/>
                    <a:pt x="1" y="4144"/>
                    <a:pt x="1" y="4239"/>
                  </a:cubicBezTo>
                  <a:lnTo>
                    <a:pt x="1" y="5108"/>
                  </a:lnTo>
                  <a:cubicBezTo>
                    <a:pt x="1" y="5203"/>
                    <a:pt x="72" y="5275"/>
                    <a:pt x="168" y="5275"/>
                  </a:cubicBezTo>
                  <a:lnTo>
                    <a:pt x="3489" y="5275"/>
                  </a:lnTo>
                  <a:lnTo>
                    <a:pt x="2144" y="7704"/>
                  </a:lnTo>
                  <a:cubicBezTo>
                    <a:pt x="2120" y="7751"/>
                    <a:pt x="2120" y="7811"/>
                    <a:pt x="2144" y="7870"/>
                  </a:cubicBezTo>
                  <a:cubicBezTo>
                    <a:pt x="2180" y="7906"/>
                    <a:pt x="2239" y="7942"/>
                    <a:pt x="2275" y="7942"/>
                  </a:cubicBezTo>
                  <a:lnTo>
                    <a:pt x="3132" y="7942"/>
                  </a:lnTo>
                  <a:cubicBezTo>
                    <a:pt x="3192" y="7942"/>
                    <a:pt x="3251" y="7906"/>
                    <a:pt x="3275" y="7846"/>
                  </a:cubicBezTo>
                  <a:lnTo>
                    <a:pt x="3644" y="7168"/>
                  </a:lnTo>
                  <a:lnTo>
                    <a:pt x="4644" y="7168"/>
                  </a:lnTo>
                  <a:cubicBezTo>
                    <a:pt x="4728" y="7168"/>
                    <a:pt x="4811" y="7096"/>
                    <a:pt x="4811" y="7001"/>
                  </a:cubicBezTo>
                  <a:cubicBezTo>
                    <a:pt x="4811" y="6906"/>
                    <a:pt x="4728" y="6834"/>
                    <a:pt x="4644" y="6834"/>
                  </a:cubicBezTo>
                  <a:lnTo>
                    <a:pt x="3823" y="6834"/>
                  </a:lnTo>
                  <a:lnTo>
                    <a:pt x="4037" y="6465"/>
                  </a:lnTo>
                  <a:lnTo>
                    <a:pt x="7061" y="6465"/>
                  </a:lnTo>
                  <a:lnTo>
                    <a:pt x="7252" y="6834"/>
                  </a:lnTo>
                  <a:lnTo>
                    <a:pt x="5299" y="6834"/>
                  </a:lnTo>
                  <a:cubicBezTo>
                    <a:pt x="5216" y="6834"/>
                    <a:pt x="5133" y="6906"/>
                    <a:pt x="5133" y="7001"/>
                  </a:cubicBezTo>
                  <a:cubicBezTo>
                    <a:pt x="5133" y="7096"/>
                    <a:pt x="5216" y="7168"/>
                    <a:pt x="5299" y="7168"/>
                  </a:cubicBezTo>
                  <a:lnTo>
                    <a:pt x="7430" y="7168"/>
                  </a:lnTo>
                  <a:lnTo>
                    <a:pt x="7800" y="7846"/>
                  </a:lnTo>
                  <a:cubicBezTo>
                    <a:pt x="7835" y="7894"/>
                    <a:pt x="7895" y="7942"/>
                    <a:pt x="7954" y="7942"/>
                  </a:cubicBezTo>
                  <a:lnTo>
                    <a:pt x="8800" y="7942"/>
                  </a:lnTo>
                  <a:cubicBezTo>
                    <a:pt x="8859" y="7942"/>
                    <a:pt x="8907" y="7906"/>
                    <a:pt x="8931" y="7870"/>
                  </a:cubicBezTo>
                  <a:cubicBezTo>
                    <a:pt x="8966" y="7823"/>
                    <a:pt x="8966" y="7763"/>
                    <a:pt x="8931" y="7704"/>
                  </a:cubicBezTo>
                  <a:lnTo>
                    <a:pt x="7597" y="5275"/>
                  </a:lnTo>
                  <a:lnTo>
                    <a:pt x="10931" y="5275"/>
                  </a:lnTo>
                  <a:cubicBezTo>
                    <a:pt x="11014" y="5275"/>
                    <a:pt x="11086" y="5203"/>
                    <a:pt x="11086" y="5108"/>
                  </a:cubicBezTo>
                  <a:lnTo>
                    <a:pt x="11086" y="4239"/>
                  </a:lnTo>
                  <a:cubicBezTo>
                    <a:pt x="11086" y="4144"/>
                    <a:pt x="11014" y="4072"/>
                    <a:pt x="10931" y="4072"/>
                  </a:cubicBezTo>
                  <a:lnTo>
                    <a:pt x="10431" y="4072"/>
                  </a:lnTo>
                  <a:lnTo>
                    <a:pt x="10431" y="3263"/>
                  </a:lnTo>
                  <a:cubicBezTo>
                    <a:pt x="10431" y="3179"/>
                    <a:pt x="10359" y="3108"/>
                    <a:pt x="10276" y="3108"/>
                  </a:cubicBezTo>
                  <a:cubicBezTo>
                    <a:pt x="10181" y="3108"/>
                    <a:pt x="10109" y="3179"/>
                    <a:pt x="10109" y="3263"/>
                  </a:cubicBezTo>
                  <a:lnTo>
                    <a:pt x="10109" y="4072"/>
                  </a:lnTo>
                  <a:lnTo>
                    <a:pt x="989" y="4072"/>
                  </a:lnTo>
                  <a:lnTo>
                    <a:pt x="989" y="167"/>
                  </a:lnTo>
                  <a:cubicBezTo>
                    <a:pt x="989" y="84"/>
                    <a:pt x="906" y="0"/>
                    <a:pt x="82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564;p51">
              <a:extLst>
                <a:ext uri="{FF2B5EF4-FFF2-40B4-BE49-F238E27FC236}">
                  <a16:creationId xmlns:a16="http://schemas.microsoft.com/office/drawing/2014/main" id="{099484A7-C227-4045-819C-75C2F7C47320}"/>
                </a:ext>
              </a:extLst>
            </p:cNvPr>
            <p:cNvSpPr/>
            <p:nvPr/>
          </p:nvSpPr>
          <p:spPr>
            <a:xfrm>
              <a:off x="928264" y="1584501"/>
              <a:ext cx="198775" cy="140735"/>
            </a:xfrm>
            <a:custGeom>
              <a:avLst/>
              <a:gdLst/>
              <a:ahLst/>
              <a:cxnLst/>
              <a:rect l="l" t="t" r="r" b="b"/>
              <a:pathLst>
                <a:path w="6240" h="4418" extrusionOk="0">
                  <a:moveTo>
                    <a:pt x="5608" y="322"/>
                  </a:moveTo>
                  <a:cubicBezTo>
                    <a:pt x="5787" y="322"/>
                    <a:pt x="5929" y="465"/>
                    <a:pt x="5929" y="643"/>
                  </a:cubicBezTo>
                  <a:cubicBezTo>
                    <a:pt x="5929" y="798"/>
                    <a:pt x="5775" y="953"/>
                    <a:pt x="5608" y="953"/>
                  </a:cubicBezTo>
                  <a:cubicBezTo>
                    <a:pt x="5453" y="953"/>
                    <a:pt x="5298" y="822"/>
                    <a:pt x="5298" y="643"/>
                  </a:cubicBezTo>
                  <a:cubicBezTo>
                    <a:pt x="5298" y="477"/>
                    <a:pt x="5429" y="322"/>
                    <a:pt x="5608" y="322"/>
                  </a:cubicBezTo>
                  <a:close/>
                  <a:moveTo>
                    <a:pt x="2131" y="1334"/>
                  </a:moveTo>
                  <a:cubicBezTo>
                    <a:pt x="2310" y="1334"/>
                    <a:pt x="2441" y="1477"/>
                    <a:pt x="2441" y="1656"/>
                  </a:cubicBezTo>
                  <a:cubicBezTo>
                    <a:pt x="2441" y="1834"/>
                    <a:pt x="2310" y="1965"/>
                    <a:pt x="2131" y="1965"/>
                  </a:cubicBezTo>
                  <a:cubicBezTo>
                    <a:pt x="1965" y="1965"/>
                    <a:pt x="1822" y="1834"/>
                    <a:pt x="1822" y="1656"/>
                  </a:cubicBezTo>
                  <a:cubicBezTo>
                    <a:pt x="1822" y="1489"/>
                    <a:pt x="1953" y="1334"/>
                    <a:pt x="2131" y="1334"/>
                  </a:cubicBezTo>
                  <a:close/>
                  <a:moveTo>
                    <a:pt x="4036" y="2429"/>
                  </a:moveTo>
                  <a:cubicBezTo>
                    <a:pt x="4215" y="2429"/>
                    <a:pt x="4346" y="2560"/>
                    <a:pt x="4346" y="2739"/>
                  </a:cubicBezTo>
                  <a:cubicBezTo>
                    <a:pt x="4346" y="2918"/>
                    <a:pt x="4203" y="3049"/>
                    <a:pt x="4036" y="3049"/>
                  </a:cubicBezTo>
                  <a:cubicBezTo>
                    <a:pt x="3870" y="3049"/>
                    <a:pt x="3727" y="2918"/>
                    <a:pt x="3727" y="2739"/>
                  </a:cubicBezTo>
                  <a:cubicBezTo>
                    <a:pt x="3727" y="2572"/>
                    <a:pt x="3858" y="2429"/>
                    <a:pt x="4036" y="2429"/>
                  </a:cubicBezTo>
                  <a:close/>
                  <a:moveTo>
                    <a:pt x="595" y="3501"/>
                  </a:moveTo>
                  <a:cubicBezTo>
                    <a:pt x="774" y="3501"/>
                    <a:pt x="905" y="3632"/>
                    <a:pt x="905" y="3811"/>
                  </a:cubicBezTo>
                  <a:cubicBezTo>
                    <a:pt x="905" y="3989"/>
                    <a:pt x="762" y="4120"/>
                    <a:pt x="595" y="4120"/>
                  </a:cubicBezTo>
                  <a:cubicBezTo>
                    <a:pt x="429" y="4120"/>
                    <a:pt x="286" y="3989"/>
                    <a:pt x="286" y="3811"/>
                  </a:cubicBezTo>
                  <a:cubicBezTo>
                    <a:pt x="286" y="3644"/>
                    <a:pt x="417" y="3501"/>
                    <a:pt x="595" y="3501"/>
                  </a:cubicBezTo>
                  <a:close/>
                  <a:moveTo>
                    <a:pt x="5608" y="1"/>
                  </a:moveTo>
                  <a:cubicBezTo>
                    <a:pt x="5275" y="1"/>
                    <a:pt x="4989" y="286"/>
                    <a:pt x="4989" y="632"/>
                  </a:cubicBezTo>
                  <a:cubicBezTo>
                    <a:pt x="4989" y="786"/>
                    <a:pt x="5048" y="941"/>
                    <a:pt x="5156" y="1048"/>
                  </a:cubicBezTo>
                  <a:lnTo>
                    <a:pt x="4239" y="2132"/>
                  </a:lnTo>
                  <a:cubicBezTo>
                    <a:pt x="4179" y="2120"/>
                    <a:pt x="4108" y="2096"/>
                    <a:pt x="4048" y="2096"/>
                  </a:cubicBezTo>
                  <a:cubicBezTo>
                    <a:pt x="3858" y="2096"/>
                    <a:pt x="3679" y="2191"/>
                    <a:pt x="3560" y="2334"/>
                  </a:cubicBezTo>
                  <a:lnTo>
                    <a:pt x="2739" y="1882"/>
                  </a:lnTo>
                  <a:cubicBezTo>
                    <a:pt x="2774" y="1798"/>
                    <a:pt x="2786" y="1727"/>
                    <a:pt x="2786" y="1656"/>
                  </a:cubicBezTo>
                  <a:cubicBezTo>
                    <a:pt x="2786" y="1310"/>
                    <a:pt x="2500" y="1024"/>
                    <a:pt x="2155" y="1024"/>
                  </a:cubicBezTo>
                  <a:cubicBezTo>
                    <a:pt x="1822" y="1024"/>
                    <a:pt x="1536" y="1310"/>
                    <a:pt x="1536" y="1656"/>
                  </a:cubicBezTo>
                  <a:cubicBezTo>
                    <a:pt x="1536" y="1822"/>
                    <a:pt x="1596" y="1953"/>
                    <a:pt x="1703" y="2072"/>
                  </a:cubicBezTo>
                  <a:lnTo>
                    <a:pt x="834" y="3203"/>
                  </a:lnTo>
                  <a:cubicBezTo>
                    <a:pt x="774" y="3191"/>
                    <a:pt x="703" y="3168"/>
                    <a:pt x="631" y="3168"/>
                  </a:cubicBezTo>
                  <a:cubicBezTo>
                    <a:pt x="286" y="3168"/>
                    <a:pt x="0" y="3453"/>
                    <a:pt x="0" y="3799"/>
                  </a:cubicBezTo>
                  <a:cubicBezTo>
                    <a:pt x="0" y="4144"/>
                    <a:pt x="286" y="4418"/>
                    <a:pt x="631" y="4418"/>
                  </a:cubicBezTo>
                  <a:cubicBezTo>
                    <a:pt x="965" y="4418"/>
                    <a:pt x="1250" y="4144"/>
                    <a:pt x="1250" y="3799"/>
                  </a:cubicBezTo>
                  <a:cubicBezTo>
                    <a:pt x="1250" y="3632"/>
                    <a:pt x="1191" y="3501"/>
                    <a:pt x="1084" y="3382"/>
                  </a:cubicBezTo>
                  <a:lnTo>
                    <a:pt x="1953" y="2251"/>
                  </a:lnTo>
                  <a:cubicBezTo>
                    <a:pt x="2012" y="2263"/>
                    <a:pt x="2084" y="2275"/>
                    <a:pt x="2155" y="2275"/>
                  </a:cubicBezTo>
                  <a:cubicBezTo>
                    <a:pt x="2310" y="2275"/>
                    <a:pt x="2441" y="2215"/>
                    <a:pt x="2560" y="2144"/>
                  </a:cubicBezTo>
                  <a:lnTo>
                    <a:pt x="3441" y="2632"/>
                  </a:lnTo>
                  <a:cubicBezTo>
                    <a:pt x="3441" y="2668"/>
                    <a:pt x="3429" y="2691"/>
                    <a:pt x="3429" y="2739"/>
                  </a:cubicBezTo>
                  <a:cubicBezTo>
                    <a:pt x="3429" y="3084"/>
                    <a:pt x="3703" y="3370"/>
                    <a:pt x="4048" y="3370"/>
                  </a:cubicBezTo>
                  <a:cubicBezTo>
                    <a:pt x="4394" y="3370"/>
                    <a:pt x="4679" y="3084"/>
                    <a:pt x="4679" y="2739"/>
                  </a:cubicBezTo>
                  <a:cubicBezTo>
                    <a:pt x="4679" y="2572"/>
                    <a:pt x="4620" y="2429"/>
                    <a:pt x="4513" y="2322"/>
                  </a:cubicBezTo>
                  <a:lnTo>
                    <a:pt x="5418" y="1239"/>
                  </a:lnTo>
                  <a:cubicBezTo>
                    <a:pt x="5477" y="1251"/>
                    <a:pt x="5548" y="1263"/>
                    <a:pt x="5608" y="1263"/>
                  </a:cubicBezTo>
                  <a:cubicBezTo>
                    <a:pt x="5953" y="1263"/>
                    <a:pt x="6239" y="989"/>
                    <a:pt x="6239" y="643"/>
                  </a:cubicBezTo>
                  <a:cubicBezTo>
                    <a:pt x="6239" y="286"/>
                    <a:pt x="5953" y="1"/>
                    <a:pt x="560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CaixaDeTexto 46">
            <a:extLst>
              <a:ext uri="{FF2B5EF4-FFF2-40B4-BE49-F238E27FC236}">
                <a16:creationId xmlns:a16="http://schemas.microsoft.com/office/drawing/2014/main" id="{BF0E6FE5-B17A-42B9-9A44-DCF89B81043E}"/>
              </a:ext>
            </a:extLst>
          </p:cNvPr>
          <p:cNvSpPr txBox="1"/>
          <p:nvPr/>
        </p:nvSpPr>
        <p:spPr>
          <a:xfrm>
            <a:off x="4101690" y="4215150"/>
            <a:ext cx="2149223" cy="276999"/>
          </a:xfrm>
          <a:prstGeom prst="rect">
            <a:avLst/>
          </a:prstGeom>
          <a:noFill/>
        </p:spPr>
        <p:txBody>
          <a:bodyPr wrap="square" rtlCol="0">
            <a:spAutoFit/>
          </a:bodyPr>
          <a:lstStyle/>
          <a:p>
            <a:r>
              <a:rPr lang="pt-BR" sz="1200" b="1" dirty="0">
                <a:solidFill>
                  <a:schemeClr val="tx1">
                    <a:lumMod val="50000"/>
                    <a:lumOff val="50000"/>
                  </a:schemeClr>
                </a:solidFill>
                <a:latin typeface="Arial" panose="020B0604020202020204" pitchFamily="34" charset="0"/>
                <a:cs typeface="Arial" panose="020B0604020202020204" pitchFamily="34" charset="0"/>
              </a:rPr>
              <a:t>Volume de Feedback</a:t>
            </a:r>
          </a:p>
        </p:txBody>
      </p:sp>
      <p:grpSp>
        <p:nvGrpSpPr>
          <p:cNvPr id="49" name="Google Shape;3637;p53">
            <a:extLst>
              <a:ext uri="{FF2B5EF4-FFF2-40B4-BE49-F238E27FC236}">
                <a16:creationId xmlns:a16="http://schemas.microsoft.com/office/drawing/2014/main" id="{5F55345F-DD7D-4D97-A22E-8C6A53D2CE13}"/>
              </a:ext>
            </a:extLst>
          </p:cNvPr>
          <p:cNvGrpSpPr/>
          <p:nvPr/>
        </p:nvGrpSpPr>
        <p:grpSpPr>
          <a:xfrm>
            <a:off x="7892368" y="4303129"/>
            <a:ext cx="286642" cy="288164"/>
            <a:chOff x="7098912" y="1969392"/>
            <a:chExt cx="359651" cy="361560"/>
          </a:xfrm>
          <a:solidFill>
            <a:schemeClr val="tx1">
              <a:lumMod val="85000"/>
              <a:lumOff val="15000"/>
            </a:schemeClr>
          </a:solidFill>
        </p:grpSpPr>
        <p:sp>
          <p:nvSpPr>
            <p:cNvPr id="50" name="Google Shape;3638;p53">
              <a:extLst>
                <a:ext uri="{FF2B5EF4-FFF2-40B4-BE49-F238E27FC236}">
                  <a16:creationId xmlns:a16="http://schemas.microsoft.com/office/drawing/2014/main" id="{6E792E51-DF81-4979-B773-F615C8DC120C}"/>
                </a:ext>
              </a:extLst>
            </p:cNvPr>
            <p:cNvSpPr/>
            <p:nvPr/>
          </p:nvSpPr>
          <p:spPr>
            <a:xfrm>
              <a:off x="7098912" y="2127607"/>
              <a:ext cx="134567" cy="202582"/>
            </a:xfrm>
            <a:custGeom>
              <a:avLst/>
              <a:gdLst/>
              <a:ahLst/>
              <a:cxnLst/>
              <a:rect l="l" t="t" r="r" b="b"/>
              <a:pathLst>
                <a:path w="4228" h="6365" extrusionOk="0">
                  <a:moveTo>
                    <a:pt x="2108" y="331"/>
                  </a:moveTo>
                  <a:cubicBezTo>
                    <a:pt x="2153" y="331"/>
                    <a:pt x="2198" y="334"/>
                    <a:pt x="2239" y="340"/>
                  </a:cubicBezTo>
                  <a:cubicBezTo>
                    <a:pt x="2978" y="399"/>
                    <a:pt x="3537" y="1042"/>
                    <a:pt x="3537" y="1780"/>
                  </a:cubicBezTo>
                  <a:cubicBezTo>
                    <a:pt x="3537" y="2483"/>
                    <a:pt x="3704" y="3138"/>
                    <a:pt x="3847" y="3483"/>
                  </a:cubicBezTo>
                  <a:lnTo>
                    <a:pt x="3847" y="3495"/>
                  </a:lnTo>
                  <a:cubicBezTo>
                    <a:pt x="3656" y="3602"/>
                    <a:pt x="3335" y="3793"/>
                    <a:pt x="2787" y="3912"/>
                  </a:cubicBezTo>
                  <a:lnTo>
                    <a:pt x="2787" y="3864"/>
                  </a:lnTo>
                  <a:lnTo>
                    <a:pt x="2787" y="3531"/>
                  </a:lnTo>
                  <a:cubicBezTo>
                    <a:pt x="3001" y="3412"/>
                    <a:pt x="3180" y="3233"/>
                    <a:pt x="3299" y="3007"/>
                  </a:cubicBezTo>
                  <a:cubicBezTo>
                    <a:pt x="3537" y="2590"/>
                    <a:pt x="3454" y="2066"/>
                    <a:pt x="3108" y="1745"/>
                  </a:cubicBezTo>
                  <a:cubicBezTo>
                    <a:pt x="2870" y="1518"/>
                    <a:pt x="2430" y="1245"/>
                    <a:pt x="1727" y="1245"/>
                  </a:cubicBezTo>
                  <a:cubicBezTo>
                    <a:pt x="1680" y="1245"/>
                    <a:pt x="1632" y="1268"/>
                    <a:pt x="1608" y="1292"/>
                  </a:cubicBezTo>
                  <a:lnTo>
                    <a:pt x="1251" y="1649"/>
                  </a:lnTo>
                  <a:cubicBezTo>
                    <a:pt x="1192" y="1709"/>
                    <a:pt x="1192" y="1816"/>
                    <a:pt x="1251" y="1888"/>
                  </a:cubicBezTo>
                  <a:cubicBezTo>
                    <a:pt x="1281" y="1917"/>
                    <a:pt x="1323" y="1932"/>
                    <a:pt x="1366" y="1932"/>
                  </a:cubicBezTo>
                  <a:cubicBezTo>
                    <a:pt x="1409" y="1932"/>
                    <a:pt x="1454" y="1917"/>
                    <a:pt x="1489" y="1888"/>
                  </a:cubicBezTo>
                  <a:lnTo>
                    <a:pt x="1799" y="1578"/>
                  </a:lnTo>
                  <a:cubicBezTo>
                    <a:pt x="2239" y="1590"/>
                    <a:pt x="2608" y="1721"/>
                    <a:pt x="2882" y="1983"/>
                  </a:cubicBezTo>
                  <a:cubicBezTo>
                    <a:pt x="3120" y="2185"/>
                    <a:pt x="3180" y="2542"/>
                    <a:pt x="3025" y="2828"/>
                  </a:cubicBezTo>
                  <a:cubicBezTo>
                    <a:pt x="2823" y="3173"/>
                    <a:pt x="2466" y="3376"/>
                    <a:pt x="2085" y="3376"/>
                  </a:cubicBezTo>
                  <a:cubicBezTo>
                    <a:pt x="1489" y="3376"/>
                    <a:pt x="1013" y="2900"/>
                    <a:pt x="1013" y="2304"/>
                  </a:cubicBezTo>
                  <a:cubicBezTo>
                    <a:pt x="1013" y="2209"/>
                    <a:pt x="942" y="2138"/>
                    <a:pt x="846" y="2138"/>
                  </a:cubicBezTo>
                  <a:cubicBezTo>
                    <a:pt x="763" y="2138"/>
                    <a:pt x="680" y="2209"/>
                    <a:pt x="680" y="2304"/>
                  </a:cubicBezTo>
                  <a:cubicBezTo>
                    <a:pt x="680" y="2828"/>
                    <a:pt x="965" y="3292"/>
                    <a:pt x="1394" y="3519"/>
                  </a:cubicBezTo>
                  <a:lnTo>
                    <a:pt x="1394" y="3852"/>
                  </a:lnTo>
                  <a:lnTo>
                    <a:pt x="1394" y="3900"/>
                  </a:lnTo>
                  <a:cubicBezTo>
                    <a:pt x="834" y="3781"/>
                    <a:pt x="501" y="3602"/>
                    <a:pt x="370" y="3495"/>
                  </a:cubicBezTo>
                  <a:cubicBezTo>
                    <a:pt x="370" y="3495"/>
                    <a:pt x="358" y="3495"/>
                    <a:pt x="370" y="3483"/>
                  </a:cubicBezTo>
                  <a:cubicBezTo>
                    <a:pt x="525" y="3138"/>
                    <a:pt x="680" y="2483"/>
                    <a:pt x="680" y="1780"/>
                  </a:cubicBezTo>
                  <a:cubicBezTo>
                    <a:pt x="680" y="1042"/>
                    <a:pt x="1251" y="399"/>
                    <a:pt x="1977" y="340"/>
                  </a:cubicBezTo>
                  <a:cubicBezTo>
                    <a:pt x="2019" y="334"/>
                    <a:pt x="2064" y="331"/>
                    <a:pt x="2108" y="331"/>
                  </a:cubicBezTo>
                  <a:close/>
                  <a:moveTo>
                    <a:pt x="2442" y="3662"/>
                  </a:moveTo>
                  <a:lnTo>
                    <a:pt x="2442" y="3852"/>
                  </a:lnTo>
                  <a:cubicBezTo>
                    <a:pt x="2442" y="4043"/>
                    <a:pt x="2549" y="4221"/>
                    <a:pt x="2727" y="4316"/>
                  </a:cubicBezTo>
                  <a:lnTo>
                    <a:pt x="2823" y="4376"/>
                  </a:lnTo>
                  <a:cubicBezTo>
                    <a:pt x="2680" y="4626"/>
                    <a:pt x="2382" y="4793"/>
                    <a:pt x="2073" y="4793"/>
                  </a:cubicBezTo>
                  <a:cubicBezTo>
                    <a:pt x="1751" y="4793"/>
                    <a:pt x="1477" y="4626"/>
                    <a:pt x="1311" y="4376"/>
                  </a:cubicBezTo>
                  <a:lnTo>
                    <a:pt x="1418" y="4316"/>
                  </a:lnTo>
                  <a:cubicBezTo>
                    <a:pt x="1596" y="4221"/>
                    <a:pt x="1692" y="4043"/>
                    <a:pt x="1692" y="3852"/>
                  </a:cubicBezTo>
                  <a:lnTo>
                    <a:pt x="1692" y="3662"/>
                  </a:lnTo>
                  <a:cubicBezTo>
                    <a:pt x="1811" y="3685"/>
                    <a:pt x="1930" y="3709"/>
                    <a:pt x="2073" y="3709"/>
                  </a:cubicBezTo>
                  <a:cubicBezTo>
                    <a:pt x="2192" y="3709"/>
                    <a:pt x="2323" y="3685"/>
                    <a:pt x="2442" y="3662"/>
                  </a:cubicBezTo>
                  <a:close/>
                  <a:moveTo>
                    <a:pt x="2096" y="0"/>
                  </a:moveTo>
                  <a:cubicBezTo>
                    <a:pt x="2040" y="0"/>
                    <a:pt x="1983" y="6"/>
                    <a:pt x="1930" y="18"/>
                  </a:cubicBezTo>
                  <a:cubicBezTo>
                    <a:pt x="1037" y="102"/>
                    <a:pt x="334" y="875"/>
                    <a:pt x="334" y="1780"/>
                  </a:cubicBezTo>
                  <a:cubicBezTo>
                    <a:pt x="334" y="2435"/>
                    <a:pt x="180" y="3042"/>
                    <a:pt x="60" y="3364"/>
                  </a:cubicBezTo>
                  <a:cubicBezTo>
                    <a:pt x="1" y="3507"/>
                    <a:pt x="37" y="3673"/>
                    <a:pt x="180" y="3781"/>
                  </a:cubicBezTo>
                  <a:cubicBezTo>
                    <a:pt x="311" y="3888"/>
                    <a:pt x="596" y="4043"/>
                    <a:pt x="1037" y="4162"/>
                  </a:cubicBezTo>
                  <a:lnTo>
                    <a:pt x="382" y="4495"/>
                  </a:lnTo>
                  <a:cubicBezTo>
                    <a:pt x="144" y="4614"/>
                    <a:pt x="1" y="4852"/>
                    <a:pt x="1" y="5114"/>
                  </a:cubicBezTo>
                  <a:lnTo>
                    <a:pt x="1" y="6209"/>
                  </a:lnTo>
                  <a:cubicBezTo>
                    <a:pt x="1" y="6293"/>
                    <a:pt x="72" y="6364"/>
                    <a:pt x="156" y="6364"/>
                  </a:cubicBezTo>
                  <a:cubicBezTo>
                    <a:pt x="251" y="6364"/>
                    <a:pt x="322" y="6293"/>
                    <a:pt x="322" y="6209"/>
                  </a:cubicBezTo>
                  <a:lnTo>
                    <a:pt x="322" y="5114"/>
                  </a:lnTo>
                  <a:cubicBezTo>
                    <a:pt x="322" y="4983"/>
                    <a:pt x="394" y="4852"/>
                    <a:pt x="537" y="4793"/>
                  </a:cubicBezTo>
                  <a:lnTo>
                    <a:pt x="1049" y="4519"/>
                  </a:lnTo>
                  <a:cubicBezTo>
                    <a:pt x="1275" y="4900"/>
                    <a:pt x="1680" y="5138"/>
                    <a:pt x="2108" y="5138"/>
                  </a:cubicBezTo>
                  <a:cubicBezTo>
                    <a:pt x="2561" y="5138"/>
                    <a:pt x="2942" y="4900"/>
                    <a:pt x="3168" y="4519"/>
                  </a:cubicBezTo>
                  <a:lnTo>
                    <a:pt x="3692" y="4793"/>
                  </a:lnTo>
                  <a:cubicBezTo>
                    <a:pt x="3811" y="4852"/>
                    <a:pt x="3894" y="4983"/>
                    <a:pt x="3894" y="5114"/>
                  </a:cubicBezTo>
                  <a:lnTo>
                    <a:pt x="3894" y="6209"/>
                  </a:lnTo>
                  <a:cubicBezTo>
                    <a:pt x="3894" y="6293"/>
                    <a:pt x="3966" y="6364"/>
                    <a:pt x="4061" y="6364"/>
                  </a:cubicBezTo>
                  <a:cubicBezTo>
                    <a:pt x="4144" y="6364"/>
                    <a:pt x="4228" y="6293"/>
                    <a:pt x="4228" y="6209"/>
                  </a:cubicBezTo>
                  <a:lnTo>
                    <a:pt x="4228" y="5114"/>
                  </a:lnTo>
                  <a:cubicBezTo>
                    <a:pt x="4192" y="4852"/>
                    <a:pt x="4049" y="4614"/>
                    <a:pt x="3811" y="4495"/>
                  </a:cubicBezTo>
                  <a:lnTo>
                    <a:pt x="3156" y="4162"/>
                  </a:lnTo>
                  <a:cubicBezTo>
                    <a:pt x="3597" y="4043"/>
                    <a:pt x="3870" y="3888"/>
                    <a:pt x="4013" y="3781"/>
                  </a:cubicBezTo>
                  <a:cubicBezTo>
                    <a:pt x="4156" y="3685"/>
                    <a:pt x="4192" y="3507"/>
                    <a:pt x="4132" y="3364"/>
                  </a:cubicBezTo>
                  <a:cubicBezTo>
                    <a:pt x="4001" y="3042"/>
                    <a:pt x="3847" y="2435"/>
                    <a:pt x="3847" y="1780"/>
                  </a:cubicBezTo>
                  <a:cubicBezTo>
                    <a:pt x="3847" y="875"/>
                    <a:pt x="3156" y="90"/>
                    <a:pt x="2263" y="18"/>
                  </a:cubicBezTo>
                  <a:cubicBezTo>
                    <a:pt x="2210" y="6"/>
                    <a:pt x="2153" y="0"/>
                    <a:pt x="209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sp>
          <p:nvSpPr>
            <p:cNvPr id="51" name="Google Shape;3639;p53">
              <a:extLst>
                <a:ext uri="{FF2B5EF4-FFF2-40B4-BE49-F238E27FC236}">
                  <a16:creationId xmlns:a16="http://schemas.microsoft.com/office/drawing/2014/main" id="{19FDBECF-6FEE-4821-9285-1F80A438C8D0}"/>
                </a:ext>
              </a:extLst>
            </p:cNvPr>
            <p:cNvSpPr/>
            <p:nvPr/>
          </p:nvSpPr>
          <p:spPr>
            <a:xfrm>
              <a:off x="7120141" y="2297184"/>
              <a:ext cx="10662" cy="33005"/>
            </a:xfrm>
            <a:custGeom>
              <a:avLst/>
              <a:gdLst/>
              <a:ahLst/>
              <a:cxnLst/>
              <a:rect l="l" t="t" r="r" b="b"/>
              <a:pathLst>
                <a:path w="335" h="1037" extrusionOk="0">
                  <a:moveTo>
                    <a:pt x="167" y="0"/>
                  </a:moveTo>
                  <a:cubicBezTo>
                    <a:pt x="72" y="0"/>
                    <a:pt x="1" y="72"/>
                    <a:pt x="1" y="167"/>
                  </a:cubicBezTo>
                  <a:lnTo>
                    <a:pt x="1" y="881"/>
                  </a:lnTo>
                  <a:cubicBezTo>
                    <a:pt x="1" y="965"/>
                    <a:pt x="72" y="1036"/>
                    <a:pt x="167" y="1036"/>
                  </a:cubicBezTo>
                  <a:cubicBezTo>
                    <a:pt x="251" y="1036"/>
                    <a:pt x="334" y="965"/>
                    <a:pt x="334" y="881"/>
                  </a:cubicBezTo>
                  <a:lnTo>
                    <a:pt x="334" y="167"/>
                  </a:lnTo>
                  <a:cubicBezTo>
                    <a:pt x="334" y="72"/>
                    <a:pt x="251" y="0"/>
                    <a:pt x="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sp>
          <p:nvSpPr>
            <p:cNvPr id="52" name="Google Shape;3640;p53">
              <a:extLst>
                <a:ext uri="{FF2B5EF4-FFF2-40B4-BE49-F238E27FC236}">
                  <a16:creationId xmlns:a16="http://schemas.microsoft.com/office/drawing/2014/main" id="{C1914079-D4B5-4231-B503-B0017E60AC85}"/>
                </a:ext>
              </a:extLst>
            </p:cNvPr>
            <p:cNvSpPr/>
            <p:nvPr/>
          </p:nvSpPr>
          <p:spPr>
            <a:xfrm>
              <a:off x="7199360" y="2297184"/>
              <a:ext cx="10248" cy="33005"/>
            </a:xfrm>
            <a:custGeom>
              <a:avLst/>
              <a:gdLst/>
              <a:ahLst/>
              <a:cxnLst/>
              <a:rect l="l" t="t" r="r" b="b"/>
              <a:pathLst>
                <a:path w="322" h="1037" extrusionOk="0">
                  <a:moveTo>
                    <a:pt x="167" y="0"/>
                  </a:moveTo>
                  <a:cubicBezTo>
                    <a:pt x="72" y="0"/>
                    <a:pt x="0" y="72"/>
                    <a:pt x="0" y="167"/>
                  </a:cubicBezTo>
                  <a:lnTo>
                    <a:pt x="0" y="881"/>
                  </a:lnTo>
                  <a:cubicBezTo>
                    <a:pt x="0" y="965"/>
                    <a:pt x="72" y="1036"/>
                    <a:pt x="167" y="1036"/>
                  </a:cubicBezTo>
                  <a:cubicBezTo>
                    <a:pt x="250" y="1036"/>
                    <a:pt x="322" y="965"/>
                    <a:pt x="322" y="881"/>
                  </a:cubicBezTo>
                  <a:lnTo>
                    <a:pt x="322" y="167"/>
                  </a:lnTo>
                  <a:cubicBezTo>
                    <a:pt x="322" y="72"/>
                    <a:pt x="250" y="0"/>
                    <a:pt x="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sp>
          <p:nvSpPr>
            <p:cNvPr id="53" name="Google Shape;3641;p53">
              <a:extLst>
                <a:ext uri="{FF2B5EF4-FFF2-40B4-BE49-F238E27FC236}">
                  <a16:creationId xmlns:a16="http://schemas.microsoft.com/office/drawing/2014/main" id="{E63FD7C3-F576-41E5-8195-379E28F82DC0}"/>
                </a:ext>
              </a:extLst>
            </p:cNvPr>
            <p:cNvSpPr/>
            <p:nvPr/>
          </p:nvSpPr>
          <p:spPr>
            <a:xfrm>
              <a:off x="7357001" y="2165704"/>
              <a:ext cx="56876" cy="17823"/>
            </a:xfrm>
            <a:custGeom>
              <a:avLst/>
              <a:gdLst/>
              <a:ahLst/>
              <a:cxnLst/>
              <a:rect l="l" t="t" r="r" b="b"/>
              <a:pathLst>
                <a:path w="1787" h="560" extrusionOk="0">
                  <a:moveTo>
                    <a:pt x="630" y="0"/>
                  </a:moveTo>
                  <a:cubicBezTo>
                    <a:pt x="478" y="0"/>
                    <a:pt x="311" y="14"/>
                    <a:pt x="131" y="48"/>
                  </a:cubicBezTo>
                  <a:cubicBezTo>
                    <a:pt x="60" y="71"/>
                    <a:pt x="0" y="143"/>
                    <a:pt x="0" y="214"/>
                  </a:cubicBezTo>
                  <a:lnTo>
                    <a:pt x="0" y="393"/>
                  </a:lnTo>
                  <a:cubicBezTo>
                    <a:pt x="0" y="488"/>
                    <a:pt x="72" y="560"/>
                    <a:pt x="167" y="560"/>
                  </a:cubicBezTo>
                  <a:cubicBezTo>
                    <a:pt x="250" y="560"/>
                    <a:pt x="322" y="488"/>
                    <a:pt x="322" y="393"/>
                  </a:cubicBezTo>
                  <a:lnTo>
                    <a:pt x="322" y="345"/>
                  </a:lnTo>
                  <a:cubicBezTo>
                    <a:pt x="436" y="334"/>
                    <a:pt x="543" y="328"/>
                    <a:pt x="642" y="328"/>
                  </a:cubicBezTo>
                  <a:cubicBezTo>
                    <a:pt x="851" y="328"/>
                    <a:pt x="1022" y="352"/>
                    <a:pt x="1143" y="393"/>
                  </a:cubicBezTo>
                  <a:cubicBezTo>
                    <a:pt x="1369" y="452"/>
                    <a:pt x="1488" y="524"/>
                    <a:pt x="1488" y="524"/>
                  </a:cubicBezTo>
                  <a:cubicBezTo>
                    <a:pt x="1512" y="548"/>
                    <a:pt x="1548" y="560"/>
                    <a:pt x="1572" y="560"/>
                  </a:cubicBezTo>
                  <a:cubicBezTo>
                    <a:pt x="1631" y="560"/>
                    <a:pt x="1679" y="524"/>
                    <a:pt x="1715" y="488"/>
                  </a:cubicBezTo>
                  <a:cubicBezTo>
                    <a:pt x="1786" y="405"/>
                    <a:pt x="1762" y="310"/>
                    <a:pt x="1679" y="262"/>
                  </a:cubicBezTo>
                  <a:cubicBezTo>
                    <a:pt x="1660" y="252"/>
                    <a:pt x="1280" y="0"/>
                    <a:pt x="6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sp>
          <p:nvSpPr>
            <p:cNvPr id="54" name="Google Shape;3642;p53">
              <a:extLst>
                <a:ext uri="{FF2B5EF4-FFF2-40B4-BE49-F238E27FC236}">
                  <a16:creationId xmlns:a16="http://schemas.microsoft.com/office/drawing/2014/main" id="{2168DEE8-42A0-4A8E-BBD0-746835BDC4DA}"/>
                </a:ext>
              </a:extLst>
            </p:cNvPr>
            <p:cNvSpPr/>
            <p:nvPr/>
          </p:nvSpPr>
          <p:spPr>
            <a:xfrm>
              <a:off x="7312666" y="2133113"/>
              <a:ext cx="145897" cy="197840"/>
            </a:xfrm>
            <a:custGeom>
              <a:avLst/>
              <a:gdLst/>
              <a:ahLst/>
              <a:cxnLst/>
              <a:rect l="l" t="t" r="r" b="b"/>
              <a:pathLst>
                <a:path w="4584" h="6216" extrusionOk="0">
                  <a:moveTo>
                    <a:pt x="3536" y="345"/>
                  </a:moveTo>
                  <a:lnTo>
                    <a:pt x="3536" y="1167"/>
                  </a:lnTo>
                  <a:cubicBezTo>
                    <a:pt x="3536" y="1298"/>
                    <a:pt x="3512" y="1453"/>
                    <a:pt x="3453" y="1572"/>
                  </a:cubicBezTo>
                  <a:lnTo>
                    <a:pt x="3393" y="1703"/>
                  </a:lnTo>
                  <a:cubicBezTo>
                    <a:pt x="3370" y="1726"/>
                    <a:pt x="3370" y="1750"/>
                    <a:pt x="3370" y="1774"/>
                  </a:cubicBezTo>
                  <a:lnTo>
                    <a:pt x="3370" y="2131"/>
                  </a:lnTo>
                  <a:cubicBezTo>
                    <a:pt x="3358" y="2417"/>
                    <a:pt x="3239" y="2703"/>
                    <a:pt x="3036" y="2905"/>
                  </a:cubicBezTo>
                  <a:cubicBezTo>
                    <a:pt x="2834" y="3108"/>
                    <a:pt x="2568" y="3204"/>
                    <a:pt x="2288" y="3204"/>
                  </a:cubicBezTo>
                  <a:cubicBezTo>
                    <a:pt x="2271" y="3204"/>
                    <a:pt x="2255" y="3203"/>
                    <a:pt x="2238" y="3203"/>
                  </a:cubicBezTo>
                  <a:cubicBezTo>
                    <a:pt x="1667" y="3191"/>
                    <a:pt x="1203" y="2679"/>
                    <a:pt x="1203" y="2072"/>
                  </a:cubicBezTo>
                  <a:lnTo>
                    <a:pt x="1203" y="1774"/>
                  </a:lnTo>
                  <a:cubicBezTo>
                    <a:pt x="1203" y="1750"/>
                    <a:pt x="1203" y="1726"/>
                    <a:pt x="1191" y="1703"/>
                  </a:cubicBezTo>
                  <a:lnTo>
                    <a:pt x="1131" y="1572"/>
                  </a:lnTo>
                  <a:cubicBezTo>
                    <a:pt x="1072" y="1453"/>
                    <a:pt x="1036" y="1298"/>
                    <a:pt x="1036" y="1167"/>
                  </a:cubicBezTo>
                  <a:cubicBezTo>
                    <a:pt x="1036" y="702"/>
                    <a:pt x="1405" y="345"/>
                    <a:pt x="1857" y="345"/>
                  </a:cubicBezTo>
                  <a:close/>
                  <a:moveTo>
                    <a:pt x="1726" y="3417"/>
                  </a:moveTo>
                  <a:cubicBezTo>
                    <a:pt x="1869" y="3489"/>
                    <a:pt x="2048" y="3512"/>
                    <a:pt x="2227" y="3536"/>
                  </a:cubicBezTo>
                  <a:lnTo>
                    <a:pt x="2274" y="3536"/>
                  </a:lnTo>
                  <a:cubicBezTo>
                    <a:pt x="2465" y="3536"/>
                    <a:pt x="2643" y="3489"/>
                    <a:pt x="2822" y="3429"/>
                  </a:cubicBezTo>
                  <a:lnTo>
                    <a:pt x="2822" y="3655"/>
                  </a:lnTo>
                  <a:cubicBezTo>
                    <a:pt x="2822" y="3691"/>
                    <a:pt x="2834" y="3750"/>
                    <a:pt x="2834" y="3798"/>
                  </a:cubicBezTo>
                  <a:lnTo>
                    <a:pt x="2274" y="4227"/>
                  </a:lnTo>
                  <a:lnTo>
                    <a:pt x="1703" y="3798"/>
                  </a:lnTo>
                  <a:cubicBezTo>
                    <a:pt x="1726" y="3750"/>
                    <a:pt x="1726" y="3715"/>
                    <a:pt x="1726" y="3655"/>
                  </a:cubicBezTo>
                  <a:lnTo>
                    <a:pt x="1726" y="3417"/>
                  </a:lnTo>
                  <a:close/>
                  <a:moveTo>
                    <a:pt x="1857" y="0"/>
                  </a:moveTo>
                  <a:cubicBezTo>
                    <a:pt x="1215" y="0"/>
                    <a:pt x="691" y="524"/>
                    <a:pt x="691" y="1167"/>
                  </a:cubicBezTo>
                  <a:cubicBezTo>
                    <a:pt x="691" y="1357"/>
                    <a:pt x="738" y="1548"/>
                    <a:pt x="834" y="1715"/>
                  </a:cubicBezTo>
                  <a:lnTo>
                    <a:pt x="869" y="1810"/>
                  </a:lnTo>
                  <a:lnTo>
                    <a:pt x="869" y="2072"/>
                  </a:lnTo>
                  <a:cubicBezTo>
                    <a:pt x="869" y="2536"/>
                    <a:pt x="1084" y="2941"/>
                    <a:pt x="1405" y="3215"/>
                  </a:cubicBezTo>
                  <a:lnTo>
                    <a:pt x="1405" y="3667"/>
                  </a:lnTo>
                  <a:cubicBezTo>
                    <a:pt x="1405" y="3739"/>
                    <a:pt x="1369" y="3810"/>
                    <a:pt x="1286" y="3846"/>
                  </a:cubicBezTo>
                  <a:lnTo>
                    <a:pt x="441" y="4155"/>
                  </a:lnTo>
                  <a:cubicBezTo>
                    <a:pt x="179" y="4262"/>
                    <a:pt x="0" y="4512"/>
                    <a:pt x="0" y="4810"/>
                  </a:cubicBezTo>
                  <a:lnTo>
                    <a:pt x="0" y="6048"/>
                  </a:lnTo>
                  <a:cubicBezTo>
                    <a:pt x="0" y="6132"/>
                    <a:pt x="72" y="6215"/>
                    <a:pt x="155" y="6215"/>
                  </a:cubicBezTo>
                  <a:cubicBezTo>
                    <a:pt x="250" y="6215"/>
                    <a:pt x="322" y="6132"/>
                    <a:pt x="322" y="6048"/>
                  </a:cubicBezTo>
                  <a:lnTo>
                    <a:pt x="322" y="4810"/>
                  </a:lnTo>
                  <a:cubicBezTo>
                    <a:pt x="322" y="4655"/>
                    <a:pt x="417" y="4524"/>
                    <a:pt x="560" y="4465"/>
                  </a:cubicBezTo>
                  <a:lnTo>
                    <a:pt x="1405" y="4155"/>
                  </a:lnTo>
                  <a:cubicBezTo>
                    <a:pt x="1453" y="4143"/>
                    <a:pt x="1500" y="4108"/>
                    <a:pt x="1524" y="4084"/>
                  </a:cubicBezTo>
                  <a:lnTo>
                    <a:pt x="2119" y="4524"/>
                  </a:lnTo>
                  <a:lnTo>
                    <a:pt x="2119" y="6036"/>
                  </a:lnTo>
                  <a:cubicBezTo>
                    <a:pt x="2119" y="6120"/>
                    <a:pt x="2203" y="6191"/>
                    <a:pt x="2286" y="6191"/>
                  </a:cubicBezTo>
                  <a:cubicBezTo>
                    <a:pt x="2369" y="6191"/>
                    <a:pt x="2453" y="6120"/>
                    <a:pt x="2453" y="6036"/>
                  </a:cubicBezTo>
                  <a:lnTo>
                    <a:pt x="2453" y="4512"/>
                  </a:lnTo>
                  <a:lnTo>
                    <a:pt x="3048" y="4072"/>
                  </a:lnTo>
                  <a:cubicBezTo>
                    <a:pt x="3084" y="4096"/>
                    <a:pt x="3120" y="4108"/>
                    <a:pt x="3167" y="4143"/>
                  </a:cubicBezTo>
                  <a:lnTo>
                    <a:pt x="4012" y="4453"/>
                  </a:lnTo>
                  <a:cubicBezTo>
                    <a:pt x="4155" y="4512"/>
                    <a:pt x="4251" y="4643"/>
                    <a:pt x="4251" y="4798"/>
                  </a:cubicBezTo>
                  <a:lnTo>
                    <a:pt x="4251" y="6036"/>
                  </a:lnTo>
                  <a:cubicBezTo>
                    <a:pt x="4251" y="6120"/>
                    <a:pt x="4322" y="6191"/>
                    <a:pt x="4417" y="6191"/>
                  </a:cubicBezTo>
                  <a:cubicBezTo>
                    <a:pt x="4501" y="6191"/>
                    <a:pt x="4572" y="6120"/>
                    <a:pt x="4572" y="6036"/>
                  </a:cubicBezTo>
                  <a:lnTo>
                    <a:pt x="4572" y="4798"/>
                  </a:lnTo>
                  <a:cubicBezTo>
                    <a:pt x="4584" y="4512"/>
                    <a:pt x="4382" y="4251"/>
                    <a:pt x="4120" y="4143"/>
                  </a:cubicBezTo>
                  <a:lnTo>
                    <a:pt x="3274" y="3834"/>
                  </a:lnTo>
                  <a:cubicBezTo>
                    <a:pt x="3191" y="3798"/>
                    <a:pt x="3155" y="3727"/>
                    <a:pt x="3155" y="3655"/>
                  </a:cubicBezTo>
                  <a:lnTo>
                    <a:pt x="3155" y="3215"/>
                  </a:lnTo>
                  <a:cubicBezTo>
                    <a:pt x="3179" y="3191"/>
                    <a:pt x="3227" y="3155"/>
                    <a:pt x="3250" y="3131"/>
                  </a:cubicBezTo>
                  <a:cubicBezTo>
                    <a:pt x="3536" y="2858"/>
                    <a:pt x="3691" y="2500"/>
                    <a:pt x="3691" y="2119"/>
                  </a:cubicBezTo>
                  <a:lnTo>
                    <a:pt x="3691" y="1810"/>
                  </a:lnTo>
                  <a:lnTo>
                    <a:pt x="3727" y="1715"/>
                  </a:lnTo>
                  <a:cubicBezTo>
                    <a:pt x="3822" y="1548"/>
                    <a:pt x="3870" y="1357"/>
                    <a:pt x="3870" y="1167"/>
                  </a:cubicBezTo>
                  <a:lnTo>
                    <a:pt x="3870" y="167"/>
                  </a:lnTo>
                  <a:cubicBezTo>
                    <a:pt x="3870" y="71"/>
                    <a:pt x="3786" y="0"/>
                    <a:pt x="370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sp>
          <p:nvSpPr>
            <p:cNvPr id="55" name="Google Shape;3643;p53">
              <a:extLst>
                <a:ext uri="{FF2B5EF4-FFF2-40B4-BE49-F238E27FC236}">
                  <a16:creationId xmlns:a16="http://schemas.microsoft.com/office/drawing/2014/main" id="{751A078A-329B-42B3-ACE7-D5D03D0F90EE}"/>
                </a:ext>
              </a:extLst>
            </p:cNvPr>
            <p:cNvSpPr/>
            <p:nvPr/>
          </p:nvSpPr>
          <p:spPr>
            <a:xfrm>
              <a:off x="7340324" y="2291486"/>
              <a:ext cx="10630" cy="38702"/>
            </a:xfrm>
            <a:custGeom>
              <a:avLst/>
              <a:gdLst/>
              <a:ahLst/>
              <a:cxnLst/>
              <a:rect l="l" t="t" r="r" b="b"/>
              <a:pathLst>
                <a:path w="334" h="1216" extrusionOk="0">
                  <a:moveTo>
                    <a:pt x="167" y="1"/>
                  </a:moveTo>
                  <a:cubicBezTo>
                    <a:pt x="84" y="1"/>
                    <a:pt x="0" y="72"/>
                    <a:pt x="0" y="167"/>
                  </a:cubicBezTo>
                  <a:lnTo>
                    <a:pt x="0" y="1060"/>
                  </a:lnTo>
                  <a:cubicBezTo>
                    <a:pt x="0" y="1144"/>
                    <a:pt x="84" y="1215"/>
                    <a:pt x="167" y="1215"/>
                  </a:cubicBezTo>
                  <a:cubicBezTo>
                    <a:pt x="262" y="1215"/>
                    <a:pt x="334" y="1144"/>
                    <a:pt x="334" y="1060"/>
                  </a:cubicBezTo>
                  <a:lnTo>
                    <a:pt x="334" y="167"/>
                  </a:lnTo>
                  <a:cubicBezTo>
                    <a:pt x="334" y="72"/>
                    <a:pt x="262" y="1"/>
                    <a:pt x="1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sp>
          <p:nvSpPr>
            <p:cNvPr id="56" name="Google Shape;3644;p53">
              <a:extLst>
                <a:ext uri="{FF2B5EF4-FFF2-40B4-BE49-F238E27FC236}">
                  <a16:creationId xmlns:a16="http://schemas.microsoft.com/office/drawing/2014/main" id="{AB869589-4FD0-4DAE-87C3-16B618BA7BFA}"/>
                </a:ext>
              </a:extLst>
            </p:cNvPr>
            <p:cNvSpPr/>
            <p:nvPr/>
          </p:nvSpPr>
          <p:spPr>
            <a:xfrm>
              <a:off x="7419511" y="2291486"/>
              <a:ext cx="10630" cy="38702"/>
            </a:xfrm>
            <a:custGeom>
              <a:avLst/>
              <a:gdLst/>
              <a:ahLst/>
              <a:cxnLst/>
              <a:rect l="l" t="t" r="r" b="b"/>
              <a:pathLst>
                <a:path w="334" h="1216" extrusionOk="0">
                  <a:moveTo>
                    <a:pt x="167" y="1"/>
                  </a:moveTo>
                  <a:cubicBezTo>
                    <a:pt x="72" y="1"/>
                    <a:pt x="1" y="72"/>
                    <a:pt x="1" y="167"/>
                  </a:cubicBezTo>
                  <a:lnTo>
                    <a:pt x="1" y="1060"/>
                  </a:lnTo>
                  <a:cubicBezTo>
                    <a:pt x="1" y="1144"/>
                    <a:pt x="72" y="1215"/>
                    <a:pt x="167" y="1215"/>
                  </a:cubicBezTo>
                  <a:cubicBezTo>
                    <a:pt x="251" y="1215"/>
                    <a:pt x="334" y="1144"/>
                    <a:pt x="334" y="1060"/>
                  </a:cubicBezTo>
                  <a:lnTo>
                    <a:pt x="334" y="167"/>
                  </a:lnTo>
                  <a:cubicBezTo>
                    <a:pt x="334" y="72"/>
                    <a:pt x="251" y="1"/>
                    <a:pt x="1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sp>
          <p:nvSpPr>
            <p:cNvPr id="57" name="Google Shape;3645;p53">
              <a:extLst>
                <a:ext uri="{FF2B5EF4-FFF2-40B4-BE49-F238E27FC236}">
                  <a16:creationId xmlns:a16="http://schemas.microsoft.com/office/drawing/2014/main" id="{EE5BCDCB-AC0F-4F69-A95C-4B1B865D0205}"/>
                </a:ext>
              </a:extLst>
            </p:cNvPr>
            <p:cNvSpPr/>
            <p:nvPr/>
          </p:nvSpPr>
          <p:spPr>
            <a:xfrm>
              <a:off x="7153878" y="1969392"/>
              <a:ext cx="225498" cy="188355"/>
            </a:xfrm>
            <a:custGeom>
              <a:avLst/>
              <a:gdLst/>
              <a:ahLst/>
              <a:cxnLst/>
              <a:rect l="l" t="t" r="r" b="b"/>
              <a:pathLst>
                <a:path w="7085" h="5918" extrusionOk="0">
                  <a:moveTo>
                    <a:pt x="2441" y="4227"/>
                  </a:moveTo>
                  <a:lnTo>
                    <a:pt x="2346" y="4608"/>
                  </a:lnTo>
                  <a:lnTo>
                    <a:pt x="2132" y="4608"/>
                  </a:lnTo>
                  <a:cubicBezTo>
                    <a:pt x="1917" y="4608"/>
                    <a:pt x="1751" y="4442"/>
                    <a:pt x="1751" y="4239"/>
                  </a:cubicBezTo>
                  <a:lnTo>
                    <a:pt x="1751" y="4227"/>
                  </a:lnTo>
                  <a:close/>
                  <a:moveTo>
                    <a:pt x="5668" y="310"/>
                  </a:moveTo>
                  <a:cubicBezTo>
                    <a:pt x="5882" y="310"/>
                    <a:pt x="6037" y="477"/>
                    <a:pt x="6037" y="679"/>
                  </a:cubicBezTo>
                  <a:lnTo>
                    <a:pt x="6037" y="3525"/>
                  </a:lnTo>
                  <a:cubicBezTo>
                    <a:pt x="6037" y="3739"/>
                    <a:pt x="5882" y="3894"/>
                    <a:pt x="5668" y="3894"/>
                  </a:cubicBezTo>
                  <a:lnTo>
                    <a:pt x="4251" y="3894"/>
                  </a:lnTo>
                  <a:cubicBezTo>
                    <a:pt x="4227" y="3894"/>
                    <a:pt x="4179" y="3918"/>
                    <a:pt x="4156" y="3930"/>
                  </a:cubicBezTo>
                  <a:lnTo>
                    <a:pt x="2572" y="5084"/>
                  </a:lnTo>
                  <a:lnTo>
                    <a:pt x="2810" y="4108"/>
                  </a:lnTo>
                  <a:cubicBezTo>
                    <a:pt x="2822" y="4061"/>
                    <a:pt x="2810" y="4001"/>
                    <a:pt x="2786" y="3953"/>
                  </a:cubicBezTo>
                  <a:cubicBezTo>
                    <a:pt x="2751" y="3918"/>
                    <a:pt x="2703" y="3894"/>
                    <a:pt x="2644" y="3894"/>
                  </a:cubicBezTo>
                  <a:lnTo>
                    <a:pt x="703" y="3894"/>
                  </a:lnTo>
                  <a:cubicBezTo>
                    <a:pt x="489" y="3894"/>
                    <a:pt x="322" y="3739"/>
                    <a:pt x="322" y="3525"/>
                  </a:cubicBezTo>
                  <a:lnTo>
                    <a:pt x="322" y="679"/>
                  </a:lnTo>
                  <a:cubicBezTo>
                    <a:pt x="322" y="477"/>
                    <a:pt x="489" y="310"/>
                    <a:pt x="703" y="310"/>
                  </a:cubicBezTo>
                  <a:close/>
                  <a:moveTo>
                    <a:pt x="6382" y="1036"/>
                  </a:moveTo>
                  <a:cubicBezTo>
                    <a:pt x="6585" y="1036"/>
                    <a:pt x="6751" y="1203"/>
                    <a:pt x="6751" y="1417"/>
                  </a:cubicBezTo>
                  <a:lnTo>
                    <a:pt x="6751" y="4251"/>
                  </a:lnTo>
                  <a:lnTo>
                    <a:pt x="6739" y="4251"/>
                  </a:lnTo>
                  <a:cubicBezTo>
                    <a:pt x="6739" y="4465"/>
                    <a:pt x="6573" y="4632"/>
                    <a:pt x="6370" y="4632"/>
                  </a:cubicBezTo>
                  <a:lnTo>
                    <a:pt x="4953" y="4632"/>
                  </a:lnTo>
                  <a:cubicBezTo>
                    <a:pt x="4906" y="4632"/>
                    <a:pt x="4870" y="4644"/>
                    <a:pt x="4822" y="4692"/>
                  </a:cubicBezTo>
                  <a:cubicBezTo>
                    <a:pt x="4787" y="4727"/>
                    <a:pt x="4775" y="4775"/>
                    <a:pt x="4787" y="4823"/>
                  </a:cubicBezTo>
                  <a:lnTo>
                    <a:pt x="4906" y="5501"/>
                  </a:lnTo>
                  <a:lnTo>
                    <a:pt x="3691" y="4692"/>
                  </a:lnTo>
                  <a:lnTo>
                    <a:pt x="4299" y="4239"/>
                  </a:lnTo>
                  <a:lnTo>
                    <a:pt x="5668" y="4239"/>
                  </a:lnTo>
                  <a:cubicBezTo>
                    <a:pt x="6049" y="4239"/>
                    <a:pt x="6370" y="3930"/>
                    <a:pt x="6370" y="3537"/>
                  </a:cubicBezTo>
                  <a:lnTo>
                    <a:pt x="6370" y="1036"/>
                  </a:lnTo>
                  <a:close/>
                  <a:moveTo>
                    <a:pt x="703" y="1"/>
                  </a:moveTo>
                  <a:cubicBezTo>
                    <a:pt x="310" y="1"/>
                    <a:pt x="0" y="310"/>
                    <a:pt x="0" y="703"/>
                  </a:cubicBezTo>
                  <a:lnTo>
                    <a:pt x="0" y="3537"/>
                  </a:lnTo>
                  <a:cubicBezTo>
                    <a:pt x="0" y="3930"/>
                    <a:pt x="310" y="4239"/>
                    <a:pt x="703" y="4239"/>
                  </a:cubicBezTo>
                  <a:lnTo>
                    <a:pt x="1405" y="4239"/>
                  </a:lnTo>
                  <a:lnTo>
                    <a:pt x="1405" y="4251"/>
                  </a:lnTo>
                  <a:cubicBezTo>
                    <a:pt x="1405" y="4644"/>
                    <a:pt x="1727" y="4954"/>
                    <a:pt x="2108" y="4954"/>
                  </a:cubicBezTo>
                  <a:lnTo>
                    <a:pt x="2263" y="4954"/>
                  </a:lnTo>
                  <a:lnTo>
                    <a:pt x="2203" y="5227"/>
                  </a:lnTo>
                  <a:cubicBezTo>
                    <a:pt x="2167" y="5323"/>
                    <a:pt x="2215" y="5430"/>
                    <a:pt x="2298" y="5489"/>
                  </a:cubicBezTo>
                  <a:cubicBezTo>
                    <a:pt x="2346" y="5525"/>
                    <a:pt x="2394" y="5537"/>
                    <a:pt x="2453" y="5537"/>
                  </a:cubicBezTo>
                  <a:cubicBezTo>
                    <a:pt x="2513" y="5537"/>
                    <a:pt x="2560" y="5525"/>
                    <a:pt x="2596" y="5489"/>
                  </a:cubicBezTo>
                  <a:lnTo>
                    <a:pt x="3334" y="4954"/>
                  </a:lnTo>
                  <a:lnTo>
                    <a:pt x="3489" y="4954"/>
                  </a:lnTo>
                  <a:lnTo>
                    <a:pt x="4882" y="5882"/>
                  </a:lnTo>
                  <a:cubicBezTo>
                    <a:pt x="4918" y="5906"/>
                    <a:pt x="4965" y="5918"/>
                    <a:pt x="5013" y="5918"/>
                  </a:cubicBezTo>
                  <a:cubicBezTo>
                    <a:pt x="5061" y="5918"/>
                    <a:pt x="5096" y="5906"/>
                    <a:pt x="5144" y="5882"/>
                  </a:cubicBezTo>
                  <a:cubicBezTo>
                    <a:pt x="5239" y="5823"/>
                    <a:pt x="5287" y="5727"/>
                    <a:pt x="5263" y="5620"/>
                  </a:cubicBezTo>
                  <a:lnTo>
                    <a:pt x="5168" y="4954"/>
                  </a:lnTo>
                  <a:lnTo>
                    <a:pt x="6382" y="4954"/>
                  </a:lnTo>
                  <a:cubicBezTo>
                    <a:pt x="6763" y="4954"/>
                    <a:pt x="7085" y="4644"/>
                    <a:pt x="7085" y="4251"/>
                  </a:cubicBezTo>
                  <a:lnTo>
                    <a:pt x="7085" y="1417"/>
                  </a:lnTo>
                  <a:cubicBezTo>
                    <a:pt x="7085" y="1024"/>
                    <a:pt x="6775" y="715"/>
                    <a:pt x="6382" y="715"/>
                  </a:cubicBezTo>
                  <a:cubicBezTo>
                    <a:pt x="6370" y="310"/>
                    <a:pt x="6061" y="1"/>
                    <a:pt x="566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sp>
          <p:nvSpPr>
            <p:cNvPr id="58" name="Google Shape;3646;p53">
              <a:extLst>
                <a:ext uri="{FF2B5EF4-FFF2-40B4-BE49-F238E27FC236}">
                  <a16:creationId xmlns:a16="http://schemas.microsoft.com/office/drawing/2014/main" id="{3AA8BA00-0C5B-4CCC-9DFF-0B75C4860180}"/>
                </a:ext>
              </a:extLst>
            </p:cNvPr>
            <p:cNvSpPr/>
            <p:nvPr/>
          </p:nvSpPr>
          <p:spPr>
            <a:xfrm>
              <a:off x="7193663" y="2003511"/>
              <a:ext cx="27308" cy="10248"/>
            </a:xfrm>
            <a:custGeom>
              <a:avLst/>
              <a:gdLst/>
              <a:ahLst/>
              <a:cxnLst/>
              <a:rect l="l" t="t" r="r" b="b"/>
              <a:pathLst>
                <a:path w="858" h="322" extrusionOk="0">
                  <a:moveTo>
                    <a:pt x="167" y="0"/>
                  </a:moveTo>
                  <a:cubicBezTo>
                    <a:pt x="72" y="0"/>
                    <a:pt x="1" y="72"/>
                    <a:pt x="1" y="167"/>
                  </a:cubicBezTo>
                  <a:cubicBezTo>
                    <a:pt x="1" y="250"/>
                    <a:pt x="72" y="322"/>
                    <a:pt x="167" y="322"/>
                  </a:cubicBezTo>
                  <a:lnTo>
                    <a:pt x="703" y="322"/>
                  </a:lnTo>
                  <a:cubicBezTo>
                    <a:pt x="786" y="322"/>
                    <a:pt x="858" y="250"/>
                    <a:pt x="858" y="167"/>
                  </a:cubicBezTo>
                  <a:cubicBezTo>
                    <a:pt x="858" y="72"/>
                    <a:pt x="786" y="0"/>
                    <a:pt x="70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sp>
          <p:nvSpPr>
            <p:cNvPr id="59" name="Google Shape;3647;p53">
              <a:extLst>
                <a:ext uri="{FF2B5EF4-FFF2-40B4-BE49-F238E27FC236}">
                  <a16:creationId xmlns:a16="http://schemas.microsoft.com/office/drawing/2014/main" id="{BAB53E3B-45F1-4AC8-B28D-AED515A90A19}"/>
                </a:ext>
              </a:extLst>
            </p:cNvPr>
            <p:cNvSpPr/>
            <p:nvPr/>
          </p:nvSpPr>
          <p:spPr>
            <a:xfrm>
              <a:off x="7233065" y="2003511"/>
              <a:ext cx="83802" cy="10248"/>
            </a:xfrm>
            <a:custGeom>
              <a:avLst/>
              <a:gdLst/>
              <a:ahLst/>
              <a:cxnLst/>
              <a:rect l="l" t="t" r="r" b="b"/>
              <a:pathLst>
                <a:path w="2633" h="322" extrusionOk="0">
                  <a:moveTo>
                    <a:pt x="156" y="0"/>
                  </a:moveTo>
                  <a:cubicBezTo>
                    <a:pt x="72" y="0"/>
                    <a:pt x="1" y="72"/>
                    <a:pt x="1" y="167"/>
                  </a:cubicBezTo>
                  <a:cubicBezTo>
                    <a:pt x="1" y="250"/>
                    <a:pt x="72" y="322"/>
                    <a:pt x="156" y="322"/>
                  </a:cubicBezTo>
                  <a:lnTo>
                    <a:pt x="2465" y="322"/>
                  </a:lnTo>
                  <a:cubicBezTo>
                    <a:pt x="2561" y="322"/>
                    <a:pt x="2632" y="250"/>
                    <a:pt x="2632" y="167"/>
                  </a:cubicBezTo>
                  <a:cubicBezTo>
                    <a:pt x="2632" y="72"/>
                    <a:pt x="2573" y="0"/>
                    <a:pt x="24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sp>
          <p:nvSpPr>
            <p:cNvPr id="60" name="Google Shape;3648;p53">
              <a:extLst>
                <a:ext uri="{FF2B5EF4-FFF2-40B4-BE49-F238E27FC236}">
                  <a16:creationId xmlns:a16="http://schemas.microsoft.com/office/drawing/2014/main" id="{6A8872E4-8E33-4935-B31D-692F17BC7464}"/>
                </a:ext>
              </a:extLst>
            </p:cNvPr>
            <p:cNvSpPr/>
            <p:nvPr/>
          </p:nvSpPr>
          <p:spPr>
            <a:xfrm>
              <a:off x="7193281" y="2031933"/>
              <a:ext cx="123936" cy="10248"/>
            </a:xfrm>
            <a:custGeom>
              <a:avLst/>
              <a:gdLst/>
              <a:ahLst/>
              <a:cxnLst/>
              <a:rect l="l" t="t" r="r" b="b"/>
              <a:pathLst>
                <a:path w="3894" h="322" extrusionOk="0">
                  <a:moveTo>
                    <a:pt x="155" y="0"/>
                  </a:moveTo>
                  <a:cubicBezTo>
                    <a:pt x="72" y="0"/>
                    <a:pt x="1" y="71"/>
                    <a:pt x="1" y="167"/>
                  </a:cubicBezTo>
                  <a:cubicBezTo>
                    <a:pt x="1" y="250"/>
                    <a:pt x="72" y="322"/>
                    <a:pt x="155" y="322"/>
                  </a:cubicBezTo>
                  <a:lnTo>
                    <a:pt x="3715" y="322"/>
                  </a:lnTo>
                  <a:cubicBezTo>
                    <a:pt x="3811" y="322"/>
                    <a:pt x="3882" y="250"/>
                    <a:pt x="3882" y="167"/>
                  </a:cubicBezTo>
                  <a:cubicBezTo>
                    <a:pt x="3894" y="71"/>
                    <a:pt x="3823" y="0"/>
                    <a:pt x="371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sp>
          <p:nvSpPr>
            <p:cNvPr id="61" name="Google Shape;3649;p53">
              <a:extLst>
                <a:ext uri="{FF2B5EF4-FFF2-40B4-BE49-F238E27FC236}">
                  <a16:creationId xmlns:a16="http://schemas.microsoft.com/office/drawing/2014/main" id="{C986010D-E52D-4E81-80D4-5A480B9E65D6}"/>
                </a:ext>
              </a:extLst>
            </p:cNvPr>
            <p:cNvSpPr/>
            <p:nvPr/>
          </p:nvSpPr>
          <p:spPr>
            <a:xfrm>
              <a:off x="7193663" y="2059973"/>
              <a:ext cx="83770" cy="10248"/>
            </a:xfrm>
            <a:custGeom>
              <a:avLst/>
              <a:gdLst/>
              <a:ahLst/>
              <a:cxnLst/>
              <a:rect l="l" t="t" r="r" b="b"/>
              <a:pathLst>
                <a:path w="2632" h="322" extrusionOk="0">
                  <a:moveTo>
                    <a:pt x="167" y="0"/>
                  </a:moveTo>
                  <a:cubicBezTo>
                    <a:pt x="72" y="0"/>
                    <a:pt x="1" y="72"/>
                    <a:pt x="1" y="155"/>
                  </a:cubicBezTo>
                  <a:cubicBezTo>
                    <a:pt x="1" y="250"/>
                    <a:pt x="72" y="322"/>
                    <a:pt x="167" y="322"/>
                  </a:cubicBezTo>
                  <a:lnTo>
                    <a:pt x="2465" y="322"/>
                  </a:lnTo>
                  <a:cubicBezTo>
                    <a:pt x="2560" y="322"/>
                    <a:pt x="2632" y="250"/>
                    <a:pt x="2632" y="155"/>
                  </a:cubicBezTo>
                  <a:cubicBezTo>
                    <a:pt x="2632" y="72"/>
                    <a:pt x="2560" y="0"/>
                    <a:pt x="24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sp>
          <p:nvSpPr>
            <p:cNvPr id="62" name="Google Shape;3650;p53">
              <a:extLst>
                <a:ext uri="{FF2B5EF4-FFF2-40B4-BE49-F238E27FC236}">
                  <a16:creationId xmlns:a16="http://schemas.microsoft.com/office/drawing/2014/main" id="{6F0AF0E7-F33F-439A-8903-55E54872F203}"/>
                </a:ext>
              </a:extLst>
            </p:cNvPr>
            <p:cNvSpPr/>
            <p:nvPr/>
          </p:nvSpPr>
          <p:spPr>
            <a:xfrm>
              <a:off x="7289145" y="2059973"/>
              <a:ext cx="27722" cy="10248"/>
            </a:xfrm>
            <a:custGeom>
              <a:avLst/>
              <a:gdLst/>
              <a:ahLst/>
              <a:cxnLst/>
              <a:rect l="l" t="t" r="r" b="b"/>
              <a:pathLst>
                <a:path w="871" h="322" extrusionOk="0">
                  <a:moveTo>
                    <a:pt x="168" y="0"/>
                  </a:moveTo>
                  <a:cubicBezTo>
                    <a:pt x="84" y="0"/>
                    <a:pt x="1" y="72"/>
                    <a:pt x="1" y="155"/>
                  </a:cubicBezTo>
                  <a:cubicBezTo>
                    <a:pt x="1" y="250"/>
                    <a:pt x="84" y="322"/>
                    <a:pt x="168" y="322"/>
                  </a:cubicBezTo>
                  <a:lnTo>
                    <a:pt x="703" y="322"/>
                  </a:lnTo>
                  <a:cubicBezTo>
                    <a:pt x="799" y="322"/>
                    <a:pt x="870" y="250"/>
                    <a:pt x="870" y="155"/>
                  </a:cubicBezTo>
                  <a:cubicBezTo>
                    <a:pt x="870" y="72"/>
                    <a:pt x="811" y="0"/>
                    <a:pt x="70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grpSp>
      <p:sp>
        <p:nvSpPr>
          <p:cNvPr id="63" name="CaixaDeTexto 62">
            <a:extLst>
              <a:ext uri="{FF2B5EF4-FFF2-40B4-BE49-F238E27FC236}">
                <a16:creationId xmlns:a16="http://schemas.microsoft.com/office/drawing/2014/main" id="{9182527A-B164-4794-830B-92A3A7349125}"/>
              </a:ext>
            </a:extLst>
          </p:cNvPr>
          <p:cNvSpPr txBox="1"/>
          <p:nvPr/>
        </p:nvSpPr>
        <p:spPr>
          <a:xfrm>
            <a:off x="3588572" y="5332795"/>
            <a:ext cx="2658129" cy="246221"/>
          </a:xfrm>
          <a:prstGeom prst="rect">
            <a:avLst/>
          </a:prstGeom>
          <a:noFill/>
        </p:spPr>
        <p:txBody>
          <a:bodyPr wrap="square" rtlCol="0">
            <a:spAutoFit/>
          </a:bodyPr>
          <a:lstStyle/>
          <a:p>
            <a:pPr algn="ctr"/>
            <a:r>
              <a:rPr lang="pt-BR" sz="1000" b="1" dirty="0">
                <a:solidFill>
                  <a:schemeClr val="tx1">
                    <a:lumMod val="50000"/>
                    <a:lumOff val="50000"/>
                  </a:schemeClr>
                </a:solidFill>
                <a:latin typeface="Arial" panose="020B0604020202020204" pitchFamily="34" charset="0"/>
                <a:cs typeface="Arial" panose="020B0604020202020204" pitchFamily="34" charset="0"/>
              </a:rPr>
              <a:t>(Qualidade + Operação)</a:t>
            </a:r>
          </a:p>
        </p:txBody>
      </p:sp>
      <p:sp>
        <p:nvSpPr>
          <p:cNvPr id="68" name="Retângulo: Cantos Arredondados 67">
            <a:extLst>
              <a:ext uri="{FF2B5EF4-FFF2-40B4-BE49-F238E27FC236}">
                <a16:creationId xmlns:a16="http://schemas.microsoft.com/office/drawing/2014/main" id="{DE2F8EFF-F33D-4250-8441-37B57FADC64A}"/>
              </a:ext>
            </a:extLst>
          </p:cNvPr>
          <p:cNvSpPr/>
          <p:nvPr/>
        </p:nvSpPr>
        <p:spPr>
          <a:xfrm>
            <a:off x="9634964" y="2624533"/>
            <a:ext cx="983649" cy="329956"/>
          </a:xfrm>
          <a:prstGeom prst="roundRect">
            <a:avLst/>
          </a:prstGeom>
          <a:solidFill>
            <a:srgbClr val="00B0F0">
              <a:alpha val="33000"/>
            </a:srgbClr>
          </a:solidFill>
          <a:ln>
            <a:noFill/>
          </a:ln>
          <a:effectLst>
            <a:outerShdw blurRad="177800" dist="38100" dir="5400000" sx="107000" sy="107000" algn="t" rotWithShape="0">
              <a:prstClr val="black">
                <a:alpha val="1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65" name="CaixaDeTexto 64">
            <a:extLst>
              <a:ext uri="{FF2B5EF4-FFF2-40B4-BE49-F238E27FC236}">
                <a16:creationId xmlns:a16="http://schemas.microsoft.com/office/drawing/2014/main" id="{C02844A9-7651-4753-B295-E91FA142E752}"/>
              </a:ext>
            </a:extLst>
          </p:cNvPr>
          <p:cNvSpPr txBox="1"/>
          <p:nvPr/>
        </p:nvSpPr>
        <p:spPr>
          <a:xfrm>
            <a:off x="9975578" y="2711996"/>
            <a:ext cx="586226" cy="230832"/>
          </a:xfrm>
          <a:prstGeom prst="rect">
            <a:avLst/>
          </a:prstGeom>
          <a:noFill/>
        </p:spPr>
        <p:txBody>
          <a:bodyPr wrap="square" rtlCol="0">
            <a:spAutoFit/>
          </a:bodyPr>
          <a:lstStyle/>
          <a:p>
            <a:pPr algn="ctr"/>
            <a:r>
              <a:rPr lang="pt-BR" sz="900" b="1" dirty="0">
                <a:solidFill>
                  <a:srgbClr val="00B0F0"/>
                </a:solidFill>
                <a:latin typeface="Arial" panose="020B0604020202020204" pitchFamily="34" charset="0"/>
                <a:cs typeface="Arial" panose="020B0604020202020204" pitchFamily="34" charset="0"/>
              </a:rPr>
              <a:t>89,42</a:t>
            </a:r>
          </a:p>
        </p:txBody>
      </p:sp>
      <p:sp>
        <p:nvSpPr>
          <p:cNvPr id="66" name="CaixaDeTexto 65">
            <a:extLst>
              <a:ext uri="{FF2B5EF4-FFF2-40B4-BE49-F238E27FC236}">
                <a16:creationId xmlns:a16="http://schemas.microsoft.com/office/drawing/2014/main" id="{B6AC2246-F4DE-4F0D-9991-D269E36B8956}"/>
              </a:ext>
            </a:extLst>
          </p:cNvPr>
          <p:cNvSpPr txBox="1"/>
          <p:nvPr/>
        </p:nvSpPr>
        <p:spPr>
          <a:xfrm>
            <a:off x="9837218" y="2610209"/>
            <a:ext cx="693937" cy="184666"/>
          </a:xfrm>
          <a:prstGeom prst="rect">
            <a:avLst/>
          </a:prstGeom>
          <a:noFill/>
        </p:spPr>
        <p:txBody>
          <a:bodyPr wrap="square" rtlCol="0">
            <a:spAutoFit/>
          </a:bodyPr>
          <a:lstStyle/>
          <a:p>
            <a:pPr algn="ctr"/>
            <a:r>
              <a:rPr lang="pt-BR" sz="600" b="1" dirty="0">
                <a:solidFill>
                  <a:srgbClr val="00B0F0"/>
                </a:solidFill>
                <a:latin typeface="Arial" panose="020B0604020202020204" pitchFamily="34" charset="0"/>
                <a:cs typeface="Arial" panose="020B0604020202020204" pitchFamily="34" charset="0"/>
              </a:rPr>
              <a:t>Mês anterior </a:t>
            </a:r>
          </a:p>
        </p:txBody>
      </p:sp>
      <p:sp>
        <p:nvSpPr>
          <p:cNvPr id="72" name="Google Shape;2252;p50">
            <a:extLst>
              <a:ext uri="{FF2B5EF4-FFF2-40B4-BE49-F238E27FC236}">
                <a16:creationId xmlns:a16="http://schemas.microsoft.com/office/drawing/2014/main" id="{DC8ABE9C-FF66-4A29-BC5A-6ACA7897B022}"/>
              </a:ext>
            </a:extLst>
          </p:cNvPr>
          <p:cNvSpPr/>
          <p:nvPr/>
        </p:nvSpPr>
        <p:spPr>
          <a:xfrm>
            <a:off x="9736755" y="2756892"/>
            <a:ext cx="211300" cy="131628"/>
          </a:xfrm>
          <a:custGeom>
            <a:avLst/>
            <a:gdLst/>
            <a:ahLst/>
            <a:cxnLst/>
            <a:rect l="l" t="t" r="r" b="b"/>
            <a:pathLst>
              <a:path w="10419" h="6490" extrusionOk="0">
                <a:moveTo>
                  <a:pt x="2751" y="2905"/>
                </a:moveTo>
                <a:lnTo>
                  <a:pt x="2751" y="6191"/>
                </a:lnTo>
                <a:lnTo>
                  <a:pt x="1429" y="6191"/>
                </a:lnTo>
                <a:lnTo>
                  <a:pt x="1429" y="2905"/>
                </a:lnTo>
                <a:close/>
                <a:moveTo>
                  <a:pt x="5847" y="2084"/>
                </a:moveTo>
                <a:lnTo>
                  <a:pt x="5847" y="6191"/>
                </a:lnTo>
                <a:lnTo>
                  <a:pt x="4525" y="6191"/>
                </a:lnTo>
                <a:lnTo>
                  <a:pt x="4525" y="2084"/>
                </a:lnTo>
                <a:close/>
                <a:moveTo>
                  <a:pt x="8942" y="298"/>
                </a:moveTo>
                <a:lnTo>
                  <a:pt x="8942" y="6191"/>
                </a:lnTo>
                <a:lnTo>
                  <a:pt x="7609" y="6191"/>
                </a:lnTo>
                <a:lnTo>
                  <a:pt x="7609" y="298"/>
                </a:lnTo>
                <a:close/>
                <a:moveTo>
                  <a:pt x="7466" y="0"/>
                </a:moveTo>
                <a:cubicBezTo>
                  <a:pt x="7383" y="0"/>
                  <a:pt x="7323" y="72"/>
                  <a:pt x="7323" y="155"/>
                </a:cubicBezTo>
                <a:lnTo>
                  <a:pt x="7323" y="6191"/>
                </a:lnTo>
                <a:lnTo>
                  <a:pt x="6156" y="6191"/>
                </a:lnTo>
                <a:lnTo>
                  <a:pt x="6156" y="1941"/>
                </a:lnTo>
                <a:cubicBezTo>
                  <a:pt x="6156" y="1846"/>
                  <a:pt x="6085" y="1786"/>
                  <a:pt x="6013" y="1786"/>
                </a:cubicBezTo>
                <a:lnTo>
                  <a:pt x="4370" y="1786"/>
                </a:lnTo>
                <a:cubicBezTo>
                  <a:pt x="4287" y="1786"/>
                  <a:pt x="4227" y="1858"/>
                  <a:pt x="4227" y="1941"/>
                </a:cubicBezTo>
                <a:lnTo>
                  <a:pt x="4227" y="6191"/>
                </a:lnTo>
                <a:lnTo>
                  <a:pt x="3061" y="6191"/>
                </a:lnTo>
                <a:lnTo>
                  <a:pt x="3061" y="2751"/>
                </a:lnTo>
                <a:cubicBezTo>
                  <a:pt x="3061" y="2667"/>
                  <a:pt x="2989" y="2608"/>
                  <a:pt x="2918" y="2608"/>
                </a:cubicBezTo>
                <a:lnTo>
                  <a:pt x="1275" y="2608"/>
                </a:lnTo>
                <a:cubicBezTo>
                  <a:pt x="1191" y="2608"/>
                  <a:pt x="1132" y="2679"/>
                  <a:pt x="1132" y="2751"/>
                </a:cubicBezTo>
                <a:lnTo>
                  <a:pt x="1132" y="6191"/>
                </a:lnTo>
                <a:lnTo>
                  <a:pt x="144" y="6191"/>
                </a:lnTo>
                <a:cubicBezTo>
                  <a:pt x="60" y="6191"/>
                  <a:pt x="1" y="6263"/>
                  <a:pt x="1" y="6346"/>
                </a:cubicBezTo>
                <a:cubicBezTo>
                  <a:pt x="1" y="6430"/>
                  <a:pt x="72" y="6489"/>
                  <a:pt x="144" y="6489"/>
                </a:cubicBezTo>
                <a:lnTo>
                  <a:pt x="10264" y="6489"/>
                </a:lnTo>
                <a:cubicBezTo>
                  <a:pt x="10359" y="6489"/>
                  <a:pt x="10419" y="6418"/>
                  <a:pt x="10419" y="6346"/>
                </a:cubicBezTo>
                <a:cubicBezTo>
                  <a:pt x="10395" y="6251"/>
                  <a:pt x="10323" y="6191"/>
                  <a:pt x="10240" y="6191"/>
                </a:cubicBezTo>
                <a:lnTo>
                  <a:pt x="9252" y="6191"/>
                </a:lnTo>
                <a:lnTo>
                  <a:pt x="9252" y="155"/>
                </a:lnTo>
                <a:cubicBezTo>
                  <a:pt x="9252" y="60"/>
                  <a:pt x="9180" y="0"/>
                  <a:pt x="9109" y="0"/>
                </a:cubicBezTo>
                <a:close/>
              </a:path>
            </a:pathLst>
          </a:custGeom>
          <a:solidFill>
            <a:srgbClr val="00B0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Retângulo: Cantos Arredondados 85">
            <a:extLst>
              <a:ext uri="{FF2B5EF4-FFF2-40B4-BE49-F238E27FC236}">
                <a16:creationId xmlns:a16="http://schemas.microsoft.com/office/drawing/2014/main" id="{9143A6E9-6809-466E-8A9A-B26F01387941}"/>
              </a:ext>
            </a:extLst>
          </p:cNvPr>
          <p:cNvSpPr/>
          <p:nvPr/>
        </p:nvSpPr>
        <p:spPr>
          <a:xfrm>
            <a:off x="9637736" y="3087274"/>
            <a:ext cx="983649" cy="329956"/>
          </a:xfrm>
          <a:prstGeom prst="roundRect">
            <a:avLst/>
          </a:prstGeom>
          <a:solidFill>
            <a:srgbClr val="00B050"/>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69" name="CaixaDeTexto 68">
            <a:extLst>
              <a:ext uri="{FF2B5EF4-FFF2-40B4-BE49-F238E27FC236}">
                <a16:creationId xmlns:a16="http://schemas.microsoft.com/office/drawing/2014/main" id="{BACBD4EB-8C45-4F25-8447-C28AE2745340}"/>
              </a:ext>
            </a:extLst>
          </p:cNvPr>
          <p:cNvSpPr txBox="1"/>
          <p:nvPr/>
        </p:nvSpPr>
        <p:spPr>
          <a:xfrm>
            <a:off x="9850562" y="3175229"/>
            <a:ext cx="745883" cy="230832"/>
          </a:xfrm>
          <a:prstGeom prst="rect">
            <a:avLst/>
          </a:prstGeom>
          <a:noFill/>
        </p:spPr>
        <p:txBody>
          <a:bodyPr wrap="square" rtlCol="0">
            <a:spAutoFit/>
          </a:bodyPr>
          <a:lstStyle/>
          <a:p>
            <a:pPr algn="ctr"/>
            <a:r>
              <a:rPr lang="pt-BR" sz="900" b="1" dirty="0">
                <a:solidFill>
                  <a:schemeClr val="bg1">
                    <a:lumMod val="95000"/>
                  </a:schemeClr>
                </a:solidFill>
                <a:latin typeface="Arial" panose="020B0604020202020204" pitchFamily="34" charset="0"/>
                <a:cs typeface="Arial" panose="020B0604020202020204" pitchFamily="34" charset="0"/>
              </a:rPr>
              <a:t>+ 5,19</a:t>
            </a:r>
          </a:p>
        </p:txBody>
      </p:sp>
      <p:grpSp>
        <p:nvGrpSpPr>
          <p:cNvPr id="73" name="Google Shape;2139;p50">
            <a:extLst>
              <a:ext uri="{FF2B5EF4-FFF2-40B4-BE49-F238E27FC236}">
                <a16:creationId xmlns:a16="http://schemas.microsoft.com/office/drawing/2014/main" id="{CAE335B8-3CA4-4FF0-847E-A163EBF508F9}"/>
              </a:ext>
            </a:extLst>
          </p:cNvPr>
          <p:cNvGrpSpPr/>
          <p:nvPr/>
        </p:nvGrpSpPr>
        <p:grpSpPr>
          <a:xfrm>
            <a:off x="9694087" y="3153528"/>
            <a:ext cx="207026" cy="206636"/>
            <a:chOff x="1421638" y="4125629"/>
            <a:chExt cx="374709" cy="374010"/>
          </a:xfrm>
          <a:solidFill>
            <a:schemeClr val="bg1"/>
          </a:solidFill>
        </p:grpSpPr>
        <p:sp>
          <p:nvSpPr>
            <p:cNvPr id="74" name="Google Shape;2140;p50">
              <a:extLst>
                <a:ext uri="{FF2B5EF4-FFF2-40B4-BE49-F238E27FC236}">
                  <a16:creationId xmlns:a16="http://schemas.microsoft.com/office/drawing/2014/main" id="{0E956040-C3F6-4F7E-B01D-AA0390AEA9DC}"/>
                </a:ext>
              </a:extLst>
            </p:cNvPr>
            <p:cNvSpPr/>
            <p:nvPr/>
          </p:nvSpPr>
          <p:spPr>
            <a:xfrm>
              <a:off x="1421638" y="4265954"/>
              <a:ext cx="374709" cy="233685"/>
            </a:xfrm>
            <a:custGeom>
              <a:avLst/>
              <a:gdLst/>
              <a:ahLst/>
              <a:cxnLst/>
              <a:rect l="l" t="t" r="r" b="b"/>
              <a:pathLst>
                <a:path w="11800" h="7359" extrusionOk="0">
                  <a:moveTo>
                    <a:pt x="3180" y="3298"/>
                  </a:moveTo>
                  <a:lnTo>
                    <a:pt x="3180" y="7001"/>
                  </a:lnTo>
                  <a:lnTo>
                    <a:pt x="1691" y="7001"/>
                  </a:lnTo>
                  <a:lnTo>
                    <a:pt x="1691" y="3298"/>
                  </a:lnTo>
                  <a:close/>
                  <a:moveTo>
                    <a:pt x="6680" y="2370"/>
                  </a:moveTo>
                  <a:lnTo>
                    <a:pt x="6680" y="7001"/>
                  </a:lnTo>
                  <a:lnTo>
                    <a:pt x="5192" y="7001"/>
                  </a:lnTo>
                  <a:lnTo>
                    <a:pt x="5192" y="2370"/>
                  </a:lnTo>
                  <a:close/>
                  <a:moveTo>
                    <a:pt x="10180" y="345"/>
                  </a:moveTo>
                  <a:lnTo>
                    <a:pt x="10180" y="7001"/>
                  </a:lnTo>
                  <a:lnTo>
                    <a:pt x="8692" y="7001"/>
                  </a:lnTo>
                  <a:lnTo>
                    <a:pt x="8692" y="345"/>
                  </a:lnTo>
                  <a:close/>
                  <a:moveTo>
                    <a:pt x="8502" y="0"/>
                  </a:moveTo>
                  <a:cubicBezTo>
                    <a:pt x="8406" y="0"/>
                    <a:pt x="8323" y="84"/>
                    <a:pt x="8323" y="179"/>
                  </a:cubicBezTo>
                  <a:lnTo>
                    <a:pt x="8323" y="7001"/>
                  </a:lnTo>
                  <a:lnTo>
                    <a:pt x="7013" y="7001"/>
                  </a:lnTo>
                  <a:lnTo>
                    <a:pt x="7013" y="2203"/>
                  </a:lnTo>
                  <a:cubicBezTo>
                    <a:pt x="7013" y="2120"/>
                    <a:pt x="6930" y="2024"/>
                    <a:pt x="6835" y="2024"/>
                  </a:cubicBezTo>
                  <a:lnTo>
                    <a:pt x="4989" y="2024"/>
                  </a:lnTo>
                  <a:cubicBezTo>
                    <a:pt x="4894" y="2024"/>
                    <a:pt x="4811" y="2108"/>
                    <a:pt x="4811" y="2203"/>
                  </a:cubicBezTo>
                  <a:lnTo>
                    <a:pt x="4811" y="7001"/>
                  </a:lnTo>
                  <a:lnTo>
                    <a:pt x="3501" y="7001"/>
                  </a:lnTo>
                  <a:lnTo>
                    <a:pt x="3501" y="3132"/>
                  </a:lnTo>
                  <a:cubicBezTo>
                    <a:pt x="3501" y="3036"/>
                    <a:pt x="3418" y="2953"/>
                    <a:pt x="3322" y="2953"/>
                  </a:cubicBezTo>
                  <a:lnTo>
                    <a:pt x="1477" y="2953"/>
                  </a:lnTo>
                  <a:cubicBezTo>
                    <a:pt x="1382" y="2953"/>
                    <a:pt x="1298" y="3024"/>
                    <a:pt x="1298" y="3132"/>
                  </a:cubicBezTo>
                  <a:lnTo>
                    <a:pt x="1298" y="7001"/>
                  </a:lnTo>
                  <a:lnTo>
                    <a:pt x="179" y="7001"/>
                  </a:lnTo>
                  <a:cubicBezTo>
                    <a:pt x="84" y="7001"/>
                    <a:pt x="1" y="7073"/>
                    <a:pt x="1" y="7180"/>
                  </a:cubicBezTo>
                  <a:cubicBezTo>
                    <a:pt x="1" y="7287"/>
                    <a:pt x="72" y="7358"/>
                    <a:pt x="179" y="7358"/>
                  </a:cubicBezTo>
                  <a:lnTo>
                    <a:pt x="11597" y="7358"/>
                  </a:lnTo>
                  <a:cubicBezTo>
                    <a:pt x="11681" y="7358"/>
                    <a:pt x="11776" y="7287"/>
                    <a:pt x="11776" y="7180"/>
                  </a:cubicBezTo>
                  <a:cubicBezTo>
                    <a:pt x="11800" y="7073"/>
                    <a:pt x="11728" y="7001"/>
                    <a:pt x="11633" y="7001"/>
                  </a:cubicBezTo>
                  <a:lnTo>
                    <a:pt x="10526" y="7001"/>
                  </a:lnTo>
                  <a:lnTo>
                    <a:pt x="10526" y="179"/>
                  </a:lnTo>
                  <a:cubicBezTo>
                    <a:pt x="10526" y="95"/>
                    <a:pt x="10442" y="0"/>
                    <a:pt x="10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2141;p50">
              <a:extLst>
                <a:ext uri="{FF2B5EF4-FFF2-40B4-BE49-F238E27FC236}">
                  <a16:creationId xmlns:a16="http://schemas.microsoft.com/office/drawing/2014/main" id="{6213F634-69C5-45D1-B0CA-B369B824C994}"/>
                </a:ext>
              </a:extLst>
            </p:cNvPr>
            <p:cNvSpPr/>
            <p:nvPr/>
          </p:nvSpPr>
          <p:spPr>
            <a:xfrm>
              <a:off x="1428052" y="4125629"/>
              <a:ext cx="356958" cy="215585"/>
            </a:xfrm>
            <a:custGeom>
              <a:avLst/>
              <a:gdLst/>
              <a:ahLst/>
              <a:cxnLst/>
              <a:rect l="l" t="t" r="r" b="b"/>
              <a:pathLst>
                <a:path w="11241" h="6789" extrusionOk="0">
                  <a:moveTo>
                    <a:pt x="10668" y="0"/>
                  </a:moveTo>
                  <a:cubicBezTo>
                    <a:pt x="10653" y="0"/>
                    <a:pt x="10637" y="1"/>
                    <a:pt x="10621" y="2"/>
                  </a:cubicBezTo>
                  <a:lnTo>
                    <a:pt x="9145" y="181"/>
                  </a:lnTo>
                  <a:cubicBezTo>
                    <a:pt x="8847" y="216"/>
                    <a:pt x="8633" y="490"/>
                    <a:pt x="8669" y="788"/>
                  </a:cubicBezTo>
                  <a:cubicBezTo>
                    <a:pt x="8691" y="1064"/>
                    <a:pt x="8938" y="1268"/>
                    <a:pt x="9211" y="1268"/>
                  </a:cubicBezTo>
                  <a:cubicBezTo>
                    <a:pt x="9232" y="1268"/>
                    <a:pt x="9254" y="1267"/>
                    <a:pt x="9276" y="1264"/>
                  </a:cubicBezTo>
                  <a:lnTo>
                    <a:pt x="9395" y="1252"/>
                  </a:lnTo>
                  <a:lnTo>
                    <a:pt x="9395" y="1252"/>
                  </a:lnTo>
                  <a:cubicBezTo>
                    <a:pt x="7597" y="3348"/>
                    <a:pt x="5442" y="4443"/>
                    <a:pt x="3918" y="4979"/>
                  </a:cubicBezTo>
                  <a:cubicBezTo>
                    <a:pt x="2025" y="5657"/>
                    <a:pt x="561" y="5717"/>
                    <a:pt x="537" y="5717"/>
                  </a:cubicBezTo>
                  <a:cubicBezTo>
                    <a:pt x="239" y="5729"/>
                    <a:pt x="1" y="5967"/>
                    <a:pt x="25" y="6265"/>
                  </a:cubicBezTo>
                  <a:cubicBezTo>
                    <a:pt x="37" y="6562"/>
                    <a:pt x="275" y="6789"/>
                    <a:pt x="561" y="6789"/>
                  </a:cubicBezTo>
                  <a:lnTo>
                    <a:pt x="572" y="6789"/>
                  </a:lnTo>
                  <a:cubicBezTo>
                    <a:pt x="632" y="6789"/>
                    <a:pt x="2192" y="6729"/>
                    <a:pt x="4263" y="6003"/>
                  </a:cubicBezTo>
                  <a:cubicBezTo>
                    <a:pt x="5418" y="5586"/>
                    <a:pt x="6514" y="5050"/>
                    <a:pt x="7490" y="4383"/>
                  </a:cubicBezTo>
                  <a:cubicBezTo>
                    <a:pt x="7561" y="4324"/>
                    <a:pt x="7597" y="4217"/>
                    <a:pt x="7538" y="4145"/>
                  </a:cubicBezTo>
                  <a:cubicBezTo>
                    <a:pt x="7501" y="4093"/>
                    <a:pt x="7445" y="4065"/>
                    <a:pt x="7391" y="4065"/>
                  </a:cubicBezTo>
                  <a:cubicBezTo>
                    <a:pt x="7358" y="4065"/>
                    <a:pt x="7326" y="4075"/>
                    <a:pt x="7299" y="4098"/>
                  </a:cubicBezTo>
                  <a:cubicBezTo>
                    <a:pt x="6335" y="4753"/>
                    <a:pt x="5275" y="5288"/>
                    <a:pt x="4144" y="5693"/>
                  </a:cubicBezTo>
                  <a:cubicBezTo>
                    <a:pt x="2132" y="6408"/>
                    <a:pt x="632" y="6467"/>
                    <a:pt x="561" y="6467"/>
                  </a:cubicBezTo>
                  <a:cubicBezTo>
                    <a:pt x="453" y="6467"/>
                    <a:pt x="358" y="6372"/>
                    <a:pt x="358" y="6265"/>
                  </a:cubicBezTo>
                  <a:cubicBezTo>
                    <a:pt x="358" y="6169"/>
                    <a:pt x="441" y="6074"/>
                    <a:pt x="561" y="6062"/>
                  </a:cubicBezTo>
                  <a:cubicBezTo>
                    <a:pt x="572" y="6062"/>
                    <a:pt x="2085" y="6003"/>
                    <a:pt x="4037" y="5300"/>
                  </a:cubicBezTo>
                  <a:cubicBezTo>
                    <a:pt x="5680" y="4717"/>
                    <a:pt x="8026" y="3514"/>
                    <a:pt x="9943" y="1133"/>
                  </a:cubicBezTo>
                  <a:cubicBezTo>
                    <a:pt x="10035" y="1018"/>
                    <a:pt x="9949" y="847"/>
                    <a:pt x="9813" y="847"/>
                  </a:cubicBezTo>
                  <a:cubicBezTo>
                    <a:pt x="9809" y="847"/>
                    <a:pt x="9804" y="847"/>
                    <a:pt x="9800" y="847"/>
                  </a:cubicBezTo>
                  <a:lnTo>
                    <a:pt x="9252" y="931"/>
                  </a:lnTo>
                  <a:cubicBezTo>
                    <a:pt x="9244" y="932"/>
                    <a:pt x="9236" y="932"/>
                    <a:pt x="9228" y="932"/>
                  </a:cubicBezTo>
                  <a:cubicBezTo>
                    <a:pt x="9139" y="932"/>
                    <a:pt x="9049" y="874"/>
                    <a:pt x="9038" y="776"/>
                  </a:cubicBezTo>
                  <a:cubicBezTo>
                    <a:pt x="9014" y="657"/>
                    <a:pt x="9085" y="550"/>
                    <a:pt x="9204" y="538"/>
                  </a:cubicBezTo>
                  <a:lnTo>
                    <a:pt x="10681" y="359"/>
                  </a:lnTo>
                  <a:cubicBezTo>
                    <a:pt x="10688" y="358"/>
                    <a:pt x="10696" y="358"/>
                    <a:pt x="10703" y="358"/>
                  </a:cubicBezTo>
                  <a:cubicBezTo>
                    <a:pt x="10812" y="358"/>
                    <a:pt x="10895" y="438"/>
                    <a:pt x="10895" y="550"/>
                  </a:cubicBezTo>
                  <a:lnTo>
                    <a:pt x="10895" y="2026"/>
                  </a:lnTo>
                  <a:cubicBezTo>
                    <a:pt x="10895" y="2133"/>
                    <a:pt x="10812" y="2217"/>
                    <a:pt x="10705" y="2217"/>
                  </a:cubicBezTo>
                  <a:cubicBezTo>
                    <a:pt x="10598" y="2217"/>
                    <a:pt x="10514" y="2133"/>
                    <a:pt x="10514" y="2026"/>
                  </a:cubicBezTo>
                  <a:lnTo>
                    <a:pt x="10514" y="1586"/>
                  </a:lnTo>
                  <a:cubicBezTo>
                    <a:pt x="10514" y="1502"/>
                    <a:pt x="10467" y="1443"/>
                    <a:pt x="10407" y="1419"/>
                  </a:cubicBezTo>
                  <a:cubicBezTo>
                    <a:pt x="10387" y="1409"/>
                    <a:pt x="10368" y="1405"/>
                    <a:pt x="10349" y="1405"/>
                  </a:cubicBezTo>
                  <a:cubicBezTo>
                    <a:pt x="10298" y="1405"/>
                    <a:pt x="10251" y="1435"/>
                    <a:pt x="10217" y="1478"/>
                  </a:cubicBezTo>
                  <a:cubicBezTo>
                    <a:pt x="9574" y="2264"/>
                    <a:pt x="8835" y="2979"/>
                    <a:pt x="8026" y="3610"/>
                  </a:cubicBezTo>
                  <a:cubicBezTo>
                    <a:pt x="7954" y="3669"/>
                    <a:pt x="7942" y="3764"/>
                    <a:pt x="8002" y="3848"/>
                  </a:cubicBezTo>
                  <a:cubicBezTo>
                    <a:pt x="8036" y="3888"/>
                    <a:pt x="8081" y="3910"/>
                    <a:pt x="8129" y="3910"/>
                  </a:cubicBezTo>
                  <a:cubicBezTo>
                    <a:pt x="8166" y="3910"/>
                    <a:pt x="8204" y="3897"/>
                    <a:pt x="8240" y="3872"/>
                  </a:cubicBezTo>
                  <a:cubicBezTo>
                    <a:pt x="8931" y="3336"/>
                    <a:pt x="9585" y="2729"/>
                    <a:pt x="10169" y="2062"/>
                  </a:cubicBezTo>
                  <a:cubicBezTo>
                    <a:pt x="10181" y="2336"/>
                    <a:pt x="10419" y="2574"/>
                    <a:pt x="10705" y="2574"/>
                  </a:cubicBezTo>
                  <a:cubicBezTo>
                    <a:pt x="11002" y="2574"/>
                    <a:pt x="11240" y="2336"/>
                    <a:pt x="11240" y="2038"/>
                  </a:cubicBezTo>
                  <a:lnTo>
                    <a:pt x="11240" y="573"/>
                  </a:lnTo>
                  <a:cubicBezTo>
                    <a:pt x="11240" y="395"/>
                    <a:pt x="11169" y="240"/>
                    <a:pt x="11050" y="133"/>
                  </a:cubicBezTo>
                  <a:cubicBezTo>
                    <a:pt x="10943" y="47"/>
                    <a:pt x="10807" y="0"/>
                    <a:pt x="106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 name="CaixaDeTexto 69">
            <a:extLst>
              <a:ext uri="{FF2B5EF4-FFF2-40B4-BE49-F238E27FC236}">
                <a16:creationId xmlns:a16="http://schemas.microsoft.com/office/drawing/2014/main" id="{396FFDF2-17CD-4FD1-A7F0-E53220611038}"/>
              </a:ext>
            </a:extLst>
          </p:cNvPr>
          <p:cNvSpPr txBox="1"/>
          <p:nvPr/>
        </p:nvSpPr>
        <p:spPr>
          <a:xfrm>
            <a:off x="9643254" y="3067556"/>
            <a:ext cx="969818" cy="184666"/>
          </a:xfrm>
          <a:prstGeom prst="rect">
            <a:avLst/>
          </a:prstGeom>
          <a:noFill/>
        </p:spPr>
        <p:txBody>
          <a:bodyPr wrap="square" rtlCol="0">
            <a:spAutoFit/>
          </a:bodyPr>
          <a:lstStyle/>
          <a:p>
            <a:pPr algn="ctr"/>
            <a:r>
              <a:rPr lang="pt-BR" sz="600" b="1" dirty="0">
                <a:solidFill>
                  <a:schemeClr val="bg1">
                    <a:lumMod val="95000"/>
                  </a:schemeClr>
                </a:solidFill>
                <a:latin typeface="Arial" panose="020B0604020202020204" pitchFamily="34" charset="0"/>
                <a:cs typeface="Arial" panose="020B0604020202020204" pitchFamily="34" charset="0"/>
              </a:rPr>
              <a:t>Evolução</a:t>
            </a:r>
          </a:p>
        </p:txBody>
      </p:sp>
      <p:sp>
        <p:nvSpPr>
          <p:cNvPr id="96" name="Retângulo: Cantos Arredondados 95">
            <a:extLst>
              <a:ext uri="{FF2B5EF4-FFF2-40B4-BE49-F238E27FC236}">
                <a16:creationId xmlns:a16="http://schemas.microsoft.com/office/drawing/2014/main" id="{2EEE25DB-99F5-4C8F-86C1-D827EA728EF2}"/>
              </a:ext>
            </a:extLst>
          </p:cNvPr>
          <p:cNvSpPr/>
          <p:nvPr/>
        </p:nvSpPr>
        <p:spPr>
          <a:xfrm>
            <a:off x="6917013" y="4884402"/>
            <a:ext cx="983649" cy="329956"/>
          </a:xfrm>
          <a:prstGeom prst="roundRect">
            <a:avLst/>
          </a:prstGeom>
          <a:solidFill>
            <a:srgbClr val="A7E1C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1" name="CaixaDeTexto 90">
            <a:extLst>
              <a:ext uri="{FF2B5EF4-FFF2-40B4-BE49-F238E27FC236}">
                <a16:creationId xmlns:a16="http://schemas.microsoft.com/office/drawing/2014/main" id="{5CD1DE65-5668-42EC-8C03-D363DB0A175C}"/>
              </a:ext>
            </a:extLst>
          </p:cNvPr>
          <p:cNvSpPr txBox="1"/>
          <p:nvPr/>
        </p:nvSpPr>
        <p:spPr>
          <a:xfrm>
            <a:off x="7194833" y="4961599"/>
            <a:ext cx="687166" cy="230832"/>
          </a:xfrm>
          <a:prstGeom prst="rect">
            <a:avLst/>
          </a:prstGeom>
          <a:noFill/>
        </p:spPr>
        <p:txBody>
          <a:bodyPr wrap="square" rtlCol="0">
            <a:spAutoFit/>
          </a:bodyPr>
          <a:lstStyle/>
          <a:p>
            <a:pPr algn="ctr"/>
            <a:r>
              <a:rPr lang="pt-BR" sz="900" b="1" dirty="0">
                <a:solidFill>
                  <a:srgbClr val="00B050"/>
                </a:solidFill>
                <a:latin typeface="Arial" panose="020B0604020202020204" pitchFamily="34" charset="0"/>
                <a:cs typeface="Arial" panose="020B0604020202020204" pitchFamily="34" charset="0"/>
              </a:rPr>
              <a:t>100%</a:t>
            </a:r>
          </a:p>
        </p:txBody>
      </p:sp>
      <p:grpSp>
        <p:nvGrpSpPr>
          <p:cNvPr id="92" name="Google Shape;2139;p50">
            <a:extLst>
              <a:ext uri="{FF2B5EF4-FFF2-40B4-BE49-F238E27FC236}">
                <a16:creationId xmlns:a16="http://schemas.microsoft.com/office/drawing/2014/main" id="{5BFCF830-72A2-40BF-B938-0F06C6710D0B}"/>
              </a:ext>
            </a:extLst>
          </p:cNvPr>
          <p:cNvGrpSpPr/>
          <p:nvPr/>
        </p:nvGrpSpPr>
        <p:grpSpPr>
          <a:xfrm>
            <a:off x="7068057" y="4951448"/>
            <a:ext cx="207026" cy="206636"/>
            <a:chOff x="1421638" y="4125629"/>
            <a:chExt cx="374709" cy="374010"/>
          </a:xfrm>
          <a:solidFill>
            <a:srgbClr val="00B050"/>
          </a:solidFill>
        </p:grpSpPr>
        <p:sp>
          <p:nvSpPr>
            <p:cNvPr id="93" name="Google Shape;2140;p50">
              <a:extLst>
                <a:ext uri="{FF2B5EF4-FFF2-40B4-BE49-F238E27FC236}">
                  <a16:creationId xmlns:a16="http://schemas.microsoft.com/office/drawing/2014/main" id="{1F72AE8B-F832-47E2-9940-D5751A0FD10A}"/>
                </a:ext>
              </a:extLst>
            </p:cNvPr>
            <p:cNvSpPr/>
            <p:nvPr/>
          </p:nvSpPr>
          <p:spPr>
            <a:xfrm>
              <a:off x="1421638" y="4265954"/>
              <a:ext cx="374709" cy="233685"/>
            </a:xfrm>
            <a:custGeom>
              <a:avLst/>
              <a:gdLst/>
              <a:ahLst/>
              <a:cxnLst/>
              <a:rect l="l" t="t" r="r" b="b"/>
              <a:pathLst>
                <a:path w="11800" h="7359" extrusionOk="0">
                  <a:moveTo>
                    <a:pt x="3180" y="3298"/>
                  </a:moveTo>
                  <a:lnTo>
                    <a:pt x="3180" y="7001"/>
                  </a:lnTo>
                  <a:lnTo>
                    <a:pt x="1691" y="7001"/>
                  </a:lnTo>
                  <a:lnTo>
                    <a:pt x="1691" y="3298"/>
                  </a:lnTo>
                  <a:close/>
                  <a:moveTo>
                    <a:pt x="6680" y="2370"/>
                  </a:moveTo>
                  <a:lnTo>
                    <a:pt x="6680" y="7001"/>
                  </a:lnTo>
                  <a:lnTo>
                    <a:pt x="5192" y="7001"/>
                  </a:lnTo>
                  <a:lnTo>
                    <a:pt x="5192" y="2370"/>
                  </a:lnTo>
                  <a:close/>
                  <a:moveTo>
                    <a:pt x="10180" y="345"/>
                  </a:moveTo>
                  <a:lnTo>
                    <a:pt x="10180" y="7001"/>
                  </a:lnTo>
                  <a:lnTo>
                    <a:pt x="8692" y="7001"/>
                  </a:lnTo>
                  <a:lnTo>
                    <a:pt x="8692" y="345"/>
                  </a:lnTo>
                  <a:close/>
                  <a:moveTo>
                    <a:pt x="8502" y="0"/>
                  </a:moveTo>
                  <a:cubicBezTo>
                    <a:pt x="8406" y="0"/>
                    <a:pt x="8323" y="84"/>
                    <a:pt x="8323" y="179"/>
                  </a:cubicBezTo>
                  <a:lnTo>
                    <a:pt x="8323" y="7001"/>
                  </a:lnTo>
                  <a:lnTo>
                    <a:pt x="7013" y="7001"/>
                  </a:lnTo>
                  <a:lnTo>
                    <a:pt x="7013" y="2203"/>
                  </a:lnTo>
                  <a:cubicBezTo>
                    <a:pt x="7013" y="2120"/>
                    <a:pt x="6930" y="2024"/>
                    <a:pt x="6835" y="2024"/>
                  </a:cubicBezTo>
                  <a:lnTo>
                    <a:pt x="4989" y="2024"/>
                  </a:lnTo>
                  <a:cubicBezTo>
                    <a:pt x="4894" y="2024"/>
                    <a:pt x="4811" y="2108"/>
                    <a:pt x="4811" y="2203"/>
                  </a:cubicBezTo>
                  <a:lnTo>
                    <a:pt x="4811" y="7001"/>
                  </a:lnTo>
                  <a:lnTo>
                    <a:pt x="3501" y="7001"/>
                  </a:lnTo>
                  <a:lnTo>
                    <a:pt x="3501" y="3132"/>
                  </a:lnTo>
                  <a:cubicBezTo>
                    <a:pt x="3501" y="3036"/>
                    <a:pt x="3418" y="2953"/>
                    <a:pt x="3322" y="2953"/>
                  </a:cubicBezTo>
                  <a:lnTo>
                    <a:pt x="1477" y="2953"/>
                  </a:lnTo>
                  <a:cubicBezTo>
                    <a:pt x="1382" y="2953"/>
                    <a:pt x="1298" y="3024"/>
                    <a:pt x="1298" y="3132"/>
                  </a:cubicBezTo>
                  <a:lnTo>
                    <a:pt x="1298" y="7001"/>
                  </a:lnTo>
                  <a:lnTo>
                    <a:pt x="179" y="7001"/>
                  </a:lnTo>
                  <a:cubicBezTo>
                    <a:pt x="84" y="7001"/>
                    <a:pt x="1" y="7073"/>
                    <a:pt x="1" y="7180"/>
                  </a:cubicBezTo>
                  <a:cubicBezTo>
                    <a:pt x="1" y="7287"/>
                    <a:pt x="72" y="7358"/>
                    <a:pt x="179" y="7358"/>
                  </a:cubicBezTo>
                  <a:lnTo>
                    <a:pt x="11597" y="7358"/>
                  </a:lnTo>
                  <a:cubicBezTo>
                    <a:pt x="11681" y="7358"/>
                    <a:pt x="11776" y="7287"/>
                    <a:pt x="11776" y="7180"/>
                  </a:cubicBezTo>
                  <a:cubicBezTo>
                    <a:pt x="11800" y="7073"/>
                    <a:pt x="11728" y="7001"/>
                    <a:pt x="11633" y="7001"/>
                  </a:cubicBezTo>
                  <a:lnTo>
                    <a:pt x="10526" y="7001"/>
                  </a:lnTo>
                  <a:lnTo>
                    <a:pt x="10526" y="179"/>
                  </a:lnTo>
                  <a:cubicBezTo>
                    <a:pt x="10526" y="95"/>
                    <a:pt x="10442" y="0"/>
                    <a:pt x="10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2141;p50">
              <a:extLst>
                <a:ext uri="{FF2B5EF4-FFF2-40B4-BE49-F238E27FC236}">
                  <a16:creationId xmlns:a16="http://schemas.microsoft.com/office/drawing/2014/main" id="{8A69BAD6-A7A3-49EB-847B-57F4FCFD09E1}"/>
                </a:ext>
              </a:extLst>
            </p:cNvPr>
            <p:cNvSpPr/>
            <p:nvPr/>
          </p:nvSpPr>
          <p:spPr>
            <a:xfrm>
              <a:off x="1428052" y="4125629"/>
              <a:ext cx="356958" cy="215585"/>
            </a:xfrm>
            <a:custGeom>
              <a:avLst/>
              <a:gdLst/>
              <a:ahLst/>
              <a:cxnLst/>
              <a:rect l="l" t="t" r="r" b="b"/>
              <a:pathLst>
                <a:path w="11241" h="6789" extrusionOk="0">
                  <a:moveTo>
                    <a:pt x="10668" y="0"/>
                  </a:moveTo>
                  <a:cubicBezTo>
                    <a:pt x="10653" y="0"/>
                    <a:pt x="10637" y="1"/>
                    <a:pt x="10621" y="2"/>
                  </a:cubicBezTo>
                  <a:lnTo>
                    <a:pt x="9145" y="181"/>
                  </a:lnTo>
                  <a:cubicBezTo>
                    <a:pt x="8847" y="216"/>
                    <a:pt x="8633" y="490"/>
                    <a:pt x="8669" y="788"/>
                  </a:cubicBezTo>
                  <a:cubicBezTo>
                    <a:pt x="8691" y="1064"/>
                    <a:pt x="8938" y="1268"/>
                    <a:pt x="9211" y="1268"/>
                  </a:cubicBezTo>
                  <a:cubicBezTo>
                    <a:pt x="9232" y="1268"/>
                    <a:pt x="9254" y="1267"/>
                    <a:pt x="9276" y="1264"/>
                  </a:cubicBezTo>
                  <a:lnTo>
                    <a:pt x="9395" y="1252"/>
                  </a:lnTo>
                  <a:lnTo>
                    <a:pt x="9395" y="1252"/>
                  </a:lnTo>
                  <a:cubicBezTo>
                    <a:pt x="7597" y="3348"/>
                    <a:pt x="5442" y="4443"/>
                    <a:pt x="3918" y="4979"/>
                  </a:cubicBezTo>
                  <a:cubicBezTo>
                    <a:pt x="2025" y="5657"/>
                    <a:pt x="561" y="5717"/>
                    <a:pt x="537" y="5717"/>
                  </a:cubicBezTo>
                  <a:cubicBezTo>
                    <a:pt x="239" y="5729"/>
                    <a:pt x="1" y="5967"/>
                    <a:pt x="25" y="6265"/>
                  </a:cubicBezTo>
                  <a:cubicBezTo>
                    <a:pt x="37" y="6562"/>
                    <a:pt x="275" y="6789"/>
                    <a:pt x="561" y="6789"/>
                  </a:cubicBezTo>
                  <a:lnTo>
                    <a:pt x="572" y="6789"/>
                  </a:lnTo>
                  <a:cubicBezTo>
                    <a:pt x="632" y="6789"/>
                    <a:pt x="2192" y="6729"/>
                    <a:pt x="4263" y="6003"/>
                  </a:cubicBezTo>
                  <a:cubicBezTo>
                    <a:pt x="5418" y="5586"/>
                    <a:pt x="6514" y="5050"/>
                    <a:pt x="7490" y="4383"/>
                  </a:cubicBezTo>
                  <a:cubicBezTo>
                    <a:pt x="7561" y="4324"/>
                    <a:pt x="7597" y="4217"/>
                    <a:pt x="7538" y="4145"/>
                  </a:cubicBezTo>
                  <a:cubicBezTo>
                    <a:pt x="7501" y="4093"/>
                    <a:pt x="7445" y="4065"/>
                    <a:pt x="7391" y="4065"/>
                  </a:cubicBezTo>
                  <a:cubicBezTo>
                    <a:pt x="7358" y="4065"/>
                    <a:pt x="7326" y="4075"/>
                    <a:pt x="7299" y="4098"/>
                  </a:cubicBezTo>
                  <a:cubicBezTo>
                    <a:pt x="6335" y="4753"/>
                    <a:pt x="5275" y="5288"/>
                    <a:pt x="4144" y="5693"/>
                  </a:cubicBezTo>
                  <a:cubicBezTo>
                    <a:pt x="2132" y="6408"/>
                    <a:pt x="632" y="6467"/>
                    <a:pt x="561" y="6467"/>
                  </a:cubicBezTo>
                  <a:cubicBezTo>
                    <a:pt x="453" y="6467"/>
                    <a:pt x="358" y="6372"/>
                    <a:pt x="358" y="6265"/>
                  </a:cubicBezTo>
                  <a:cubicBezTo>
                    <a:pt x="358" y="6169"/>
                    <a:pt x="441" y="6074"/>
                    <a:pt x="561" y="6062"/>
                  </a:cubicBezTo>
                  <a:cubicBezTo>
                    <a:pt x="572" y="6062"/>
                    <a:pt x="2085" y="6003"/>
                    <a:pt x="4037" y="5300"/>
                  </a:cubicBezTo>
                  <a:cubicBezTo>
                    <a:pt x="5680" y="4717"/>
                    <a:pt x="8026" y="3514"/>
                    <a:pt x="9943" y="1133"/>
                  </a:cubicBezTo>
                  <a:cubicBezTo>
                    <a:pt x="10035" y="1018"/>
                    <a:pt x="9949" y="847"/>
                    <a:pt x="9813" y="847"/>
                  </a:cubicBezTo>
                  <a:cubicBezTo>
                    <a:pt x="9809" y="847"/>
                    <a:pt x="9804" y="847"/>
                    <a:pt x="9800" y="847"/>
                  </a:cubicBezTo>
                  <a:lnTo>
                    <a:pt x="9252" y="931"/>
                  </a:lnTo>
                  <a:cubicBezTo>
                    <a:pt x="9244" y="932"/>
                    <a:pt x="9236" y="932"/>
                    <a:pt x="9228" y="932"/>
                  </a:cubicBezTo>
                  <a:cubicBezTo>
                    <a:pt x="9139" y="932"/>
                    <a:pt x="9049" y="874"/>
                    <a:pt x="9038" y="776"/>
                  </a:cubicBezTo>
                  <a:cubicBezTo>
                    <a:pt x="9014" y="657"/>
                    <a:pt x="9085" y="550"/>
                    <a:pt x="9204" y="538"/>
                  </a:cubicBezTo>
                  <a:lnTo>
                    <a:pt x="10681" y="359"/>
                  </a:lnTo>
                  <a:cubicBezTo>
                    <a:pt x="10688" y="358"/>
                    <a:pt x="10696" y="358"/>
                    <a:pt x="10703" y="358"/>
                  </a:cubicBezTo>
                  <a:cubicBezTo>
                    <a:pt x="10812" y="358"/>
                    <a:pt x="10895" y="438"/>
                    <a:pt x="10895" y="550"/>
                  </a:cubicBezTo>
                  <a:lnTo>
                    <a:pt x="10895" y="2026"/>
                  </a:lnTo>
                  <a:cubicBezTo>
                    <a:pt x="10895" y="2133"/>
                    <a:pt x="10812" y="2217"/>
                    <a:pt x="10705" y="2217"/>
                  </a:cubicBezTo>
                  <a:cubicBezTo>
                    <a:pt x="10598" y="2217"/>
                    <a:pt x="10514" y="2133"/>
                    <a:pt x="10514" y="2026"/>
                  </a:cubicBezTo>
                  <a:lnTo>
                    <a:pt x="10514" y="1586"/>
                  </a:lnTo>
                  <a:cubicBezTo>
                    <a:pt x="10514" y="1502"/>
                    <a:pt x="10467" y="1443"/>
                    <a:pt x="10407" y="1419"/>
                  </a:cubicBezTo>
                  <a:cubicBezTo>
                    <a:pt x="10387" y="1409"/>
                    <a:pt x="10368" y="1405"/>
                    <a:pt x="10349" y="1405"/>
                  </a:cubicBezTo>
                  <a:cubicBezTo>
                    <a:pt x="10298" y="1405"/>
                    <a:pt x="10251" y="1435"/>
                    <a:pt x="10217" y="1478"/>
                  </a:cubicBezTo>
                  <a:cubicBezTo>
                    <a:pt x="9574" y="2264"/>
                    <a:pt x="8835" y="2979"/>
                    <a:pt x="8026" y="3610"/>
                  </a:cubicBezTo>
                  <a:cubicBezTo>
                    <a:pt x="7954" y="3669"/>
                    <a:pt x="7942" y="3764"/>
                    <a:pt x="8002" y="3848"/>
                  </a:cubicBezTo>
                  <a:cubicBezTo>
                    <a:pt x="8036" y="3888"/>
                    <a:pt x="8081" y="3910"/>
                    <a:pt x="8129" y="3910"/>
                  </a:cubicBezTo>
                  <a:cubicBezTo>
                    <a:pt x="8166" y="3910"/>
                    <a:pt x="8204" y="3897"/>
                    <a:pt x="8240" y="3872"/>
                  </a:cubicBezTo>
                  <a:cubicBezTo>
                    <a:pt x="8931" y="3336"/>
                    <a:pt x="9585" y="2729"/>
                    <a:pt x="10169" y="2062"/>
                  </a:cubicBezTo>
                  <a:cubicBezTo>
                    <a:pt x="10181" y="2336"/>
                    <a:pt x="10419" y="2574"/>
                    <a:pt x="10705" y="2574"/>
                  </a:cubicBezTo>
                  <a:cubicBezTo>
                    <a:pt x="11002" y="2574"/>
                    <a:pt x="11240" y="2336"/>
                    <a:pt x="11240" y="2038"/>
                  </a:cubicBezTo>
                  <a:lnTo>
                    <a:pt x="11240" y="573"/>
                  </a:lnTo>
                  <a:cubicBezTo>
                    <a:pt x="11240" y="395"/>
                    <a:pt x="11169" y="240"/>
                    <a:pt x="11050" y="133"/>
                  </a:cubicBezTo>
                  <a:cubicBezTo>
                    <a:pt x="10943" y="47"/>
                    <a:pt x="10807" y="0"/>
                    <a:pt x="106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CaixaDeTexto 94">
            <a:extLst>
              <a:ext uri="{FF2B5EF4-FFF2-40B4-BE49-F238E27FC236}">
                <a16:creationId xmlns:a16="http://schemas.microsoft.com/office/drawing/2014/main" id="{5FAD3610-97DE-4BC5-9329-57B2739CA52D}"/>
              </a:ext>
            </a:extLst>
          </p:cNvPr>
          <p:cNvSpPr txBox="1"/>
          <p:nvPr/>
        </p:nvSpPr>
        <p:spPr>
          <a:xfrm>
            <a:off x="7241919" y="4853926"/>
            <a:ext cx="586291" cy="184666"/>
          </a:xfrm>
          <a:prstGeom prst="rect">
            <a:avLst/>
          </a:prstGeom>
          <a:noFill/>
        </p:spPr>
        <p:txBody>
          <a:bodyPr wrap="square" rtlCol="0">
            <a:spAutoFit/>
          </a:bodyPr>
          <a:lstStyle/>
          <a:p>
            <a:pPr algn="ctr"/>
            <a:r>
              <a:rPr lang="pt-BR" sz="600" b="1" dirty="0">
                <a:solidFill>
                  <a:srgbClr val="00B050"/>
                </a:solidFill>
                <a:latin typeface="Arial" panose="020B0604020202020204" pitchFamily="34" charset="0"/>
                <a:cs typeface="Arial" panose="020B0604020202020204" pitchFamily="34" charset="0"/>
              </a:rPr>
              <a:t>Aplicação</a:t>
            </a:r>
          </a:p>
        </p:txBody>
      </p:sp>
      <p:sp>
        <p:nvSpPr>
          <p:cNvPr id="67" name="Retângulo: Cantos Arredondados 66">
            <a:extLst>
              <a:ext uri="{FF2B5EF4-FFF2-40B4-BE49-F238E27FC236}">
                <a16:creationId xmlns:a16="http://schemas.microsoft.com/office/drawing/2014/main" id="{D1AB8853-A378-4D6C-8B84-7A251C92C349}"/>
              </a:ext>
            </a:extLst>
          </p:cNvPr>
          <p:cNvSpPr/>
          <p:nvPr/>
        </p:nvSpPr>
        <p:spPr>
          <a:xfrm>
            <a:off x="3585938" y="2960870"/>
            <a:ext cx="1909219" cy="329956"/>
          </a:xfrm>
          <a:prstGeom prst="roundRect">
            <a:avLst/>
          </a:prstGeom>
          <a:solidFill>
            <a:srgbClr val="A7E1C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71" name="CaixaDeTexto 70">
            <a:extLst>
              <a:ext uri="{FF2B5EF4-FFF2-40B4-BE49-F238E27FC236}">
                <a16:creationId xmlns:a16="http://schemas.microsoft.com/office/drawing/2014/main" id="{C35B38D4-9E49-4761-B9EB-C776CFAD38B2}"/>
              </a:ext>
            </a:extLst>
          </p:cNvPr>
          <p:cNvSpPr txBox="1"/>
          <p:nvPr/>
        </p:nvSpPr>
        <p:spPr>
          <a:xfrm>
            <a:off x="3786118" y="3023632"/>
            <a:ext cx="1671441" cy="230832"/>
          </a:xfrm>
          <a:prstGeom prst="rect">
            <a:avLst/>
          </a:prstGeom>
          <a:noFill/>
        </p:spPr>
        <p:txBody>
          <a:bodyPr wrap="square" rtlCol="0">
            <a:spAutoFit/>
          </a:bodyPr>
          <a:lstStyle/>
          <a:p>
            <a:pPr algn="ctr"/>
            <a:r>
              <a:rPr lang="pt-BR" sz="900" b="1" dirty="0">
                <a:solidFill>
                  <a:srgbClr val="00B050"/>
                </a:solidFill>
                <a:latin typeface="Arial" panose="020B0604020202020204" pitchFamily="34" charset="0"/>
                <a:cs typeface="Arial" panose="020B0604020202020204" pitchFamily="34" charset="0"/>
              </a:rPr>
              <a:t>01 monitoria justificada</a:t>
            </a:r>
          </a:p>
        </p:txBody>
      </p:sp>
      <p:grpSp>
        <p:nvGrpSpPr>
          <p:cNvPr id="78" name="Google Shape;2139;p50">
            <a:extLst>
              <a:ext uri="{FF2B5EF4-FFF2-40B4-BE49-F238E27FC236}">
                <a16:creationId xmlns:a16="http://schemas.microsoft.com/office/drawing/2014/main" id="{D3F2B36A-DB59-44C2-961F-B4CA7FB59EFD}"/>
              </a:ext>
            </a:extLst>
          </p:cNvPr>
          <p:cNvGrpSpPr/>
          <p:nvPr/>
        </p:nvGrpSpPr>
        <p:grpSpPr>
          <a:xfrm>
            <a:off x="3695195" y="3012379"/>
            <a:ext cx="207026" cy="206636"/>
            <a:chOff x="1421638" y="4125629"/>
            <a:chExt cx="374709" cy="374010"/>
          </a:xfrm>
          <a:solidFill>
            <a:srgbClr val="00B050"/>
          </a:solidFill>
        </p:grpSpPr>
        <p:sp>
          <p:nvSpPr>
            <p:cNvPr id="79" name="Google Shape;2140;p50">
              <a:extLst>
                <a:ext uri="{FF2B5EF4-FFF2-40B4-BE49-F238E27FC236}">
                  <a16:creationId xmlns:a16="http://schemas.microsoft.com/office/drawing/2014/main" id="{9B162D24-270D-424C-B718-45E110D02C18}"/>
                </a:ext>
              </a:extLst>
            </p:cNvPr>
            <p:cNvSpPr/>
            <p:nvPr/>
          </p:nvSpPr>
          <p:spPr>
            <a:xfrm>
              <a:off x="1421638" y="4265954"/>
              <a:ext cx="374709" cy="233685"/>
            </a:xfrm>
            <a:custGeom>
              <a:avLst/>
              <a:gdLst/>
              <a:ahLst/>
              <a:cxnLst/>
              <a:rect l="l" t="t" r="r" b="b"/>
              <a:pathLst>
                <a:path w="11800" h="7359" extrusionOk="0">
                  <a:moveTo>
                    <a:pt x="3180" y="3298"/>
                  </a:moveTo>
                  <a:lnTo>
                    <a:pt x="3180" y="7001"/>
                  </a:lnTo>
                  <a:lnTo>
                    <a:pt x="1691" y="7001"/>
                  </a:lnTo>
                  <a:lnTo>
                    <a:pt x="1691" y="3298"/>
                  </a:lnTo>
                  <a:close/>
                  <a:moveTo>
                    <a:pt x="6680" y="2370"/>
                  </a:moveTo>
                  <a:lnTo>
                    <a:pt x="6680" y="7001"/>
                  </a:lnTo>
                  <a:lnTo>
                    <a:pt x="5192" y="7001"/>
                  </a:lnTo>
                  <a:lnTo>
                    <a:pt x="5192" y="2370"/>
                  </a:lnTo>
                  <a:close/>
                  <a:moveTo>
                    <a:pt x="10180" y="345"/>
                  </a:moveTo>
                  <a:lnTo>
                    <a:pt x="10180" y="7001"/>
                  </a:lnTo>
                  <a:lnTo>
                    <a:pt x="8692" y="7001"/>
                  </a:lnTo>
                  <a:lnTo>
                    <a:pt x="8692" y="345"/>
                  </a:lnTo>
                  <a:close/>
                  <a:moveTo>
                    <a:pt x="8502" y="0"/>
                  </a:moveTo>
                  <a:cubicBezTo>
                    <a:pt x="8406" y="0"/>
                    <a:pt x="8323" y="84"/>
                    <a:pt x="8323" y="179"/>
                  </a:cubicBezTo>
                  <a:lnTo>
                    <a:pt x="8323" y="7001"/>
                  </a:lnTo>
                  <a:lnTo>
                    <a:pt x="7013" y="7001"/>
                  </a:lnTo>
                  <a:lnTo>
                    <a:pt x="7013" y="2203"/>
                  </a:lnTo>
                  <a:cubicBezTo>
                    <a:pt x="7013" y="2120"/>
                    <a:pt x="6930" y="2024"/>
                    <a:pt x="6835" y="2024"/>
                  </a:cubicBezTo>
                  <a:lnTo>
                    <a:pt x="4989" y="2024"/>
                  </a:lnTo>
                  <a:cubicBezTo>
                    <a:pt x="4894" y="2024"/>
                    <a:pt x="4811" y="2108"/>
                    <a:pt x="4811" y="2203"/>
                  </a:cubicBezTo>
                  <a:lnTo>
                    <a:pt x="4811" y="7001"/>
                  </a:lnTo>
                  <a:lnTo>
                    <a:pt x="3501" y="7001"/>
                  </a:lnTo>
                  <a:lnTo>
                    <a:pt x="3501" y="3132"/>
                  </a:lnTo>
                  <a:cubicBezTo>
                    <a:pt x="3501" y="3036"/>
                    <a:pt x="3418" y="2953"/>
                    <a:pt x="3322" y="2953"/>
                  </a:cubicBezTo>
                  <a:lnTo>
                    <a:pt x="1477" y="2953"/>
                  </a:lnTo>
                  <a:cubicBezTo>
                    <a:pt x="1382" y="2953"/>
                    <a:pt x="1298" y="3024"/>
                    <a:pt x="1298" y="3132"/>
                  </a:cubicBezTo>
                  <a:lnTo>
                    <a:pt x="1298" y="7001"/>
                  </a:lnTo>
                  <a:lnTo>
                    <a:pt x="179" y="7001"/>
                  </a:lnTo>
                  <a:cubicBezTo>
                    <a:pt x="84" y="7001"/>
                    <a:pt x="1" y="7073"/>
                    <a:pt x="1" y="7180"/>
                  </a:cubicBezTo>
                  <a:cubicBezTo>
                    <a:pt x="1" y="7287"/>
                    <a:pt x="72" y="7358"/>
                    <a:pt x="179" y="7358"/>
                  </a:cubicBezTo>
                  <a:lnTo>
                    <a:pt x="11597" y="7358"/>
                  </a:lnTo>
                  <a:cubicBezTo>
                    <a:pt x="11681" y="7358"/>
                    <a:pt x="11776" y="7287"/>
                    <a:pt x="11776" y="7180"/>
                  </a:cubicBezTo>
                  <a:cubicBezTo>
                    <a:pt x="11800" y="7073"/>
                    <a:pt x="11728" y="7001"/>
                    <a:pt x="11633" y="7001"/>
                  </a:cubicBezTo>
                  <a:lnTo>
                    <a:pt x="10526" y="7001"/>
                  </a:lnTo>
                  <a:lnTo>
                    <a:pt x="10526" y="179"/>
                  </a:lnTo>
                  <a:cubicBezTo>
                    <a:pt x="10526" y="95"/>
                    <a:pt x="10442" y="0"/>
                    <a:pt x="10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2141;p50">
              <a:extLst>
                <a:ext uri="{FF2B5EF4-FFF2-40B4-BE49-F238E27FC236}">
                  <a16:creationId xmlns:a16="http://schemas.microsoft.com/office/drawing/2014/main" id="{0489199B-0476-4590-9927-49DC60C5751E}"/>
                </a:ext>
              </a:extLst>
            </p:cNvPr>
            <p:cNvSpPr/>
            <p:nvPr/>
          </p:nvSpPr>
          <p:spPr>
            <a:xfrm>
              <a:off x="1428052" y="4125629"/>
              <a:ext cx="356958" cy="215585"/>
            </a:xfrm>
            <a:custGeom>
              <a:avLst/>
              <a:gdLst/>
              <a:ahLst/>
              <a:cxnLst/>
              <a:rect l="l" t="t" r="r" b="b"/>
              <a:pathLst>
                <a:path w="11241" h="6789" extrusionOk="0">
                  <a:moveTo>
                    <a:pt x="10668" y="0"/>
                  </a:moveTo>
                  <a:cubicBezTo>
                    <a:pt x="10653" y="0"/>
                    <a:pt x="10637" y="1"/>
                    <a:pt x="10621" y="2"/>
                  </a:cubicBezTo>
                  <a:lnTo>
                    <a:pt x="9145" y="181"/>
                  </a:lnTo>
                  <a:cubicBezTo>
                    <a:pt x="8847" y="216"/>
                    <a:pt x="8633" y="490"/>
                    <a:pt x="8669" y="788"/>
                  </a:cubicBezTo>
                  <a:cubicBezTo>
                    <a:pt x="8691" y="1064"/>
                    <a:pt x="8938" y="1268"/>
                    <a:pt x="9211" y="1268"/>
                  </a:cubicBezTo>
                  <a:cubicBezTo>
                    <a:pt x="9232" y="1268"/>
                    <a:pt x="9254" y="1267"/>
                    <a:pt x="9276" y="1264"/>
                  </a:cubicBezTo>
                  <a:lnTo>
                    <a:pt x="9395" y="1252"/>
                  </a:lnTo>
                  <a:lnTo>
                    <a:pt x="9395" y="1252"/>
                  </a:lnTo>
                  <a:cubicBezTo>
                    <a:pt x="7597" y="3348"/>
                    <a:pt x="5442" y="4443"/>
                    <a:pt x="3918" y="4979"/>
                  </a:cubicBezTo>
                  <a:cubicBezTo>
                    <a:pt x="2025" y="5657"/>
                    <a:pt x="561" y="5717"/>
                    <a:pt x="537" y="5717"/>
                  </a:cubicBezTo>
                  <a:cubicBezTo>
                    <a:pt x="239" y="5729"/>
                    <a:pt x="1" y="5967"/>
                    <a:pt x="25" y="6265"/>
                  </a:cubicBezTo>
                  <a:cubicBezTo>
                    <a:pt x="37" y="6562"/>
                    <a:pt x="275" y="6789"/>
                    <a:pt x="561" y="6789"/>
                  </a:cubicBezTo>
                  <a:lnTo>
                    <a:pt x="572" y="6789"/>
                  </a:lnTo>
                  <a:cubicBezTo>
                    <a:pt x="632" y="6789"/>
                    <a:pt x="2192" y="6729"/>
                    <a:pt x="4263" y="6003"/>
                  </a:cubicBezTo>
                  <a:cubicBezTo>
                    <a:pt x="5418" y="5586"/>
                    <a:pt x="6514" y="5050"/>
                    <a:pt x="7490" y="4383"/>
                  </a:cubicBezTo>
                  <a:cubicBezTo>
                    <a:pt x="7561" y="4324"/>
                    <a:pt x="7597" y="4217"/>
                    <a:pt x="7538" y="4145"/>
                  </a:cubicBezTo>
                  <a:cubicBezTo>
                    <a:pt x="7501" y="4093"/>
                    <a:pt x="7445" y="4065"/>
                    <a:pt x="7391" y="4065"/>
                  </a:cubicBezTo>
                  <a:cubicBezTo>
                    <a:pt x="7358" y="4065"/>
                    <a:pt x="7326" y="4075"/>
                    <a:pt x="7299" y="4098"/>
                  </a:cubicBezTo>
                  <a:cubicBezTo>
                    <a:pt x="6335" y="4753"/>
                    <a:pt x="5275" y="5288"/>
                    <a:pt x="4144" y="5693"/>
                  </a:cubicBezTo>
                  <a:cubicBezTo>
                    <a:pt x="2132" y="6408"/>
                    <a:pt x="632" y="6467"/>
                    <a:pt x="561" y="6467"/>
                  </a:cubicBezTo>
                  <a:cubicBezTo>
                    <a:pt x="453" y="6467"/>
                    <a:pt x="358" y="6372"/>
                    <a:pt x="358" y="6265"/>
                  </a:cubicBezTo>
                  <a:cubicBezTo>
                    <a:pt x="358" y="6169"/>
                    <a:pt x="441" y="6074"/>
                    <a:pt x="561" y="6062"/>
                  </a:cubicBezTo>
                  <a:cubicBezTo>
                    <a:pt x="572" y="6062"/>
                    <a:pt x="2085" y="6003"/>
                    <a:pt x="4037" y="5300"/>
                  </a:cubicBezTo>
                  <a:cubicBezTo>
                    <a:pt x="5680" y="4717"/>
                    <a:pt x="8026" y="3514"/>
                    <a:pt x="9943" y="1133"/>
                  </a:cubicBezTo>
                  <a:cubicBezTo>
                    <a:pt x="10035" y="1018"/>
                    <a:pt x="9949" y="847"/>
                    <a:pt x="9813" y="847"/>
                  </a:cubicBezTo>
                  <a:cubicBezTo>
                    <a:pt x="9809" y="847"/>
                    <a:pt x="9804" y="847"/>
                    <a:pt x="9800" y="847"/>
                  </a:cubicBezTo>
                  <a:lnTo>
                    <a:pt x="9252" y="931"/>
                  </a:lnTo>
                  <a:cubicBezTo>
                    <a:pt x="9244" y="932"/>
                    <a:pt x="9236" y="932"/>
                    <a:pt x="9228" y="932"/>
                  </a:cubicBezTo>
                  <a:cubicBezTo>
                    <a:pt x="9139" y="932"/>
                    <a:pt x="9049" y="874"/>
                    <a:pt x="9038" y="776"/>
                  </a:cubicBezTo>
                  <a:cubicBezTo>
                    <a:pt x="9014" y="657"/>
                    <a:pt x="9085" y="550"/>
                    <a:pt x="9204" y="538"/>
                  </a:cubicBezTo>
                  <a:lnTo>
                    <a:pt x="10681" y="359"/>
                  </a:lnTo>
                  <a:cubicBezTo>
                    <a:pt x="10688" y="358"/>
                    <a:pt x="10696" y="358"/>
                    <a:pt x="10703" y="358"/>
                  </a:cubicBezTo>
                  <a:cubicBezTo>
                    <a:pt x="10812" y="358"/>
                    <a:pt x="10895" y="438"/>
                    <a:pt x="10895" y="550"/>
                  </a:cubicBezTo>
                  <a:lnTo>
                    <a:pt x="10895" y="2026"/>
                  </a:lnTo>
                  <a:cubicBezTo>
                    <a:pt x="10895" y="2133"/>
                    <a:pt x="10812" y="2217"/>
                    <a:pt x="10705" y="2217"/>
                  </a:cubicBezTo>
                  <a:cubicBezTo>
                    <a:pt x="10598" y="2217"/>
                    <a:pt x="10514" y="2133"/>
                    <a:pt x="10514" y="2026"/>
                  </a:cubicBezTo>
                  <a:lnTo>
                    <a:pt x="10514" y="1586"/>
                  </a:lnTo>
                  <a:cubicBezTo>
                    <a:pt x="10514" y="1502"/>
                    <a:pt x="10467" y="1443"/>
                    <a:pt x="10407" y="1419"/>
                  </a:cubicBezTo>
                  <a:cubicBezTo>
                    <a:pt x="10387" y="1409"/>
                    <a:pt x="10368" y="1405"/>
                    <a:pt x="10349" y="1405"/>
                  </a:cubicBezTo>
                  <a:cubicBezTo>
                    <a:pt x="10298" y="1405"/>
                    <a:pt x="10251" y="1435"/>
                    <a:pt x="10217" y="1478"/>
                  </a:cubicBezTo>
                  <a:cubicBezTo>
                    <a:pt x="9574" y="2264"/>
                    <a:pt x="8835" y="2979"/>
                    <a:pt x="8026" y="3610"/>
                  </a:cubicBezTo>
                  <a:cubicBezTo>
                    <a:pt x="7954" y="3669"/>
                    <a:pt x="7942" y="3764"/>
                    <a:pt x="8002" y="3848"/>
                  </a:cubicBezTo>
                  <a:cubicBezTo>
                    <a:pt x="8036" y="3888"/>
                    <a:pt x="8081" y="3910"/>
                    <a:pt x="8129" y="3910"/>
                  </a:cubicBezTo>
                  <a:cubicBezTo>
                    <a:pt x="8166" y="3910"/>
                    <a:pt x="8204" y="3897"/>
                    <a:pt x="8240" y="3872"/>
                  </a:cubicBezTo>
                  <a:cubicBezTo>
                    <a:pt x="8931" y="3336"/>
                    <a:pt x="9585" y="2729"/>
                    <a:pt x="10169" y="2062"/>
                  </a:cubicBezTo>
                  <a:cubicBezTo>
                    <a:pt x="10181" y="2336"/>
                    <a:pt x="10419" y="2574"/>
                    <a:pt x="10705" y="2574"/>
                  </a:cubicBezTo>
                  <a:cubicBezTo>
                    <a:pt x="11002" y="2574"/>
                    <a:pt x="11240" y="2336"/>
                    <a:pt x="11240" y="2038"/>
                  </a:cubicBezTo>
                  <a:lnTo>
                    <a:pt x="11240" y="573"/>
                  </a:lnTo>
                  <a:cubicBezTo>
                    <a:pt x="11240" y="395"/>
                    <a:pt x="11169" y="240"/>
                    <a:pt x="11050" y="133"/>
                  </a:cubicBezTo>
                  <a:cubicBezTo>
                    <a:pt x="10943" y="47"/>
                    <a:pt x="10807" y="0"/>
                    <a:pt x="106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CaixaDeTexto 2">
            <a:extLst>
              <a:ext uri="{FF2B5EF4-FFF2-40B4-BE49-F238E27FC236}">
                <a16:creationId xmlns:a16="http://schemas.microsoft.com/office/drawing/2014/main" id="{0A90A701-E3CF-869F-0731-2B5B735F0992}"/>
              </a:ext>
            </a:extLst>
          </p:cNvPr>
          <p:cNvSpPr txBox="1"/>
          <p:nvPr/>
        </p:nvSpPr>
        <p:spPr>
          <a:xfrm>
            <a:off x="4128555" y="4403414"/>
            <a:ext cx="1673132" cy="1107996"/>
          </a:xfrm>
          <a:prstGeom prst="rect">
            <a:avLst/>
          </a:prstGeom>
          <a:noFill/>
        </p:spPr>
        <p:txBody>
          <a:bodyPr wrap="square" rtlCol="0">
            <a:spAutoFit/>
          </a:bodyPr>
          <a:lstStyle/>
          <a:p>
            <a:pPr algn="ctr"/>
            <a:r>
              <a:rPr lang="pt-BR" sz="6600" b="1" dirty="0">
                <a:solidFill>
                  <a:schemeClr val="tx1">
                    <a:lumMod val="50000"/>
                    <a:lumOff val="50000"/>
                  </a:schemeClr>
                </a:solidFill>
                <a:latin typeface="Arial" panose="020B0604020202020204" pitchFamily="34" charset="0"/>
                <a:cs typeface="Arial" panose="020B0604020202020204" pitchFamily="34" charset="0"/>
              </a:rPr>
              <a:t>23</a:t>
            </a:r>
          </a:p>
        </p:txBody>
      </p:sp>
    </p:spTree>
    <p:extLst>
      <p:ext uri="{BB962C8B-B14F-4D97-AF65-F5344CB8AC3E}">
        <p14:creationId xmlns:p14="http://schemas.microsoft.com/office/powerpoint/2010/main" val="25284371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Imagem 38">
            <a:extLst>
              <a:ext uri="{FF2B5EF4-FFF2-40B4-BE49-F238E27FC236}">
                <a16:creationId xmlns:a16="http://schemas.microsoft.com/office/drawing/2014/main" id="{8F6A83EB-6687-479D-BD59-51B6B2B8CBF9}"/>
              </a:ext>
            </a:extLst>
          </p:cNvPr>
          <p:cNvPicPr>
            <a:picLocks noChangeAspect="1"/>
          </p:cNvPicPr>
          <p:nvPr/>
        </p:nvPicPr>
        <p:blipFill>
          <a:blip r:embed="rId2">
            <a:alphaModFix amt="4000"/>
          </a:blip>
          <a:stretch>
            <a:fillRect/>
          </a:stretch>
        </p:blipFill>
        <p:spPr>
          <a:xfrm>
            <a:off x="9012284" y="4898747"/>
            <a:ext cx="5030445" cy="5148116"/>
          </a:xfrm>
          <a:prstGeom prst="rect">
            <a:avLst/>
          </a:prstGeom>
          <a:effectLst/>
        </p:spPr>
      </p:pic>
      <p:pic>
        <p:nvPicPr>
          <p:cNvPr id="38" name="Imagem 37">
            <a:extLst>
              <a:ext uri="{FF2B5EF4-FFF2-40B4-BE49-F238E27FC236}">
                <a16:creationId xmlns:a16="http://schemas.microsoft.com/office/drawing/2014/main" id="{DE2A603E-716D-41D5-ABEF-1625839B46A3}"/>
              </a:ext>
            </a:extLst>
          </p:cNvPr>
          <p:cNvPicPr>
            <a:picLocks noChangeAspect="1"/>
          </p:cNvPicPr>
          <p:nvPr/>
        </p:nvPicPr>
        <p:blipFill>
          <a:blip r:embed="rId2">
            <a:alphaModFix amt="4000"/>
          </a:blip>
          <a:stretch>
            <a:fillRect/>
          </a:stretch>
        </p:blipFill>
        <p:spPr>
          <a:xfrm>
            <a:off x="-2128370" y="-2021305"/>
            <a:ext cx="5030445" cy="5148116"/>
          </a:xfrm>
          <a:prstGeom prst="rect">
            <a:avLst/>
          </a:prstGeom>
          <a:effectLst/>
        </p:spPr>
      </p:pic>
      <p:sp>
        <p:nvSpPr>
          <p:cNvPr id="6" name="Título 1">
            <a:extLst>
              <a:ext uri="{FF2B5EF4-FFF2-40B4-BE49-F238E27FC236}">
                <a16:creationId xmlns:a16="http://schemas.microsoft.com/office/drawing/2014/main" id="{F19E4ED5-6191-4819-BC5E-0686AFC2CEAF}"/>
              </a:ext>
            </a:extLst>
          </p:cNvPr>
          <p:cNvSpPr txBox="1">
            <a:spLocks/>
          </p:cNvSpPr>
          <p:nvPr/>
        </p:nvSpPr>
        <p:spPr>
          <a:xfrm>
            <a:off x="5946417" y="431573"/>
            <a:ext cx="5811865"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pt-BR" sz="1600" spc="600" dirty="0">
                <a:solidFill>
                  <a:srgbClr val="00B0F0"/>
                </a:solidFill>
                <a:latin typeface="Arial" panose="020B0604020202020204" pitchFamily="34" charset="0"/>
                <a:cs typeface="Arial" panose="020B0604020202020204" pitchFamily="34" charset="0"/>
              </a:rPr>
              <a:t>CADASTRO POSITIVO</a:t>
            </a:r>
          </a:p>
        </p:txBody>
      </p:sp>
      <p:grpSp>
        <p:nvGrpSpPr>
          <p:cNvPr id="20" name="Google Shape;1964;p50">
            <a:extLst>
              <a:ext uri="{FF2B5EF4-FFF2-40B4-BE49-F238E27FC236}">
                <a16:creationId xmlns:a16="http://schemas.microsoft.com/office/drawing/2014/main" id="{644333FE-63B4-42DF-ADFA-AF9177DF58D7}"/>
              </a:ext>
            </a:extLst>
          </p:cNvPr>
          <p:cNvGrpSpPr/>
          <p:nvPr/>
        </p:nvGrpSpPr>
        <p:grpSpPr>
          <a:xfrm flipH="1">
            <a:off x="742950" y="537670"/>
            <a:ext cx="603644" cy="576232"/>
            <a:chOff x="4126815" y="2760704"/>
            <a:chExt cx="380393" cy="363118"/>
          </a:xfrm>
          <a:solidFill>
            <a:srgbClr val="0B5892"/>
          </a:solidFill>
        </p:grpSpPr>
        <p:sp>
          <p:nvSpPr>
            <p:cNvPr id="21" name="Google Shape;1965;p50">
              <a:extLst>
                <a:ext uri="{FF2B5EF4-FFF2-40B4-BE49-F238E27FC236}">
                  <a16:creationId xmlns:a16="http://schemas.microsoft.com/office/drawing/2014/main" id="{C90A8E2B-6430-4128-93A1-80EDBF3E3BED}"/>
                </a:ext>
              </a:extLst>
            </p:cNvPr>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966;p50">
              <a:extLst>
                <a:ext uri="{FF2B5EF4-FFF2-40B4-BE49-F238E27FC236}">
                  <a16:creationId xmlns:a16="http://schemas.microsoft.com/office/drawing/2014/main" id="{C220A82A-DCEF-47A8-9174-5A849CB2B75F}"/>
                </a:ext>
              </a:extLst>
            </p:cNvPr>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967;p50">
              <a:extLst>
                <a:ext uri="{FF2B5EF4-FFF2-40B4-BE49-F238E27FC236}">
                  <a16:creationId xmlns:a16="http://schemas.microsoft.com/office/drawing/2014/main" id="{446DDA74-F73B-4510-BFCE-608659C3FC02}"/>
                </a:ext>
              </a:extLst>
            </p:cNvPr>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968;p50">
              <a:extLst>
                <a:ext uri="{FF2B5EF4-FFF2-40B4-BE49-F238E27FC236}">
                  <a16:creationId xmlns:a16="http://schemas.microsoft.com/office/drawing/2014/main" id="{487DFEED-06C3-4B9B-9B7A-545AAF95F24C}"/>
                </a:ext>
              </a:extLst>
            </p:cNvPr>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Retângulo 28">
            <a:extLst>
              <a:ext uri="{FF2B5EF4-FFF2-40B4-BE49-F238E27FC236}">
                <a16:creationId xmlns:a16="http://schemas.microsoft.com/office/drawing/2014/main" id="{0BBC58FB-2C41-419E-8246-609C9177CDA9}"/>
              </a:ext>
            </a:extLst>
          </p:cNvPr>
          <p:cNvSpPr/>
          <p:nvPr/>
        </p:nvSpPr>
        <p:spPr>
          <a:xfrm>
            <a:off x="-449179" y="6707874"/>
            <a:ext cx="14054469" cy="33461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 name="Imagem 7">
            <a:extLst>
              <a:ext uri="{FF2B5EF4-FFF2-40B4-BE49-F238E27FC236}">
                <a16:creationId xmlns:a16="http://schemas.microsoft.com/office/drawing/2014/main" id="{55CA91AA-A108-4071-B0A7-0374C74EDA09}"/>
              </a:ext>
            </a:extLst>
          </p:cNvPr>
          <p:cNvPicPr>
            <a:picLocks noChangeAspect="1"/>
          </p:cNvPicPr>
          <p:nvPr/>
        </p:nvPicPr>
        <p:blipFill>
          <a:blip r:embed="rId3"/>
          <a:stretch>
            <a:fillRect/>
          </a:stretch>
        </p:blipFill>
        <p:spPr>
          <a:xfrm>
            <a:off x="-124691" y="-20995"/>
            <a:ext cx="12316692" cy="88042"/>
          </a:xfrm>
          <a:prstGeom prst="rect">
            <a:avLst/>
          </a:prstGeom>
        </p:spPr>
      </p:pic>
      <p:sp>
        <p:nvSpPr>
          <p:cNvPr id="18" name="Título 1">
            <a:extLst>
              <a:ext uri="{FF2B5EF4-FFF2-40B4-BE49-F238E27FC236}">
                <a16:creationId xmlns:a16="http://schemas.microsoft.com/office/drawing/2014/main" id="{9BC75932-B40A-460F-B242-8264BFE06926}"/>
              </a:ext>
            </a:extLst>
          </p:cNvPr>
          <p:cNvSpPr txBox="1">
            <a:spLocks/>
          </p:cNvSpPr>
          <p:nvPr/>
        </p:nvSpPr>
        <p:spPr>
          <a:xfrm>
            <a:off x="1366068" y="448718"/>
            <a:ext cx="6453099"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spc="600" dirty="0">
                <a:solidFill>
                  <a:srgbClr val="0B5892"/>
                </a:solidFill>
                <a:latin typeface="Arial" panose="020B0604020202020204" pitchFamily="34" charset="0"/>
                <a:cs typeface="Arial" panose="020B0604020202020204" pitchFamily="34" charset="0"/>
              </a:rPr>
              <a:t>VISÃO POR CICLOS</a:t>
            </a:r>
          </a:p>
        </p:txBody>
      </p:sp>
      <p:sp>
        <p:nvSpPr>
          <p:cNvPr id="19" name="Título 1">
            <a:extLst>
              <a:ext uri="{FF2B5EF4-FFF2-40B4-BE49-F238E27FC236}">
                <a16:creationId xmlns:a16="http://schemas.microsoft.com/office/drawing/2014/main" id="{CB92D9AB-3FEB-47AD-8015-DD30B5F902CE}"/>
              </a:ext>
            </a:extLst>
          </p:cNvPr>
          <p:cNvSpPr txBox="1">
            <a:spLocks/>
          </p:cNvSpPr>
          <p:nvPr/>
        </p:nvSpPr>
        <p:spPr>
          <a:xfrm>
            <a:off x="1400358" y="716411"/>
            <a:ext cx="6950456"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600" spc="300" dirty="0">
                <a:solidFill>
                  <a:srgbClr val="0B5892"/>
                </a:solidFill>
                <a:latin typeface="Arial" panose="020B0604020202020204" pitchFamily="34" charset="0"/>
                <a:cs typeface="Arial" panose="020B0604020202020204" pitchFamily="34" charset="0"/>
              </a:rPr>
              <a:t>Quantidade total de monitorias realizadas</a:t>
            </a:r>
          </a:p>
        </p:txBody>
      </p:sp>
      <p:cxnSp>
        <p:nvCxnSpPr>
          <p:cNvPr id="25" name="Conector reto 24">
            <a:extLst>
              <a:ext uri="{FF2B5EF4-FFF2-40B4-BE49-F238E27FC236}">
                <a16:creationId xmlns:a16="http://schemas.microsoft.com/office/drawing/2014/main" id="{C6F5D155-7AE8-4277-A61A-2EF88BF2DADC}"/>
              </a:ext>
            </a:extLst>
          </p:cNvPr>
          <p:cNvCxnSpPr/>
          <p:nvPr/>
        </p:nvCxnSpPr>
        <p:spPr>
          <a:xfrm>
            <a:off x="725988" y="1185955"/>
            <a:ext cx="9855200" cy="0"/>
          </a:xfrm>
          <a:prstGeom prst="line">
            <a:avLst/>
          </a:prstGeom>
          <a:ln>
            <a:solidFill>
              <a:srgbClr val="0B5892"/>
            </a:solidFill>
          </a:ln>
        </p:spPr>
        <p:style>
          <a:lnRef idx="1">
            <a:schemeClr val="accent1"/>
          </a:lnRef>
          <a:fillRef idx="0">
            <a:schemeClr val="accent1"/>
          </a:fillRef>
          <a:effectRef idx="0">
            <a:schemeClr val="accent1"/>
          </a:effectRef>
          <a:fontRef idx="minor">
            <a:schemeClr val="tx1"/>
          </a:fontRef>
        </p:style>
      </p:cxnSp>
      <p:graphicFrame>
        <p:nvGraphicFramePr>
          <p:cNvPr id="104" name="Gráfico 103">
            <a:extLst>
              <a:ext uri="{FF2B5EF4-FFF2-40B4-BE49-F238E27FC236}">
                <a16:creationId xmlns:a16="http://schemas.microsoft.com/office/drawing/2014/main" id="{7F29A529-8C89-46A4-A733-2C6C8EC952D8}"/>
              </a:ext>
            </a:extLst>
          </p:cNvPr>
          <p:cNvGraphicFramePr/>
          <p:nvPr>
            <p:extLst>
              <p:ext uri="{D42A27DB-BD31-4B8C-83A1-F6EECF244321}">
                <p14:modId xmlns:p14="http://schemas.microsoft.com/office/powerpoint/2010/main" val="2625731959"/>
              </p:ext>
            </p:extLst>
          </p:nvPr>
        </p:nvGraphicFramePr>
        <p:xfrm>
          <a:off x="1147712" y="2006930"/>
          <a:ext cx="4157940" cy="1757030"/>
        </p:xfrm>
        <a:graphic>
          <a:graphicData uri="http://schemas.openxmlformats.org/drawingml/2006/chart">
            <c:chart xmlns:c="http://schemas.openxmlformats.org/drawingml/2006/chart" xmlns:r="http://schemas.openxmlformats.org/officeDocument/2006/relationships" r:id="rId4"/>
          </a:graphicData>
        </a:graphic>
      </p:graphicFrame>
      <p:sp>
        <p:nvSpPr>
          <p:cNvPr id="105" name="CaixaDeTexto 104">
            <a:extLst>
              <a:ext uri="{FF2B5EF4-FFF2-40B4-BE49-F238E27FC236}">
                <a16:creationId xmlns:a16="http://schemas.microsoft.com/office/drawing/2014/main" id="{C6473394-799A-44A9-BA31-CF46E95925AD}"/>
              </a:ext>
            </a:extLst>
          </p:cNvPr>
          <p:cNvSpPr txBox="1"/>
          <p:nvPr/>
        </p:nvSpPr>
        <p:spPr>
          <a:xfrm>
            <a:off x="1294993" y="1638285"/>
            <a:ext cx="3758268" cy="307777"/>
          </a:xfrm>
          <a:prstGeom prst="rect">
            <a:avLst/>
          </a:prstGeom>
          <a:noFill/>
        </p:spPr>
        <p:txBody>
          <a:bodyPr wrap="square" rtlCol="0">
            <a:spAutoFit/>
          </a:bodyPr>
          <a:lstStyle/>
          <a:p>
            <a:pPr algn="ctr"/>
            <a:r>
              <a:rPr lang="pt-BR" sz="1400" b="1" dirty="0">
                <a:solidFill>
                  <a:schemeClr val="tx1">
                    <a:lumMod val="50000"/>
                    <a:lumOff val="50000"/>
                  </a:schemeClr>
                </a:solidFill>
                <a:latin typeface="Arial" panose="020B0604020202020204" pitchFamily="34" charset="0"/>
                <a:cs typeface="Arial" panose="020B0604020202020204" pitchFamily="34" charset="0"/>
              </a:rPr>
              <a:t>Volume de Monitorias </a:t>
            </a:r>
          </a:p>
        </p:txBody>
      </p:sp>
      <p:graphicFrame>
        <p:nvGraphicFramePr>
          <p:cNvPr id="106" name="Tabela 105">
            <a:extLst>
              <a:ext uri="{FF2B5EF4-FFF2-40B4-BE49-F238E27FC236}">
                <a16:creationId xmlns:a16="http://schemas.microsoft.com/office/drawing/2014/main" id="{7DDD1E95-3CD5-466E-99A8-89970A230860}"/>
              </a:ext>
            </a:extLst>
          </p:cNvPr>
          <p:cNvGraphicFramePr>
            <a:graphicFrameLocks noGrp="1"/>
          </p:cNvGraphicFramePr>
          <p:nvPr>
            <p:extLst>
              <p:ext uri="{D42A27DB-BD31-4B8C-83A1-F6EECF244321}">
                <p14:modId xmlns:p14="http://schemas.microsoft.com/office/powerpoint/2010/main" val="3289868344"/>
              </p:ext>
            </p:extLst>
          </p:nvPr>
        </p:nvGraphicFramePr>
        <p:xfrm>
          <a:off x="1346594" y="4761199"/>
          <a:ext cx="3925701" cy="635164"/>
        </p:xfrm>
        <a:graphic>
          <a:graphicData uri="http://schemas.openxmlformats.org/drawingml/2006/table">
            <a:tbl>
              <a:tblPr firstRow="1" bandRow="1">
                <a:tableStyleId>{F2DE63D5-997A-4646-A377-4702673A728D}</a:tableStyleId>
              </a:tblPr>
              <a:tblGrid>
                <a:gridCol w="1308567">
                  <a:extLst>
                    <a:ext uri="{9D8B030D-6E8A-4147-A177-3AD203B41FA5}">
                      <a16:colId xmlns:a16="http://schemas.microsoft.com/office/drawing/2014/main" val="3806050286"/>
                    </a:ext>
                  </a:extLst>
                </a:gridCol>
                <a:gridCol w="1308567">
                  <a:extLst>
                    <a:ext uri="{9D8B030D-6E8A-4147-A177-3AD203B41FA5}">
                      <a16:colId xmlns:a16="http://schemas.microsoft.com/office/drawing/2014/main" val="658273446"/>
                    </a:ext>
                  </a:extLst>
                </a:gridCol>
                <a:gridCol w="1308567">
                  <a:extLst>
                    <a:ext uri="{9D8B030D-6E8A-4147-A177-3AD203B41FA5}">
                      <a16:colId xmlns:a16="http://schemas.microsoft.com/office/drawing/2014/main" val="2373962523"/>
                    </a:ext>
                  </a:extLst>
                </a:gridCol>
              </a:tblGrid>
              <a:tr h="253021">
                <a:tc>
                  <a:txBody>
                    <a:bodyPr/>
                    <a:lstStyle/>
                    <a:p>
                      <a:pPr algn="ctr">
                        <a:lnSpc>
                          <a:spcPct val="150000"/>
                        </a:lnSpc>
                      </a:pPr>
                      <a:r>
                        <a:rPr lang="pt-BR" sz="1000" dirty="0">
                          <a:latin typeface="Arial" panose="020B0604020202020204" pitchFamily="34" charset="0"/>
                          <a:cs typeface="Arial" panose="020B0604020202020204" pitchFamily="34" charset="0"/>
                        </a:rPr>
                        <a:t>Total qualidade</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ysDot"/>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lnSpc>
                          <a:spcPct val="150000"/>
                        </a:lnSpc>
                      </a:pPr>
                      <a:r>
                        <a:rPr lang="pt-BR" sz="1000" dirty="0">
                          <a:latin typeface="Arial" panose="020B0604020202020204" pitchFamily="34" charset="0"/>
                          <a:cs typeface="Arial" panose="020B0604020202020204" pitchFamily="34" charset="0"/>
                        </a:rPr>
                        <a:t>Total supervisão</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ysDot"/>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914400" eaLnBrk="1" fontAlgn="auto" latinLnBrk="0" hangingPunct="1">
                        <a:lnSpc>
                          <a:spcPct val="150000"/>
                        </a:lnSpc>
                        <a:spcBef>
                          <a:spcPts val="0"/>
                        </a:spcBef>
                        <a:spcAft>
                          <a:spcPts val="0"/>
                        </a:spcAft>
                        <a:buClrTx/>
                        <a:buSzTx/>
                        <a:buFontTx/>
                        <a:buNone/>
                        <a:tabLst/>
                        <a:defRPr/>
                      </a:pPr>
                      <a:r>
                        <a:rPr lang="pt-BR" sz="1000" dirty="0">
                          <a:latin typeface="Arial" panose="020B0604020202020204" pitchFamily="34" charset="0"/>
                          <a:cs typeface="Arial" panose="020B0604020202020204" pitchFamily="34" charset="0"/>
                        </a:rPr>
                        <a:t>Margem de erro</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ysDot"/>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574108456"/>
                  </a:ext>
                </a:extLst>
              </a:tr>
              <a:tr h="343381">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15</a:t>
                      </a:r>
                    </a:p>
                  </a:txBody>
                  <a:tcPr>
                    <a:lnL w="12700" cap="flat" cmpd="sng" algn="ctr">
                      <a:solidFill>
                        <a:schemeClr val="bg1">
                          <a:lumMod val="65000"/>
                        </a:schemeClr>
                      </a:solidFill>
                      <a:prstDash val="sysDot"/>
                      <a:round/>
                      <a:headEnd type="none" w="med" len="med"/>
                      <a:tailEnd type="none" w="med" len="med"/>
                    </a:lnL>
                    <a:lnR w="12700" cap="flat" cmpd="sng" algn="ctr">
                      <a:solidFill>
                        <a:schemeClr val="bg1">
                          <a:lumMod val="65000"/>
                        </a:schemeClr>
                      </a:solid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8</a:t>
                      </a:r>
                    </a:p>
                  </a:txBody>
                  <a:tcPr>
                    <a:lnL w="12700" cap="flat" cmpd="sng" algn="ctr">
                      <a:solidFill>
                        <a:schemeClr val="bg1">
                          <a:lumMod val="65000"/>
                        </a:schemeClr>
                      </a:solidFill>
                      <a:prstDash val="sysDot"/>
                      <a:round/>
                      <a:headEnd type="none" w="med" len="med"/>
                      <a:tailEnd type="none" w="med" len="med"/>
                    </a:lnL>
                    <a:lnR w="12700" cap="flat" cmpd="sng" algn="ctr">
                      <a:solidFill>
                        <a:schemeClr val="bg1">
                          <a:lumMod val="65000"/>
                        </a:schemeClr>
                      </a:solid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20%</a:t>
                      </a:r>
                    </a:p>
                  </a:txBody>
                  <a:tcPr>
                    <a:lnL w="12700" cap="flat" cmpd="sng" algn="ctr">
                      <a:solidFill>
                        <a:schemeClr val="bg1">
                          <a:lumMod val="65000"/>
                        </a:schemeClr>
                      </a:solidFill>
                      <a:prstDash val="sysDot"/>
                      <a:round/>
                      <a:headEnd type="none" w="med" len="med"/>
                      <a:tailEnd type="none" w="med" len="med"/>
                    </a:lnL>
                    <a:lnR w="12700" cap="flat" cmpd="sng" algn="ctr">
                      <a:solidFill>
                        <a:schemeClr val="bg1">
                          <a:lumMod val="65000"/>
                        </a:schemeClr>
                      </a:solid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7835773"/>
                  </a:ext>
                </a:extLst>
              </a:tr>
            </a:tbl>
          </a:graphicData>
        </a:graphic>
      </p:graphicFrame>
      <p:cxnSp>
        <p:nvCxnSpPr>
          <p:cNvPr id="11" name="Conector reto 10">
            <a:extLst>
              <a:ext uri="{FF2B5EF4-FFF2-40B4-BE49-F238E27FC236}">
                <a16:creationId xmlns:a16="http://schemas.microsoft.com/office/drawing/2014/main" id="{E66C4CB9-9CD9-49E1-8372-BBBB577F2680}"/>
              </a:ext>
            </a:extLst>
          </p:cNvPr>
          <p:cNvCxnSpPr>
            <a:cxnSpLocks/>
          </p:cNvCxnSpPr>
          <p:nvPr/>
        </p:nvCxnSpPr>
        <p:spPr>
          <a:xfrm>
            <a:off x="6096000" y="1848607"/>
            <a:ext cx="34403" cy="3728788"/>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graphicFrame>
        <p:nvGraphicFramePr>
          <p:cNvPr id="26" name="Gráfico 25">
            <a:extLst>
              <a:ext uri="{FF2B5EF4-FFF2-40B4-BE49-F238E27FC236}">
                <a16:creationId xmlns:a16="http://schemas.microsoft.com/office/drawing/2014/main" id="{CE1C9029-2899-4182-87BA-4652FFBC28D4}"/>
              </a:ext>
            </a:extLst>
          </p:cNvPr>
          <p:cNvGraphicFramePr/>
          <p:nvPr>
            <p:extLst>
              <p:ext uri="{D42A27DB-BD31-4B8C-83A1-F6EECF244321}">
                <p14:modId xmlns:p14="http://schemas.microsoft.com/office/powerpoint/2010/main" val="1759376813"/>
              </p:ext>
            </p:extLst>
          </p:nvPr>
        </p:nvGraphicFramePr>
        <p:xfrm>
          <a:off x="6858000" y="2022809"/>
          <a:ext cx="4157940" cy="1757030"/>
        </p:xfrm>
        <a:graphic>
          <a:graphicData uri="http://schemas.openxmlformats.org/drawingml/2006/chart">
            <c:chart xmlns:c="http://schemas.openxmlformats.org/drawingml/2006/chart" xmlns:r="http://schemas.openxmlformats.org/officeDocument/2006/relationships" r:id="rId5"/>
          </a:graphicData>
        </a:graphic>
      </p:graphicFrame>
      <p:sp>
        <p:nvSpPr>
          <p:cNvPr id="27" name="CaixaDeTexto 26">
            <a:extLst>
              <a:ext uri="{FF2B5EF4-FFF2-40B4-BE49-F238E27FC236}">
                <a16:creationId xmlns:a16="http://schemas.microsoft.com/office/drawing/2014/main" id="{6C361242-B178-4979-B54C-68D4AAA5711A}"/>
              </a:ext>
            </a:extLst>
          </p:cNvPr>
          <p:cNvSpPr txBox="1"/>
          <p:nvPr/>
        </p:nvSpPr>
        <p:spPr>
          <a:xfrm>
            <a:off x="6927804" y="1635312"/>
            <a:ext cx="3992681" cy="307777"/>
          </a:xfrm>
          <a:prstGeom prst="rect">
            <a:avLst/>
          </a:prstGeom>
          <a:noFill/>
        </p:spPr>
        <p:txBody>
          <a:bodyPr wrap="square" rtlCol="0">
            <a:spAutoFit/>
          </a:bodyPr>
          <a:lstStyle/>
          <a:p>
            <a:pPr algn="ctr"/>
            <a:r>
              <a:rPr lang="pt-BR" sz="1400" b="1" dirty="0">
                <a:solidFill>
                  <a:schemeClr val="tx1">
                    <a:lumMod val="50000"/>
                    <a:lumOff val="50000"/>
                  </a:schemeClr>
                </a:solidFill>
                <a:latin typeface="Arial" panose="020B0604020202020204" pitchFamily="34" charset="0"/>
                <a:cs typeface="Arial" panose="020B0604020202020204" pitchFamily="34" charset="0"/>
              </a:rPr>
              <a:t>Classificação das Monitorias </a:t>
            </a:r>
          </a:p>
        </p:txBody>
      </p:sp>
      <p:graphicFrame>
        <p:nvGraphicFramePr>
          <p:cNvPr id="28" name="Tabela 27">
            <a:extLst>
              <a:ext uri="{FF2B5EF4-FFF2-40B4-BE49-F238E27FC236}">
                <a16:creationId xmlns:a16="http://schemas.microsoft.com/office/drawing/2014/main" id="{B7DEE6CE-3286-4828-8325-E256C5CEFE90}"/>
              </a:ext>
            </a:extLst>
          </p:cNvPr>
          <p:cNvGraphicFramePr>
            <a:graphicFrameLocks noGrp="1"/>
          </p:cNvGraphicFramePr>
          <p:nvPr>
            <p:extLst>
              <p:ext uri="{D42A27DB-BD31-4B8C-83A1-F6EECF244321}">
                <p14:modId xmlns:p14="http://schemas.microsoft.com/office/powerpoint/2010/main" val="1924399926"/>
              </p:ext>
            </p:extLst>
          </p:nvPr>
        </p:nvGraphicFramePr>
        <p:xfrm>
          <a:off x="7005281" y="4064594"/>
          <a:ext cx="3822477" cy="687769"/>
        </p:xfrm>
        <a:graphic>
          <a:graphicData uri="http://schemas.openxmlformats.org/drawingml/2006/table">
            <a:tbl>
              <a:tblPr firstRow="1" bandRow="1">
                <a:tableStyleId>{F2DE63D5-997A-4646-A377-4702673A728D}</a:tableStyleId>
              </a:tblPr>
              <a:tblGrid>
                <a:gridCol w="1274159">
                  <a:extLst>
                    <a:ext uri="{9D8B030D-6E8A-4147-A177-3AD203B41FA5}">
                      <a16:colId xmlns:a16="http://schemas.microsoft.com/office/drawing/2014/main" val="3806050286"/>
                    </a:ext>
                  </a:extLst>
                </a:gridCol>
                <a:gridCol w="1274159">
                  <a:extLst>
                    <a:ext uri="{9D8B030D-6E8A-4147-A177-3AD203B41FA5}">
                      <a16:colId xmlns:a16="http://schemas.microsoft.com/office/drawing/2014/main" val="658273446"/>
                    </a:ext>
                  </a:extLst>
                </a:gridCol>
                <a:gridCol w="1274159">
                  <a:extLst>
                    <a:ext uri="{9D8B030D-6E8A-4147-A177-3AD203B41FA5}">
                      <a16:colId xmlns:a16="http://schemas.microsoft.com/office/drawing/2014/main" val="2373962523"/>
                    </a:ext>
                  </a:extLst>
                </a:gridCol>
              </a:tblGrid>
              <a:tr h="236601">
                <a:tc>
                  <a:txBody>
                    <a:bodyPr/>
                    <a:lstStyle/>
                    <a:p>
                      <a:pPr algn="ctr">
                        <a:lnSpc>
                          <a:spcPct val="150000"/>
                        </a:lnSpc>
                      </a:pPr>
                      <a:r>
                        <a:rPr lang="pt-BR" sz="1000" dirty="0">
                          <a:latin typeface="Arial" panose="020B0604020202020204" pitchFamily="34" charset="0"/>
                          <a:cs typeface="Arial" panose="020B0604020202020204" pitchFamily="34" charset="0"/>
                        </a:rPr>
                        <a:t>NCG</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ysDot"/>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lnSpc>
                          <a:spcPct val="150000"/>
                        </a:lnSpc>
                      </a:pPr>
                      <a:r>
                        <a:rPr lang="pt-BR" sz="1000" dirty="0">
                          <a:latin typeface="Arial" panose="020B0604020202020204" pitchFamily="34" charset="0"/>
                          <a:cs typeface="Arial" panose="020B0604020202020204" pitchFamily="34" charset="0"/>
                        </a:rPr>
                        <a:t>NC</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ysDot"/>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914400" eaLnBrk="1" fontAlgn="auto" latinLnBrk="0" hangingPunct="1">
                        <a:lnSpc>
                          <a:spcPct val="150000"/>
                        </a:lnSpc>
                        <a:spcBef>
                          <a:spcPts val="0"/>
                        </a:spcBef>
                        <a:spcAft>
                          <a:spcPts val="0"/>
                        </a:spcAft>
                        <a:buClrTx/>
                        <a:buSzTx/>
                        <a:buFontTx/>
                        <a:buNone/>
                        <a:tabLst/>
                        <a:defRPr/>
                      </a:pPr>
                      <a:r>
                        <a:rPr lang="pt-BR" sz="1000" dirty="0">
                          <a:latin typeface="Arial" panose="020B0604020202020204" pitchFamily="34" charset="0"/>
                          <a:cs typeface="Arial" panose="020B0604020202020204" pitchFamily="34" charset="0"/>
                        </a:rPr>
                        <a:t>Excelência</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ysDot"/>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574108456"/>
                  </a:ext>
                </a:extLst>
              </a:tr>
              <a:tr h="395986">
                <a:tc>
                  <a:txBody>
                    <a:bodyPr/>
                    <a:lstStyle/>
                    <a:p>
                      <a:pPr algn="ctr"/>
                      <a:r>
                        <a:rPr lang="pt-BR" sz="1000" dirty="0">
                          <a:solidFill>
                            <a:srgbClr val="595959"/>
                          </a:solidFill>
                          <a:latin typeface="Arial" panose="020B0604020202020204" pitchFamily="34" charset="0"/>
                          <a:cs typeface="Arial" panose="020B0604020202020204" pitchFamily="34" charset="0"/>
                        </a:rPr>
                        <a:t>1 (4,35)</a:t>
                      </a:r>
                    </a:p>
                  </a:txBody>
                  <a:tcPr>
                    <a:lnL w="12700" cap="flat" cmpd="sng" algn="ctr">
                      <a:solidFill>
                        <a:schemeClr val="bg1">
                          <a:lumMod val="65000"/>
                        </a:schemeClr>
                      </a:solidFill>
                      <a:prstDash val="sysDot"/>
                      <a:round/>
                      <a:headEnd type="none" w="med" len="med"/>
                      <a:tailEnd type="none" w="med" len="med"/>
                    </a:lnL>
                    <a:lnR w="12700" cap="flat" cmpd="sng" algn="ctr">
                      <a:solidFill>
                        <a:schemeClr val="bg1">
                          <a:lumMod val="65000"/>
                        </a:schemeClr>
                      </a:solid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a:r>
                        <a:rPr lang="pt-BR" sz="1000" dirty="0">
                          <a:solidFill>
                            <a:srgbClr val="595959"/>
                          </a:solidFill>
                          <a:latin typeface="Arial" panose="020B0604020202020204" pitchFamily="34" charset="0"/>
                          <a:cs typeface="Arial" panose="020B0604020202020204" pitchFamily="34" charset="0"/>
                        </a:rPr>
                        <a:t>5 (21,74%)</a:t>
                      </a:r>
                    </a:p>
                  </a:txBody>
                  <a:tcPr>
                    <a:lnL w="12700" cap="flat" cmpd="sng" algn="ctr">
                      <a:solidFill>
                        <a:schemeClr val="bg1">
                          <a:lumMod val="65000"/>
                        </a:schemeClr>
                      </a:solidFill>
                      <a:prstDash val="sysDot"/>
                      <a:round/>
                      <a:headEnd type="none" w="med" len="med"/>
                      <a:tailEnd type="none" w="med" len="med"/>
                    </a:lnL>
                    <a:lnR w="12700" cap="flat" cmpd="sng" algn="ctr">
                      <a:solidFill>
                        <a:schemeClr val="bg1">
                          <a:lumMod val="65000"/>
                        </a:schemeClr>
                      </a:solid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a:r>
                        <a:rPr lang="pt-BR" sz="1000" dirty="0">
                          <a:solidFill>
                            <a:srgbClr val="595959"/>
                          </a:solidFill>
                          <a:latin typeface="Arial" panose="020B0604020202020204" pitchFamily="34" charset="0"/>
                          <a:cs typeface="Arial" panose="020B0604020202020204" pitchFamily="34" charset="0"/>
                        </a:rPr>
                        <a:t>17 (73,91%)</a:t>
                      </a:r>
                    </a:p>
                  </a:txBody>
                  <a:tcPr>
                    <a:lnL w="12700" cap="flat" cmpd="sng" algn="ctr">
                      <a:solidFill>
                        <a:schemeClr val="bg1">
                          <a:lumMod val="65000"/>
                        </a:schemeClr>
                      </a:solidFill>
                      <a:prstDash val="sysDot"/>
                      <a:round/>
                      <a:headEnd type="none" w="med" len="med"/>
                      <a:tailEnd type="none" w="med" len="med"/>
                    </a:lnL>
                    <a:lnR w="12700" cap="flat" cmpd="sng" algn="ctr">
                      <a:solidFill>
                        <a:schemeClr val="bg1">
                          <a:lumMod val="65000"/>
                        </a:schemeClr>
                      </a:solid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7835773"/>
                  </a:ext>
                </a:extLst>
              </a:tr>
            </a:tbl>
          </a:graphicData>
        </a:graphic>
      </p:graphicFrame>
      <p:graphicFrame>
        <p:nvGraphicFramePr>
          <p:cNvPr id="30" name="Tabela 29">
            <a:extLst>
              <a:ext uri="{FF2B5EF4-FFF2-40B4-BE49-F238E27FC236}">
                <a16:creationId xmlns:a16="http://schemas.microsoft.com/office/drawing/2014/main" id="{6A7033CE-8E82-41A8-9F6A-4D6F557D3BC8}"/>
              </a:ext>
            </a:extLst>
          </p:cNvPr>
          <p:cNvGraphicFramePr>
            <a:graphicFrameLocks noGrp="1"/>
          </p:cNvGraphicFramePr>
          <p:nvPr>
            <p:extLst>
              <p:ext uri="{D42A27DB-BD31-4B8C-83A1-F6EECF244321}">
                <p14:modId xmlns:p14="http://schemas.microsoft.com/office/powerpoint/2010/main" val="3483832963"/>
              </p:ext>
            </p:extLst>
          </p:nvPr>
        </p:nvGraphicFramePr>
        <p:xfrm>
          <a:off x="6954107" y="5088122"/>
          <a:ext cx="3822476" cy="1031404"/>
        </p:xfrm>
        <a:graphic>
          <a:graphicData uri="http://schemas.openxmlformats.org/drawingml/2006/table">
            <a:tbl>
              <a:tblPr firstRow="1" bandRow="1">
                <a:tableStyleId>{F2DE63D5-997A-4646-A377-4702673A728D}</a:tableStyleId>
              </a:tblPr>
              <a:tblGrid>
                <a:gridCol w="955619">
                  <a:extLst>
                    <a:ext uri="{9D8B030D-6E8A-4147-A177-3AD203B41FA5}">
                      <a16:colId xmlns:a16="http://schemas.microsoft.com/office/drawing/2014/main" val="1531427166"/>
                    </a:ext>
                  </a:extLst>
                </a:gridCol>
                <a:gridCol w="955619">
                  <a:extLst>
                    <a:ext uri="{9D8B030D-6E8A-4147-A177-3AD203B41FA5}">
                      <a16:colId xmlns:a16="http://schemas.microsoft.com/office/drawing/2014/main" val="3806050286"/>
                    </a:ext>
                  </a:extLst>
                </a:gridCol>
                <a:gridCol w="955619">
                  <a:extLst>
                    <a:ext uri="{9D8B030D-6E8A-4147-A177-3AD203B41FA5}">
                      <a16:colId xmlns:a16="http://schemas.microsoft.com/office/drawing/2014/main" val="658273446"/>
                    </a:ext>
                  </a:extLst>
                </a:gridCol>
                <a:gridCol w="955619">
                  <a:extLst>
                    <a:ext uri="{9D8B030D-6E8A-4147-A177-3AD203B41FA5}">
                      <a16:colId xmlns:a16="http://schemas.microsoft.com/office/drawing/2014/main" val="2373962523"/>
                    </a:ext>
                  </a:extLst>
                </a:gridCol>
              </a:tblGrid>
              <a:tr h="253021">
                <a:tc>
                  <a:txBody>
                    <a:bodyPr/>
                    <a:lstStyle/>
                    <a:p>
                      <a:pPr algn="ctr">
                        <a:lnSpc>
                          <a:spcPct val="150000"/>
                        </a:lnSpc>
                      </a:pPr>
                      <a:endParaRPr lang="pt-BR" sz="1000" dirty="0">
                        <a:latin typeface="Arial" panose="020B0604020202020204" pitchFamily="34" charset="0"/>
                        <a:cs typeface="Arial" panose="020B0604020202020204" pitchFamily="34" charset="0"/>
                      </a:endParaRP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pPr>
                      <a:r>
                        <a:rPr lang="pt-BR" sz="1000" dirty="0">
                          <a:latin typeface="Arial" panose="020B0604020202020204" pitchFamily="34" charset="0"/>
                          <a:cs typeface="Arial" panose="020B0604020202020204" pitchFamily="34" charset="0"/>
                        </a:rPr>
                        <a:t>Excelência</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lnSpc>
                          <a:spcPct val="150000"/>
                        </a:lnSpc>
                      </a:pPr>
                      <a:r>
                        <a:rPr lang="pt-BR" sz="1000" dirty="0">
                          <a:latin typeface="Arial" panose="020B0604020202020204" pitchFamily="34" charset="0"/>
                          <a:cs typeface="Arial" panose="020B0604020202020204" pitchFamily="34" charset="0"/>
                        </a:rPr>
                        <a:t>NC</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914400" eaLnBrk="1" fontAlgn="auto" latinLnBrk="0" hangingPunct="1">
                        <a:lnSpc>
                          <a:spcPct val="150000"/>
                        </a:lnSpc>
                        <a:spcBef>
                          <a:spcPts val="0"/>
                        </a:spcBef>
                        <a:spcAft>
                          <a:spcPts val="0"/>
                        </a:spcAft>
                        <a:buClrTx/>
                        <a:buSzTx/>
                        <a:buFontTx/>
                        <a:buNone/>
                        <a:tabLst/>
                        <a:defRPr/>
                      </a:pPr>
                      <a:r>
                        <a:rPr lang="pt-BR" sz="1000" dirty="0">
                          <a:latin typeface="Arial" panose="020B0604020202020204" pitchFamily="34" charset="0"/>
                          <a:cs typeface="Arial" panose="020B0604020202020204" pitchFamily="34" charset="0"/>
                        </a:rPr>
                        <a:t>NCG</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574108456"/>
                  </a:ext>
                </a:extLst>
              </a:tr>
              <a:tr h="343381">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Operação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000" dirty="0">
                          <a:solidFill>
                            <a:srgbClr val="595959"/>
                          </a:solidFill>
                          <a:latin typeface="Arial" panose="020B0604020202020204" pitchFamily="34" charset="0"/>
                          <a:cs typeface="Arial" panose="020B0604020202020204" pitchFamily="34" charset="0"/>
                        </a:rPr>
                        <a:t>6 (75%)</a:t>
                      </a:r>
                    </a:p>
                    <a:p>
                      <a:pPr algn="ctr"/>
                      <a:endParaRPr lang="pt-BR" sz="1000" dirty="0">
                        <a:solidFill>
                          <a:schemeClr val="tx1">
                            <a:lumMod val="65000"/>
                            <a:lumOff val="35000"/>
                          </a:schemeClr>
                        </a:solidFill>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rgbClr val="595959"/>
                          </a:solidFill>
                          <a:latin typeface="Arial" panose="020B0604020202020204" pitchFamily="34" charset="0"/>
                          <a:cs typeface="Arial" panose="020B0604020202020204" pitchFamily="34" charset="0"/>
                        </a:rPr>
                        <a:t>2 (25%)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pt-BR" sz="1000" dirty="0">
                        <a:solidFill>
                          <a:srgbClr val="595959"/>
                        </a:solidFill>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6810871"/>
                  </a:ext>
                </a:extLst>
              </a:tr>
              <a:tr h="343381">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Qualidade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11 (73,33%)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3 (20%)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1 (6,67)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2121114"/>
                  </a:ext>
                </a:extLst>
              </a:tr>
            </a:tbl>
          </a:graphicData>
        </a:graphic>
      </p:graphicFrame>
      <p:graphicFrame>
        <p:nvGraphicFramePr>
          <p:cNvPr id="2" name="Tabela 1">
            <a:extLst>
              <a:ext uri="{FF2B5EF4-FFF2-40B4-BE49-F238E27FC236}">
                <a16:creationId xmlns:a16="http://schemas.microsoft.com/office/drawing/2014/main" id="{4D3D79CC-20B8-0DBB-C075-C427DD690831}"/>
              </a:ext>
            </a:extLst>
          </p:cNvPr>
          <p:cNvGraphicFramePr>
            <a:graphicFrameLocks noGrp="1"/>
          </p:cNvGraphicFramePr>
          <p:nvPr>
            <p:extLst>
              <p:ext uri="{D42A27DB-BD31-4B8C-83A1-F6EECF244321}">
                <p14:modId xmlns:p14="http://schemas.microsoft.com/office/powerpoint/2010/main" val="2854852953"/>
              </p:ext>
            </p:extLst>
          </p:nvPr>
        </p:nvGraphicFramePr>
        <p:xfrm>
          <a:off x="1346594" y="3974272"/>
          <a:ext cx="3885604" cy="635164"/>
        </p:xfrm>
        <a:graphic>
          <a:graphicData uri="http://schemas.openxmlformats.org/drawingml/2006/table">
            <a:tbl>
              <a:tblPr firstRow="1" bandRow="1">
                <a:tableStyleId>{F2DE63D5-997A-4646-A377-4702673A728D}</a:tableStyleId>
              </a:tblPr>
              <a:tblGrid>
                <a:gridCol w="971401">
                  <a:extLst>
                    <a:ext uri="{9D8B030D-6E8A-4147-A177-3AD203B41FA5}">
                      <a16:colId xmlns:a16="http://schemas.microsoft.com/office/drawing/2014/main" val="3806050286"/>
                    </a:ext>
                  </a:extLst>
                </a:gridCol>
                <a:gridCol w="971401">
                  <a:extLst>
                    <a:ext uri="{9D8B030D-6E8A-4147-A177-3AD203B41FA5}">
                      <a16:colId xmlns:a16="http://schemas.microsoft.com/office/drawing/2014/main" val="658273446"/>
                    </a:ext>
                  </a:extLst>
                </a:gridCol>
                <a:gridCol w="971401">
                  <a:extLst>
                    <a:ext uri="{9D8B030D-6E8A-4147-A177-3AD203B41FA5}">
                      <a16:colId xmlns:a16="http://schemas.microsoft.com/office/drawing/2014/main" val="2373962523"/>
                    </a:ext>
                  </a:extLst>
                </a:gridCol>
                <a:gridCol w="971401">
                  <a:extLst>
                    <a:ext uri="{9D8B030D-6E8A-4147-A177-3AD203B41FA5}">
                      <a16:colId xmlns:a16="http://schemas.microsoft.com/office/drawing/2014/main" val="1961687730"/>
                    </a:ext>
                  </a:extLst>
                </a:gridCol>
              </a:tblGrid>
              <a:tr h="253021">
                <a:tc>
                  <a:txBody>
                    <a:bodyPr/>
                    <a:lstStyle/>
                    <a:p>
                      <a:pPr algn="ctr">
                        <a:lnSpc>
                          <a:spcPct val="150000"/>
                        </a:lnSpc>
                      </a:pPr>
                      <a:r>
                        <a:rPr lang="pt-BR" sz="1000" dirty="0">
                          <a:latin typeface="Arial" panose="020B0604020202020204" pitchFamily="34" charset="0"/>
                          <a:cs typeface="Arial" panose="020B0604020202020204" pitchFamily="34" charset="0"/>
                        </a:rPr>
                        <a:t>1° Ciclo</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ysDot"/>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lnSpc>
                          <a:spcPct val="150000"/>
                        </a:lnSpc>
                      </a:pPr>
                      <a:r>
                        <a:rPr lang="pt-BR" sz="1000" dirty="0">
                          <a:latin typeface="Arial" panose="020B0604020202020204" pitchFamily="34" charset="0"/>
                          <a:cs typeface="Arial" panose="020B0604020202020204" pitchFamily="34" charset="0"/>
                        </a:rPr>
                        <a:t>2° Ciclo</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ysDot"/>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lnSpc>
                          <a:spcPct val="150000"/>
                        </a:lnSpc>
                      </a:pPr>
                      <a:r>
                        <a:rPr lang="pt-BR" sz="1000" dirty="0">
                          <a:latin typeface="Arial" panose="020B0604020202020204" pitchFamily="34" charset="0"/>
                          <a:cs typeface="Arial" panose="020B0604020202020204" pitchFamily="34" charset="0"/>
                        </a:rPr>
                        <a:t>3° Ciclo</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ysDot"/>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pt-BR" sz="1000" dirty="0">
                          <a:latin typeface="Arial" panose="020B0604020202020204" pitchFamily="34" charset="0"/>
                          <a:cs typeface="Arial" panose="020B0604020202020204" pitchFamily="34" charset="0"/>
                        </a:rPr>
                        <a:t>4° Ciclo</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ysDot"/>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574108456"/>
                  </a:ext>
                </a:extLst>
              </a:tr>
              <a:tr h="343381">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4</a:t>
                      </a:r>
                    </a:p>
                  </a:txBody>
                  <a:tcPr>
                    <a:lnL w="12700" cap="flat" cmpd="sng" algn="ctr">
                      <a:solidFill>
                        <a:schemeClr val="bg1">
                          <a:lumMod val="65000"/>
                        </a:schemeClr>
                      </a:solidFill>
                      <a:prstDash val="sysDot"/>
                      <a:round/>
                      <a:headEnd type="none" w="med" len="med"/>
                      <a:tailEnd type="none" w="med" len="med"/>
                    </a:lnL>
                    <a:lnR w="12700" cap="flat" cmpd="sng" algn="ctr">
                      <a:solidFill>
                        <a:schemeClr val="bg1">
                          <a:lumMod val="65000"/>
                        </a:schemeClr>
                      </a:solid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3</a:t>
                      </a:r>
                    </a:p>
                  </a:txBody>
                  <a:tcPr>
                    <a:lnL w="12700" cap="flat" cmpd="sng" algn="ctr">
                      <a:solidFill>
                        <a:schemeClr val="bg1">
                          <a:lumMod val="65000"/>
                        </a:schemeClr>
                      </a:solidFill>
                      <a:prstDash val="sysDot"/>
                      <a:round/>
                      <a:headEnd type="none" w="med" len="med"/>
                      <a:tailEnd type="none" w="med" len="med"/>
                    </a:lnL>
                    <a:lnR w="12700" cap="flat" cmpd="sng" algn="ctr">
                      <a:solidFill>
                        <a:schemeClr val="bg1">
                          <a:lumMod val="65000"/>
                        </a:schemeClr>
                      </a:solid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8</a:t>
                      </a:r>
                    </a:p>
                  </a:txBody>
                  <a:tcPr>
                    <a:lnL w="12700" cap="flat" cmpd="sng" algn="ctr">
                      <a:solidFill>
                        <a:schemeClr val="bg1">
                          <a:lumMod val="65000"/>
                        </a:schemeClr>
                      </a:solidFill>
                      <a:prstDash val="sysDot"/>
                      <a:round/>
                      <a:headEnd type="none" w="med" len="med"/>
                      <a:tailEnd type="none" w="med" len="med"/>
                    </a:lnL>
                    <a:lnR w="12700" cap="flat" cmpd="sng" algn="ctr">
                      <a:solidFill>
                        <a:schemeClr val="bg1">
                          <a:lumMod val="65000"/>
                        </a:schemeClr>
                      </a:solid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8</a:t>
                      </a:r>
                    </a:p>
                  </a:txBody>
                  <a:tcPr>
                    <a:lnL w="12700" cap="flat" cmpd="sng" algn="ctr">
                      <a:solidFill>
                        <a:schemeClr val="bg1">
                          <a:lumMod val="65000"/>
                        </a:schemeClr>
                      </a:solidFill>
                      <a:prstDash val="sysDot"/>
                      <a:round/>
                      <a:headEnd type="none" w="med" len="med"/>
                      <a:tailEnd type="none" w="med" len="med"/>
                    </a:lnL>
                    <a:lnR w="12700" cap="flat" cmpd="sng" algn="ctr">
                      <a:solidFill>
                        <a:schemeClr val="bg1">
                          <a:lumMod val="65000"/>
                        </a:schemeClr>
                      </a:solidFill>
                      <a:prstDash val="sysDot"/>
                      <a:round/>
                      <a:headEnd type="none" w="med" len="med"/>
                      <a:tailEnd type="none" w="med" len="med"/>
                    </a:lnR>
                    <a:lnT w="12700" cap="flat" cmpd="sng" algn="ctr">
                      <a:no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7835773"/>
                  </a:ext>
                </a:extLst>
              </a:tr>
            </a:tbl>
          </a:graphicData>
        </a:graphic>
      </p:graphicFrame>
      <p:sp>
        <p:nvSpPr>
          <p:cNvPr id="3" name="Retângulo: Cantos Arredondados 2">
            <a:extLst>
              <a:ext uri="{FF2B5EF4-FFF2-40B4-BE49-F238E27FC236}">
                <a16:creationId xmlns:a16="http://schemas.microsoft.com/office/drawing/2014/main" id="{9D7E16B6-1BB8-566D-A456-08CD5F6531B0}"/>
              </a:ext>
            </a:extLst>
          </p:cNvPr>
          <p:cNvSpPr/>
          <p:nvPr/>
        </p:nvSpPr>
        <p:spPr>
          <a:xfrm>
            <a:off x="1294993" y="5564775"/>
            <a:ext cx="4402601" cy="978544"/>
          </a:xfrm>
          <a:prstGeom prst="roundRect">
            <a:avLst/>
          </a:prstGeom>
          <a:solidFill>
            <a:schemeClr val="bg1">
              <a:lumMod val="95000"/>
            </a:schemeClr>
          </a:solidFill>
          <a:ln>
            <a:noFill/>
          </a:ln>
          <a:effectLst>
            <a:outerShdw dist="101600" dir="10740000" algn="t" rotWithShape="0">
              <a:srgbClr val="00B0F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4" name="Google Shape;2124;p50">
            <a:extLst>
              <a:ext uri="{FF2B5EF4-FFF2-40B4-BE49-F238E27FC236}">
                <a16:creationId xmlns:a16="http://schemas.microsoft.com/office/drawing/2014/main" id="{6F3A7EC8-990F-6394-02C8-B411F2D2A570}"/>
              </a:ext>
            </a:extLst>
          </p:cNvPr>
          <p:cNvGrpSpPr/>
          <p:nvPr/>
        </p:nvGrpSpPr>
        <p:grpSpPr>
          <a:xfrm>
            <a:off x="1430643" y="5589055"/>
            <a:ext cx="286337" cy="286644"/>
            <a:chOff x="4673540" y="3680297"/>
            <a:chExt cx="355434" cy="355815"/>
          </a:xfrm>
        </p:grpSpPr>
        <p:sp>
          <p:nvSpPr>
            <p:cNvPr id="5" name="Google Shape;2125;p50">
              <a:extLst>
                <a:ext uri="{FF2B5EF4-FFF2-40B4-BE49-F238E27FC236}">
                  <a16:creationId xmlns:a16="http://schemas.microsoft.com/office/drawing/2014/main" id="{CF87C7E1-F6D8-6785-7600-98EFEC5A8CA1}"/>
                </a:ext>
              </a:extLst>
            </p:cNvPr>
            <p:cNvSpPr/>
            <p:nvPr/>
          </p:nvSpPr>
          <p:spPr>
            <a:xfrm>
              <a:off x="4673540" y="3680297"/>
              <a:ext cx="355434" cy="355815"/>
            </a:xfrm>
            <a:custGeom>
              <a:avLst/>
              <a:gdLst/>
              <a:ahLst/>
              <a:cxnLst/>
              <a:rect l="l" t="t" r="r" b="b"/>
              <a:pathLst>
                <a:path w="11193" h="11205" extrusionOk="0">
                  <a:moveTo>
                    <a:pt x="2012" y="0"/>
                  </a:moveTo>
                  <a:cubicBezTo>
                    <a:pt x="905" y="0"/>
                    <a:pt x="0" y="893"/>
                    <a:pt x="0" y="2013"/>
                  </a:cubicBezTo>
                  <a:lnTo>
                    <a:pt x="0" y="9192"/>
                  </a:lnTo>
                  <a:cubicBezTo>
                    <a:pt x="0" y="10287"/>
                    <a:pt x="893" y="11204"/>
                    <a:pt x="2012" y="11204"/>
                  </a:cubicBezTo>
                  <a:lnTo>
                    <a:pt x="9180" y="11204"/>
                  </a:lnTo>
                  <a:cubicBezTo>
                    <a:pt x="10287" y="11204"/>
                    <a:pt x="11192" y="10311"/>
                    <a:pt x="11192" y="9192"/>
                  </a:cubicBezTo>
                  <a:lnTo>
                    <a:pt x="11192" y="2013"/>
                  </a:lnTo>
                  <a:cubicBezTo>
                    <a:pt x="11180" y="917"/>
                    <a:pt x="10287" y="0"/>
                    <a:pt x="9180" y="0"/>
                  </a:cubicBezTo>
                  <a:lnTo>
                    <a:pt x="8085" y="0"/>
                  </a:lnTo>
                  <a:cubicBezTo>
                    <a:pt x="7989" y="0"/>
                    <a:pt x="7918" y="84"/>
                    <a:pt x="7918" y="167"/>
                  </a:cubicBezTo>
                  <a:cubicBezTo>
                    <a:pt x="7918" y="262"/>
                    <a:pt x="7989" y="334"/>
                    <a:pt x="8085" y="334"/>
                  </a:cubicBezTo>
                  <a:lnTo>
                    <a:pt x="9180" y="334"/>
                  </a:lnTo>
                  <a:cubicBezTo>
                    <a:pt x="10109" y="334"/>
                    <a:pt x="10847" y="1084"/>
                    <a:pt x="10847" y="2001"/>
                  </a:cubicBezTo>
                  <a:lnTo>
                    <a:pt x="10847" y="9180"/>
                  </a:lnTo>
                  <a:cubicBezTo>
                    <a:pt x="10847" y="10097"/>
                    <a:pt x="10109" y="10847"/>
                    <a:pt x="9180" y="10847"/>
                  </a:cubicBezTo>
                  <a:lnTo>
                    <a:pt x="2012" y="10847"/>
                  </a:lnTo>
                  <a:cubicBezTo>
                    <a:pt x="1084" y="10847"/>
                    <a:pt x="345" y="10097"/>
                    <a:pt x="345" y="9180"/>
                  </a:cubicBezTo>
                  <a:lnTo>
                    <a:pt x="345" y="2001"/>
                  </a:lnTo>
                  <a:cubicBezTo>
                    <a:pt x="345" y="1084"/>
                    <a:pt x="1084" y="334"/>
                    <a:pt x="2012" y="334"/>
                  </a:cubicBezTo>
                  <a:lnTo>
                    <a:pt x="7418" y="334"/>
                  </a:lnTo>
                  <a:cubicBezTo>
                    <a:pt x="7501" y="334"/>
                    <a:pt x="7573" y="262"/>
                    <a:pt x="7573" y="167"/>
                  </a:cubicBezTo>
                  <a:cubicBezTo>
                    <a:pt x="7573" y="84"/>
                    <a:pt x="7501" y="0"/>
                    <a:pt x="7418" y="0"/>
                  </a:cubicBezTo>
                  <a:close/>
                </a:path>
              </a:pathLst>
            </a:custGeom>
            <a:solidFill>
              <a:schemeClr val="lt2"/>
            </a:solidFill>
            <a:ln>
              <a:solidFill>
                <a:srgbClr val="00B0F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126;p50">
              <a:extLst>
                <a:ext uri="{FF2B5EF4-FFF2-40B4-BE49-F238E27FC236}">
                  <a16:creationId xmlns:a16="http://schemas.microsoft.com/office/drawing/2014/main" id="{121C7423-151E-234C-B02C-69954224EC2E}"/>
                </a:ext>
              </a:extLst>
            </p:cNvPr>
            <p:cNvSpPr/>
            <p:nvPr/>
          </p:nvSpPr>
          <p:spPr>
            <a:xfrm>
              <a:off x="4805864" y="3736630"/>
              <a:ext cx="93042" cy="92661"/>
            </a:xfrm>
            <a:custGeom>
              <a:avLst/>
              <a:gdLst/>
              <a:ahLst/>
              <a:cxnLst/>
              <a:rect l="l" t="t" r="r" b="b"/>
              <a:pathLst>
                <a:path w="2930" h="2918" extrusionOk="0">
                  <a:moveTo>
                    <a:pt x="1477" y="334"/>
                  </a:moveTo>
                  <a:cubicBezTo>
                    <a:pt x="2096" y="334"/>
                    <a:pt x="2608" y="834"/>
                    <a:pt x="2608" y="1465"/>
                  </a:cubicBezTo>
                  <a:cubicBezTo>
                    <a:pt x="2608" y="2084"/>
                    <a:pt x="2096" y="2596"/>
                    <a:pt x="1477" y="2596"/>
                  </a:cubicBezTo>
                  <a:cubicBezTo>
                    <a:pt x="846" y="2596"/>
                    <a:pt x="346" y="2084"/>
                    <a:pt x="346" y="1465"/>
                  </a:cubicBezTo>
                  <a:cubicBezTo>
                    <a:pt x="346" y="834"/>
                    <a:pt x="846" y="334"/>
                    <a:pt x="1477" y="334"/>
                  </a:cubicBezTo>
                  <a:close/>
                  <a:moveTo>
                    <a:pt x="1477" y="0"/>
                  </a:moveTo>
                  <a:cubicBezTo>
                    <a:pt x="667" y="0"/>
                    <a:pt x="12" y="655"/>
                    <a:pt x="12" y="1465"/>
                  </a:cubicBezTo>
                  <a:cubicBezTo>
                    <a:pt x="0" y="2263"/>
                    <a:pt x="655" y="2918"/>
                    <a:pt x="1477" y="2918"/>
                  </a:cubicBezTo>
                  <a:cubicBezTo>
                    <a:pt x="2274" y="2918"/>
                    <a:pt x="2929" y="2263"/>
                    <a:pt x="2929" y="1465"/>
                  </a:cubicBezTo>
                  <a:cubicBezTo>
                    <a:pt x="2929" y="655"/>
                    <a:pt x="2274" y="0"/>
                    <a:pt x="1477" y="0"/>
                  </a:cubicBezTo>
                  <a:close/>
                </a:path>
              </a:pathLst>
            </a:custGeom>
            <a:solidFill>
              <a:schemeClr val="lt2"/>
            </a:solidFill>
            <a:ln>
              <a:solidFill>
                <a:srgbClr val="00B0F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127;p50">
              <a:extLst>
                <a:ext uri="{FF2B5EF4-FFF2-40B4-BE49-F238E27FC236}">
                  <a16:creationId xmlns:a16="http://schemas.microsoft.com/office/drawing/2014/main" id="{2A35BFB1-CDA6-C6EB-B060-A8AFC4722917}"/>
                </a:ext>
              </a:extLst>
            </p:cNvPr>
            <p:cNvSpPr/>
            <p:nvPr/>
          </p:nvSpPr>
          <p:spPr>
            <a:xfrm>
              <a:off x="4779380" y="3841358"/>
              <a:ext cx="143723" cy="138801"/>
            </a:xfrm>
            <a:custGeom>
              <a:avLst/>
              <a:gdLst/>
              <a:ahLst/>
              <a:cxnLst/>
              <a:rect l="l" t="t" r="r" b="b"/>
              <a:pathLst>
                <a:path w="4526" h="4371" extrusionOk="0">
                  <a:moveTo>
                    <a:pt x="477" y="1"/>
                  </a:moveTo>
                  <a:cubicBezTo>
                    <a:pt x="215" y="1"/>
                    <a:pt x="1" y="203"/>
                    <a:pt x="1" y="477"/>
                  </a:cubicBezTo>
                  <a:lnTo>
                    <a:pt x="1" y="893"/>
                  </a:lnTo>
                  <a:cubicBezTo>
                    <a:pt x="1" y="1155"/>
                    <a:pt x="203" y="1370"/>
                    <a:pt x="477" y="1370"/>
                  </a:cubicBezTo>
                  <a:lnTo>
                    <a:pt x="763" y="1370"/>
                  </a:lnTo>
                  <a:cubicBezTo>
                    <a:pt x="834" y="1370"/>
                    <a:pt x="906" y="1429"/>
                    <a:pt x="906" y="1513"/>
                  </a:cubicBezTo>
                  <a:lnTo>
                    <a:pt x="906" y="2858"/>
                  </a:lnTo>
                  <a:cubicBezTo>
                    <a:pt x="906" y="2929"/>
                    <a:pt x="846" y="3001"/>
                    <a:pt x="763" y="3001"/>
                  </a:cubicBezTo>
                  <a:lnTo>
                    <a:pt x="572" y="3001"/>
                  </a:lnTo>
                  <a:cubicBezTo>
                    <a:pt x="299" y="3001"/>
                    <a:pt x="96" y="3215"/>
                    <a:pt x="96" y="3477"/>
                  </a:cubicBezTo>
                  <a:lnTo>
                    <a:pt x="96" y="3894"/>
                  </a:lnTo>
                  <a:cubicBezTo>
                    <a:pt x="96" y="4168"/>
                    <a:pt x="299" y="4370"/>
                    <a:pt x="572" y="4370"/>
                  </a:cubicBezTo>
                  <a:lnTo>
                    <a:pt x="4049" y="4370"/>
                  </a:lnTo>
                  <a:cubicBezTo>
                    <a:pt x="4311" y="4370"/>
                    <a:pt x="4525" y="4168"/>
                    <a:pt x="4525" y="3894"/>
                  </a:cubicBezTo>
                  <a:lnTo>
                    <a:pt x="4525" y="3477"/>
                  </a:lnTo>
                  <a:cubicBezTo>
                    <a:pt x="4525" y="3215"/>
                    <a:pt x="4311" y="3001"/>
                    <a:pt x="4049" y="3001"/>
                  </a:cubicBezTo>
                  <a:lnTo>
                    <a:pt x="3859" y="3001"/>
                  </a:lnTo>
                  <a:cubicBezTo>
                    <a:pt x="3787" y="3001"/>
                    <a:pt x="3704" y="2941"/>
                    <a:pt x="3704" y="2858"/>
                  </a:cubicBezTo>
                  <a:lnTo>
                    <a:pt x="3704" y="477"/>
                  </a:lnTo>
                  <a:cubicBezTo>
                    <a:pt x="3704" y="203"/>
                    <a:pt x="3501" y="1"/>
                    <a:pt x="3228" y="1"/>
                  </a:cubicBezTo>
                  <a:lnTo>
                    <a:pt x="1442" y="1"/>
                  </a:lnTo>
                  <a:cubicBezTo>
                    <a:pt x="1358" y="1"/>
                    <a:pt x="1287" y="72"/>
                    <a:pt x="1287" y="155"/>
                  </a:cubicBezTo>
                  <a:cubicBezTo>
                    <a:pt x="1287" y="251"/>
                    <a:pt x="1358" y="322"/>
                    <a:pt x="1442" y="322"/>
                  </a:cubicBezTo>
                  <a:lnTo>
                    <a:pt x="3228" y="322"/>
                  </a:lnTo>
                  <a:cubicBezTo>
                    <a:pt x="3311" y="322"/>
                    <a:pt x="3382" y="382"/>
                    <a:pt x="3382" y="477"/>
                  </a:cubicBezTo>
                  <a:lnTo>
                    <a:pt x="3382" y="2858"/>
                  </a:lnTo>
                  <a:cubicBezTo>
                    <a:pt x="3382" y="3120"/>
                    <a:pt x="3585" y="3334"/>
                    <a:pt x="3859" y="3334"/>
                  </a:cubicBezTo>
                  <a:lnTo>
                    <a:pt x="4049" y="3334"/>
                  </a:lnTo>
                  <a:cubicBezTo>
                    <a:pt x="4121" y="3334"/>
                    <a:pt x="4204" y="3394"/>
                    <a:pt x="4204" y="3477"/>
                  </a:cubicBezTo>
                  <a:lnTo>
                    <a:pt x="4204" y="3894"/>
                  </a:lnTo>
                  <a:cubicBezTo>
                    <a:pt x="4204" y="3965"/>
                    <a:pt x="4132" y="4049"/>
                    <a:pt x="4049" y="4049"/>
                  </a:cubicBezTo>
                  <a:lnTo>
                    <a:pt x="572" y="4049"/>
                  </a:lnTo>
                  <a:cubicBezTo>
                    <a:pt x="489" y="4049"/>
                    <a:pt x="418" y="3989"/>
                    <a:pt x="418" y="3894"/>
                  </a:cubicBezTo>
                  <a:lnTo>
                    <a:pt x="418" y="3477"/>
                  </a:lnTo>
                  <a:cubicBezTo>
                    <a:pt x="418" y="3406"/>
                    <a:pt x="477" y="3334"/>
                    <a:pt x="572" y="3334"/>
                  </a:cubicBezTo>
                  <a:lnTo>
                    <a:pt x="763" y="3334"/>
                  </a:lnTo>
                  <a:cubicBezTo>
                    <a:pt x="1025" y="3334"/>
                    <a:pt x="1239" y="3120"/>
                    <a:pt x="1239" y="2858"/>
                  </a:cubicBezTo>
                  <a:lnTo>
                    <a:pt x="1239" y="1513"/>
                  </a:lnTo>
                  <a:cubicBezTo>
                    <a:pt x="1239" y="1251"/>
                    <a:pt x="1025" y="1036"/>
                    <a:pt x="763" y="1036"/>
                  </a:cubicBezTo>
                  <a:lnTo>
                    <a:pt x="477" y="1036"/>
                  </a:lnTo>
                  <a:cubicBezTo>
                    <a:pt x="406" y="1036"/>
                    <a:pt x="334" y="977"/>
                    <a:pt x="334" y="893"/>
                  </a:cubicBezTo>
                  <a:lnTo>
                    <a:pt x="334" y="477"/>
                  </a:lnTo>
                  <a:cubicBezTo>
                    <a:pt x="334" y="393"/>
                    <a:pt x="394" y="322"/>
                    <a:pt x="477" y="322"/>
                  </a:cubicBezTo>
                  <a:lnTo>
                    <a:pt x="787" y="322"/>
                  </a:lnTo>
                  <a:cubicBezTo>
                    <a:pt x="882" y="322"/>
                    <a:pt x="953" y="251"/>
                    <a:pt x="953" y="155"/>
                  </a:cubicBezTo>
                  <a:cubicBezTo>
                    <a:pt x="953" y="72"/>
                    <a:pt x="882" y="1"/>
                    <a:pt x="787" y="1"/>
                  </a:cubicBezTo>
                  <a:close/>
                </a:path>
              </a:pathLst>
            </a:custGeom>
            <a:solidFill>
              <a:schemeClr val="lt2"/>
            </a:solidFill>
            <a:ln>
              <a:solidFill>
                <a:srgbClr val="00B0F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CaixaDeTexto 9">
            <a:extLst>
              <a:ext uri="{FF2B5EF4-FFF2-40B4-BE49-F238E27FC236}">
                <a16:creationId xmlns:a16="http://schemas.microsoft.com/office/drawing/2014/main" id="{D672B6D8-E3A4-7255-D041-9825561D6AD5}"/>
              </a:ext>
            </a:extLst>
          </p:cNvPr>
          <p:cNvSpPr txBox="1"/>
          <p:nvPr/>
        </p:nvSpPr>
        <p:spPr>
          <a:xfrm>
            <a:off x="1738292" y="5647094"/>
            <a:ext cx="3784203" cy="738664"/>
          </a:xfrm>
          <a:prstGeom prst="rect">
            <a:avLst/>
          </a:prstGeom>
          <a:noFill/>
        </p:spPr>
        <p:txBody>
          <a:bodyPr wrap="square" rtlCol="0">
            <a:spAutoFit/>
          </a:bodyPr>
          <a:lstStyle/>
          <a:p>
            <a:pPr algn="just"/>
            <a:r>
              <a:rPr lang="pt-BR" sz="1050" dirty="0">
                <a:solidFill>
                  <a:schemeClr val="tx1">
                    <a:lumMod val="65000"/>
                    <a:lumOff val="35000"/>
                  </a:schemeClr>
                </a:solidFill>
                <a:latin typeface="Arial" panose="020B0604020202020204" pitchFamily="34" charset="0"/>
                <a:cs typeface="Arial" panose="020B0604020202020204" pitchFamily="34" charset="0"/>
              </a:rPr>
              <a:t>No período analisado, foram realizadas 23 monitorias no produto Serasa Cadastro Positivo. A equipe de Qualidade foi responsável por 15 avaliações (65,22%), enquanto a Operação realizou 8 monitorias (34,78%).</a:t>
            </a:r>
          </a:p>
        </p:txBody>
      </p:sp>
    </p:spTree>
    <p:extLst>
      <p:ext uri="{BB962C8B-B14F-4D97-AF65-F5344CB8AC3E}">
        <p14:creationId xmlns:p14="http://schemas.microsoft.com/office/powerpoint/2010/main" val="19988264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Imagem 38">
            <a:extLst>
              <a:ext uri="{FF2B5EF4-FFF2-40B4-BE49-F238E27FC236}">
                <a16:creationId xmlns:a16="http://schemas.microsoft.com/office/drawing/2014/main" id="{8F6A83EB-6687-479D-BD59-51B6B2B8CBF9}"/>
              </a:ext>
            </a:extLst>
          </p:cNvPr>
          <p:cNvPicPr>
            <a:picLocks noChangeAspect="1"/>
          </p:cNvPicPr>
          <p:nvPr/>
        </p:nvPicPr>
        <p:blipFill>
          <a:blip r:embed="rId2">
            <a:alphaModFix amt="4000"/>
          </a:blip>
          <a:stretch>
            <a:fillRect/>
          </a:stretch>
        </p:blipFill>
        <p:spPr>
          <a:xfrm>
            <a:off x="9118521" y="4681854"/>
            <a:ext cx="5030445" cy="5148116"/>
          </a:xfrm>
          <a:prstGeom prst="rect">
            <a:avLst/>
          </a:prstGeom>
          <a:effectLst/>
        </p:spPr>
      </p:pic>
      <p:pic>
        <p:nvPicPr>
          <p:cNvPr id="38" name="Imagem 37">
            <a:extLst>
              <a:ext uri="{FF2B5EF4-FFF2-40B4-BE49-F238E27FC236}">
                <a16:creationId xmlns:a16="http://schemas.microsoft.com/office/drawing/2014/main" id="{DE2A603E-716D-41D5-ABEF-1625839B46A3}"/>
              </a:ext>
            </a:extLst>
          </p:cNvPr>
          <p:cNvPicPr>
            <a:picLocks noChangeAspect="1"/>
          </p:cNvPicPr>
          <p:nvPr/>
        </p:nvPicPr>
        <p:blipFill>
          <a:blip r:embed="rId2">
            <a:alphaModFix amt="4000"/>
          </a:blip>
          <a:stretch>
            <a:fillRect/>
          </a:stretch>
        </p:blipFill>
        <p:spPr>
          <a:xfrm>
            <a:off x="-2128370" y="-2021305"/>
            <a:ext cx="5030445" cy="5148116"/>
          </a:xfrm>
          <a:prstGeom prst="rect">
            <a:avLst/>
          </a:prstGeom>
          <a:effectLst/>
        </p:spPr>
      </p:pic>
      <p:sp>
        <p:nvSpPr>
          <p:cNvPr id="6" name="Título 1">
            <a:extLst>
              <a:ext uri="{FF2B5EF4-FFF2-40B4-BE49-F238E27FC236}">
                <a16:creationId xmlns:a16="http://schemas.microsoft.com/office/drawing/2014/main" id="{F19E4ED5-6191-4819-BC5E-0686AFC2CEAF}"/>
              </a:ext>
            </a:extLst>
          </p:cNvPr>
          <p:cNvSpPr txBox="1">
            <a:spLocks/>
          </p:cNvSpPr>
          <p:nvPr/>
        </p:nvSpPr>
        <p:spPr>
          <a:xfrm>
            <a:off x="5946417" y="431573"/>
            <a:ext cx="5811865"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pt-BR" sz="1600" spc="600" dirty="0">
                <a:solidFill>
                  <a:srgbClr val="00B0F0"/>
                </a:solidFill>
                <a:latin typeface="Arial" panose="020B0604020202020204" pitchFamily="34" charset="0"/>
                <a:cs typeface="Arial" panose="020B0604020202020204" pitchFamily="34" charset="0"/>
              </a:rPr>
              <a:t>CADASTRO POSITIVO</a:t>
            </a:r>
          </a:p>
        </p:txBody>
      </p:sp>
      <p:grpSp>
        <p:nvGrpSpPr>
          <p:cNvPr id="20" name="Google Shape;1964;p50">
            <a:extLst>
              <a:ext uri="{FF2B5EF4-FFF2-40B4-BE49-F238E27FC236}">
                <a16:creationId xmlns:a16="http://schemas.microsoft.com/office/drawing/2014/main" id="{644333FE-63B4-42DF-ADFA-AF9177DF58D7}"/>
              </a:ext>
            </a:extLst>
          </p:cNvPr>
          <p:cNvGrpSpPr/>
          <p:nvPr/>
        </p:nvGrpSpPr>
        <p:grpSpPr>
          <a:xfrm flipH="1">
            <a:off x="742950" y="537670"/>
            <a:ext cx="603644" cy="576232"/>
            <a:chOff x="4126815" y="2760704"/>
            <a:chExt cx="380393" cy="363118"/>
          </a:xfrm>
          <a:solidFill>
            <a:srgbClr val="0B5892"/>
          </a:solidFill>
        </p:grpSpPr>
        <p:sp>
          <p:nvSpPr>
            <p:cNvPr id="21" name="Google Shape;1965;p50">
              <a:extLst>
                <a:ext uri="{FF2B5EF4-FFF2-40B4-BE49-F238E27FC236}">
                  <a16:creationId xmlns:a16="http://schemas.microsoft.com/office/drawing/2014/main" id="{C90A8E2B-6430-4128-93A1-80EDBF3E3BED}"/>
                </a:ext>
              </a:extLst>
            </p:cNvPr>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966;p50">
              <a:extLst>
                <a:ext uri="{FF2B5EF4-FFF2-40B4-BE49-F238E27FC236}">
                  <a16:creationId xmlns:a16="http://schemas.microsoft.com/office/drawing/2014/main" id="{C220A82A-DCEF-47A8-9174-5A849CB2B75F}"/>
                </a:ext>
              </a:extLst>
            </p:cNvPr>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967;p50">
              <a:extLst>
                <a:ext uri="{FF2B5EF4-FFF2-40B4-BE49-F238E27FC236}">
                  <a16:creationId xmlns:a16="http://schemas.microsoft.com/office/drawing/2014/main" id="{446DDA74-F73B-4510-BFCE-608659C3FC02}"/>
                </a:ext>
              </a:extLst>
            </p:cNvPr>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968;p50">
              <a:extLst>
                <a:ext uri="{FF2B5EF4-FFF2-40B4-BE49-F238E27FC236}">
                  <a16:creationId xmlns:a16="http://schemas.microsoft.com/office/drawing/2014/main" id="{487DFEED-06C3-4B9B-9B7A-545AAF95F24C}"/>
                </a:ext>
              </a:extLst>
            </p:cNvPr>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Retângulo 28">
            <a:extLst>
              <a:ext uri="{FF2B5EF4-FFF2-40B4-BE49-F238E27FC236}">
                <a16:creationId xmlns:a16="http://schemas.microsoft.com/office/drawing/2014/main" id="{0BBC58FB-2C41-419E-8246-609C9177CDA9}"/>
              </a:ext>
            </a:extLst>
          </p:cNvPr>
          <p:cNvSpPr/>
          <p:nvPr/>
        </p:nvSpPr>
        <p:spPr>
          <a:xfrm>
            <a:off x="-449179" y="6707874"/>
            <a:ext cx="14054469" cy="33461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 name="Imagem 7">
            <a:extLst>
              <a:ext uri="{FF2B5EF4-FFF2-40B4-BE49-F238E27FC236}">
                <a16:creationId xmlns:a16="http://schemas.microsoft.com/office/drawing/2014/main" id="{55CA91AA-A108-4071-B0A7-0374C74EDA09}"/>
              </a:ext>
            </a:extLst>
          </p:cNvPr>
          <p:cNvPicPr>
            <a:picLocks noChangeAspect="1"/>
          </p:cNvPicPr>
          <p:nvPr/>
        </p:nvPicPr>
        <p:blipFill>
          <a:blip r:embed="rId3"/>
          <a:stretch>
            <a:fillRect/>
          </a:stretch>
        </p:blipFill>
        <p:spPr>
          <a:xfrm>
            <a:off x="-124691" y="-20995"/>
            <a:ext cx="12316692" cy="88042"/>
          </a:xfrm>
          <a:prstGeom prst="rect">
            <a:avLst/>
          </a:prstGeom>
        </p:spPr>
      </p:pic>
      <p:sp>
        <p:nvSpPr>
          <p:cNvPr id="18" name="Título 1">
            <a:extLst>
              <a:ext uri="{FF2B5EF4-FFF2-40B4-BE49-F238E27FC236}">
                <a16:creationId xmlns:a16="http://schemas.microsoft.com/office/drawing/2014/main" id="{9BC75932-B40A-460F-B242-8264BFE06926}"/>
              </a:ext>
            </a:extLst>
          </p:cNvPr>
          <p:cNvSpPr txBox="1">
            <a:spLocks/>
          </p:cNvSpPr>
          <p:nvPr/>
        </p:nvSpPr>
        <p:spPr>
          <a:xfrm>
            <a:off x="1366068" y="448718"/>
            <a:ext cx="6453099"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spc="600" dirty="0">
                <a:solidFill>
                  <a:srgbClr val="0B5892"/>
                </a:solidFill>
                <a:latin typeface="Arial" panose="020B0604020202020204" pitchFamily="34" charset="0"/>
                <a:cs typeface="Arial" panose="020B0604020202020204" pitchFamily="34" charset="0"/>
              </a:rPr>
              <a:t>MÉDIA DO CANAL </a:t>
            </a:r>
          </a:p>
        </p:txBody>
      </p:sp>
      <p:sp>
        <p:nvSpPr>
          <p:cNvPr id="19" name="Título 1">
            <a:extLst>
              <a:ext uri="{FF2B5EF4-FFF2-40B4-BE49-F238E27FC236}">
                <a16:creationId xmlns:a16="http://schemas.microsoft.com/office/drawing/2014/main" id="{CB92D9AB-3FEB-47AD-8015-DD30B5F902CE}"/>
              </a:ext>
            </a:extLst>
          </p:cNvPr>
          <p:cNvSpPr txBox="1">
            <a:spLocks/>
          </p:cNvSpPr>
          <p:nvPr/>
        </p:nvSpPr>
        <p:spPr>
          <a:xfrm>
            <a:off x="1400358" y="716411"/>
            <a:ext cx="6950456"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600" spc="300" dirty="0">
                <a:solidFill>
                  <a:srgbClr val="0B5892"/>
                </a:solidFill>
                <a:latin typeface="Arial" panose="020B0604020202020204" pitchFamily="34" charset="0"/>
                <a:cs typeface="Arial" panose="020B0604020202020204" pitchFamily="34" charset="0"/>
              </a:rPr>
              <a:t>Quantidade total de monitorias realizadas</a:t>
            </a:r>
          </a:p>
        </p:txBody>
      </p:sp>
      <p:cxnSp>
        <p:nvCxnSpPr>
          <p:cNvPr id="25" name="Conector reto 24">
            <a:extLst>
              <a:ext uri="{FF2B5EF4-FFF2-40B4-BE49-F238E27FC236}">
                <a16:creationId xmlns:a16="http://schemas.microsoft.com/office/drawing/2014/main" id="{C6F5D155-7AE8-4277-A61A-2EF88BF2DADC}"/>
              </a:ext>
            </a:extLst>
          </p:cNvPr>
          <p:cNvCxnSpPr/>
          <p:nvPr/>
        </p:nvCxnSpPr>
        <p:spPr>
          <a:xfrm>
            <a:off x="725988" y="1185955"/>
            <a:ext cx="9855200" cy="0"/>
          </a:xfrm>
          <a:prstGeom prst="line">
            <a:avLst/>
          </a:prstGeom>
          <a:ln>
            <a:solidFill>
              <a:srgbClr val="0B5892"/>
            </a:solidFill>
          </a:ln>
        </p:spPr>
        <p:style>
          <a:lnRef idx="1">
            <a:schemeClr val="accent1"/>
          </a:lnRef>
          <a:fillRef idx="0">
            <a:schemeClr val="accent1"/>
          </a:fillRef>
          <a:effectRef idx="0">
            <a:schemeClr val="accent1"/>
          </a:effectRef>
          <a:fontRef idx="minor">
            <a:schemeClr val="tx1"/>
          </a:fontRef>
        </p:style>
      </p:cxnSp>
      <p:sp>
        <p:nvSpPr>
          <p:cNvPr id="110" name="CaixaDeTexto 109">
            <a:extLst>
              <a:ext uri="{FF2B5EF4-FFF2-40B4-BE49-F238E27FC236}">
                <a16:creationId xmlns:a16="http://schemas.microsoft.com/office/drawing/2014/main" id="{751BA167-80F5-4834-A5C7-E8ED41135E2E}"/>
              </a:ext>
            </a:extLst>
          </p:cNvPr>
          <p:cNvSpPr txBox="1"/>
          <p:nvPr/>
        </p:nvSpPr>
        <p:spPr>
          <a:xfrm>
            <a:off x="1549613" y="1890202"/>
            <a:ext cx="3720501" cy="307777"/>
          </a:xfrm>
          <a:prstGeom prst="rect">
            <a:avLst/>
          </a:prstGeom>
          <a:noFill/>
        </p:spPr>
        <p:txBody>
          <a:bodyPr wrap="square" rtlCol="0">
            <a:spAutoFit/>
          </a:bodyPr>
          <a:lstStyle/>
          <a:p>
            <a:pPr algn="ctr"/>
            <a:r>
              <a:rPr lang="pt-BR" sz="1400" b="1" dirty="0">
                <a:solidFill>
                  <a:schemeClr val="tx1">
                    <a:lumMod val="50000"/>
                    <a:lumOff val="50000"/>
                  </a:schemeClr>
                </a:solidFill>
                <a:latin typeface="Arial" panose="020B0604020202020204" pitchFamily="34" charset="0"/>
                <a:cs typeface="Arial" panose="020B0604020202020204" pitchFamily="34" charset="0"/>
              </a:rPr>
              <a:t>Médias por ciclos </a:t>
            </a:r>
          </a:p>
        </p:txBody>
      </p:sp>
      <p:graphicFrame>
        <p:nvGraphicFramePr>
          <p:cNvPr id="114" name="Gráfico 113">
            <a:extLst>
              <a:ext uri="{FF2B5EF4-FFF2-40B4-BE49-F238E27FC236}">
                <a16:creationId xmlns:a16="http://schemas.microsoft.com/office/drawing/2014/main" id="{7D3C7095-828E-4C06-BD03-D01C402F70BB}"/>
              </a:ext>
            </a:extLst>
          </p:cNvPr>
          <p:cNvGraphicFramePr/>
          <p:nvPr>
            <p:extLst>
              <p:ext uri="{D42A27DB-BD31-4B8C-83A1-F6EECF244321}">
                <p14:modId xmlns:p14="http://schemas.microsoft.com/office/powerpoint/2010/main" val="3194329355"/>
              </p:ext>
            </p:extLst>
          </p:nvPr>
        </p:nvGraphicFramePr>
        <p:xfrm>
          <a:off x="1330893" y="2445001"/>
          <a:ext cx="4157940" cy="153395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5" name="Gráfico 114">
            <a:extLst>
              <a:ext uri="{FF2B5EF4-FFF2-40B4-BE49-F238E27FC236}">
                <a16:creationId xmlns:a16="http://schemas.microsoft.com/office/drawing/2014/main" id="{E2098B98-DBDA-4BD6-9D64-5C4C6FDA77BF}"/>
              </a:ext>
            </a:extLst>
          </p:cNvPr>
          <p:cNvGraphicFramePr/>
          <p:nvPr>
            <p:extLst>
              <p:ext uri="{D42A27DB-BD31-4B8C-83A1-F6EECF244321}">
                <p14:modId xmlns:p14="http://schemas.microsoft.com/office/powerpoint/2010/main" val="2631456570"/>
              </p:ext>
            </p:extLst>
          </p:nvPr>
        </p:nvGraphicFramePr>
        <p:xfrm>
          <a:off x="6737570" y="2495204"/>
          <a:ext cx="4157940" cy="1681126"/>
        </p:xfrm>
        <a:graphic>
          <a:graphicData uri="http://schemas.openxmlformats.org/drawingml/2006/chart">
            <c:chart xmlns:c="http://schemas.openxmlformats.org/drawingml/2006/chart" xmlns:r="http://schemas.openxmlformats.org/officeDocument/2006/relationships" r:id="rId5"/>
          </a:graphicData>
        </a:graphic>
      </p:graphicFrame>
      <p:sp>
        <p:nvSpPr>
          <p:cNvPr id="31" name="CaixaDeTexto 30">
            <a:extLst>
              <a:ext uri="{FF2B5EF4-FFF2-40B4-BE49-F238E27FC236}">
                <a16:creationId xmlns:a16="http://schemas.microsoft.com/office/drawing/2014/main" id="{8351364F-9B64-4F08-9C15-EDDFE9AC06B3}"/>
              </a:ext>
            </a:extLst>
          </p:cNvPr>
          <p:cNvSpPr txBox="1"/>
          <p:nvPr/>
        </p:nvSpPr>
        <p:spPr>
          <a:xfrm>
            <a:off x="7072510" y="1863435"/>
            <a:ext cx="3720501" cy="307777"/>
          </a:xfrm>
          <a:prstGeom prst="rect">
            <a:avLst/>
          </a:prstGeom>
          <a:noFill/>
        </p:spPr>
        <p:txBody>
          <a:bodyPr wrap="square" rtlCol="0">
            <a:spAutoFit/>
          </a:bodyPr>
          <a:lstStyle/>
          <a:p>
            <a:pPr algn="ctr"/>
            <a:r>
              <a:rPr lang="pt-BR" sz="1400" b="1" dirty="0">
                <a:solidFill>
                  <a:schemeClr val="tx1">
                    <a:lumMod val="50000"/>
                    <a:lumOff val="50000"/>
                  </a:schemeClr>
                </a:solidFill>
                <a:latin typeface="Arial" panose="020B0604020202020204" pitchFamily="34" charset="0"/>
                <a:cs typeface="Arial" panose="020B0604020202020204" pitchFamily="34" charset="0"/>
              </a:rPr>
              <a:t>Operação vs. Qualidade</a:t>
            </a:r>
          </a:p>
        </p:txBody>
      </p:sp>
      <p:cxnSp>
        <p:nvCxnSpPr>
          <p:cNvPr id="26" name="Conector reto 25">
            <a:extLst>
              <a:ext uri="{FF2B5EF4-FFF2-40B4-BE49-F238E27FC236}">
                <a16:creationId xmlns:a16="http://schemas.microsoft.com/office/drawing/2014/main" id="{F978C618-01F7-4633-A987-CCB8366D669E}"/>
              </a:ext>
            </a:extLst>
          </p:cNvPr>
          <p:cNvCxnSpPr>
            <a:cxnSpLocks/>
          </p:cNvCxnSpPr>
          <p:nvPr/>
        </p:nvCxnSpPr>
        <p:spPr>
          <a:xfrm>
            <a:off x="6225549" y="1890202"/>
            <a:ext cx="0" cy="3804662"/>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32" name="Retângulo: Cantos Arredondados 31">
            <a:extLst>
              <a:ext uri="{FF2B5EF4-FFF2-40B4-BE49-F238E27FC236}">
                <a16:creationId xmlns:a16="http://schemas.microsoft.com/office/drawing/2014/main" id="{8CA246E3-A58F-4C82-BA91-182CC17EEF1B}"/>
              </a:ext>
            </a:extLst>
          </p:cNvPr>
          <p:cNvSpPr/>
          <p:nvPr/>
        </p:nvSpPr>
        <p:spPr>
          <a:xfrm>
            <a:off x="1346594" y="4446050"/>
            <a:ext cx="4619857" cy="1963232"/>
          </a:xfrm>
          <a:prstGeom prst="roundRect">
            <a:avLst/>
          </a:prstGeom>
          <a:solidFill>
            <a:schemeClr val="bg1">
              <a:lumMod val="95000"/>
            </a:schemeClr>
          </a:solidFill>
          <a:ln>
            <a:noFill/>
          </a:ln>
          <a:effectLst>
            <a:outerShdw dist="101600" dir="10740000" algn="t" rotWithShape="0">
              <a:srgbClr val="00B0F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34" name="Google Shape;2124;p50">
            <a:extLst>
              <a:ext uri="{FF2B5EF4-FFF2-40B4-BE49-F238E27FC236}">
                <a16:creationId xmlns:a16="http://schemas.microsoft.com/office/drawing/2014/main" id="{17C5FCEA-434A-4F2E-BC13-08F9AFE06D99}"/>
              </a:ext>
            </a:extLst>
          </p:cNvPr>
          <p:cNvGrpSpPr/>
          <p:nvPr/>
        </p:nvGrpSpPr>
        <p:grpSpPr>
          <a:xfrm>
            <a:off x="1482244" y="4562393"/>
            <a:ext cx="286337" cy="286644"/>
            <a:chOff x="4673540" y="3680297"/>
            <a:chExt cx="355434" cy="355815"/>
          </a:xfrm>
        </p:grpSpPr>
        <p:sp>
          <p:nvSpPr>
            <p:cNvPr id="35" name="Google Shape;2125;p50">
              <a:extLst>
                <a:ext uri="{FF2B5EF4-FFF2-40B4-BE49-F238E27FC236}">
                  <a16:creationId xmlns:a16="http://schemas.microsoft.com/office/drawing/2014/main" id="{57941490-D7F8-44DD-8C76-50E34A26D7AC}"/>
                </a:ext>
              </a:extLst>
            </p:cNvPr>
            <p:cNvSpPr/>
            <p:nvPr/>
          </p:nvSpPr>
          <p:spPr>
            <a:xfrm>
              <a:off x="4673540" y="3680297"/>
              <a:ext cx="355434" cy="355815"/>
            </a:xfrm>
            <a:custGeom>
              <a:avLst/>
              <a:gdLst/>
              <a:ahLst/>
              <a:cxnLst/>
              <a:rect l="l" t="t" r="r" b="b"/>
              <a:pathLst>
                <a:path w="11193" h="11205" extrusionOk="0">
                  <a:moveTo>
                    <a:pt x="2012" y="0"/>
                  </a:moveTo>
                  <a:cubicBezTo>
                    <a:pt x="905" y="0"/>
                    <a:pt x="0" y="893"/>
                    <a:pt x="0" y="2013"/>
                  </a:cubicBezTo>
                  <a:lnTo>
                    <a:pt x="0" y="9192"/>
                  </a:lnTo>
                  <a:cubicBezTo>
                    <a:pt x="0" y="10287"/>
                    <a:pt x="893" y="11204"/>
                    <a:pt x="2012" y="11204"/>
                  </a:cubicBezTo>
                  <a:lnTo>
                    <a:pt x="9180" y="11204"/>
                  </a:lnTo>
                  <a:cubicBezTo>
                    <a:pt x="10287" y="11204"/>
                    <a:pt x="11192" y="10311"/>
                    <a:pt x="11192" y="9192"/>
                  </a:cubicBezTo>
                  <a:lnTo>
                    <a:pt x="11192" y="2013"/>
                  </a:lnTo>
                  <a:cubicBezTo>
                    <a:pt x="11180" y="917"/>
                    <a:pt x="10287" y="0"/>
                    <a:pt x="9180" y="0"/>
                  </a:cubicBezTo>
                  <a:lnTo>
                    <a:pt x="8085" y="0"/>
                  </a:lnTo>
                  <a:cubicBezTo>
                    <a:pt x="7989" y="0"/>
                    <a:pt x="7918" y="84"/>
                    <a:pt x="7918" y="167"/>
                  </a:cubicBezTo>
                  <a:cubicBezTo>
                    <a:pt x="7918" y="262"/>
                    <a:pt x="7989" y="334"/>
                    <a:pt x="8085" y="334"/>
                  </a:cubicBezTo>
                  <a:lnTo>
                    <a:pt x="9180" y="334"/>
                  </a:lnTo>
                  <a:cubicBezTo>
                    <a:pt x="10109" y="334"/>
                    <a:pt x="10847" y="1084"/>
                    <a:pt x="10847" y="2001"/>
                  </a:cubicBezTo>
                  <a:lnTo>
                    <a:pt x="10847" y="9180"/>
                  </a:lnTo>
                  <a:cubicBezTo>
                    <a:pt x="10847" y="10097"/>
                    <a:pt x="10109" y="10847"/>
                    <a:pt x="9180" y="10847"/>
                  </a:cubicBezTo>
                  <a:lnTo>
                    <a:pt x="2012" y="10847"/>
                  </a:lnTo>
                  <a:cubicBezTo>
                    <a:pt x="1084" y="10847"/>
                    <a:pt x="345" y="10097"/>
                    <a:pt x="345" y="9180"/>
                  </a:cubicBezTo>
                  <a:lnTo>
                    <a:pt x="345" y="2001"/>
                  </a:lnTo>
                  <a:cubicBezTo>
                    <a:pt x="345" y="1084"/>
                    <a:pt x="1084" y="334"/>
                    <a:pt x="2012" y="334"/>
                  </a:cubicBezTo>
                  <a:lnTo>
                    <a:pt x="7418" y="334"/>
                  </a:lnTo>
                  <a:cubicBezTo>
                    <a:pt x="7501" y="334"/>
                    <a:pt x="7573" y="262"/>
                    <a:pt x="7573" y="167"/>
                  </a:cubicBezTo>
                  <a:cubicBezTo>
                    <a:pt x="7573" y="84"/>
                    <a:pt x="7501" y="0"/>
                    <a:pt x="7418" y="0"/>
                  </a:cubicBezTo>
                  <a:close/>
                </a:path>
              </a:pathLst>
            </a:custGeom>
            <a:solidFill>
              <a:schemeClr val="lt2"/>
            </a:solidFill>
            <a:ln>
              <a:solidFill>
                <a:srgbClr val="00B0F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126;p50">
              <a:extLst>
                <a:ext uri="{FF2B5EF4-FFF2-40B4-BE49-F238E27FC236}">
                  <a16:creationId xmlns:a16="http://schemas.microsoft.com/office/drawing/2014/main" id="{FB819ACD-0C88-49C3-AC06-83FEF3198520}"/>
                </a:ext>
              </a:extLst>
            </p:cNvPr>
            <p:cNvSpPr/>
            <p:nvPr/>
          </p:nvSpPr>
          <p:spPr>
            <a:xfrm>
              <a:off x="4805864" y="3736630"/>
              <a:ext cx="93042" cy="92661"/>
            </a:xfrm>
            <a:custGeom>
              <a:avLst/>
              <a:gdLst/>
              <a:ahLst/>
              <a:cxnLst/>
              <a:rect l="l" t="t" r="r" b="b"/>
              <a:pathLst>
                <a:path w="2930" h="2918" extrusionOk="0">
                  <a:moveTo>
                    <a:pt x="1477" y="334"/>
                  </a:moveTo>
                  <a:cubicBezTo>
                    <a:pt x="2096" y="334"/>
                    <a:pt x="2608" y="834"/>
                    <a:pt x="2608" y="1465"/>
                  </a:cubicBezTo>
                  <a:cubicBezTo>
                    <a:pt x="2608" y="2084"/>
                    <a:pt x="2096" y="2596"/>
                    <a:pt x="1477" y="2596"/>
                  </a:cubicBezTo>
                  <a:cubicBezTo>
                    <a:pt x="846" y="2596"/>
                    <a:pt x="346" y="2084"/>
                    <a:pt x="346" y="1465"/>
                  </a:cubicBezTo>
                  <a:cubicBezTo>
                    <a:pt x="346" y="834"/>
                    <a:pt x="846" y="334"/>
                    <a:pt x="1477" y="334"/>
                  </a:cubicBezTo>
                  <a:close/>
                  <a:moveTo>
                    <a:pt x="1477" y="0"/>
                  </a:moveTo>
                  <a:cubicBezTo>
                    <a:pt x="667" y="0"/>
                    <a:pt x="12" y="655"/>
                    <a:pt x="12" y="1465"/>
                  </a:cubicBezTo>
                  <a:cubicBezTo>
                    <a:pt x="0" y="2263"/>
                    <a:pt x="655" y="2918"/>
                    <a:pt x="1477" y="2918"/>
                  </a:cubicBezTo>
                  <a:cubicBezTo>
                    <a:pt x="2274" y="2918"/>
                    <a:pt x="2929" y="2263"/>
                    <a:pt x="2929" y="1465"/>
                  </a:cubicBezTo>
                  <a:cubicBezTo>
                    <a:pt x="2929" y="655"/>
                    <a:pt x="2274" y="0"/>
                    <a:pt x="1477" y="0"/>
                  </a:cubicBezTo>
                  <a:close/>
                </a:path>
              </a:pathLst>
            </a:custGeom>
            <a:solidFill>
              <a:schemeClr val="lt2"/>
            </a:solidFill>
            <a:ln>
              <a:solidFill>
                <a:srgbClr val="00B0F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127;p50">
              <a:extLst>
                <a:ext uri="{FF2B5EF4-FFF2-40B4-BE49-F238E27FC236}">
                  <a16:creationId xmlns:a16="http://schemas.microsoft.com/office/drawing/2014/main" id="{2335789A-9329-4B97-9ED7-E399CF29441E}"/>
                </a:ext>
              </a:extLst>
            </p:cNvPr>
            <p:cNvSpPr/>
            <p:nvPr/>
          </p:nvSpPr>
          <p:spPr>
            <a:xfrm>
              <a:off x="4779380" y="3841358"/>
              <a:ext cx="143723" cy="138801"/>
            </a:xfrm>
            <a:custGeom>
              <a:avLst/>
              <a:gdLst/>
              <a:ahLst/>
              <a:cxnLst/>
              <a:rect l="l" t="t" r="r" b="b"/>
              <a:pathLst>
                <a:path w="4526" h="4371" extrusionOk="0">
                  <a:moveTo>
                    <a:pt x="477" y="1"/>
                  </a:moveTo>
                  <a:cubicBezTo>
                    <a:pt x="215" y="1"/>
                    <a:pt x="1" y="203"/>
                    <a:pt x="1" y="477"/>
                  </a:cubicBezTo>
                  <a:lnTo>
                    <a:pt x="1" y="893"/>
                  </a:lnTo>
                  <a:cubicBezTo>
                    <a:pt x="1" y="1155"/>
                    <a:pt x="203" y="1370"/>
                    <a:pt x="477" y="1370"/>
                  </a:cubicBezTo>
                  <a:lnTo>
                    <a:pt x="763" y="1370"/>
                  </a:lnTo>
                  <a:cubicBezTo>
                    <a:pt x="834" y="1370"/>
                    <a:pt x="906" y="1429"/>
                    <a:pt x="906" y="1513"/>
                  </a:cubicBezTo>
                  <a:lnTo>
                    <a:pt x="906" y="2858"/>
                  </a:lnTo>
                  <a:cubicBezTo>
                    <a:pt x="906" y="2929"/>
                    <a:pt x="846" y="3001"/>
                    <a:pt x="763" y="3001"/>
                  </a:cubicBezTo>
                  <a:lnTo>
                    <a:pt x="572" y="3001"/>
                  </a:lnTo>
                  <a:cubicBezTo>
                    <a:pt x="299" y="3001"/>
                    <a:pt x="96" y="3215"/>
                    <a:pt x="96" y="3477"/>
                  </a:cubicBezTo>
                  <a:lnTo>
                    <a:pt x="96" y="3894"/>
                  </a:lnTo>
                  <a:cubicBezTo>
                    <a:pt x="96" y="4168"/>
                    <a:pt x="299" y="4370"/>
                    <a:pt x="572" y="4370"/>
                  </a:cubicBezTo>
                  <a:lnTo>
                    <a:pt x="4049" y="4370"/>
                  </a:lnTo>
                  <a:cubicBezTo>
                    <a:pt x="4311" y="4370"/>
                    <a:pt x="4525" y="4168"/>
                    <a:pt x="4525" y="3894"/>
                  </a:cubicBezTo>
                  <a:lnTo>
                    <a:pt x="4525" y="3477"/>
                  </a:lnTo>
                  <a:cubicBezTo>
                    <a:pt x="4525" y="3215"/>
                    <a:pt x="4311" y="3001"/>
                    <a:pt x="4049" y="3001"/>
                  </a:cubicBezTo>
                  <a:lnTo>
                    <a:pt x="3859" y="3001"/>
                  </a:lnTo>
                  <a:cubicBezTo>
                    <a:pt x="3787" y="3001"/>
                    <a:pt x="3704" y="2941"/>
                    <a:pt x="3704" y="2858"/>
                  </a:cubicBezTo>
                  <a:lnTo>
                    <a:pt x="3704" y="477"/>
                  </a:lnTo>
                  <a:cubicBezTo>
                    <a:pt x="3704" y="203"/>
                    <a:pt x="3501" y="1"/>
                    <a:pt x="3228" y="1"/>
                  </a:cubicBezTo>
                  <a:lnTo>
                    <a:pt x="1442" y="1"/>
                  </a:lnTo>
                  <a:cubicBezTo>
                    <a:pt x="1358" y="1"/>
                    <a:pt x="1287" y="72"/>
                    <a:pt x="1287" y="155"/>
                  </a:cubicBezTo>
                  <a:cubicBezTo>
                    <a:pt x="1287" y="251"/>
                    <a:pt x="1358" y="322"/>
                    <a:pt x="1442" y="322"/>
                  </a:cubicBezTo>
                  <a:lnTo>
                    <a:pt x="3228" y="322"/>
                  </a:lnTo>
                  <a:cubicBezTo>
                    <a:pt x="3311" y="322"/>
                    <a:pt x="3382" y="382"/>
                    <a:pt x="3382" y="477"/>
                  </a:cubicBezTo>
                  <a:lnTo>
                    <a:pt x="3382" y="2858"/>
                  </a:lnTo>
                  <a:cubicBezTo>
                    <a:pt x="3382" y="3120"/>
                    <a:pt x="3585" y="3334"/>
                    <a:pt x="3859" y="3334"/>
                  </a:cubicBezTo>
                  <a:lnTo>
                    <a:pt x="4049" y="3334"/>
                  </a:lnTo>
                  <a:cubicBezTo>
                    <a:pt x="4121" y="3334"/>
                    <a:pt x="4204" y="3394"/>
                    <a:pt x="4204" y="3477"/>
                  </a:cubicBezTo>
                  <a:lnTo>
                    <a:pt x="4204" y="3894"/>
                  </a:lnTo>
                  <a:cubicBezTo>
                    <a:pt x="4204" y="3965"/>
                    <a:pt x="4132" y="4049"/>
                    <a:pt x="4049" y="4049"/>
                  </a:cubicBezTo>
                  <a:lnTo>
                    <a:pt x="572" y="4049"/>
                  </a:lnTo>
                  <a:cubicBezTo>
                    <a:pt x="489" y="4049"/>
                    <a:pt x="418" y="3989"/>
                    <a:pt x="418" y="3894"/>
                  </a:cubicBezTo>
                  <a:lnTo>
                    <a:pt x="418" y="3477"/>
                  </a:lnTo>
                  <a:cubicBezTo>
                    <a:pt x="418" y="3406"/>
                    <a:pt x="477" y="3334"/>
                    <a:pt x="572" y="3334"/>
                  </a:cubicBezTo>
                  <a:lnTo>
                    <a:pt x="763" y="3334"/>
                  </a:lnTo>
                  <a:cubicBezTo>
                    <a:pt x="1025" y="3334"/>
                    <a:pt x="1239" y="3120"/>
                    <a:pt x="1239" y="2858"/>
                  </a:cubicBezTo>
                  <a:lnTo>
                    <a:pt x="1239" y="1513"/>
                  </a:lnTo>
                  <a:cubicBezTo>
                    <a:pt x="1239" y="1251"/>
                    <a:pt x="1025" y="1036"/>
                    <a:pt x="763" y="1036"/>
                  </a:cubicBezTo>
                  <a:lnTo>
                    <a:pt x="477" y="1036"/>
                  </a:lnTo>
                  <a:cubicBezTo>
                    <a:pt x="406" y="1036"/>
                    <a:pt x="334" y="977"/>
                    <a:pt x="334" y="893"/>
                  </a:cubicBezTo>
                  <a:lnTo>
                    <a:pt x="334" y="477"/>
                  </a:lnTo>
                  <a:cubicBezTo>
                    <a:pt x="334" y="393"/>
                    <a:pt x="394" y="322"/>
                    <a:pt x="477" y="322"/>
                  </a:cubicBezTo>
                  <a:lnTo>
                    <a:pt x="787" y="322"/>
                  </a:lnTo>
                  <a:cubicBezTo>
                    <a:pt x="882" y="322"/>
                    <a:pt x="953" y="251"/>
                    <a:pt x="953" y="155"/>
                  </a:cubicBezTo>
                  <a:cubicBezTo>
                    <a:pt x="953" y="72"/>
                    <a:pt x="882" y="1"/>
                    <a:pt x="787" y="1"/>
                  </a:cubicBezTo>
                  <a:close/>
                </a:path>
              </a:pathLst>
            </a:custGeom>
            <a:solidFill>
              <a:schemeClr val="lt2"/>
            </a:solidFill>
            <a:ln>
              <a:solidFill>
                <a:srgbClr val="00B0F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2" name="Tabela 1">
            <a:extLst>
              <a:ext uri="{FF2B5EF4-FFF2-40B4-BE49-F238E27FC236}">
                <a16:creationId xmlns:a16="http://schemas.microsoft.com/office/drawing/2014/main" id="{7BA71A95-9A1E-A8F4-A8DA-F5A3B7ABB4D7}"/>
              </a:ext>
            </a:extLst>
          </p:cNvPr>
          <p:cNvGraphicFramePr>
            <a:graphicFrameLocks noGrp="1"/>
          </p:cNvGraphicFramePr>
          <p:nvPr>
            <p:extLst>
              <p:ext uri="{D42A27DB-BD31-4B8C-83A1-F6EECF244321}">
                <p14:modId xmlns:p14="http://schemas.microsoft.com/office/powerpoint/2010/main" val="4125668485"/>
              </p:ext>
            </p:extLst>
          </p:nvPr>
        </p:nvGraphicFramePr>
        <p:xfrm>
          <a:off x="7091534" y="4607775"/>
          <a:ext cx="3803976" cy="978545"/>
        </p:xfrm>
        <a:graphic>
          <a:graphicData uri="http://schemas.openxmlformats.org/drawingml/2006/table">
            <a:tbl>
              <a:tblPr firstRow="1" bandRow="1">
                <a:tableStyleId>{F2DE63D5-997A-4646-A377-4702673A728D}</a:tableStyleId>
              </a:tblPr>
              <a:tblGrid>
                <a:gridCol w="1267992">
                  <a:extLst>
                    <a:ext uri="{9D8B030D-6E8A-4147-A177-3AD203B41FA5}">
                      <a16:colId xmlns:a16="http://schemas.microsoft.com/office/drawing/2014/main" val="1531427166"/>
                    </a:ext>
                  </a:extLst>
                </a:gridCol>
                <a:gridCol w="1267992">
                  <a:extLst>
                    <a:ext uri="{9D8B030D-6E8A-4147-A177-3AD203B41FA5}">
                      <a16:colId xmlns:a16="http://schemas.microsoft.com/office/drawing/2014/main" val="3806050286"/>
                    </a:ext>
                  </a:extLst>
                </a:gridCol>
                <a:gridCol w="1267992">
                  <a:extLst>
                    <a:ext uri="{9D8B030D-6E8A-4147-A177-3AD203B41FA5}">
                      <a16:colId xmlns:a16="http://schemas.microsoft.com/office/drawing/2014/main" val="658273446"/>
                    </a:ext>
                  </a:extLst>
                </a:gridCol>
              </a:tblGrid>
              <a:tr h="253021">
                <a:tc>
                  <a:txBody>
                    <a:bodyPr/>
                    <a:lstStyle/>
                    <a:p>
                      <a:pPr algn="ctr">
                        <a:lnSpc>
                          <a:spcPct val="150000"/>
                        </a:lnSpc>
                      </a:pPr>
                      <a:endParaRPr lang="pt-BR" sz="1000" dirty="0">
                        <a:latin typeface="Arial" panose="020B0604020202020204" pitchFamily="34" charset="0"/>
                        <a:cs typeface="Arial" panose="020B0604020202020204" pitchFamily="34" charset="0"/>
                      </a:endParaRP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pPr>
                      <a:r>
                        <a:rPr lang="pt-BR" sz="1000" dirty="0">
                          <a:latin typeface="Arial" panose="020B0604020202020204" pitchFamily="34" charset="0"/>
                          <a:cs typeface="Arial" panose="020B0604020202020204" pitchFamily="34" charset="0"/>
                        </a:rPr>
                        <a:t>Média Final</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lnSpc>
                          <a:spcPct val="150000"/>
                        </a:lnSpc>
                      </a:pPr>
                      <a:r>
                        <a:rPr lang="pt-BR" sz="1000" dirty="0">
                          <a:latin typeface="Arial" panose="020B0604020202020204" pitchFamily="34" charset="0"/>
                          <a:cs typeface="Arial" panose="020B0604020202020204" pitchFamily="34" charset="0"/>
                        </a:rPr>
                        <a:t>Diferença</a:t>
                      </a:r>
                    </a:p>
                  </a:txBody>
                  <a:tcP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574108456"/>
                  </a:ext>
                </a:extLst>
              </a:tr>
              <a:tr h="343381">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Operação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99,00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6,73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6810871"/>
                  </a:ext>
                </a:extLst>
              </a:tr>
              <a:tr h="343381">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Qualidade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lumMod val="65000"/>
                              <a:lumOff val="35000"/>
                            </a:schemeClr>
                          </a:solidFill>
                          <a:latin typeface="Arial" panose="020B0604020202020204" pitchFamily="34" charset="0"/>
                          <a:cs typeface="Arial" panose="020B0604020202020204" pitchFamily="34" charset="0"/>
                        </a:rPr>
                        <a:t>92,27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2121114"/>
                  </a:ext>
                </a:extLst>
              </a:tr>
            </a:tbl>
          </a:graphicData>
        </a:graphic>
      </p:graphicFrame>
      <p:sp>
        <p:nvSpPr>
          <p:cNvPr id="3" name="CaixaDeTexto 2">
            <a:extLst>
              <a:ext uri="{FF2B5EF4-FFF2-40B4-BE49-F238E27FC236}">
                <a16:creationId xmlns:a16="http://schemas.microsoft.com/office/drawing/2014/main" id="{B02A7AB0-94A1-1F00-CCF0-3225FC37A03B}"/>
              </a:ext>
            </a:extLst>
          </p:cNvPr>
          <p:cNvSpPr txBox="1"/>
          <p:nvPr/>
        </p:nvSpPr>
        <p:spPr>
          <a:xfrm>
            <a:off x="1683292" y="4791996"/>
            <a:ext cx="4065903" cy="1446550"/>
          </a:xfrm>
          <a:prstGeom prst="rect">
            <a:avLst/>
          </a:prstGeom>
          <a:noFill/>
        </p:spPr>
        <p:txBody>
          <a:bodyPr wrap="square" rtlCol="0">
            <a:spAutoFit/>
          </a:bodyPr>
          <a:lstStyle/>
          <a:p>
            <a:pPr algn="just"/>
            <a:r>
              <a:rPr lang="pt-BR" sz="1100" dirty="0">
                <a:solidFill>
                  <a:schemeClr val="tx1">
                    <a:lumMod val="65000"/>
                    <a:lumOff val="35000"/>
                  </a:schemeClr>
                </a:solidFill>
                <a:latin typeface="Arial" panose="020B0604020202020204" pitchFamily="34" charset="0"/>
                <a:cs typeface="Arial" panose="020B0604020202020204" pitchFamily="34" charset="0"/>
              </a:rPr>
              <a:t>O canal apresentou uma evolução positiva ao longo dos ciclos, iniciando com média de 96 pontos e alcançando 100 pontos no 2º ciclo. No 3º ciclo, houve uma redução para 87 pontos, influenciada principalmente pela ocorrência de uma monitoria com nota zero, que impactou diretamente a média do período. No 4º ciclo, observamos uma recuperação significativa, com média de 99,5 pontos, demonstrando retomada da performance e maior estabilidade nos resultados.</a:t>
            </a:r>
          </a:p>
        </p:txBody>
      </p:sp>
    </p:spTree>
    <p:extLst>
      <p:ext uri="{BB962C8B-B14F-4D97-AF65-F5344CB8AC3E}">
        <p14:creationId xmlns:p14="http://schemas.microsoft.com/office/powerpoint/2010/main" val="1822382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Imagem 38">
            <a:extLst>
              <a:ext uri="{FF2B5EF4-FFF2-40B4-BE49-F238E27FC236}">
                <a16:creationId xmlns:a16="http://schemas.microsoft.com/office/drawing/2014/main" id="{8F6A83EB-6687-479D-BD59-51B6B2B8CBF9}"/>
              </a:ext>
            </a:extLst>
          </p:cNvPr>
          <p:cNvPicPr>
            <a:picLocks noChangeAspect="1"/>
          </p:cNvPicPr>
          <p:nvPr/>
        </p:nvPicPr>
        <p:blipFill>
          <a:blip r:embed="rId2">
            <a:alphaModFix amt="4000"/>
          </a:blip>
          <a:stretch>
            <a:fillRect/>
          </a:stretch>
        </p:blipFill>
        <p:spPr>
          <a:xfrm>
            <a:off x="9157251" y="4596063"/>
            <a:ext cx="5030445" cy="5148116"/>
          </a:xfrm>
          <a:prstGeom prst="rect">
            <a:avLst/>
          </a:prstGeom>
          <a:effectLst/>
        </p:spPr>
      </p:pic>
      <p:pic>
        <p:nvPicPr>
          <p:cNvPr id="38" name="Imagem 37">
            <a:extLst>
              <a:ext uri="{FF2B5EF4-FFF2-40B4-BE49-F238E27FC236}">
                <a16:creationId xmlns:a16="http://schemas.microsoft.com/office/drawing/2014/main" id="{DE2A603E-716D-41D5-ABEF-1625839B46A3}"/>
              </a:ext>
            </a:extLst>
          </p:cNvPr>
          <p:cNvPicPr>
            <a:picLocks noChangeAspect="1"/>
          </p:cNvPicPr>
          <p:nvPr/>
        </p:nvPicPr>
        <p:blipFill>
          <a:blip r:embed="rId2">
            <a:alphaModFix amt="4000"/>
          </a:blip>
          <a:stretch>
            <a:fillRect/>
          </a:stretch>
        </p:blipFill>
        <p:spPr>
          <a:xfrm>
            <a:off x="-2128370" y="-2021305"/>
            <a:ext cx="5030445" cy="5148116"/>
          </a:xfrm>
          <a:prstGeom prst="rect">
            <a:avLst/>
          </a:prstGeom>
          <a:effectLst/>
        </p:spPr>
      </p:pic>
      <p:sp>
        <p:nvSpPr>
          <p:cNvPr id="6" name="Título 1">
            <a:extLst>
              <a:ext uri="{FF2B5EF4-FFF2-40B4-BE49-F238E27FC236}">
                <a16:creationId xmlns:a16="http://schemas.microsoft.com/office/drawing/2014/main" id="{F19E4ED5-6191-4819-BC5E-0686AFC2CEAF}"/>
              </a:ext>
            </a:extLst>
          </p:cNvPr>
          <p:cNvSpPr txBox="1">
            <a:spLocks/>
          </p:cNvSpPr>
          <p:nvPr/>
        </p:nvSpPr>
        <p:spPr>
          <a:xfrm>
            <a:off x="5946417" y="431573"/>
            <a:ext cx="5811865"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pt-BR" sz="1600" spc="600" dirty="0">
                <a:solidFill>
                  <a:srgbClr val="00B0F0"/>
                </a:solidFill>
                <a:latin typeface="Arial" panose="020B0604020202020204" pitchFamily="34" charset="0"/>
                <a:cs typeface="Arial" panose="020B0604020202020204" pitchFamily="34" charset="0"/>
              </a:rPr>
              <a:t>CADASTRO POSITIVO</a:t>
            </a:r>
          </a:p>
        </p:txBody>
      </p:sp>
      <p:grpSp>
        <p:nvGrpSpPr>
          <p:cNvPr id="20" name="Google Shape;1964;p50">
            <a:extLst>
              <a:ext uri="{FF2B5EF4-FFF2-40B4-BE49-F238E27FC236}">
                <a16:creationId xmlns:a16="http://schemas.microsoft.com/office/drawing/2014/main" id="{644333FE-63B4-42DF-ADFA-AF9177DF58D7}"/>
              </a:ext>
            </a:extLst>
          </p:cNvPr>
          <p:cNvGrpSpPr/>
          <p:nvPr/>
        </p:nvGrpSpPr>
        <p:grpSpPr>
          <a:xfrm flipH="1">
            <a:off x="742950" y="537670"/>
            <a:ext cx="603644" cy="576232"/>
            <a:chOff x="4126815" y="2760704"/>
            <a:chExt cx="380393" cy="363118"/>
          </a:xfrm>
          <a:solidFill>
            <a:srgbClr val="0B5892"/>
          </a:solidFill>
        </p:grpSpPr>
        <p:sp>
          <p:nvSpPr>
            <p:cNvPr id="21" name="Google Shape;1965;p50">
              <a:extLst>
                <a:ext uri="{FF2B5EF4-FFF2-40B4-BE49-F238E27FC236}">
                  <a16:creationId xmlns:a16="http://schemas.microsoft.com/office/drawing/2014/main" id="{C90A8E2B-6430-4128-93A1-80EDBF3E3BED}"/>
                </a:ext>
              </a:extLst>
            </p:cNvPr>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966;p50">
              <a:extLst>
                <a:ext uri="{FF2B5EF4-FFF2-40B4-BE49-F238E27FC236}">
                  <a16:creationId xmlns:a16="http://schemas.microsoft.com/office/drawing/2014/main" id="{C220A82A-DCEF-47A8-9174-5A849CB2B75F}"/>
                </a:ext>
              </a:extLst>
            </p:cNvPr>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967;p50">
              <a:extLst>
                <a:ext uri="{FF2B5EF4-FFF2-40B4-BE49-F238E27FC236}">
                  <a16:creationId xmlns:a16="http://schemas.microsoft.com/office/drawing/2014/main" id="{446DDA74-F73B-4510-BFCE-608659C3FC02}"/>
                </a:ext>
              </a:extLst>
            </p:cNvPr>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968;p50">
              <a:extLst>
                <a:ext uri="{FF2B5EF4-FFF2-40B4-BE49-F238E27FC236}">
                  <a16:creationId xmlns:a16="http://schemas.microsoft.com/office/drawing/2014/main" id="{487DFEED-06C3-4B9B-9B7A-545AAF95F24C}"/>
                </a:ext>
              </a:extLst>
            </p:cNvPr>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Retângulo 28">
            <a:extLst>
              <a:ext uri="{FF2B5EF4-FFF2-40B4-BE49-F238E27FC236}">
                <a16:creationId xmlns:a16="http://schemas.microsoft.com/office/drawing/2014/main" id="{0BBC58FB-2C41-419E-8246-609C9177CDA9}"/>
              </a:ext>
            </a:extLst>
          </p:cNvPr>
          <p:cNvSpPr/>
          <p:nvPr/>
        </p:nvSpPr>
        <p:spPr>
          <a:xfrm>
            <a:off x="-449179" y="6707874"/>
            <a:ext cx="14054469" cy="33461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 name="Imagem 7">
            <a:extLst>
              <a:ext uri="{FF2B5EF4-FFF2-40B4-BE49-F238E27FC236}">
                <a16:creationId xmlns:a16="http://schemas.microsoft.com/office/drawing/2014/main" id="{55CA91AA-A108-4071-B0A7-0374C74EDA09}"/>
              </a:ext>
            </a:extLst>
          </p:cNvPr>
          <p:cNvPicPr>
            <a:picLocks noChangeAspect="1"/>
          </p:cNvPicPr>
          <p:nvPr/>
        </p:nvPicPr>
        <p:blipFill>
          <a:blip r:embed="rId3"/>
          <a:stretch>
            <a:fillRect/>
          </a:stretch>
        </p:blipFill>
        <p:spPr>
          <a:xfrm>
            <a:off x="-124691" y="-20995"/>
            <a:ext cx="12316692" cy="88042"/>
          </a:xfrm>
          <a:prstGeom prst="rect">
            <a:avLst/>
          </a:prstGeom>
        </p:spPr>
      </p:pic>
      <p:sp>
        <p:nvSpPr>
          <p:cNvPr id="18" name="Título 1">
            <a:extLst>
              <a:ext uri="{FF2B5EF4-FFF2-40B4-BE49-F238E27FC236}">
                <a16:creationId xmlns:a16="http://schemas.microsoft.com/office/drawing/2014/main" id="{9BC75932-B40A-460F-B242-8264BFE06926}"/>
              </a:ext>
            </a:extLst>
          </p:cNvPr>
          <p:cNvSpPr txBox="1">
            <a:spLocks/>
          </p:cNvSpPr>
          <p:nvPr/>
        </p:nvSpPr>
        <p:spPr>
          <a:xfrm>
            <a:off x="1366068" y="448718"/>
            <a:ext cx="6453099"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spc="600" dirty="0">
                <a:solidFill>
                  <a:srgbClr val="0B5892"/>
                </a:solidFill>
                <a:latin typeface="Arial" panose="020B0604020202020204" pitchFamily="34" charset="0"/>
                <a:cs typeface="Arial" panose="020B0604020202020204" pitchFamily="34" charset="0"/>
              </a:rPr>
              <a:t>PONTOS OFENSORES</a:t>
            </a:r>
          </a:p>
        </p:txBody>
      </p:sp>
      <p:sp>
        <p:nvSpPr>
          <p:cNvPr id="19" name="Título 1">
            <a:extLst>
              <a:ext uri="{FF2B5EF4-FFF2-40B4-BE49-F238E27FC236}">
                <a16:creationId xmlns:a16="http://schemas.microsoft.com/office/drawing/2014/main" id="{CB92D9AB-3FEB-47AD-8015-DD30B5F902CE}"/>
              </a:ext>
            </a:extLst>
          </p:cNvPr>
          <p:cNvSpPr txBox="1">
            <a:spLocks/>
          </p:cNvSpPr>
          <p:nvPr/>
        </p:nvSpPr>
        <p:spPr>
          <a:xfrm>
            <a:off x="1400358" y="716411"/>
            <a:ext cx="6950456"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600" spc="300" dirty="0">
                <a:solidFill>
                  <a:srgbClr val="0B5892"/>
                </a:solidFill>
                <a:latin typeface="Arial" panose="020B0604020202020204" pitchFamily="34" charset="0"/>
                <a:cs typeface="Arial" panose="020B0604020202020204" pitchFamily="34" charset="0"/>
              </a:rPr>
              <a:t>Quantidade total de monitorias realizadas</a:t>
            </a:r>
          </a:p>
        </p:txBody>
      </p:sp>
      <p:cxnSp>
        <p:nvCxnSpPr>
          <p:cNvPr id="25" name="Conector reto 24">
            <a:extLst>
              <a:ext uri="{FF2B5EF4-FFF2-40B4-BE49-F238E27FC236}">
                <a16:creationId xmlns:a16="http://schemas.microsoft.com/office/drawing/2014/main" id="{C6F5D155-7AE8-4277-A61A-2EF88BF2DADC}"/>
              </a:ext>
            </a:extLst>
          </p:cNvPr>
          <p:cNvCxnSpPr/>
          <p:nvPr/>
        </p:nvCxnSpPr>
        <p:spPr>
          <a:xfrm>
            <a:off x="232442" y="1228648"/>
            <a:ext cx="9855200" cy="0"/>
          </a:xfrm>
          <a:prstGeom prst="line">
            <a:avLst/>
          </a:prstGeom>
          <a:ln>
            <a:solidFill>
              <a:srgbClr val="0B5892"/>
            </a:solidFill>
          </a:ln>
        </p:spPr>
        <p:style>
          <a:lnRef idx="1">
            <a:schemeClr val="accent1"/>
          </a:lnRef>
          <a:fillRef idx="0">
            <a:schemeClr val="accent1"/>
          </a:fillRef>
          <a:effectRef idx="0">
            <a:schemeClr val="accent1"/>
          </a:effectRef>
          <a:fontRef idx="minor">
            <a:schemeClr val="tx1"/>
          </a:fontRef>
        </p:style>
      </p:cxnSp>
      <p:sp>
        <p:nvSpPr>
          <p:cNvPr id="36" name="CaixaDeTexto 35">
            <a:extLst>
              <a:ext uri="{FF2B5EF4-FFF2-40B4-BE49-F238E27FC236}">
                <a16:creationId xmlns:a16="http://schemas.microsoft.com/office/drawing/2014/main" id="{9E459499-C8E1-4C45-B0E3-1FB3AEB91E77}"/>
              </a:ext>
            </a:extLst>
          </p:cNvPr>
          <p:cNvSpPr txBox="1"/>
          <p:nvPr/>
        </p:nvSpPr>
        <p:spPr>
          <a:xfrm>
            <a:off x="1596980" y="1699273"/>
            <a:ext cx="8899205" cy="307777"/>
          </a:xfrm>
          <a:prstGeom prst="rect">
            <a:avLst/>
          </a:prstGeom>
          <a:noFill/>
        </p:spPr>
        <p:txBody>
          <a:bodyPr wrap="square" rtlCol="0">
            <a:spAutoFit/>
          </a:bodyPr>
          <a:lstStyle/>
          <a:p>
            <a:pPr algn="ctr"/>
            <a:r>
              <a:rPr lang="pt-BR" sz="1400" b="1" dirty="0">
                <a:solidFill>
                  <a:schemeClr val="tx1">
                    <a:lumMod val="50000"/>
                    <a:lumOff val="50000"/>
                  </a:schemeClr>
                </a:solidFill>
                <a:latin typeface="Arial" panose="020B0604020202020204" pitchFamily="34" charset="0"/>
                <a:cs typeface="Arial" panose="020B0604020202020204" pitchFamily="34" charset="0"/>
              </a:rPr>
              <a:t> Pontos Ofensores </a:t>
            </a:r>
          </a:p>
        </p:txBody>
      </p:sp>
      <p:graphicFrame>
        <p:nvGraphicFramePr>
          <p:cNvPr id="37" name="Gráfico 36">
            <a:extLst>
              <a:ext uri="{FF2B5EF4-FFF2-40B4-BE49-F238E27FC236}">
                <a16:creationId xmlns:a16="http://schemas.microsoft.com/office/drawing/2014/main" id="{FF23FD38-007D-4F79-919D-26FFBFCC25FC}"/>
              </a:ext>
            </a:extLst>
          </p:cNvPr>
          <p:cNvGraphicFramePr/>
          <p:nvPr>
            <p:extLst>
              <p:ext uri="{D42A27DB-BD31-4B8C-83A1-F6EECF244321}">
                <p14:modId xmlns:p14="http://schemas.microsoft.com/office/powerpoint/2010/main" val="3619994211"/>
              </p:ext>
            </p:extLst>
          </p:nvPr>
        </p:nvGraphicFramePr>
        <p:xfrm>
          <a:off x="872522" y="2156487"/>
          <a:ext cx="10147789" cy="369938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 name="Tabela 1">
            <a:extLst>
              <a:ext uri="{FF2B5EF4-FFF2-40B4-BE49-F238E27FC236}">
                <a16:creationId xmlns:a16="http://schemas.microsoft.com/office/drawing/2014/main" id="{B2D25F75-883D-3139-842F-4F3580081495}"/>
              </a:ext>
            </a:extLst>
          </p:cNvPr>
          <p:cNvGraphicFramePr>
            <a:graphicFrameLocks noGrp="1"/>
          </p:cNvGraphicFramePr>
          <p:nvPr>
            <p:extLst>
              <p:ext uri="{D42A27DB-BD31-4B8C-83A1-F6EECF244321}">
                <p14:modId xmlns:p14="http://schemas.microsoft.com/office/powerpoint/2010/main" val="3519620250"/>
              </p:ext>
            </p:extLst>
          </p:nvPr>
        </p:nvGraphicFramePr>
        <p:xfrm>
          <a:off x="344654" y="3861107"/>
          <a:ext cx="10515600" cy="365760"/>
        </p:xfrm>
        <a:graphic>
          <a:graphicData uri="http://schemas.openxmlformats.org/drawingml/2006/table">
            <a:tbl>
              <a:tblPr/>
              <a:tblGrid>
                <a:gridCol w="10515600">
                  <a:extLst>
                    <a:ext uri="{9D8B030D-6E8A-4147-A177-3AD203B41FA5}">
                      <a16:colId xmlns:a16="http://schemas.microsoft.com/office/drawing/2014/main" val="3279601065"/>
                    </a:ext>
                  </a:extLst>
                </a:gridCol>
              </a:tblGrid>
              <a:tr h="0">
                <a:tc>
                  <a:txBody>
                    <a:bodyPr/>
                    <a:lstStyle/>
                    <a:p>
                      <a:pPr>
                        <a:buNone/>
                      </a:pPr>
                      <a:endParaRPr lang="pt-BR" dirty="0"/>
                    </a:p>
                  </a:txBody>
                  <a:tcPr anchor="ctr">
                    <a:lnL>
                      <a:noFill/>
                    </a:lnL>
                    <a:lnR>
                      <a:noFill/>
                    </a:lnR>
                    <a:lnT>
                      <a:noFill/>
                    </a:lnT>
                    <a:lnB>
                      <a:noFill/>
                    </a:lnB>
                    <a:noFill/>
                  </a:tcPr>
                </a:tc>
                <a:extLst>
                  <a:ext uri="{0D108BD9-81ED-4DB2-BD59-A6C34878D82A}">
                    <a16:rowId xmlns:a16="http://schemas.microsoft.com/office/drawing/2014/main" val="814530470"/>
                  </a:ext>
                </a:extLst>
              </a:tr>
            </a:tbl>
          </a:graphicData>
        </a:graphic>
      </p:graphicFrame>
      <p:sp>
        <p:nvSpPr>
          <p:cNvPr id="3" name="CaixaDeTexto 2">
            <a:extLst>
              <a:ext uri="{FF2B5EF4-FFF2-40B4-BE49-F238E27FC236}">
                <a16:creationId xmlns:a16="http://schemas.microsoft.com/office/drawing/2014/main" id="{419B07EB-BC01-25DE-DC02-A86C1BE9621A}"/>
              </a:ext>
            </a:extLst>
          </p:cNvPr>
          <p:cNvSpPr txBox="1"/>
          <p:nvPr/>
        </p:nvSpPr>
        <p:spPr>
          <a:xfrm>
            <a:off x="10850607" y="3167388"/>
            <a:ext cx="994913" cy="1981183"/>
          </a:xfrm>
          <a:prstGeom prst="rect">
            <a:avLst/>
          </a:prstGeom>
          <a:noFill/>
        </p:spPr>
        <p:txBody>
          <a:bodyPr wrap="square" rtlCol="0">
            <a:spAutoFit/>
          </a:bodyPr>
          <a:lstStyle/>
          <a:p>
            <a:pPr>
              <a:lnSpc>
                <a:spcPct val="200000"/>
              </a:lnSpc>
            </a:pPr>
            <a:r>
              <a:rPr lang="pt-BR" sz="1050" dirty="0">
                <a:solidFill>
                  <a:schemeClr val="tx1">
                    <a:lumMod val="75000"/>
                    <a:lumOff val="25000"/>
                  </a:schemeClr>
                </a:solidFill>
                <a:latin typeface="Arial" panose="020B0604020202020204" pitchFamily="34" charset="0"/>
                <a:cs typeface="Arial" panose="020B0604020202020204" pitchFamily="34" charset="0"/>
              </a:rPr>
              <a:t>12,5%</a:t>
            </a:r>
          </a:p>
          <a:p>
            <a:pPr>
              <a:lnSpc>
                <a:spcPct val="200000"/>
              </a:lnSpc>
            </a:pPr>
            <a:r>
              <a:rPr lang="pt-BR" sz="1050" dirty="0">
                <a:solidFill>
                  <a:schemeClr val="tx1">
                    <a:lumMod val="75000"/>
                    <a:lumOff val="25000"/>
                  </a:schemeClr>
                </a:solidFill>
                <a:latin typeface="Arial" panose="020B0604020202020204" pitchFamily="34" charset="0"/>
                <a:cs typeface="Arial" panose="020B0604020202020204" pitchFamily="34" charset="0"/>
              </a:rPr>
              <a:t>12,5%</a:t>
            </a:r>
          </a:p>
          <a:p>
            <a:pPr>
              <a:lnSpc>
                <a:spcPct val="200000"/>
              </a:lnSpc>
            </a:pPr>
            <a:r>
              <a:rPr lang="pt-BR" sz="1050" dirty="0">
                <a:solidFill>
                  <a:schemeClr val="tx1">
                    <a:lumMod val="75000"/>
                    <a:lumOff val="25000"/>
                  </a:schemeClr>
                </a:solidFill>
                <a:latin typeface="Arial" panose="020B0604020202020204" pitchFamily="34" charset="0"/>
                <a:cs typeface="Arial" panose="020B0604020202020204" pitchFamily="34" charset="0"/>
              </a:rPr>
              <a:t>12,5%</a:t>
            </a:r>
          </a:p>
          <a:p>
            <a:pPr>
              <a:lnSpc>
                <a:spcPct val="200000"/>
              </a:lnSpc>
            </a:pPr>
            <a:r>
              <a:rPr lang="pt-BR" sz="1050" dirty="0">
                <a:solidFill>
                  <a:schemeClr val="tx1">
                    <a:lumMod val="75000"/>
                    <a:lumOff val="25000"/>
                  </a:schemeClr>
                </a:solidFill>
                <a:latin typeface="Arial" panose="020B0604020202020204" pitchFamily="34" charset="0"/>
                <a:cs typeface="Arial" panose="020B0604020202020204" pitchFamily="34" charset="0"/>
              </a:rPr>
              <a:t>12,5%</a:t>
            </a:r>
          </a:p>
          <a:p>
            <a:pPr>
              <a:lnSpc>
                <a:spcPct val="200000"/>
              </a:lnSpc>
            </a:pPr>
            <a:r>
              <a:rPr lang="pt-BR" sz="1050" dirty="0">
                <a:solidFill>
                  <a:schemeClr val="tx1">
                    <a:lumMod val="75000"/>
                    <a:lumOff val="25000"/>
                  </a:schemeClr>
                </a:solidFill>
                <a:latin typeface="Arial" panose="020B0604020202020204" pitchFamily="34" charset="0"/>
                <a:cs typeface="Arial" panose="020B0604020202020204" pitchFamily="34" charset="0"/>
              </a:rPr>
              <a:t>25,0%</a:t>
            </a:r>
          </a:p>
          <a:p>
            <a:pPr>
              <a:lnSpc>
                <a:spcPct val="200000"/>
              </a:lnSpc>
            </a:pPr>
            <a:r>
              <a:rPr lang="pt-BR" sz="1050" dirty="0">
                <a:solidFill>
                  <a:schemeClr val="tx1">
                    <a:lumMod val="75000"/>
                    <a:lumOff val="25000"/>
                  </a:schemeClr>
                </a:solidFill>
                <a:latin typeface="Arial" panose="020B0604020202020204" pitchFamily="34" charset="0"/>
                <a:cs typeface="Arial" panose="020B0604020202020204" pitchFamily="34" charset="0"/>
              </a:rPr>
              <a:t>25,0%</a:t>
            </a:r>
          </a:p>
        </p:txBody>
      </p:sp>
      <p:sp>
        <p:nvSpPr>
          <p:cNvPr id="4" name="Título 1">
            <a:extLst>
              <a:ext uri="{FF2B5EF4-FFF2-40B4-BE49-F238E27FC236}">
                <a16:creationId xmlns:a16="http://schemas.microsoft.com/office/drawing/2014/main" id="{B9B212F3-342C-E593-E46E-2F252E5DC120}"/>
              </a:ext>
            </a:extLst>
          </p:cNvPr>
          <p:cNvSpPr txBox="1">
            <a:spLocks/>
          </p:cNvSpPr>
          <p:nvPr/>
        </p:nvSpPr>
        <p:spPr>
          <a:xfrm>
            <a:off x="8251372" y="5948511"/>
            <a:ext cx="3594148" cy="37779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pt-BR" sz="1600" spc="600" dirty="0">
                <a:solidFill>
                  <a:srgbClr val="9E2289"/>
                </a:solidFill>
                <a:latin typeface="Arial" panose="020B0604020202020204" pitchFamily="34" charset="0"/>
                <a:cs typeface="Arial" panose="020B0604020202020204" pitchFamily="34" charset="0"/>
              </a:rPr>
              <a:t> </a:t>
            </a:r>
            <a:r>
              <a:rPr lang="pt-BR" sz="1000" spc="300" dirty="0">
                <a:solidFill>
                  <a:srgbClr val="00B0F0"/>
                </a:solidFill>
                <a:latin typeface="Arial" panose="020B0604020202020204" pitchFamily="34" charset="0"/>
                <a:cs typeface="Arial" panose="020B0604020202020204" pitchFamily="34" charset="0"/>
              </a:rPr>
              <a:t>Total Apontamentos:08</a:t>
            </a:r>
            <a:endParaRPr lang="pt-BR" sz="1600" spc="300" dirty="0">
              <a:solidFill>
                <a:srgbClr val="00B0F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890993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4B22C-6697-9DA6-D8EA-8F994F01A860}"/>
            </a:ext>
          </a:extLst>
        </p:cNvPr>
        <p:cNvGrpSpPr/>
        <p:nvPr/>
      </p:nvGrpSpPr>
      <p:grpSpPr>
        <a:xfrm>
          <a:off x="0" y="0"/>
          <a:ext cx="0" cy="0"/>
          <a:chOff x="0" y="0"/>
          <a:chExt cx="0" cy="0"/>
        </a:xfrm>
      </p:grpSpPr>
      <p:sp>
        <p:nvSpPr>
          <p:cNvPr id="10" name="Retângulo: Cantos Arredondados 9">
            <a:extLst>
              <a:ext uri="{FF2B5EF4-FFF2-40B4-BE49-F238E27FC236}">
                <a16:creationId xmlns:a16="http://schemas.microsoft.com/office/drawing/2014/main" id="{FCF841FD-D6A3-8F06-2B50-043EEAC0037C}"/>
              </a:ext>
            </a:extLst>
          </p:cNvPr>
          <p:cNvSpPr/>
          <p:nvPr/>
        </p:nvSpPr>
        <p:spPr>
          <a:xfrm>
            <a:off x="3704152" y="4467522"/>
            <a:ext cx="5154836" cy="2107017"/>
          </a:xfrm>
          <a:prstGeom prst="roundRect">
            <a:avLst/>
          </a:prstGeom>
          <a:solidFill>
            <a:schemeClr val="bg1">
              <a:lumMod val="95000"/>
            </a:schemeClr>
          </a:solidFill>
          <a:ln>
            <a:noFill/>
          </a:ln>
          <a:effectLst>
            <a:outerShdw dist="101600" dir="10740000" algn="t" rotWithShape="0">
              <a:srgbClr val="00B0F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 name="Retângulo: Cantos Arredondados 8">
            <a:extLst>
              <a:ext uri="{FF2B5EF4-FFF2-40B4-BE49-F238E27FC236}">
                <a16:creationId xmlns:a16="http://schemas.microsoft.com/office/drawing/2014/main" id="{600C7E33-A09F-6142-79B8-285A9643B9EF}"/>
              </a:ext>
            </a:extLst>
          </p:cNvPr>
          <p:cNvSpPr/>
          <p:nvPr/>
        </p:nvSpPr>
        <p:spPr>
          <a:xfrm>
            <a:off x="6520598" y="1775631"/>
            <a:ext cx="4402601" cy="2107017"/>
          </a:xfrm>
          <a:prstGeom prst="roundRect">
            <a:avLst/>
          </a:prstGeom>
          <a:solidFill>
            <a:schemeClr val="bg1">
              <a:lumMod val="95000"/>
            </a:schemeClr>
          </a:solidFill>
          <a:ln>
            <a:noFill/>
          </a:ln>
          <a:effectLst>
            <a:outerShdw dist="101600" dir="10740000" algn="t" rotWithShape="0">
              <a:srgbClr val="00B0F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7" name="Retângulo: Cantos Arredondados 6">
            <a:extLst>
              <a:ext uri="{FF2B5EF4-FFF2-40B4-BE49-F238E27FC236}">
                <a16:creationId xmlns:a16="http://schemas.microsoft.com/office/drawing/2014/main" id="{8AE7CBB1-C801-9A64-1C93-5722C65722E9}"/>
              </a:ext>
            </a:extLst>
          </p:cNvPr>
          <p:cNvSpPr/>
          <p:nvPr/>
        </p:nvSpPr>
        <p:spPr>
          <a:xfrm>
            <a:off x="1025019" y="1763267"/>
            <a:ext cx="4402601" cy="2107017"/>
          </a:xfrm>
          <a:prstGeom prst="roundRect">
            <a:avLst/>
          </a:prstGeom>
          <a:solidFill>
            <a:schemeClr val="bg1">
              <a:lumMod val="95000"/>
            </a:schemeClr>
          </a:solidFill>
          <a:ln>
            <a:noFill/>
          </a:ln>
          <a:effectLst>
            <a:outerShdw dist="101600" dir="10740000" algn="t" rotWithShape="0">
              <a:srgbClr val="00B0F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39" name="Imagem 38">
            <a:extLst>
              <a:ext uri="{FF2B5EF4-FFF2-40B4-BE49-F238E27FC236}">
                <a16:creationId xmlns:a16="http://schemas.microsoft.com/office/drawing/2014/main" id="{368A9CF4-CC84-AA50-8216-D646C17E0B9E}"/>
              </a:ext>
            </a:extLst>
          </p:cNvPr>
          <p:cNvPicPr>
            <a:picLocks noChangeAspect="1"/>
          </p:cNvPicPr>
          <p:nvPr/>
        </p:nvPicPr>
        <p:blipFill>
          <a:blip r:embed="rId2">
            <a:alphaModFix amt="4000"/>
          </a:blip>
          <a:stretch>
            <a:fillRect/>
          </a:stretch>
        </p:blipFill>
        <p:spPr>
          <a:xfrm>
            <a:off x="9157251" y="4596063"/>
            <a:ext cx="5030445" cy="5148116"/>
          </a:xfrm>
          <a:prstGeom prst="rect">
            <a:avLst/>
          </a:prstGeom>
          <a:effectLst/>
        </p:spPr>
      </p:pic>
      <p:pic>
        <p:nvPicPr>
          <p:cNvPr id="38" name="Imagem 37">
            <a:extLst>
              <a:ext uri="{FF2B5EF4-FFF2-40B4-BE49-F238E27FC236}">
                <a16:creationId xmlns:a16="http://schemas.microsoft.com/office/drawing/2014/main" id="{63D5B58F-4999-9D07-72F0-442F0231F978}"/>
              </a:ext>
            </a:extLst>
          </p:cNvPr>
          <p:cNvPicPr>
            <a:picLocks noChangeAspect="1"/>
          </p:cNvPicPr>
          <p:nvPr/>
        </p:nvPicPr>
        <p:blipFill>
          <a:blip r:embed="rId2">
            <a:alphaModFix amt="4000"/>
          </a:blip>
          <a:stretch>
            <a:fillRect/>
          </a:stretch>
        </p:blipFill>
        <p:spPr>
          <a:xfrm>
            <a:off x="-2128370" y="-2021305"/>
            <a:ext cx="5030445" cy="5148116"/>
          </a:xfrm>
          <a:prstGeom prst="rect">
            <a:avLst/>
          </a:prstGeom>
          <a:effectLst/>
        </p:spPr>
      </p:pic>
      <p:grpSp>
        <p:nvGrpSpPr>
          <p:cNvPr id="20" name="Google Shape;1964;p50">
            <a:extLst>
              <a:ext uri="{FF2B5EF4-FFF2-40B4-BE49-F238E27FC236}">
                <a16:creationId xmlns:a16="http://schemas.microsoft.com/office/drawing/2014/main" id="{B0244B0C-6F38-6F31-5E0A-084943EFF9D1}"/>
              </a:ext>
            </a:extLst>
          </p:cNvPr>
          <p:cNvGrpSpPr/>
          <p:nvPr/>
        </p:nvGrpSpPr>
        <p:grpSpPr>
          <a:xfrm flipH="1">
            <a:off x="742950" y="537670"/>
            <a:ext cx="603644" cy="576232"/>
            <a:chOff x="4126815" y="2760704"/>
            <a:chExt cx="380393" cy="363118"/>
          </a:xfrm>
          <a:solidFill>
            <a:srgbClr val="0B5892"/>
          </a:solidFill>
        </p:grpSpPr>
        <p:sp>
          <p:nvSpPr>
            <p:cNvPr id="21" name="Google Shape;1965;p50">
              <a:extLst>
                <a:ext uri="{FF2B5EF4-FFF2-40B4-BE49-F238E27FC236}">
                  <a16:creationId xmlns:a16="http://schemas.microsoft.com/office/drawing/2014/main" id="{DB0F5260-2B9B-D554-FF88-B1D55E63B900}"/>
                </a:ext>
              </a:extLst>
            </p:cNvPr>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966;p50">
              <a:extLst>
                <a:ext uri="{FF2B5EF4-FFF2-40B4-BE49-F238E27FC236}">
                  <a16:creationId xmlns:a16="http://schemas.microsoft.com/office/drawing/2014/main" id="{80CFCEA3-2258-DDA8-EEA7-21370CB7FA61}"/>
                </a:ext>
              </a:extLst>
            </p:cNvPr>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967;p50">
              <a:extLst>
                <a:ext uri="{FF2B5EF4-FFF2-40B4-BE49-F238E27FC236}">
                  <a16:creationId xmlns:a16="http://schemas.microsoft.com/office/drawing/2014/main" id="{46B4F23E-D31F-8708-7010-4953B23BA7E6}"/>
                </a:ext>
              </a:extLst>
            </p:cNvPr>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968;p50">
              <a:extLst>
                <a:ext uri="{FF2B5EF4-FFF2-40B4-BE49-F238E27FC236}">
                  <a16:creationId xmlns:a16="http://schemas.microsoft.com/office/drawing/2014/main" id="{B6DBD913-2DF8-55C4-D700-ED6D9C311043}"/>
                </a:ext>
              </a:extLst>
            </p:cNvPr>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Retângulo 28">
            <a:extLst>
              <a:ext uri="{FF2B5EF4-FFF2-40B4-BE49-F238E27FC236}">
                <a16:creationId xmlns:a16="http://schemas.microsoft.com/office/drawing/2014/main" id="{02058674-879C-B348-E865-C3A294ADE32D}"/>
              </a:ext>
            </a:extLst>
          </p:cNvPr>
          <p:cNvSpPr/>
          <p:nvPr/>
        </p:nvSpPr>
        <p:spPr>
          <a:xfrm>
            <a:off x="-449179" y="6707874"/>
            <a:ext cx="14054469" cy="33461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8" name="Imagem 7">
            <a:extLst>
              <a:ext uri="{FF2B5EF4-FFF2-40B4-BE49-F238E27FC236}">
                <a16:creationId xmlns:a16="http://schemas.microsoft.com/office/drawing/2014/main" id="{E6F85C31-880D-42E3-749D-86D938A67175}"/>
              </a:ext>
            </a:extLst>
          </p:cNvPr>
          <p:cNvPicPr>
            <a:picLocks noChangeAspect="1"/>
          </p:cNvPicPr>
          <p:nvPr/>
        </p:nvPicPr>
        <p:blipFill>
          <a:blip r:embed="rId3"/>
          <a:stretch>
            <a:fillRect/>
          </a:stretch>
        </p:blipFill>
        <p:spPr>
          <a:xfrm>
            <a:off x="-124691" y="-20995"/>
            <a:ext cx="12316692" cy="88042"/>
          </a:xfrm>
          <a:prstGeom prst="rect">
            <a:avLst/>
          </a:prstGeom>
        </p:spPr>
      </p:pic>
      <p:sp>
        <p:nvSpPr>
          <p:cNvPr id="18" name="Título 1">
            <a:extLst>
              <a:ext uri="{FF2B5EF4-FFF2-40B4-BE49-F238E27FC236}">
                <a16:creationId xmlns:a16="http://schemas.microsoft.com/office/drawing/2014/main" id="{A3E29AEB-68BE-51EB-6652-F2EDD4230F6C}"/>
              </a:ext>
            </a:extLst>
          </p:cNvPr>
          <p:cNvSpPr txBox="1">
            <a:spLocks/>
          </p:cNvSpPr>
          <p:nvPr/>
        </p:nvSpPr>
        <p:spPr>
          <a:xfrm>
            <a:off x="1366068" y="448718"/>
            <a:ext cx="6453099"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spc="600" dirty="0">
                <a:solidFill>
                  <a:srgbClr val="0B5892"/>
                </a:solidFill>
                <a:latin typeface="Arial" panose="020B0604020202020204" pitchFamily="34" charset="0"/>
                <a:cs typeface="Arial" panose="020B0604020202020204" pitchFamily="34" charset="0"/>
              </a:rPr>
              <a:t>RANKING DE DESEMPENHO</a:t>
            </a:r>
          </a:p>
        </p:txBody>
      </p:sp>
      <p:sp>
        <p:nvSpPr>
          <p:cNvPr id="19" name="Título 1">
            <a:extLst>
              <a:ext uri="{FF2B5EF4-FFF2-40B4-BE49-F238E27FC236}">
                <a16:creationId xmlns:a16="http://schemas.microsoft.com/office/drawing/2014/main" id="{FC279BA7-3626-3402-EEE4-AD032E2CEA06}"/>
              </a:ext>
            </a:extLst>
          </p:cNvPr>
          <p:cNvSpPr txBox="1">
            <a:spLocks/>
          </p:cNvSpPr>
          <p:nvPr/>
        </p:nvSpPr>
        <p:spPr>
          <a:xfrm>
            <a:off x="1400358" y="716411"/>
            <a:ext cx="6950456"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600" spc="300" dirty="0">
                <a:solidFill>
                  <a:srgbClr val="0B5892"/>
                </a:solidFill>
                <a:latin typeface="Arial" panose="020B0604020202020204" pitchFamily="34" charset="0"/>
                <a:cs typeface="Arial" panose="020B0604020202020204" pitchFamily="34" charset="0"/>
              </a:rPr>
              <a:t>Quantidade total de monitorias realizadas</a:t>
            </a:r>
          </a:p>
        </p:txBody>
      </p:sp>
      <p:cxnSp>
        <p:nvCxnSpPr>
          <p:cNvPr id="25" name="Conector reto 24">
            <a:extLst>
              <a:ext uri="{FF2B5EF4-FFF2-40B4-BE49-F238E27FC236}">
                <a16:creationId xmlns:a16="http://schemas.microsoft.com/office/drawing/2014/main" id="{35A60949-8D94-B796-C9BC-048073F60101}"/>
              </a:ext>
            </a:extLst>
          </p:cNvPr>
          <p:cNvCxnSpPr/>
          <p:nvPr/>
        </p:nvCxnSpPr>
        <p:spPr>
          <a:xfrm>
            <a:off x="725988" y="1185955"/>
            <a:ext cx="9855200" cy="0"/>
          </a:xfrm>
          <a:prstGeom prst="line">
            <a:avLst/>
          </a:prstGeom>
          <a:ln>
            <a:solidFill>
              <a:srgbClr val="0B5892"/>
            </a:solidFill>
          </a:ln>
        </p:spPr>
        <p:style>
          <a:lnRef idx="1">
            <a:schemeClr val="accent1"/>
          </a:lnRef>
          <a:fillRef idx="0">
            <a:schemeClr val="accent1"/>
          </a:fillRef>
          <a:effectRef idx="0">
            <a:schemeClr val="accent1"/>
          </a:effectRef>
          <a:fontRef idx="minor">
            <a:schemeClr val="tx1"/>
          </a:fontRef>
        </p:style>
      </p:cxnSp>
      <p:sp>
        <p:nvSpPr>
          <p:cNvPr id="72" name="CaixaDeTexto 71">
            <a:extLst>
              <a:ext uri="{FF2B5EF4-FFF2-40B4-BE49-F238E27FC236}">
                <a16:creationId xmlns:a16="http://schemas.microsoft.com/office/drawing/2014/main" id="{1E9EE080-9DCB-AA6A-3852-B925F28EE026}"/>
              </a:ext>
            </a:extLst>
          </p:cNvPr>
          <p:cNvSpPr txBox="1"/>
          <p:nvPr/>
        </p:nvSpPr>
        <p:spPr>
          <a:xfrm>
            <a:off x="6921500" y="1620502"/>
            <a:ext cx="3659688" cy="307777"/>
          </a:xfrm>
          <a:prstGeom prst="rect">
            <a:avLst/>
          </a:prstGeom>
          <a:solidFill>
            <a:schemeClr val="accent5">
              <a:lumMod val="20000"/>
              <a:lumOff val="80000"/>
            </a:schemeClr>
          </a:solidFill>
        </p:spPr>
        <p:txBody>
          <a:bodyPr wrap="square" rtlCol="0">
            <a:spAutoFit/>
          </a:bodyPr>
          <a:lstStyle/>
          <a:p>
            <a:pPr algn="ctr"/>
            <a:r>
              <a:rPr lang="pt-BR" sz="1400" b="1" dirty="0">
                <a:solidFill>
                  <a:srgbClr val="00B0F0"/>
                </a:solidFill>
                <a:latin typeface="Arial" panose="020B0604020202020204" pitchFamily="34" charset="0"/>
                <a:cs typeface="Arial" panose="020B0604020202020204" pitchFamily="34" charset="0"/>
              </a:rPr>
              <a:t>Iniciou atendimento em 5 segundos:</a:t>
            </a:r>
          </a:p>
        </p:txBody>
      </p:sp>
      <p:sp>
        <p:nvSpPr>
          <p:cNvPr id="2" name="CaixaDeTexto 1">
            <a:extLst>
              <a:ext uri="{FF2B5EF4-FFF2-40B4-BE49-F238E27FC236}">
                <a16:creationId xmlns:a16="http://schemas.microsoft.com/office/drawing/2014/main" id="{084B572B-2C1B-1084-96A6-45EC6B73238D}"/>
              </a:ext>
            </a:extLst>
          </p:cNvPr>
          <p:cNvSpPr txBox="1"/>
          <p:nvPr/>
        </p:nvSpPr>
        <p:spPr>
          <a:xfrm>
            <a:off x="1431436" y="1336969"/>
            <a:ext cx="6064238" cy="307777"/>
          </a:xfrm>
          <a:prstGeom prst="rect">
            <a:avLst/>
          </a:prstGeom>
          <a:noFill/>
        </p:spPr>
        <p:txBody>
          <a:bodyPr wrap="square" rtlCol="0">
            <a:spAutoFit/>
          </a:bodyPr>
          <a:lstStyle/>
          <a:p>
            <a:r>
              <a:rPr lang="pt-BR" sz="1400" b="1" dirty="0">
                <a:solidFill>
                  <a:schemeClr val="tx1">
                    <a:lumMod val="50000"/>
                    <a:lumOff val="50000"/>
                  </a:schemeClr>
                </a:solidFill>
                <a:latin typeface="Arial" panose="020B0604020202020204" pitchFamily="34" charset="0"/>
                <a:cs typeface="Arial" panose="020B0604020202020204" pitchFamily="34" charset="0"/>
              </a:rPr>
              <a:t>Análises dos Pontos Ofensores</a:t>
            </a:r>
          </a:p>
        </p:txBody>
      </p:sp>
      <p:sp>
        <p:nvSpPr>
          <p:cNvPr id="4" name="CaixaDeTexto 3">
            <a:extLst>
              <a:ext uri="{FF2B5EF4-FFF2-40B4-BE49-F238E27FC236}">
                <a16:creationId xmlns:a16="http://schemas.microsoft.com/office/drawing/2014/main" id="{4E48DB1D-0C9A-AEB7-7682-2DA0F8BE56DC}"/>
              </a:ext>
            </a:extLst>
          </p:cNvPr>
          <p:cNvSpPr txBox="1"/>
          <p:nvPr/>
        </p:nvSpPr>
        <p:spPr>
          <a:xfrm>
            <a:off x="1366068" y="2056613"/>
            <a:ext cx="3748857" cy="276999"/>
          </a:xfrm>
          <a:prstGeom prst="rect">
            <a:avLst/>
          </a:prstGeom>
          <a:noFill/>
        </p:spPr>
        <p:txBody>
          <a:bodyPr wrap="square" rtlCol="0">
            <a:spAutoFit/>
          </a:bodyPr>
          <a:lstStyle/>
          <a:p>
            <a:pPr algn="just"/>
            <a:r>
              <a:rPr lang="pt-BR" sz="1200" dirty="0">
                <a:solidFill>
                  <a:srgbClr val="FF0000"/>
                </a:solidFill>
                <a:latin typeface="Arial" panose="020B0604020202020204" pitchFamily="34" charset="0"/>
                <a:cs typeface="Arial" panose="020B0604020202020204" pitchFamily="34" charset="0"/>
              </a:rPr>
              <a:t>.</a:t>
            </a:r>
          </a:p>
        </p:txBody>
      </p:sp>
      <p:sp>
        <p:nvSpPr>
          <p:cNvPr id="30" name="CaixaDeTexto 29">
            <a:extLst>
              <a:ext uri="{FF2B5EF4-FFF2-40B4-BE49-F238E27FC236}">
                <a16:creationId xmlns:a16="http://schemas.microsoft.com/office/drawing/2014/main" id="{9136959F-3331-4D22-73E8-C87095446177}"/>
              </a:ext>
            </a:extLst>
          </p:cNvPr>
          <p:cNvSpPr txBox="1"/>
          <p:nvPr/>
        </p:nvSpPr>
        <p:spPr>
          <a:xfrm>
            <a:off x="1453209" y="1620502"/>
            <a:ext cx="3287486" cy="307777"/>
          </a:xfrm>
          <a:prstGeom prst="rect">
            <a:avLst/>
          </a:prstGeom>
          <a:solidFill>
            <a:schemeClr val="accent5">
              <a:lumMod val="20000"/>
              <a:lumOff val="80000"/>
            </a:schemeClr>
          </a:solidFill>
        </p:spPr>
        <p:txBody>
          <a:bodyPr wrap="square" rtlCol="0">
            <a:spAutoFit/>
          </a:bodyPr>
          <a:lstStyle/>
          <a:p>
            <a:pPr algn="ctr"/>
            <a:r>
              <a:rPr lang="pt-BR" sz="1400" b="1" dirty="0">
                <a:solidFill>
                  <a:srgbClr val="00B0F0"/>
                </a:solidFill>
                <a:latin typeface="Arial" panose="020B0604020202020204" pitchFamily="34" charset="0"/>
                <a:cs typeface="Arial" panose="020B0604020202020204" pitchFamily="34" charset="0"/>
              </a:rPr>
              <a:t>Domínio do tema : </a:t>
            </a:r>
          </a:p>
        </p:txBody>
      </p:sp>
      <p:sp>
        <p:nvSpPr>
          <p:cNvPr id="43" name="CaixaDeTexto 42">
            <a:extLst>
              <a:ext uri="{FF2B5EF4-FFF2-40B4-BE49-F238E27FC236}">
                <a16:creationId xmlns:a16="http://schemas.microsoft.com/office/drawing/2014/main" id="{7811B18E-2609-4AA3-EE48-10B4BE994BF5}"/>
              </a:ext>
            </a:extLst>
          </p:cNvPr>
          <p:cNvSpPr txBox="1"/>
          <p:nvPr/>
        </p:nvSpPr>
        <p:spPr>
          <a:xfrm>
            <a:off x="4447909" y="4235339"/>
            <a:ext cx="3287486" cy="307777"/>
          </a:xfrm>
          <a:prstGeom prst="rect">
            <a:avLst/>
          </a:prstGeom>
          <a:solidFill>
            <a:schemeClr val="accent5">
              <a:lumMod val="20000"/>
              <a:lumOff val="80000"/>
            </a:schemeClr>
          </a:solidFill>
        </p:spPr>
        <p:txBody>
          <a:bodyPr wrap="square" rtlCol="0">
            <a:spAutoFit/>
          </a:bodyPr>
          <a:lstStyle/>
          <a:p>
            <a:pPr algn="ctr"/>
            <a:r>
              <a:rPr lang="pt-BR" sz="1400" b="1" dirty="0">
                <a:solidFill>
                  <a:srgbClr val="00B0F0"/>
                </a:solidFill>
                <a:latin typeface="Arial" panose="020B0604020202020204" pitchFamily="34" charset="0"/>
                <a:cs typeface="Arial" panose="020B0604020202020204" pitchFamily="34" charset="0"/>
              </a:rPr>
              <a:t>Proatividade:</a:t>
            </a:r>
          </a:p>
        </p:txBody>
      </p:sp>
      <p:sp>
        <p:nvSpPr>
          <p:cNvPr id="52" name="CaixaDeTexto 51">
            <a:extLst>
              <a:ext uri="{FF2B5EF4-FFF2-40B4-BE49-F238E27FC236}">
                <a16:creationId xmlns:a16="http://schemas.microsoft.com/office/drawing/2014/main" id="{43453C1B-E0C6-9B3A-52C8-09A9BFB68E81}"/>
              </a:ext>
            </a:extLst>
          </p:cNvPr>
          <p:cNvSpPr txBox="1"/>
          <p:nvPr/>
        </p:nvSpPr>
        <p:spPr>
          <a:xfrm>
            <a:off x="6868892" y="2033064"/>
            <a:ext cx="3764904" cy="1015663"/>
          </a:xfrm>
          <a:prstGeom prst="rect">
            <a:avLst/>
          </a:prstGeom>
          <a:noFill/>
        </p:spPr>
        <p:txBody>
          <a:bodyPr wrap="square" rtlCol="0">
            <a:spAutoFit/>
          </a:bodyPr>
          <a:lstStyle/>
          <a:p>
            <a:pPr algn="just"/>
            <a:endParaRPr lang="pt-BR" sz="1200" dirty="0">
              <a:solidFill>
                <a:schemeClr val="tx1">
                  <a:lumMod val="65000"/>
                  <a:lumOff val="35000"/>
                </a:schemeClr>
              </a:solidFill>
              <a:latin typeface="Arial" panose="020B0604020202020204" pitchFamily="34" charset="0"/>
              <a:cs typeface="Arial" panose="020B0604020202020204" pitchFamily="34" charset="0"/>
            </a:endParaRPr>
          </a:p>
          <a:p>
            <a:pPr algn="just"/>
            <a:r>
              <a:rPr lang="pt-BR" sz="1200" dirty="0">
                <a:solidFill>
                  <a:schemeClr val="tx1">
                    <a:lumMod val="65000"/>
                    <a:lumOff val="35000"/>
                  </a:schemeClr>
                </a:solidFill>
                <a:latin typeface="Arial" panose="020B0604020202020204" pitchFamily="34" charset="0"/>
                <a:cs typeface="Arial" panose="020B0604020202020204" pitchFamily="34" charset="0"/>
              </a:rPr>
              <a:t>Foram identificadas oportunidades relacionadas ao tempo de início do atendimento, ambas pelo mesmo motivo: o atendimento foi iniciado apenas aos 11 segundos.</a:t>
            </a:r>
          </a:p>
        </p:txBody>
      </p:sp>
      <p:sp>
        <p:nvSpPr>
          <p:cNvPr id="53" name="CaixaDeTexto 52">
            <a:extLst>
              <a:ext uri="{FF2B5EF4-FFF2-40B4-BE49-F238E27FC236}">
                <a16:creationId xmlns:a16="http://schemas.microsoft.com/office/drawing/2014/main" id="{91731DE5-335C-808A-B2E7-56EA2EA7967C}"/>
              </a:ext>
            </a:extLst>
          </p:cNvPr>
          <p:cNvSpPr txBox="1"/>
          <p:nvPr/>
        </p:nvSpPr>
        <p:spPr>
          <a:xfrm>
            <a:off x="3943158" y="4840713"/>
            <a:ext cx="4407656" cy="1015663"/>
          </a:xfrm>
          <a:prstGeom prst="rect">
            <a:avLst/>
          </a:prstGeom>
          <a:noFill/>
        </p:spPr>
        <p:txBody>
          <a:bodyPr wrap="square" rtlCol="0">
            <a:spAutoFit/>
          </a:bodyPr>
          <a:lstStyle/>
          <a:p>
            <a:pPr algn="just"/>
            <a:r>
              <a:rPr lang="pt-BR" sz="1200" dirty="0">
                <a:solidFill>
                  <a:schemeClr val="tx1">
                    <a:lumMod val="65000"/>
                    <a:lumOff val="35000"/>
                  </a:schemeClr>
                </a:solidFill>
                <a:latin typeface="Arial" panose="020B0604020202020204" pitchFamily="34" charset="0"/>
                <a:cs typeface="Arial" panose="020B0604020202020204" pitchFamily="34" charset="0"/>
              </a:rPr>
              <a:t>Foi identificada uma oportunidade de realizar uma validação mais completa antes de efetuar a transferência para o canal CRC, garantindo que o direcionamento seja adequado à necessidade apresentada pelo consumidor e contribuindo para um atendimento mais assertivo e eficiente.</a:t>
            </a:r>
            <a:endParaRPr lang="pt-BR" sz="1200" dirty="0">
              <a:solidFill>
                <a:srgbClr val="7F7F7F"/>
              </a:solidFill>
              <a:latin typeface="Arial" panose="020B0604020202020204" pitchFamily="34" charset="0"/>
              <a:cs typeface="Arial" panose="020B0604020202020204" pitchFamily="34" charset="0"/>
            </a:endParaRPr>
          </a:p>
        </p:txBody>
      </p:sp>
      <p:sp>
        <p:nvSpPr>
          <p:cNvPr id="3" name="Título 1">
            <a:extLst>
              <a:ext uri="{FF2B5EF4-FFF2-40B4-BE49-F238E27FC236}">
                <a16:creationId xmlns:a16="http://schemas.microsoft.com/office/drawing/2014/main" id="{C0E2B439-D12F-4FF6-5173-17085B3E197A}"/>
              </a:ext>
            </a:extLst>
          </p:cNvPr>
          <p:cNvSpPr txBox="1">
            <a:spLocks/>
          </p:cNvSpPr>
          <p:nvPr/>
        </p:nvSpPr>
        <p:spPr>
          <a:xfrm>
            <a:off x="5946417" y="431573"/>
            <a:ext cx="5811865"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pt-BR" sz="1600" spc="600" dirty="0">
                <a:solidFill>
                  <a:srgbClr val="00B0F0"/>
                </a:solidFill>
                <a:latin typeface="Arial" panose="020B0604020202020204" pitchFamily="34" charset="0"/>
                <a:cs typeface="Arial" panose="020B0604020202020204" pitchFamily="34" charset="0"/>
              </a:rPr>
              <a:t>CADASTRO POSITIVO</a:t>
            </a:r>
          </a:p>
        </p:txBody>
      </p:sp>
      <p:sp>
        <p:nvSpPr>
          <p:cNvPr id="26" name="CaixaDeTexto 25">
            <a:extLst>
              <a:ext uri="{FF2B5EF4-FFF2-40B4-BE49-F238E27FC236}">
                <a16:creationId xmlns:a16="http://schemas.microsoft.com/office/drawing/2014/main" id="{D5918412-5CA3-4253-880A-49D87BCB72E0}"/>
              </a:ext>
            </a:extLst>
          </p:cNvPr>
          <p:cNvSpPr txBox="1"/>
          <p:nvPr/>
        </p:nvSpPr>
        <p:spPr>
          <a:xfrm>
            <a:off x="1343867" y="2194175"/>
            <a:ext cx="3764904" cy="1200329"/>
          </a:xfrm>
          <a:prstGeom prst="rect">
            <a:avLst/>
          </a:prstGeom>
          <a:noFill/>
        </p:spPr>
        <p:txBody>
          <a:bodyPr wrap="square" rtlCol="0">
            <a:spAutoFit/>
          </a:bodyPr>
          <a:lstStyle/>
          <a:p>
            <a:pPr algn="just"/>
            <a:r>
              <a:rPr lang="pt-BR" sz="1200" dirty="0">
                <a:solidFill>
                  <a:schemeClr val="tx1">
                    <a:lumMod val="65000"/>
                    <a:lumOff val="35000"/>
                  </a:schemeClr>
                </a:solidFill>
                <a:latin typeface="Arial" panose="020B0604020202020204" pitchFamily="34" charset="0"/>
                <a:cs typeface="Arial" panose="020B0604020202020204" pitchFamily="34" charset="0"/>
              </a:rPr>
              <a:t>Foram identificadas oportunidades relacionadas ao repasse de informações sobre os demais produtos da Serasa, principalmente no que se refere aos limites das informações que podem ser comunicadas ao consumidor, conforme os procedimentos e roteiros estabelecidos para cada produto.</a:t>
            </a:r>
          </a:p>
        </p:txBody>
      </p:sp>
    </p:spTree>
    <p:extLst>
      <p:ext uri="{BB962C8B-B14F-4D97-AF65-F5344CB8AC3E}">
        <p14:creationId xmlns:p14="http://schemas.microsoft.com/office/powerpoint/2010/main" val="39751460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Imagem 38">
            <a:extLst>
              <a:ext uri="{FF2B5EF4-FFF2-40B4-BE49-F238E27FC236}">
                <a16:creationId xmlns:a16="http://schemas.microsoft.com/office/drawing/2014/main" id="{8F6A83EB-6687-479D-BD59-51B6B2B8CBF9}"/>
              </a:ext>
            </a:extLst>
          </p:cNvPr>
          <p:cNvPicPr>
            <a:picLocks noChangeAspect="1"/>
          </p:cNvPicPr>
          <p:nvPr/>
        </p:nvPicPr>
        <p:blipFill>
          <a:blip r:embed="rId2">
            <a:alphaModFix amt="4000"/>
          </a:blip>
          <a:stretch>
            <a:fillRect/>
          </a:stretch>
        </p:blipFill>
        <p:spPr>
          <a:xfrm>
            <a:off x="9157251" y="4596063"/>
            <a:ext cx="5030445" cy="5148116"/>
          </a:xfrm>
          <a:prstGeom prst="rect">
            <a:avLst/>
          </a:prstGeom>
          <a:effectLst/>
        </p:spPr>
      </p:pic>
      <p:pic>
        <p:nvPicPr>
          <p:cNvPr id="38" name="Imagem 37">
            <a:extLst>
              <a:ext uri="{FF2B5EF4-FFF2-40B4-BE49-F238E27FC236}">
                <a16:creationId xmlns:a16="http://schemas.microsoft.com/office/drawing/2014/main" id="{DE2A603E-716D-41D5-ABEF-1625839B46A3}"/>
              </a:ext>
            </a:extLst>
          </p:cNvPr>
          <p:cNvPicPr>
            <a:picLocks noChangeAspect="1"/>
          </p:cNvPicPr>
          <p:nvPr/>
        </p:nvPicPr>
        <p:blipFill>
          <a:blip r:embed="rId2">
            <a:alphaModFix amt="4000"/>
          </a:blip>
          <a:stretch>
            <a:fillRect/>
          </a:stretch>
        </p:blipFill>
        <p:spPr>
          <a:xfrm>
            <a:off x="-2128370" y="-2021305"/>
            <a:ext cx="5030445" cy="5148116"/>
          </a:xfrm>
          <a:prstGeom prst="rect">
            <a:avLst/>
          </a:prstGeom>
          <a:effectLst/>
        </p:spPr>
      </p:pic>
      <p:sp>
        <p:nvSpPr>
          <p:cNvPr id="6" name="Título 1">
            <a:extLst>
              <a:ext uri="{FF2B5EF4-FFF2-40B4-BE49-F238E27FC236}">
                <a16:creationId xmlns:a16="http://schemas.microsoft.com/office/drawing/2014/main" id="{F19E4ED5-6191-4819-BC5E-0686AFC2CEAF}"/>
              </a:ext>
            </a:extLst>
          </p:cNvPr>
          <p:cNvSpPr txBox="1">
            <a:spLocks/>
          </p:cNvSpPr>
          <p:nvPr/>
        </p:nvSpPr>
        <p:spPr>
          <a:xfrm>
            <a:off x="5946417" y="431573"/>
            <a:ext cx="5811865"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pt-BR" sz="1600" spc="600" dirty="0">
                <a:solidFill>
                  <a:srgbClr val="00B0F0"/>
                </a:solidFill>
                <a:latin typeface="Arial" panose="020B0604020202020204" pitchFamily="34" charset="0"/>
                <a:cs typeface="Arial" panose="020B0604020202020204" pitchFamily="34" charset="0"/>
              </a:rPr>
              <a:t>CADASTRO POSITIVO</a:t>
            </a:r>
          </a:p>
        </p:txBody>
      </p:sp>
      <p:grpSp>
        <p:nvGrpSpPr>
          <p:cNvPr id="20" name="Google Shape;1964;p50">
            <a:extLst>
              <a:ext uri="{FF2B5EF4-FFF2-40B4-BE49-F238E27FC236}">
                <a16:creationId xmlns:a16="http://schemas.microsoft.com/office/drawing/2014/main" id="{644333FE-63B4-42DF-ADFA-AF9177DF58D7}"/>
              </a:ext>
            </a:extLst>
          </p:cNvPr>
          <p:cNvGrpSpPr/>
          <p:nvPr/>
        </p:nvGrpSpPr>
        <p:grpSpPr>
          <a:xfrm flipH="1">
            <a:off x="742950" y="537670"/>
            <a:ext cx="603644" cy="576232"/>
            <a:chOff x="4126815" y="2760704"/>
            <a:chExt cx="380393" cy="363118"/>
          </a:xfrm>
          <a:solidFill>
            <a:srgbClr val="0B5892"/>
          </a:solidFill>
        </p:grpSpPr>
        <p:sp>
          <p:nvSpPr>
            <p:cNvPr id="21" name="Google Shape;1965;p50">
              <a:extLst>
                <a:ext uri="{FF2B5EF4-FFF2-40B4-BE49-F238E27FC236}">
                  <a16:creationId xmlns:a16="http://schemas.microsoft.com/office/drawing/2014/main" id="{C90A8E2B-6430-4128-93A1-80EDBF3E3BED}"/>
                </a:ext>
              </a:extLst>
            </p:cNvPr>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966;p50">
              <a:extLst>
                <a:ext uri="{FF2B5EF4-FFF2-40B4-BE49-F238E27FC236}">
                  <a16:creationId xmlns:a16="http://schemas.microsoft.com/office/drawing/2014/main" id="{C220A82A-DCEF-47A8-9174-5A849CB2B75F}"/>
                </a:ext>
              </a:extLst>
            </p:cNvPr>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967;p50">
              <a:extLst>
                <a:ext uri="{FF2B5EF4-FFF2-40B4-BE49-F238E27FC236}">
                  <a16:creationId xmlns:a16="http://schemas.microsoft.com/office/drawing/2014/main" id="{446DDA74-F73B-4510-BFCE-608659C3FC02}"/>
                </a:ext>
              </a:extLst>
            </p:cNvPr>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968;p50">
              <a:extLst>
                <a:ext uri="{FF2B5EF4-FFF2-40B4-BE49-F238E27FC236}">
                  <a16:creationId xmlns:a16="http://schemas.microsoft.com/office/drawing/2014/main" id="{487DFEED-06C3-4B9B-9B7A-545AAF95F24C}"/>
                </a:ext>
              </a:extLst>
            </p:cNvPr>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Retângulo 28">
            <a:extLst>
              <a:ext uri="{FF2B5EF4-FFF2-40B4-BE49-F238E27FC236}">
                <a16:creationId xmlns:a16="http://schemas.microsoft.com/office/drawing/2014/main" id="{0BBC58FB-2C41-419E-8246-609C9177CDA9}"/>
              </a:ext>
            </a:extLst>
          </p:cNvPr>
          <p:cNvSpPr/>
          <p:nvPr/>
        </p:nvSpPr>
        <p:spPr>
          <a:xfrm>
            <a:off x="-449179" y="6707874"/>
            <a:ext cx="14054469" cy="33461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 name="Imagem 7">
            <a:extLst>
              <a:ext uri="{FF2B5EF4-FFF2-40B4-BE49-F238E27FC236}">
                <a16:creationId xmlns:a16="http://schemas.microsoft.com/office/drawing/2014/main" id="{55CA91AA-A108-4071-B0A7-0374C74EDA09}"/>
              </a:ext>
            </a:extLst>
          </p:cNvPr>
          <p:cNvPicPr>
            <a:picLocks noChangeAspect="1"/>
          </p:cNvPicPr>
          <p:nvPr/>
        </p:nvPicPr>
        <p:blipFill>
          <a:blip r:embed="rId3"/>
          <a:stretch>
            <a:fillRect/>
          </a:stretch>
        </p:blipFill>
        <p:spPr>
          <a:xfrm>
            <a:off x="-124691" y="-20995"/>
            <a:ext cx="12316692" cy="88042"/>
          </a:xfrm>
          <a:prstGeom prst="rect">
            <a:avLst/>
          </a:prstGeom>
        </p:spPr>
      </p:pic>
      <p:sp>
        <p:nvSpPr>
          <p:cNvPr id="18" name="Título 1">
            <a:extLst>
              <a:ext uri="{FF2B5EF4-FFF2-40B4-BE49-F238E27FC236}">
                <a16:creationId xmlns:a16="http://schemas.microsoft.com/office/drawing/2014/main" id="{9BC75932-B40A-460F-B242-8264BFE06926}"/>
              </a:ext>
            </a:extLst>
          </p:cNvPr>
          <p:cNvSpPr txBox="1">
            <a:spLocks/>
          </p:cNvSpPr>
          <p:nvPr/>
        </p:nvSpPr>
        <p:spPr>
          <a:xfrm>
            <a:off x="1366068" y="448718"/>
            <a:ext cx="6453099"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spc="600" dirty="0">
                <a:solidFill>
                  <a:srgbClr val="0B5892"/>
                </a:solidFill>
                <a:latin typeface="Arial" panose="020B0604020202020204" pitchFamily="34" charset="0"/>
                <a:cs typeface="Arial" panose="020B0604020202020204" pitchFamily="34" charset="0"/>
              </a:rPr>
              <a:t>APLICAÇÃO DE FEEDBACKS</a:t>
            </a:r>
          </a:p>
        </p:txBody>
      </p:sp>
      <p:sp>
        <p:nvSpPr>
          <p:cNvPr id="19" name="Título 1">
            <a:extLst>
              <a:ext uri="{FF2B5EF4-FFF2-40B4-BE49-F238E27FC236}">
                <a16:creationId xmlns:a16="http://schemas.microsoft.com/office/drawing/2014/main" id="{CB92D9AB-3FEB-47AD-8015-DD30B5F902CE}"/>
              </a:ext>
            </a:extLst>
          </p:cNvPr>
          <p:cNvSpPr txBox="1">
            <a:spLocks/>
          </p:cNvSpPr>
          <p:nvPr/>
        </p:nvSpPr>
        <p:spPr>
          <a:xfrm>
            <a:off x="1400358" y="716411"/>
            <a:ext cx="6950456"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600" spc="300" dirty="0">
                <a:solidFill>
                  <a:srgbClr val="0B5892"/>
                </a:solidFill>
                <a:latin typeface="Arial" panose="020B0604020202020204" pitchFamily="34" charset="0"/>
                <a:cs typeface="Arial" panose="020B0604020202020204" pitchFamily="34" charset="0"/>
              </a:rPr>
              <a:t>Quantidade total de monitorias realizadas</a:t>
            </a:r>
          </a:p>
        </p:txBody>
      </p:sp>
      <p:cxnSp>
        <p:nvCxnSpPr>
          <p:cNvPr id="25" name="Conector reto 24">
            <a:extLst>
              <a:ext uri="{FF2B5EF4-FFF2-40B4-BE49-F238E27FC236}">
                <a16:creationId xmlns:a16="http://schemas.microsoft.com/office/drawing/2014/main" id="{C6F5D155-7AE8-4277-A61A-2EF88BF2DADC}"/>
              </a:ext>
            </a:extLst>
          </p:cNvPr>
          <p:cNvCxnSpPr/>
          <p:nvPr/>
        </p:nvCxnSpPr>
        <p:spPr>
          <a:xfrm>
            <a:off x="725988" y="1185955"/>
            <a:ext cx="9855200" cy="0"/>
          </a:xfrm>
          <a:prstGeom prst="line">
            <a:avLst/>
          </a:prstGeom>
          <a:ln>
            <a:solidFill>
              <a:srgbClr val="0B5892"/>
            </a:solidFill>
          </a:ln>
        </p:spPr>
        <p:style>
          <a:lnRef idx="1">
            <a:schemeClr val="accent1"/>
          </a:lnRef>
          <a:fillRef idx="0">
            <a:schemeClr val="accent1"/>
          </a:fillRef>
          <a:effectRef idx="0">
            <a:schemeClr val="accent1"/>
          </a:effectRef>
          <a:fontRef idx="minor">
            <a:schemeClr val="tx1"/>
          </a:fontRef>
        </p:style>
      </p:cxnSp>
      <p:cxnSp>
        <p:nvCxnSpPr>
          <p:cNvPr id="28" name="Conector reto 27">
            <a:extLst>
              <a:ext uri="{FF2B5EF4-FFF2-40B4-BE49-F238E27FC236}">
                <a16:creationId xmlns:a16="http://schemas.microsoft.com/office/drawing/2014/main" id="{AF530EC9-E21D-4CE2-9C84-D2A18F828C6C}"/>
              </a:ext>
            </a:extLst>
          </p:cNvPr>
          <p:cNvCxnSpPr>
            <a:cxnSpLocks/>
          </p:cNvCxnSpPr>
          <p:nvPr/>
        </p:nvCxnSpPr>
        <p:spPr>
          <a:xfrm>
            <a:off x="6096000" y="1774955"/>
            <a:ext cx="0" cy="380244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graphicFrame>
        <p:nvGraphicFramePr>
          <p:cNvPr id="30" name="Gráfico 29">
            <a:extLst>
              <a:ext uri="{FF2B5EF4-FFF2-40B4-BE49-F238E27FC236}">
                <a16:creationId xmlns:a16="http://schemas.microsoft.com/office/drawing/2014/main" id="{71DC83F7-0B9A-49E0-8FF4-1656C753BDC0}"/>
              </a:ext>
            </a:extLst>
          </p:cNvPr>
          <p:cNvGraphicFramePr/>
          <p:nvPr>
            <p:extLst>
              <p:ext uri="{D42A27DB-BD31-4B8C-83A1-F6EECF244321}">
                <p14:modId xmlns:p14="http://schemas.microsoft.com/office/powerpoint/2010/main" val="1560835958"/>
              </p:ext>
            </p:extLst>
          </p:nvPr>
        </p:nvGraphicFramePr>
        <p:xfrm>
          <a:off x="6521594" y="1625248"/>
          <a:ext cx="4825219" cy="2405576"/>
        </p:xfrm>
        <a:graphic>
          <a:graphicData uri="http://schemas.openxmlformats.org/drawingml/2006/chart">
            <c:chart xmlns:c="http://schemas.openxmlformats.org/drawingml/2006/chart" xmlns:r="http://schemas.openxmlformats.org/officeDocument/2006/relationships" r:id="rId4"/>
          </a:graphicData>
        </a:graphic>
      </p:graphicFrame>
      <p:sp>
        <p:nvSpPr>
          <p:cNvPr id="31" name="CaixaDeTexto 30">
            <a:extLst>
              <a:ext uri="{FF2B5EF4-FFF2-40B4-BE49-F238E27FC236}">
                <a16:creationId xmlns:a16="http://schemas.microsoft.com/office/drawing/2014/main" id="{82A0E21E-D797-4B82-AA4B-7C5E92F466F2}"/>
              </a:ext>
            </a:extLst>
          </p:cNvPr>
          <p:cNvSpPr txBox="1"/>
          <p:nvPr/>
        </p:nvSpPr>
        <p:spPr>
          <a:xfrm>
            <a:off x="7034775" y="1697194"/>
            <a:ext cx="3992681" cy="307777"/>
          </a:xfrm>
          <a:prstGeom prst="rect">
            <a:avLst/>
          </a:prstGeom>
          <a:noFill/>
        </p:spPr>
        <p:txBody>
          <a:bodyPr wrap="square" rtlCol="0">
            <a:spAutoFit/>
          </a:bodyPr>
          <a:lstStyle/>
          <a:p>
            <a:pPr algn="ctr"/>
            <a:r>
              <a:rPr lang="pt-BR" sz="1400" b="1" dirty="0">
                <a:solidFill>
                  <a:schemeClr val="tx1">
                    <a:lumMod val="50000"/>
                    <a:lumOff val="50000"/>
                  </a:schemeClr>
                </a:solidFill>
                <a:latin typeface="Arial" panose="020B0604020202020204" pitchFamily="34" charset="0"/>
                <a:cs typeface="Arial" panose="020B0604020202020204" pitchFamily="34" charset="0"/>
              </a:rPr>
              <a:t>Cumprimento do SLA(%) - NCG</a:t>
            </a:r>
          </a:p>
        </p:txBody>
      </p:sp>
      <p:graphicFrame>
        <p:nvGraphicFramePr>
          <p:cNvPr id="32" name="Gráfico 31">
            <a:extLst>
              <a:ext uri="{FF2B5EF4-FFF2-40B4-BE49-F238E27FC236}">
                <a16:creationId xmlns:a16="http://schemas.microsoft.com/office/drawing/2014/main" id="{72CA1D9F-992B-4BC8-97CA-826DA8198092}"/>
              </a:ext>
            </a:extLst>
          </p:cNvPr>
          <p:cNvGraphicFramePr/>
          <p:nvPr>
            <p:extLst>
              <p:ext uri="{D42A27DB-BD31-4B8C-83A1-F6EECF244321}">
                <p14:modId xmlns:p14="http://schemas.microsoft.com/office/powerpoint/2010/main" val="408219063"/>
              </p:ext>
            </p:extLst>
          </p:nvPr>
        </p:nvGraphicFramePr>
        <p:xfrm>
          <a:off x="845187" y="1697194"/>
          <a:ext cx="4825219" cy="2405576"/>
        </p:xfrm>
        <a:graphic>
          <a:graphicData uri="http://schemas.openxmlformats.org/drawingml/2006/chart">
            <c:chart xmlns:c="http://schemas.openxmlformats.org/drawingml/2006/chart" xmlns:r="http://schemas.openxmlformats.org/officeDocument/2006/relationships" r:id="rId5"/>
          </a:graphicData>
        </a:graphic>
      </p:graphicFrame>
      <p:sp>
        <p:nvSpPr>
          <p:cNvPr id="33" name="CaixaDeTexto 32">
            <a:extLst>
              <a:ext uri="{FF2B5EF4-FFF2-40B4-BE49-F238E27FC236}">
                <a16:creationId xmlns:a16="http://schemas.microsoft.com/office/drawing/2014/main" id="{417A71CF-78F9-4EE7-A121-79E5C8E39F2B}"/>
              </a:ext>
            </a:extLst>
          </p:cNvPr>
          <p:cNvSpPr txBox="1"/>
          <p:nvPr/>
        </p:nvSpPr>
        <p:spPr>
          <a:xfrm>
            <a:off x="1418916" y="1774955"/>
            <a:ext cx="3992681" cy="307777"/>
          </a:xfrm>
          <a:prstGeom prst="rect">
            <a:avLst/>
          </a:prstGeom>
          <a:noFill/>
        </p:spPr>
        <p:txBody>
          <a:bodyPr wrap="square" rtlCol="0">
            <a:spAutoFit/>
          </a:bodyPr>
          <a:lstStyle/>
          <a:p>
            <a:pPr algn="ctr"/>
            <a:r>
              <a:rPr lang="pt-BR" sz="1400" b="1" dirty="0">
                <a:solidFill>
                  <a:schemeClr val="tx1">
                    <a:lumMod val="50000"/>
                    <a:lumOff val="50000"/>
                  </a:schemeClr>
                </a:solidFill>
                <a:latin typeface="Arial" panose="020B0604020202020204" pitchFamily="34" charset="0"/>
                <a:cs typeface="Arial" panose="020B0604020202020204" pitchFamily="34" charset="0"/>
              </a:rPr>
              <a:t>Cumprimento do SLA(%) – NC                                                                                                                                                                                                         </a:t>
            </a:r>
          </a:p>
        </p:txBody>
      </p:sp>
      <p:sp>
        <p:nvSpPr>
          <p:cNvPr id="26" name="Retângulo: Cantos Arredondados 25">
            <a:extLst>
              <a:ext uri="{FF2B5EF4-FFF2-40B4-BE49-F238E27FC236}">
                <a16:creationId xmlns:a16="http://schemas.microsoft.com/office/drawing/2014/main" id="{330A12FB-989E-42A9-A3F0-B8234CB2550E}"/>
              </a:ext>
            </a:extLst>
          </p:cNvPr>
          <p:cNvSpPr/>
          <p:nvPr/>
        </p:nvSpPr>
        <p:spPr>
          <a:xfrm>
            <a:off x="1198996" y="4328581"/>
            <a:ext cx="4402601" cy="1064686"/>
          </a:xfrm>
          <a:prstGeom prst="roundRect">
            <a:avLst/>
          </a:prstGeom>
          <a:solidFill>
            <a:schemeClr val="bg1">
              <a:lumMod val="95000"/>
            </a:schemeClr>
          </a:solidFill>
          <a:ln>
            <a:noFill/>
          </a:ln>
          <a:effectLst>
            <a:outerShdw dist="101600" dir="10740000" algn="t" rotWithShape="0">
              <a:srgbClr val="00B0F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4" name="Retângulo: Cantos Arredondados 33">
            <a:extLst>
              <a:ext uri="{FF2B5EF4-FFF2-40B4-BE49-F238E27FC236}">
                <a16:creationId xmlns:a16="http://schemas.microsoft.com/office/drawing/2014/main" id="{48B36F2A-D988-4E04-8C57-90B32EEB49F2}"/>
              </a:ext>
            </a:extLst>
          </p:cNvPr>
          <p:cNvSpPr/>
          <p:nvPr/>
        </p:nvSpPr>
        <p:spPr>
          <a:xfrm>
            <a:off x="6732902" y="4328581"/>
            <a:ext cx="4402601" cy="1064686"/>
          </a:xfrm>
          <a:prstGeom prst="roundRect">
            <a:avLst/>
          </a:prstGeom>
          <a:solidFill>
            <a:schemeClr val="bg1">
              <a:lumMod val="95000"/>
            </a:schemeClr>
          </a:solidFill>
          <a:ln>
            <a:noFill/>
          </a:ln>
          <a:effectLst>
            <a:outerShdw dist="101600" dir="10740000" algn="t" rotWithShape="0">
              <a:srgbClr val="00B0F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37" name="Google Shape;2124;p50">
            <a:extLst>
              <a:ext uri="{FF2B5EF4-FFF2-40B4-BE49-F238E27FC236}">
                <a16:creationId xmlns:a16="http://schemas.microsoft.com/office/drawing/2014/main" id="{BA21E970-1083-4D19-A248-A58FF28D0D8C}"/>
              </a:ext>
            </a:extLst>
          </p:cNvPr>
          <p:cNvGrpSpPr/>
          <p:nvPr/>
        </p:nvGrpSpPr>
        <p:grpSpPr>
          <a:xfrm>
            <a:off x="1334646" y="4444924"/>
            <a:ext cx="286337" cy="286644"/>
            <a:chOff x="4673540" y="3680297"/>
            <a:chExt cx="355434" cy="355815"/>
          </a:xfrm>
        </p:grpSpPr>
        <p:sp>
          <p:nvSpPr>
            <p:cNvPr id="40" name="Google Shape;2125;p50">
              <a:extLst>
                <a:ext uri="{FF2B5EF4-FFF2-40B4-BE49-F238E27FC236}">
                  <a16:creationId xmlns:a16="http://schemas.microsoft.com/office/drawing/2014/main" id="{C0E45B05-9ECE-4D6F-B19D-CFD6B90F52E8}"/>
                </a:ext>
              </a:extLst>
            </p:cNvPr>
            <p:cNvSpPr/>
            <p:nvPr/>
          </p:nvSpPr>
          <p:spPr>
            <a:xfrm>
              <a:off x="4673540" y="3680297"/>
              <a:ext cx="355434" cy="355815"/>
            </a:xfrm>
            <a:custGeom>
              <a:avLst/>
              <a:gdLst/>
              <a:ahLst/>
              <a:cxnLst/>
              <a:rect l="l" t="t" r="r" b="b"/>
              <a:pathLst>
                <a:path w="11193" h="11205" extrusionOk="0">
                  <a:moveTo>
                    <a:pt x="2012" y="0"/>
                  </a:moveTo>
                  <a:cubicBezTo>
                    <a:pt x="905" y="0"/>
                    <a:pt x="0" y="893"/>
                    <a:pt x="0" y="2013"/>
                  </a:cubicBezTo>
                  <a:lnTo>
                    <a:pt x="0" y="9192"/>
                  </a:lnTo>
                  <a:cubicBezTo>
                    <a:pt x="0" y="10287"/>
                    <a:pt x="893" y="11204"/>
                    <a:pt x="2012" y="11204"/>
                  </a:cubicBezTo>
                  <a:lnTo>
                    <a:pt x="9180" y="11204"/>
                  </a:lnTo>
                  <a:cubicBezTo>
                    <a:pt x="10287" y="11204"/>
                    <a:pt x="11192" y="10311"/>
                    <a:pt x="11192" y="9192"/>
                  </a:cubicBezTo>
                  <a:lnTo>
                    <a:pt x="11192" y="2013"/>
                  </a:lnTo>
                  <a:cubicBezTo>
                    <a:pt x="11180" y="917"/>
                    <a:pt x="10287" y="0"/>
                    <a:pt x="9180" y="0"/>
                  </a:cubicBezTo>
                  <a:lnTo>
                    <a:pt x="8085" y="0"/>
                  </a:lnTo>
                  <a:cubicBezTo>
                    <a:pt x="7989" y="0"/>
                    <a:pt x="7918" y="84"/>
                    <a:pt x="7918" y="167"/>
                  </a:cubicBezTo>
                  <a:cubicBezTo>
                    <a:pt x="7918" y="262"/>
                    <a:pt x="7989" y="334"/>
                    <a:pt x="8085" y="334"/>
                  </a:cubicBezTo>
                  <a:lnTo>
                    <a:pt x="9180" y="334"/>
                  </a:lnTo>
                  <a:cubicBezTo>
                    <a:pt x="10109" y="334"/>
                    <a:pt x="10847" y="1084"/>
                    <a:pt x="10847" y="2001"/>
                  </a:cubicBezTo>
                  <a:lnTo>
                    <a:pt x="10847" y="9180"/>
                  </a:lnTo>
                  <a:cubicBezTo>
                    <a:pt x="10847" y="10097"/>
                    <a:pt x="10109" y="10847"/>
                    <a:pt x="9180" y="10847"/>
                  </a:cubicBezTo>
                  <a:lnTo>
                    <a:pt x="2012" y="10847"/>
                  </a:lnTo>
                  <a:cubicBezTo>
                    <a:pt x="1084" y="10847"/>
                    <a:pt x="345" y="10097"/>
                    <a:pt x="345" y="9180"/>
                  </a:cubicBezTo>
                  <a:lnTo>
                    <a:pt x="345" y="2001"/>
                  </a:lnTo>
                  <a:cubicBezTo>
                    <a:pt x="345" y="1084"/>
                    <a:pt x="1084" y="334"/>
                    <a:pt x="2012" y="334"/>
                  </a:cubicBezTo>
                  <a:lnTo>
                    <a:pt x="7418" y="334"/>
                  </a:lnTo>
                  <a:cubicBezTo>
                    <a:pt x="7501" y="334"/>
                    <a:pt x="7573" y="262"/>
                    <a:pt x="7573" y="167"/>
                  </a:cubicBezTo>
                  <a:cubicBezTo>
                    <a:pt x="7573" y="84"/>
                    <a:pt x="7501" y="0"/>
                    <a:pt x="7418" y="0"/>
                  </a:cubicBezTo>
                  <a:close/>
                </a:path>
              </a:pathLst>
            </a:custGeom>
            <a:solidFill>
              <a:schemeClr val="lt2"/>
            </a:solidFill>
            <a:ln>
              <a:solidFill>
                <a:srgbClr val="00B0F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126;p50">
              <a:extLst>
                <a:ext uri="{FF2B5EF4-FFF2-40B4-BE49-F238E27FC236}">
                  <a16:creationId xmlns:a16="http://schemas.microsoft.com/office/drawing/2014/main" id="{F5684C49-3999-483A-99DE-E39763B2DEAA}"/>
                </a:ext>
              </a:extLst>
            </p:cNvPr>
            <p:cNvSpPr/>
            <p:nvPr/>
          </p:nvSpPr>
          <p:spPr>
            <a:xfrm>
              <a:off x="4805864" y="3736630"/>
              <a:ext cx="93042" cy="92661"/>
            </a:xfrm>
            <a:custGeom>
              <a:avLst/>
              <a:gdLst/>
              <a:ahLst/>
              <a:cxnLst/>
              <a:rect l="l" t="t" r="r" b="b"/>
              <a:pathLst>
                <a:path w="2930" h="2918" extrusionOk="0">
                  <a:moveTo>
                    <a:pt x="1477" y="334"/>
                  </a:moveTo>
                  <a:cubicBezTo>
                    <a:pt x="2096" y="334"/>
                    <a:pt x="2608" y="834"/>
                    <a:pt x="2608" y="1465"/>
                  </a:cubicBezTo>
                  <a:cubicBezTo>
                    <a:pt x="2608" y="2084"/>
                    <a:pt x="2096" y="2596"/>
                    <a:pt x="1477" y="2596"/>
                  </a:cubicBezTo>
                  <a:cubicBezTo>
                    <a:pt x="846" y="2596"/>
                    <a:pt x="346" y="2084"/>
                    <a:pt x="346" y="1465"/>
                  </a:cubicBezTo>
                  <a:cubicBezTo>
                    <a:pt x="346" y="834"/>
                    <a:pt x="846" y="334"/>
                    <a:pt x="1477" y="334"/>
                  </a:cubicBezTo>
                  <a:close/>
                  <a:moveTo>
                    <a:pt x="1477" y="0"/>
                  </a:moveTo>
                  <a:cubicBezTo>
                    <a:pt x="667" y="0"/>
                    <a:pt x="12" y="655"/>
                    <a:pt x="12" y="1465"/>
                  </a:cubicBezTo>
                  <a:cubicBezTo>
                    <a:pt x="0" y="2263"/>
                    <a:pt x="655" y="2918"/>
                    <a:pt x="1477" y="2918"/>
                  </a:cubicBezTo>
                  <a:cubicBezTo>
                    <a:pt x="2274" y="2918"/>
                    <a:pt x="2929" y="2263"/>
                    <a:pt x="2929" y="1465"/>
                  </a:cubicBezTo>
                  <a:cubicBezTo>
                    <a:pt x="2929" y="655"/>
                    <a:pt x="2274" y="0"/>
                    <a:pt x="1477" y="0"/>
                  </a:cubicBezTo>
                  <a:close/>
                </a:path>
              </a:pathLst>
            </a:custGeom>
            <a:solidFill>
              <a:schemeClr val="lt2"/>
            </a:solidFill>
            <a:ln>
              <a:solidFill>
                <a:srgbClr val="00B0F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127;p50">
              <a:extLst>
                <a:ext uri="{FF2B5EF4-FFF2-40B4-BE49-F238E27FC236}">
                  <a16:creationId xmlns:a16="http://schemas.microsoft.com/office/drawing/2014/main" id="{1EAA21D1-CDF8-45B7-B1CB-5AA4B6475E59}"/>
                </a:ext>
              </a:extLst>
            </p:cNvPr>
            <p:cNvSpPr/>
            <p:nvPr/>
          </p:nvSpPr>
          <p:spPr>
            <a:xfrm>
              <a:off x="4779380" y="3841358"/>
              <a:ext cx="143723" cy="138801"/>
            </a:xfrm>
            <a:custGeom>
              <a:avLst/>
              <a:gdLst/>
              <a:ahLst/>
              <a:cxnLst/>
              <a:rect l="l" t="t" r="r" b="b"/>
              <a:pathLst>
                <a:path w="4526" h="4371" extrusionOk="0">
                  <a:moveTo>
                    <a:pt x="477" y="1"/>
                  </a:moveTo>
                  <a:cubicBezTo>
                    <a:pt x="215" y="1"/>
                    <a:pt x="1" y="203"/>
                    <a:pt x="1" y="477"/>
                  </a:cubicBezTo>
                  <a:lnTo>
                    <a:pt x="1" y="893"/>
                  </a:lnTo>
                  <a:cubicBezTo>
                    <a:pt x="1" y="1155"/>
                    <a:pt x="203" y="1370"/>
                    <a:pt x="477" y="1370"/>
                  </a:cubicBezTo>
                  <a:lnTo>
                    <a:pt x="763" y="1370"/>
                  </a:lnTo>
                  <a:cubicBezTo>
                    <a:pt x="834" y="1370"/>
                    <a:pt x="906" y="1429"/>
                    <a:pt x="906" y="1513"/>
                  </a:cubicBezTo>
                  <a:lnTo>
                    <a:pt x="906" y="2858"/>
                  </a:lnTo>
                  <a:cubicBezTo>
                    <a:pt x="906" y="2929"/>
                    <a:pt x="846" y="3001"/>
                    <a:pt x="763" y="3001"/>
                  </a:cubicBezTo>
                  <a:lnTo>
                    <a:pt x="572" y="3001"/>
                  </a:lnTo>
                  <a:cubicBezTo>
                    <a:pt x="299" y="3001"/>
                    <a:pt x="96" y="3215"/>
                    <a:pt x="96" y="3477"/>
                  </a:cubicBezTo>
                  <a:lnTo>
                    <a:pt x="96" y="3894"/>
                  </a:lnTo>
                  <a:cubicBezTo>
                    <a:pt x="96" y="4168"/>
                    <a:pt x="299" y="4370"/>
                    <a:pt x="572" y="4370"/>
                  </a:cubicBezTo>
                  <a:lnTo>
                    <a:pt x="4049" y="4370"/>
                  </a:lnTo>
                  <a:cubicBezTo>
                    <a:pt x="4311" y="4370"/>
                    <a:pt x="4525" y="4168"/>
                    <a:pt x="4525" y="3894"/>
                  </a:cubicBezTo>
                  <a:lnTo>
                    <a:pt x="4525" y="3477"/>
                  </a:lnTo>
                  <a:cubicBezTo>
                    <a:pt x="4525" y="3215"/>
                    <a:pt x="4311" y="3001"/>
                    <a:pt x="4049" y="3001"/>
                  </a:cubicBezTo>
                  <a:lnTo>
                    <a:pt x="3859" y="3001"/>
                  </a:lnTo>
                  <a:cubicBezTo>
                    <a:pt x="3787" y="3001"/>
                    <a:pt x="3704" y="2941"/>
                    <a:pt x="3704" y="2858"/>
                  </a:cubicBezTo>
                  <a:lnTo>
                    <a:pt x="3704" y="477"/>
                  </a:lnTo>
                  <a:cubicBezTo>
                    <a:pt x="3704" y="203"/>
                    <a:pt x="3501" y="1"/>
                    <a:pt x="3228" y="1"/>
                  </a:cubicBezTo>
                  <a:lnTo>
                    <a:pt x="1442" y="1"/>
                  </a:lnTo>
                  <a:cubicBezTo>
                    <a:pt x="1358" y="1"/>
                    <a:pt x="1287" y="72"/>
                    <a:pt x="1287" y="155"/>
                  </a:cubicBezTo>
                  <a:cubicBezTo>
                    <a:pt x="1287" y="251"/>
                    <a:pt x="1358" y="322"/>
                    <a:pt x="1442" y="322"/>
                  </a:cubicBezTo>
                  <a:lnTo>
                    <a:pt x="3228" y="322"/>
                  </a:lnTo>
                  <a:cubicBezTo>
                    <a:pt x="3311" y="322"/>
                    <a:pt x="3382" y="382"/>
                    <a:pt x="3382" y="477"/>
                  </a:cubicBezTo>
                  <a:lnTo>
                    <a:pt x="3382" y="2858"/>
                  </a:lnTo>
                  <a:cubicBezTo>
                    <a:pt x="3382" y="3120"/>
                    <a:pt x="3585" y="3334"/>
                    <a:pt x="3859" y="3334"/>
                  </a:cubicBezTo>
                  <a:lnTo>
                    <a:pt x="4049" y="3334"/>
                  </a:lnTo>
                  <a:cubicBezTo>
                    <a:pt x="4121" y="3334"/>
                    <a:pt x="4204" y="3394"/>
                    <a:pt x="4204" y="3477"/>
                  </a:cubicBezTo>
                  <a:lnTo>
                    <a:pt x="4204" y="3894"/>
                  </a:lnTo>
                  <a:cubicBezTo>
                    <a:pt x="4204" y="3965"/>
                    <a:pt x="4132" y="4049"/>
                    <a:pt x="4049" y="4049"/>
                  </a:cubicBezTo>
                  <a:lnTo>
                    <a:pt x="572" y="4049"/>
                  </a:lnTo>
                  <a:cubicBezTo>
                    <a:pt x="489" y="4049"/>
                    <a:pt x="418" y="3989"/>
                    <a:pt x="418" y="3894"/>
                  </a:cubicBezTo>
                  <a:lnTo>
                    <a:pt x="418" y="3477"/>
                  </a:lnTo>
                  <a:cubicBezTo>
                    <a:pt x="418" y="3406"/>
                    <a:pt x="477" y="3334"/>
                    <a:pt x="572" y="3334"/>
                  </a:cubicBezTo>
                  <a:lnTo>
                    <a:pt x="763" y="3334"/>
                  </a:lnTo>
                  <a:cubicBezTo>
                    <a:pt x="1025" y="3334"/>
                    <a:pt x="1239" y="3120"/>
                    <a:pt x="1239" y="2858"/>
                  </a:cubicBezTo>
                  <a:lnTo>
                    <a:pt x="1239" y="1513"/>
                  </a:lnTo>
                  <a:cubicBezTo>
                    <a:pt x="1239" y="1251"/>
                    <a:pt x="1025" y="1036"/>
                    <a:pt x="763" y="1036"/>
                  </a:cubicBezTo>
                  <a:lnTo>
                    <a:pt x="477" y="1036"/>
                  </a:lnTo>
                  <a:cubicBezTo>
                    <a:pt x="406" y="1036"/>
                    <a:pt x="334" y="977"/>
                    <a:pt x="334" y="893"/>
                  </a:cubicBezTo>
                  <a:lnTo>
                    <a:pt x="334" y="477"/>
                  </a:lnTo>
                  <a:cubicBezTo>
                    <a:pt x="334" y="393"/>
                    <a:pt x="394" y="322"/>
                    <a:pt x="477" y="322"/>
                  </a:cubicBezTo>
                  <a:lnTo>
                    <a:pt x="787" y="322"/>
                  </a:lnTo>
                  <a:cubicBezTo>
                    <a:pt x="882" y="322"/>
                    <a:pt x="953" y="251"/>
                    <a:pt x="953" y="155"/>
                  </a:cubicBezTo>
                  <a:cubicBezTo>
                    <a:pt x="953" y="72"/>
                    <a:pt x="882" y="1"/>
                    <a:pt x="787" y="1"/>
                  </a:cubicBezTo>
                  <a:close/>
                </a:path>
              </a:pathLst>
            </a:custGeom>
            <a:solidFill>
              <a:schemeClr val="lt2"/>
            </a:solidFill>
            <a:ln>
              <a:solidFill>
                <a:srgbClr val="00B0F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 name="Google Shape;2124;p50">
            <a:extLst>
              <a:ext uri="{FF2B5EF4-FFF2-40B4-BE49-F238E27FC236}">
                <a16:creationId xmlns:a16="http://schemas.microsoft.com/office/drawing/2014/main" id="{D0FAFFC4-532D-4944-8A3C-56F7C4162B0A}"/>
              </a:ext>
            </a:extLst>
          </p:cNvPr>
          <p:cNvGrpSpPr/>
          <p:nvPr/>
        </p:nvGrpSpPr>
        <p:grpSpPr>
          <a:xfrm>
            <a:off x="6841356" y="4431352"/>
            <a:ext cx="286337" cy="286644"/>
            <a:chOff x="4673540" y="3680297"/>
            <a:chExt cx="355434" cy="355815"/>
          </a:xfrm>
        </p:grpSpPr>
        <p:sp>
          <p:nvSpPr>
            <p:cNvPr id="44" name="Google Shape;2125;p50">
              <a:extLst>
                <a:ext uri="{FF2B5EF4-FFF2-40B4-BE49-F238E27FC236}">
                  <a16:creationId xmlns:a16="http://schemas.microsoft.com/office/drawing/2014/main" id="{A214FCD6-1CC8-458A-A1FF-6BC1E84BCDD5}"/>
                </a:ext>
              </a:extLst>
            </p:cNvPr>
            <p:cNvSpPr/>
            <p:nvPr/>
          </p:nvSpPr>
          <p:spPr>
            <a:xfrm>
              <a:off x="4673540" y="3680297"/>
              <a:ext cx="355434" cy="355815"/>
            </a:xfrm>
            <a:custGeom>
              <a:avLst/>
              <a:gdLst/>
              <a:ahLst/>
              <a:cxnLst/>
              <a:rect l="l" t="t" r="r" b="b"/>
              <a:pathLst>
                <a:path w="11193" h="11205" extrusionOk="0">
                  <a:moveTo>
                    <a:pt x="2012" y="0"/>
                  </a:moveTo>
                  <a:cubicBezTo>
                    <a:pt x="905" y="0"/>
                    <a:pt x="0" y="893"/>
                    <a:pt x="0" y="2013"/>
                  </a:cubicBezTo>
                  <a:lnTo>
                    <a:pt x="0" y="9192"/>
                  </a:lnTo>
                  <a:cubicBezTo>
                    <a:pt x="0" y="10287"/>
                    <a:pt x="893" y="11204"/>
                    <a:pt x="2012" y="11204"/>
                  </a:cubicBezTo>
                  <a:lnTo>
                    <a:pt x="9180" y="11204"/>
                  </a:lnTo>
                  <a:cubicBezTo>
                    <a:pt x="10287" y="11204"/>
                    <a:pt x="11192" y="10311"/>
                    <a:pt x="11192" y="9192"/>
                  </a:cubicBezTo>
                  <a:lnTo>
                    <a:pt x="11192" y="2013"/>
                  </a:lnTo>
                  <a:cubicBezTo>
                    <a:pt x="11180" y="917"/>
                    <a:pt x="10287" y="0"/>
                    <a:pt x="9180" y="0"/>
                  </a:cubicBezTo>
                  <a:lnTo>
                    <a:pt x="8085" y="0"/>
                  </a:lnTo>
                  <a:cubicBezTo>
                    <a:pt x="7989" y="0"/>
                    <a:pt x="7918" y="84"/>
                    <a:pt x="7918" y="167"/>
                  </a:cubicBezTo>
                  <a:cubicBezTo>
                    <a:pt x="7918" y="262"/>
                    <a:pt x="7989" y="334"/>
                    <a:pt x="8085" y="334"/>
                  </a:cubicBezTo>
                  <a:lnTo>
                    <a:pt x="9180" y="334"/>
                  </a:lnTo>
                  <a:cubicBezTo>
                    <a:pt x="10109" y="334"/>
                    <a:pt x="10847" y="1084"/>
                    <a:pt x="10847" y="2001"/>
                  </a:cubicBezTo>
                  <a:lnTo>
                    <a:pt x="10847" y="9180"/>
                  </a:lnTo>
                  <a:cubicBezTo>
                    <a:pt x="10847" y="10097"/>
                    <a:pt x="10109" y="10847"/>
                    <a:pt x="9180" y="10847"/>
                  </a:cubicBezTo>
                  <a:lnTo>
                    <a:pt x="2012" y="10847"/>
                  </a:lnTo>
                  <a:cubicBezTo>
                    <a:pt x="1084" y="10847"/>
                    <a:pt x="345" y="10097"/>
                    <a:pt x="345" y="9180"/>
                  </a:cubicBezTo>
                  <a:lnTo>
                    <a:pt x="345" y="2001"/>
                  </a:lnTo>
                  <a:cubicBezTo>
                    <a:pt x="345" y="1084"/>
                    <a:pt x="1084" y="334"/>
                    <a:pt x="2012" y="334"/>
                  </a:cubicBezTo>
                  <a:lnTo>
                    <a:pt x="7418" y="334"/>
                  </a:lnTo>
                  <a:cubicBezTo>
                    <a:pt x="7501" y="334"/>
                    <a:pt x="7573" y="262"/>
                    <a:pt x="7573" y="167"/>
                  </a:cubicBezTo>
                  <a:cubicBezTo>
                    <a:pt x="7573" y="84"/>
                    <a:pt x="7501" y="0"/>
                    <a:pt x="7418" y="0"/>
                  </a:cubicBezTo>
                  <a:close/>
                </a:path>
              </a:pathLst>
            </a:custGeom>
            <a:solidFill>
              <a:schemeClr val="lt2"/>
            </a:solidFill>
            <a:ln>
              <a:solidFill>
                <a:srgbClr val="00B0F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126;p50">
              <a:extLst>
                <a:ext uri="{FF2B5EF4-FFF2-40B4-BE49-F238E27FC236}">
                  <a16:creationId xmlns:a16="http://schemas.microsoft.com/office/drawing/2014/main" id="{FBC3B93A-416F-4BE1-9B72-00921D37499F}"/>
                </a:ext>
              </a:extLst>
            </p:cNvPr>
            <p:cNvSpPr/>
            <p:nvPr/>
          </p:nvSpPr>
          <p:spPr>
            <a:xfrm>
              <a:off x="4805864" y="3736630"/>
              <a:ext cx="93042" cy="92661"/>
            </a:xfrm>
            <a:custGeom>
              <a:avLst/>
              <a:gdLst/>
              <a:ahLst/>
              <a:cxnLst/>
              <a:rect l="l" t="t" r="r" b="b"/>
              <a:pathLst>
                <a:path w="2930" h="2918" extrusionOk="0">
                  <a:moveTo>
                    <a:pt x="1477" y="334"/>
                  </a:moveTo>
                  <a:cubicBezTo>
                    <a:pt x="2096" y="334"/>
                    <a:pt x="2608" y="834"/>
                    <a:pt x="2608" y="1465"/>
                  </a:cubicBezTo>
                  <a:cubicBezTo>
                    <a:pt x="2608" y="2084"/>
                    <a:pt x="2096" y="2596"/>
                    <a:pt x="1477" y="2596"/>
                  </a:cubicBezTo>
                  <a:cubicBezTo>
                    <a:pt x="846" y="2596"/>
                    <a:pt x="346" y="2084"/>
                    <a:pt x="346" y="1465"/>
                  </a:cubicBezTo>
                  <a:cubicBezTo>
                    <a:pt x="346" y="834"/>
                    <a:pt x="846" y="334"/>
                    <a:pt x="1477" y="334"/>
                  </a:cubicBezTo>
                  <a:close/>
                  <a:moveTo>
                    <a:pt x="1477" y="0"/>
                  </a:moveTo>
                  <a:cubicBezTo>
                    <a:pt x="667" y="0"/>
                    <a:pt x="12" y="655"/>
                    <a:pt x="12" y="1465"/>
                  </a:cubicBezTo>
                  <a:cubicBezTo>
                    <a:pt x="0" y="2263"/>
                    <a:pt x="655" y="2918"/>
                    <a:pt x="1477" y="2918"/>
                  </a:cubicBezTo>
                  <a:cubicBezTo>
                    <a:pt x="2274" y="2918"/>
                    <a:pt x="2929" y="2263"/>
                    <a:pt x="2929" y="1465"/>
                  </a:cubicBezTo>
                  <a:cubicBezTo>
                    <a:pt x="2929" y="655"/>
                    <a:pt x="2274" y="0"/>
                    <a:pt x="1477" y="0"/>
                  </a:cubicBezTo>
                  <a:close/>
                </a:path>
              </a:pathLst>
            </a:custGeom>
            <a:solidFill>
              <a:schemeClr val="lt2"/>
            </a:solidFill>
            <a:ln>
              <a:solidFill>
                <a:srgbClr val="00B0F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127;p50">
              <a:extLst>
                <a:ext uri="{FF2B5EF4-FFF2-40B4-BE49-F238E27FC236}">
                  <a16:creationId xmlns:a16="http://schemas.microsoft.com/office/drawing/2014/main" id="{35BE008B-FDBB-4300-A39B-CDA792EE33F4}"/>
                </a:ext>
              </a:extLst>
            </p:cNvPr>
            <p:cNvSpPr/>
            <p:nvPr/>
          </p:nvSpPr>
          <p:spPr>
            <a:xfrm>
              <a:off x="4779380" y="3841358"/>
              <a:ext cx="143723" cy="138801"/>
            </a:xfrm>
            <a:custGeom>
              <a:avLst/>
              <a:gdLst/>
              <a:ahLst/>
              <a:cxnLst/>
              <a:rect l="l" t="t" r="r" b="b"/>
              <a:pathLst>
                <a:path w="4526" h="4371" extrusionOk="0">
                  <a:moveTo>
                    <a:pt x="477" y="1"/>
                  </a:moveTo>
                  <a:cubicBezTo>
                    <a:pt x="215" y="1"/>
                    <a:pt x="1" y="203"/>
                    <a:pt x="1" y="477"/>
                  </a:cubicBezTo>
                  <a:lnTo>
                    <a:pt x="1" y="893"/>
                  </a:lnTo>
                  <a:cubicBezTo>
                    <a:pt x="1" y="1155"/>
                    <a:pt x="203" y="1370"/>
                    <a:pt x="477" y="1370"/>
                  </a:cubicBezTo>
                  <a:lnTo>
                    <a:pt x="763" y="1370"/>
                  </a:lnTo>
                  <a:cubicBezTo>
                    <a:pt x="834" y="1370"/>
                    <a:pt x="906" y="1429"/>
                    <a:pt x="906" y="1513"/>
                  </a:cubicBezTo>
                  <a:lnTo>
                    <a:pt x="906" y="2858"/>
                  </a:lnTo>
                  <a:cubicBezTo>
                    <a:pt x="906" y="2929"/>
                    <a:pt x="846" y="3001"/>
                    <a:pt x="763" y="3001"/>
                  </a:cubicBezTo>
                  <a:lnTo>
                    <a:pt x="572" y="3001"/>
                  </a:lnTo>
                  <a:cubicBezTo>
                    <a:pt x="299" y="3001"/>
                    <a:pt x="96" y="3215"/>
                    <a:pt x="96" y="3477"/>
                  </a:cubicBezTo>
                  <a:lnTo>
                    <a:pt x="96" y="3894"/>
                  </a:lnTo>
                  <a:cubicBezTo>
                    <a:pt x="96" y="4168"/>
                    <a:pt x="299" y="4370"/>
                    <a:pt x="572" y="4370"/>
                  </a:cubicBezTo>
                  <a:lnTo>
                    <a:pt x="4049" y="4370"/>
                  </a:lnTo>
                  <a:cubicBezTo>
                    <a:pt x="4311" y="4370"/>
                    <a:pt x="4525" y="4168"/>
                    <a:pt x="4525" y="3894"/>
                  </a:cubicBezTo>
                  <a:lnTo>
                    <a:pt x="4525" y="3477"/>
                  </a:lnTo>
                  <a:cubicBezTo>
                    <a:pt x="4525" y="3215"/>
                    <a:pt x="4311" y="3001"/>
                    <a:pt x="4049" y="3001"/>
                  </a:cubicBezTo>
                  <a:lnTo>
                    <a:pt x="3859" y="3001"/>
                  </a:lnTo>
                  <a:cubicBezTo>
                    <a:pt x="3787" y="3001"/>
                    <a:pt x="3704" y="2941"/>
                    <a:pt x="3704" y="2858"/>
                  </a:cubicBezTo>
                  <a:lnTo>
                    <a:pt x="3704" y="477"/>
                  </a:lnTo>
                  <a:cubicBezTo>
                    <a:pt x="3704" y="203"/>
                    <a:pt x="3501" y="1"/>
                    <a:pt x="3228" y="1"/>
                  </a:cubicBezTo>
                  <a:lnTo>
                    <a:pt x="1442" y="1"/>
                  </a:lnTo>
                  <a:cubicBezTo>
                    <a:pt x="1358" y="1"/>
                    <a:pt x="1287" y="72"/>
                    <a:pt x="1287" y="155"/>
                  </a:cubicBezTo>
                  <a:cubicBezTo>
                    <a:pt x="1287" y="251"/>
                    <a:pt x="1358" y="322"/>
                    <a:pt x="1442" y="322"/>
                  </a:cubicBezTo>
                  <a:lnTo>
                    <a:pt x="3228" y="322"/>
                  </a:lnTo>
                  <a:cubicBezTo>
                    <a:pt x="3311" y="322"/>
                    <a:pt x="3382" y="382"/>
                    <a:pt x="3382" y="477"/>
                  </a:cubicBezTo>
                  <a:lnTo>
                    <a:pt x="3382" y="2858"/>
                  </a:lnTo>
                  <a:cubicBezTo>
                    <a:pt x="3382" y="3120"/>
                    <a:pt x="3585" y="3334"/>
                    <a:pt x="3859" y="3334"/>
                  </a:cubicBezTo>
                  <a:lnTo>
                    <a:pt x="4049" y="3334"/>
                  </a:lnTo>
                  <a:cubicBezTo>
                    <a:pt x="4121" y="3334"/>
                    <a:pt x="4204" y="3394"/>
                    <a:pt x="4204" y="3477"/>
                  </a:cubicBezTo>
                  <a:lnTo>
                    <a:pt x="4204" y="3894"/>
                  </a:lnTo>
                  <a:cubicBezTo>
                    <a:pt x="4204" y="3965"/>
                    <a:pt x="4132" y="4049"/>
                    <a:pt x="4049" y="4049"/>
                  </a:cubicBezTo>
                  <a:lnTo>
                    <a:pt x="572" y="4049"/>
                  </a:lnTo>
                  <a:cubicBezTo>
                    <a:pt x="489" y="4049"/>
                    <a:pt x="418" y="3989"/>
                    <a:pt x="418" y="3894"/>
                  </a:cubicBezTo>
                  <a:lnTo>
                    <a:pt x="418" y="3477"/>
                  </a:lnTo>
                  <a:cubicBezTo>
                    <a:pt x="418" y="3406"/>
                    <a:pt x="477" y="3334"/>
                    <a:pt x="572" y="3334"/>
                  </a:cubicBezTo>
                  <a:lnTo>
                    <a:pt x="763" y="3334"/>
                  </a:lnTo>
                  <a:cubicBezTo>
                    <a:pt x="1025" y="3334"/>
                    <a:pt x="1239" y="3120"/>
                    <a:pt x="1239" y="2858"/>
                  </a:cubicBezTo>
                  <a:lnTo>
                    <a:pt x="1239" y="1513"/>
                  </a:lnTo>
                  <a:cubicBezTo>
                    <a:pt x="1239" y="1251"/>
                    <a:pt x="1025" y="1036"/>
                    <a:pt x="763" y="1036"/>
                  </a:cubicBezTo>
                  <a:lnTo>
                    <a:pt x="477" y="1036"/>
                  </a:lnTo>
                  <a:cubicBezTo>
                    <a:pt x="406" y="1036"/>
                    <a:pt x="334" y="977"/>
                    <a:pt x="334" y="893"/>
                  </a:cubicBezTo>
                  <a:lnTo>
                    <a:pt x="334" y="477"/>
                  </a:lnTo>
                  <a:cubicBezTo>
                    <a:pt x="334" y="393"/>
                    <a:pt x="394" y="322"/>
                    <a:pt x="477" y="322"/>
                  </a:cubicBezTo>
                  <a:lnTo>
                    <a:pt x="787" y="322"/>
                  </a:lnTo>
                  <a:cubicBezTo>
                    <a:pt x="882" y="322"/>
                    <a:pt x="953" y="251"/>
                    <a:pt x="953" y="155"/>
                  </a:cubicBezTo>
                  <a:cubicBezTo>
                    <a:pt x="953" y="72"/>
                    <a:pt x="882" y="1"/>
                    <a:pt x="787" y="1"/>
                  </a:cubicBezTo>
                  <a:close/>
                </a:path>
              </a:pathLst>
            </a:custGeom>
            <a:solidFill>
              <a:schemeClr val="lt2"/>
            </a:solidFill>
            <a:ln>
              <a:solidFill>
                <a:srgbClr val="00B0F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CaixaDeTexto 46">
            <a:extLst>
              <a:ext uri="{FF2B5EF4-FFF2-40B4-BE49-F238E27FC236}">
                <a16:creationId xmlns:a16="http://schemas.microsoft.com/office/drawing/2014/main" id="{D5DC75CA-BD3E-4E6E-A38E-3091BB27C222}"/>
              </a:ext>
            </a:extLst>
          </p:cNvPr>
          <p:cNvSpPr txBox="1"/>
          <p:nvPr/>
        </p:nvSpPr>
        <p:spPr>
          <a:xfrm>
            <a:off x="1516200" y="2659746"/>
            <a:ext cx="727163" cy="200055"/>
          </a:xfrm>
          <a:prstGeom prst="rect">
            <a:avLst/>
          </a:prstGeom>
          <a:noFill/>
        </p:spPr>
        <p:txBody>
          <a:bodyPr wrap="square" rtlCol="0">
            <a:spAutoFit/>
          </a:bodyPr>
          <a:lstStyle/>
          <a:p>
            <a:pPr algn="ctr"/>
            <a:r>
              <a:rPr lang="pt-BR" sz="700" dirty="0">
                <a:solidFill>
                  <a:schemeClr val="tx1">
                    <a:lumMod val="65000"/>
                    <a:lumOff val="35000"/>
                  </a:schemeClr>
                </a:solidFill>
                <a:latin typeface="Arial" panose="020B0604020202020204" pitchFamily="34" charset="0"/>
                <a:cs typeface="Arial" panose="020B0604020202020204" pitchFamily="34" charset="0"/>
              </a:rPr>
              <a:t>66,67%</a:t>
            </a:r>
          </a:p>
        </p:txBody>
      </p:sp>
      <p:sp>
        <p:nvSpPr>
          <p:cNvPr id="48" name="CaixaDeTexto 47">
            <a:extLst>
              <a:ext uri="{FF2B5EF4-FFF2-40B4-BE49-F238E27FC236}">
                <a16:creationId xmlns:a16="http://schemas.microsoft.com/office/drawing/2014/main" id="{BE1FBBE0-A94F-4D20-B406-7DA60663B781}"/>
              </a:ext>
            </a:extLst>
          </p:cNvPr>
          <p:cNvSpPr txBox="1"/>
          <p:nvPr/>
        </p:nvSpPr>
        <p:spPr>
          <a:xfrm>
            <a:off x="2538636" y="3133497"/>
            <a:ext cx="548639" cy="200055"/>
          </a:xfrm>
          <a:prstGeom prst="rect">
            <a:avLst/>
          </a:prstGeom>
          <a:noFill/>
        </p:spPr>
        <p:txBody>
          <a:bodyPr wrap="square" rtlCol="0">
            <a:spAutoFit/>
          </a:bodyPr>
          <a:lstStyle/>
          <a:p>
            <a:pPr algn="ctr"/>
            <a:r>
              <a:rPr lang="pt-BR" sz="700" dirty="0">
                <a:solidFill>
                  <a:schemeClr val="bg1">
                    <a:lumMod val="95000"/>
                  </a:schemeClr>
                </a:solidFill>
                <a:latin typeface="Arial" panose="020B0604020202020204" pitchFamily="34" charset="0"/>
                <a:cs typeface="Arial" panose="020B0604020202020204" pitchFamily="34" charset="0"/>
              </a:rPr>
              <a:t>100%</a:t>
            </a:r>
          </a:p>
        </p:txBody>
      </p:sp>
      <p:sp>
        <p:nvSpPr>
          <p:cNvPr id="49" name="CaixaDeTexto 48">
            <a:extLst>
              <a:ext uri="{FF2B5EF4-FFF2-40B4-BE49-F238E27FC236}">
                <a16:creationId xmlns:a16="http://schemas.microsoft.com/office/drawing/2014/main" id="{7B13C345-67D4-4DB2-A6A2-72A16FDEB664}"/>
              </a:ext>
            </a:extLst>
          </p:cNvPr>
          <p:cNvSpPr txBox="1"/>
          <p:nvPr/>
        </p:nvSpPr>
        <p:spPr>
          <a:xfrm>
            <a:off x="3542606" y="3083021"/>
            <a:ext cx="548639" cy="200055"/>
          </a:xfrm>
          <a:prstGeom prst="rect">
            <a:avLst/>
          </a:prstGeom>
          <a:noFill/>
        </p:spPr>
        <p:txBody>
          <a:bodyPr wrap="square" rtlCol="0">
            <a:spAutoFit/>
          </a:bodyPr>
          <a:lstStyle/>
          <a:p>
            <a:pPr algn="ctr"/>
            <a:r>
              <a:rPr lang="pt-BR" sz="700" dirty="0">
                <a:solidFill>
                  <a:schemeClr val="bg1">
                    <a:lumMod val="95000"/>
                  </a:schemeClr>
                </a:solidFill>
                <a:latin typeface="Arial" panose="020B0604020202020204" pitchFamily="34" charset="0"/>
                <a:cs typeface="Arial" panose="020B0604020202020204" pitchFamily="34" charset="0"/>
              </a:rPr>
              <a:t>100%</a:t>
            </a:r>
          </a:p>
        </p:txBody>
      </p:sp>
      <p:sp>
        <p:nvSpPr>
          <p:cNvPr id="50" name="CaixaDeTexto 49">
            <a:extLst>
              <a:ext uri="{FF2B5EF4-FFF2-40B4-BE49-F238E27FC236}">
                <a16:creationId xmlns:a16="http://schemas.microsoft.com/office/drawing/2014/main" id="{0B02A0B6-9F29-4DEB-9BD0-12DC28E55E0F}"/>
              </a:ext>
            </a:extLst>
          </p:cNvPr>
          <p:cNvSpPr txBox="1"/>
          <p:nvPr/>
        </p:nvSpPr>
        <p:spPr>
          <a:xfrm>
            <a:off x="4341005" y="3123250"/>
            <a:ext cx="548639" cy="200055"/>
          </a:xfrm>
          <a:prstGeom prst="rect">
            <a:avLst/>
          </a:prstGeom>
          <a:noFill/>
        </p:spPr>
        <p:txBody>
          <a:bodyPr wrap="square" rtlCol="0">
            <a:spAutoFit/>
          </a:bodyPr>
          <a:lstStyle/>
          <a:p>
            <a:pPr algn="ctr"/>
            <a:r>
              <a:rPr lang="pt-BR" sz="700" dirty="0">
                <a:solidFill>
                  <a:schemeClr val="bg1">
                    <a:lumMod val="95000"/>
                  </a:schemeClr>
                </a:solidFill>
                <a:latin typeface="Arial" panose="020B0604020202020204" pitchFamily="34" charset="0"/>
                <a:cs typeface="Arial" panose="020B0604020202020204" pitchFamily="34" charset="0"/>
              </a:rPr>
              <a:t>100%</a:t>
            </a:r>
          </a:p>
        </p:txBody>
      </p:sp>
      <p:sp>
        <p:nvSpPr>
          <p:cNvPr id="63" name="CaixaDeTexto 62">
            <a:extLst>
              <a:ext uri="{FF2B5EF4-FFF2-40B4-BE49-F238E27FC236}">
                <a16:creationId xmlns:a16="http://schemas.microsoft.com/office/drawing/2014/main" id="{25328743-7F9A-4227-8E03-224FB8DB3870}"/>
              </a:ext>
            </a:extLst>
          </p:cNvPr>
          <p:cNvSpPr txBox="1"/>
          <p:nvPr/>
        </p:nvSpPr>
        <p:spPr>
          <a:xfrm>
            <a:off x="7542173" y="3000009"/>
            <a:ext cx="548639" cy="200055"/>
          </a:xfrm>
          <a:prstGeom prst="rect">
            <a:avLst/>
          </a:prstGeom>
          <a:noFill/>
        </p:spPr>
        <p:txBody>
          <a:bodyPr wrap="square" rtlCol="0">
            <a:spAutoFit/>
          </a:bodyPr>
          <a:lstStyle/>
          <a:p>
            <a:pPr algn="ctr"/>
            <a:r>
              <a:rPr lang="pt-BR" sz="700" dirty="0">
                <a:solidFill>
                  <a:schemeClr val="bg1">
                    <a:lumMod val="95000"/>
                  </a:schemeClr>
                </a:solidFill>
                <a:latin typeface="Arial" panose="020B0604020202020204" pitchFamily="34" charset="0"/>
                <a:cs typeface="Arial" panose="020B0604020202020204" pitchFamily="34" charset="0"/>
              </a:rPr>
              <a:t>100%</a:t>
            </a:r>
          </a:p>
        </p:txBody>
      </p:sp>
      <p:sp>
        <p:nvSpPr>
          <p:cNvPr id="5" name="CaixaDeTexto 4">
            <a:extLst>
              <a:ext uri="{FF2B5EF4-FFF2-40B4-BE49-F238E27FC236}">
                <a16:creationId xmlns:a16="http://schemas.microsoft.com/office/drawing/2014/main" id="{97E27CBF-FA8D-567E-7F39-FB79BD5C2227}"/>
              </a:ext>
            </a:extLst>
          </p:cNvPr>
          <p:cNvSpPr txBox="1"/>
          <p:nvPr/>
        </p:nvSpPr>
        <p:spPr>
          <a:xfrm>
            <a:off x="8906705" y="3008678"/>
            <a:ext cx="548639" cy="200055"/>
          </a:xfrm>
          <a:prstGeom prst="rect">
            <a:avLst/>
          </a:prstGeom>
          <a:noFill/>
        </p:spPr>
        <p:txBody>
          <a:bodyPr wrap="square" rtlCol="0">
            <a:spAutoFit/>
          </a:bodyPr>
          <a:lstStyle/>
          <a:p>
            <a:pPr algn="ctr"/>
            <a:r>
              <a:rPr lang="pt-BR" sz="700" dirty="0">
                <a:solidFill>
                  <a:schemeClr val="bg1">
                    <a:lumMod val="95000"/>
                  </a:schemeClr>
                </a:solidFill>
                <a:latin typeface="Arial" panose="020B0604020202020204" pitchFamily="34" charset="0"/>
                <a:cs typeface="Arial" panose="020B0604020202020204" pitchFamily="34" charset="0"/>
              </a:rPr>
              <a:t>100%</a:t>
            </a:r>
          </a:p>
        </p:txBody>
      </p:sp>
      <p:sp>
        <p:nvSpPr>
          <p:cNvPr id="7" name="CaixaDeTexto 6">
            <a:extLst>
              <a:ext uri="{FF2B5EF4-FFF2-40B4-BE49-F238E27FC236}">
                <a16:creationId xmlns:a16="http://schemas.microsoft.com/office/drawing/2014/main" id="{F0D02CE5-645B-51D5-9657-E38DF364EF3D}"/>
              </a:ext>
            </a:extLst>
          </p:cNvPr>
          <p:cNvSpPr txBox="1"/>
          <p:nvPr/>
        </p:nvSpPr>
        <p:spPr>
          <a:xfrm>
            <a:off x="10233157" y="2725947"/>
            <a:ext cx="548639" cy="200055"/>
          </a:xfrm>
          <a:prstGeom prst="rect">
            <a:avLst/>
          </a:prstGeom>
          <a:noFill/>
        </p:spPr>
        <p:txBody>
          <a:bodyPr wrap="square" rtlCol="0">
            <a:spAutoFit/>
          </a:bodyPr>
          <a:lstStyle/>
          <a:p>
            <a:pPr algn="ctr"/>
            <a:r>
              <a:rPr lang="pt-BR" sz="700" dirty="0">
                <a:solidFill>
                  <a:schemeClr val="bg1">
                    <a:lumMod val="95000"/>
                  </a:schemeClr>
                </a:solidFill>
                <a:latin typeface="Arial" panose="020B0604020202020204" pitchFamily="34" charset="0"/>
                <a:cs typeface="Arial" panose="020B0604020202020204" pitchFamily="34" charset="0"/>
              </a:rPr>
              <a:t>100%</a:t>
            </a:r>
          </a:p>
        </p:txBody>
      </p:sp>
      <p:sp>
        <p:nvSpPr>
          <p:cNvPr id="51" name="CaixaDeTexto 50">
            <a:extLst>
              <a:ext uri="{FF2B5EF4-FFF2-40B4-BE49-F238E27FC236}">
                <a16:creationId xmlns:a16="http://schemas.microsoft.com/office/drawing/2014/main" id="{C15A8EAA-638D-478E-BA0C-129B8307E279}"/>
              </a:ext>
            </a:extLst>
          </p:cNvPr>
          <p:cNvSpPr txBox="1"/>
          <p:nvPr/>
        </p:nvSpPr>
        <p:spPr>
          <a:xfrm>
            <a:off x="1655928" y="4550305"/>
            <a:ext cx="3676273" cy="646331"/>
          </a:xfrm>
          <a:prstGeom prst="rect">
            <a:avLst/>
          </a:prstGeom>
          <a:noFill/>
        </p:spPr>
        <p:txBody>
          <a:bodyPr wrap="square" rtlCol="0">
            <a:spAutoFit/>
          </a:bodyPr>
          <a:lstStyle/>
          <a:p>
            <a:pPr algn="just"/>
            <a:r>
              <a:rPr lang="pt-BR" sz="1200" dirty="0">
                <a:solidFill>
                  <a:schemeClr val="tx1">
                    <a:lumMod val="65000"/>
                    <a:lumOff val="35000"/>
                  </a:schemeClr>
                </a:solidFill>
                <a:latin typeface="Arial" panose="020B0604020202020204" pitchFamily="34" charset="0"/>
                <a:cs typeface="Arial" panose="020B0604020202020204" pitchFamily="34" charset="0"/>
              </a:rPr>
              <a:t>No consolidado dos ciclos, 80% das atividades foram realizadas dentro do prazo e 20% ficaram fora do prazo.</a:t>
            </a:r>
          </a:p>
        </p:txBody>
      </p:sp>
      <p:sp>
        <p:nvSpPr>
          <p:cNvPr id="52" name="CaixaDeTexto 51">
            <a:extLst>
              <a:ext uri="{FF2B5EF4-FFF2-40B4-BE49-F238E27FC236}">
                <a16:creationId xmlns:a16="http://schemas.microsoft.com/office/drawing/2014/main" id="{BD1D6188-BA32-490F-AC69-54D8B8DAE692}"/>
              </a:ext>
            </a:extLst>
          </p:cNvPr>
          <p:cNvSpPr txBox="1"/>
          <p:nvPr/>
        </p:nvSpPr>
        <p:spPr>
          <a:xfrm>
            <a:off x="7181081" y="4550305"/>
            <a:ext cx="3676273" cy="646331"/>
          </a:xfrm>
          <a:prstGeom prst="rect">
            <a:avLst/>
          </a:prstGeom>
          <a:noFill/>
        </p:spPr>
        <p:txBody>
          <a:bodyPr wrap="square" rtlCol="0">
            <a:spAutoFit/>
          </a:bodyPr>
          <a:lstStyle/>
          <a:p>
            <a:pPr algn="just"/>
            <a:r>
              <a:rPr lang="pt-BR" sz="1200" dirty="0">
                <a:solidFill>
                  <a:schemeClr val="tx1">
                    <a:lumMod val="65000"/>
                    <a:lumOff val="35000"/>
                  </a:schemeClr>
                </a:solidFill>
                <a:latin typeface="Arial" panose="020B0604020202020204" pitchFamily="34" charset="0"/>
                <a:cs typeface="Arial" panose="020B0604020202020204" pitchFamily="34" charset="0"/>
              </a:rPr>
              <a:t>NCG contou com apenas 1 monitoria no período, que foi aplicada dentro do prazo, resultando em 100% de conformidade.</a:t>
            </a:r>
          </a:p>
        </p:txBody>
      </p:sp>
      <p:sp>
        <p:nvSpPr>
          <p:cNvPr id="53" name="CaixaDeTexto 52">
            <a:extLst>
              <a:ext uri="{FF2B5EF4-FFF2-40B4-BE49-F238E27FC236}">
                <a16:creationId xmlns:a16="http://schemas.microsoft.com/office/drawing/2014/main" id="{DB96148B-920B-4F04-AD85-E499FFD5631F}"/>
              </a:ext>
            </a:extLst>
          </p:cNvPr>
          <p:cNvSpPr txBox="1"/>
          <p:nvPr/>
        </p:nvSpPr>
        <p:spPr>
          <a:xfrm>
            <a:off x="2007764" y="2615784"/>
            <a:ext cx="727163" cy="200055"/>
          </a:xfrm>
          <a:prstGeom prst="rect">
            <a:avLst/>
          </a:prstGeom>
          <a:noFill/>
        </p:spPr>
        <p:txBody>
          <a:bodyPr wrap="square" rtlCol="0">
            <a:spAutoFit/>
          </a:bodyPr>
          <a:lstStyle/>
          <a:p>
            <a:pPr algn="ctr"/>
            <a:r>
              <a:rPr lang="pt-BR" sz="700" dirty="0">
                <a:solidFill>
                  <a:schemeClr val="tx1">
                    <a:lumMod val="65000"/>
                    <a:lumOff val="35000"/>
                  </a:schemeClr>
                </a:solidFill>
                <a:latin typeface="Arial" panose="020B0604020202020204" pitchFamily="34" charset="0"/>
                <a:cs typeface="Arial" panose="020B0604020202020204" pitchFamily="34" charset="0"/>
              </a:rPr>
              <a:t>33,33%</a:t>
            </a:r>
          </a:p>
        </p:txBody>
      </p:sp>
      <p:sp>
        <p:nvSpPr>
          <p:cNvPr id="54" name="CaixaDeTexto 53">
            <a:extLst>
              <a:ext uri="{FF2B5EF4-FFF2-40B4-BE49-F238E27FC236}">
                <a16:creationId xmlns:a16="http://schemas.microsoft.com/office/drawing/2014/main" id="{083783CC-3555-4C3D-98FC-31BC181F2576}"/>
              </a:ext>
            </a:extLst>
          </p:cNvPr>
          <p:cNvSpPr txBox="1"/>
          <p:nvPr/>
        </p:nvSpPr>
        <p:spPr>
          <a:xfrm>
            <a:off x="2914376" y="2815839"/>
            <a:ext cx="727163" cy="200055"/>
          </a:xfrm>
          <a:prstGeom prst="rect">
            <a:avLst/>
          </a:prstGeom>
          <a:noFill/>
        </p:spPr>
        <p:txBody>
          <a:bodyPr wrap="square" rtlCol="0">
            <a:spAutoFit/>
          </a:bodyPr>
          <a:lstStyle/>
          <a:p>
            <a:pPr algn="ctr"/>
            <a:r>
              <a:rPr lang="pt-BR" sz="700" dirty="0">
                <a:solidFill>
                  <a:schemeClr val="tx1">
                    <a:lumMod val="65000"/>
                    <a:lumOff val="35000"/>
                  </a:schemeClr>
                </a:solidFill>
                <a:latin typeface="Arial" panose="020B0604020202020204" pitchFamily="34" charset="0"/>
                <a:cs typeface="Arial" panose="020B0604020202020204" pitchFamily="34" charset="0"/>
              </a:rPr>
              <a:t>100%</a:t>
            </a:r>
          </a:p>
        </p:txBody>
      </p:sp>
      <p:sp>
        <p:nvSpPr>
          <p:cNvPr id="55" name="CaixaDeTexto 54">
            <a:extLst>
              <a:ext uri="{FF2B5EF4-FFF2-40B4-BE49-F238E27FC236}">
                <a16:creationId xmlns:a16="http://schemas.microsoft.com/office/drawing/2014/main" id="{FD632394-80BD-4E6D-B775-CF6CBBD3E7A5}"/>
              </a:ext>
            </a:extLst>
          </p:cNvPr>
          <p:cNvSpPr txBox="1"/>
          <p:nvPr/>
        </p:nvSpPr>
        <p:spPr>
          <a:xfrm>
            <a:off x="4229035" y="2764578"/>
            <a:ext cx="727163" cy="200055"/>
          </a:xfrm>
          <a:prstGeom prst="rect">
            <a:avLst/>
          </a:prstGeom>
          <a:noFill/>
        </p:spPr>
        <p:txBody>
          <a:bodyPr wrap="square" rtlCol="0">
            <a:spAutoFit/>
          </a:bodyPr>
          <a:lstStyle/>
          <a:p>
            <a:pPr algn="ctr"/>
            <a:r>
              <a:rPr lang="pt-BR" sz="700" dirty="0">
                <a:solidFill>
                  <a:schemeClr val="tx1">
                    <a:lumMod val="65000"/>
                    <a:lumOff val="35000"/>
                  </a:schemeClr>
                </a:solidFill>
                <a:latin typeface="Arial" panose="020B0604020202020204" pitchFamily="34" charset="0"/>
                <a:cs typeface="Arial" panose="020B0604020202020204" pitchFamily="34" charset="0"/>
              </a:rPr>
              <a:t>100%</a:t>
            </a:r>
          </a:p>
        </p:txBody>
      </p:sp>
    </p:spTree>
    <p:extLst>
      <p:ext uri="{BB962C8B-B14F-4D97-AF65-F5344CB8AC3E}">
        <p14:creationId xmlns:p14="http://schemas.microsoft.com/office/powerpoint/2010/main" val="6187468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9DED8-4ED4-EE1C-698F-C397254EE7A8}"/>
            </a:ext>
          </a:extLst>
        </p:cNvPr>
        <p:cNvGrpSpPr/>
        <p:nvPr/>
      </p:nvGrpSpPr>
      <p:grpSpPr>
        <a:xfrm>
          <a:off x="0" y="0"/>
          <a:ext cx="0" cy="0"/>
          <a:chOff x="0" y="0"/>
          <a:chExt cx="0" cy="0"/>
        </a:xfrm>
      </p:grpSpPr>
      <p:pic>
        <p:nvPicPr>
          <p:cNvPr id="39" name="Imagem 38">
            <a:extLst>
              <a:ext uri="{FF2B5EF4-FFF2-40B4-BE49-F238E27FC236}">
                <a16:creationId xmlns:a16="http://schemas.microsoft.com/office/drawing/2014/main" id="{96728877-509A-9199-17D7-6BD7659B4A52}"/>
              </a:ext>
            </a:extLst>
          </p:cNvPr>
          <p:cNvPicPr>
            <a:picLocks noChangeAspect="1"/>
          </p:cNvPicPr>
          <p:nvPr/>
        </p:nvPicPr>
        <p:blipFill>
          <a:blip r:embed="rId2">
            <a:alphaModFix amt="4000"/>
          </a:blip>
          <a:stretch>
            <a:fillRect/>
          </a:stretch>
        </p:blipFill>
        <p:spPr>
          <a:xfrm>
            <a:off x="9157251" y="4596063"/>
            <a:ext cx="5030445" cy="5148116"/>
          </a:xfrm>
          <a:prstGeom prst="rect">
            <a:avLst/>
          </a:prstGeom>
          <a:effectLst/>
        </p:spPr>
      </p:pic>
      <p:pic>
        <p:nvPicPr>
          <p:cNvPr id="38" name="Imagem 37">
            <a:extLst>
              <a:ext uri="{FF2B5EF4-FFF2-40B4-BE49-F238E27FC236}">
                <a16:creationId xmlns:a16="http://schemas.microsoft.com/office/drawing/2014/main" id="{31333D9D-A7E5-B73F-6119-EDEACFEC596F}"/>
              </a:ext>
            </a:extLst>
          </p:cNvPr>
          <p:cNvPicPr>
            <a:picLocks noChangeAspect="1"/>
          </p:cNvPicPr>
          <p:nvPr/>
        </p:nvPicPr>
        <p:blipFill>
          <a:blip r:embed="rId2">
            <a:alphaModFix amt="4000"/>
          </a:blip>
          <a:stretch>
            <a:fillRect/>
          </a:stretch>
        </p:blipFill>
        <p:spPr>
          <a:xfrm>
            <a:off x="-2128370" y="-2021305"/>
            <a:ext cx="5030445" cy="5148116"/>
          </a:xfrm>
          <a:prstGeom prst="rect">
            <a:avLst/>
          </a:prstGeom>
          <a:effectLst/>
        </p:spPr>
      </p:pic>
      <p:sp>
        <p:nvSpPr>
          <p:cNvPr id="6" name="Título 1">
            <a:extLst>
              <a:ext uri="{FF2B5EF4-FFF2-40B4-BE49-F238E27FC236}">
                <a16:creationId xmlns:a16="http://schemas.microsoft.com/office/drawing/2014/main" id="{1F716360-4B7D-658D-3673-800A4D0900DE}"/>
              </a:ext>
            </a:extLst>
          </p:cNvPr>
          <p:cNvSpPr txBox="1">
            <a:spLocks/>
          </p:cNvSpPr>
          <p:nvPr/>
        </p:nvSpPr>
        <p:spPr>
          <a:xfrm>
            <a:off x="5946417" y="431573"/>
            <a:ext cx="5811865"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pt-BR" sz="1600" spc="600" dirty="0">
                <a:solidFill>
                  <a:srgbClr val="00B0F0"/>
                </a:solidFill>
                <a:latin typeface="Arial" panose="020B0604020202020204" pitchFamily="34" charset="0"/>
                <a:cs typeface="Arial" panose="020B0604020202020204" pitchFamily="34" charset="0"/>
              </a:rPr>
              <a:t>CADASTRO POSITIVO</a:t>
            </a:r>
          </a:p>
        </p:txBody>
      </p:sp>
      <p:grpSp>
        <p:nvGrpSpPr>
          <p:cNvPr id="20" name="Google Shape;1964;p50">
            <a:extLst>
              <a:ext uri="{FF2B5EF4-FFF2-40B4-BE49-F238E27FC236}">
                <a16:creationId xmlns:a16="http://schemas.microsoft.com/office/drawing/2014/main" id="{002A9844-6406-5FE1-F67E-1E2FCB7DBA30}"/>
              </a:ext>
            </a:extLst>
          </p:cNvPr>
          <p:cNvGrpSpPr/>
          <p:nvPr/>
        </p:nvGrpSpPr>
        <p:grpSpPr>
          <a:xfrm flipH="1">
            <a:off x="742950" y="537670"/>
            <a:ext cx="603644" cy="576232"/>
            <a:chOff x="4126815" y="2760704"/>
            <a:chExt cx="380393" cy="363118"/>
          </a:xfrm>
          <a:solidFill>
            <a:srgbClr val="0B5892"/>
          </a:solidFill>
        </p:grpSpPr>
        <p:sp>
          <p:nvSpPr>
            <p:cNvPr id="21" name="Google Shape;1965;p50">
              <a:extLst>
                <a:ext uri="{FF2B5EF4-FFF2-40B4-BE49-F238E27FC236}">
                  <a16:creationId xmlns:a16="http://schemas.microsoft.com/office/drawing/2014/main" id="{2CE3DD0A-BFC0-A9F5-AB38-EDC7A9F85957}"/>
                </a:ext>
              </a:extLst>
            </p:cNvPr>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966;p50">
              <a:extLst>
                <a:ext uri="{FF2B5EF4-FFF2-40B4-BE49-F238E27FC236}">
                  <a16:creationId xmlns:a16="http://schemas.microsoft.com/office/drawing/2014/main" id="{40EAEA7D-D0C8-D7E2-618F-647CB790F44D}"/>
                </a:ext>
              </a:extLst>
            </p:cNvPr>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967;p50">
              <a:extLst>
                <a:ext uri="{FF2B5EF4-FFF2-40B4-BE49-F238E27FC236}">
                  <a16:creationId xmlns:a16="http://schemas.microsoft.com/office/drawing/2014/main" id="{99503D1A-2237-467D-E460-8CF190987A3A}"/>
                </a:ext>
              </a:extLst>
            </p:cNvPr>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968;p50">
              <a:extLst>
                <a:ext uri="{FF2B5EF4-FFF2-40B4-BE49-F238E27FC236}">
                  <a16:creationId xmlns:a16="http://schemas.microsoft.com/office/drawing/2014/main" id="{9136AD47-8FB9-AF41-CDBE-0477CFD63AC3}"/>
                </a:ext>
              </a:extLst>
            </p:cNvPr>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Retângulo 28">
            <a:extLst>
              <a:ext uri="{FF2B5EF4-FFF2-40B4-BE49-F238E27FC236}">
                <a16:creationId xmlns:a16="http://schemas.microsoft.com/office/drawing/2014/main" id="{DF7B983F-8936-9642-B030-71D09B2363FE}"/>
              </a:ext>
            </a:extLst>
          </p:cNvPr>
          <p:cNvSpPr/>
          <p:nvPr/>
        </p:nvSpPr>
        <p:spPr>
          <a:xfrm>
            <a:off x="-449179" y="6707874"/>
            <a:ext cx="14054469" cy="33461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 name="Imagem 7">
            <a:extLst>
              <a:ext uri="{FF2B5EF4-FFF2-40B4-BE49-F238E27FC236}">
                <a16:creationId xmlns:a16="http://schemas.microsoft.com/office/drawing/2014/main" id="{7BC3463F-B66F-F5AD-728F-AD9A65C8F2A0}"/>
              </a:ext>
            </a:extLst>
          </p:cNvPr>
          <p:cNvPicPr>
            <a:picLocks noChangeAspect="1"/>
          </p:cNvPicPr>
          <p:nvPr/>
        </p:nvPicPr>
        <p:blipFill>
          <a:blip r:embed="rId3"/>
          <a:stretch>
            <a:fillRect/>
          </a:stretch>
        </p:blipFill>
        <p:spPr>
          <a:xfrm>
            <a:off x="-124691" y="-20995"/>
            <a:ext cx="12316692" cy="88042"/>
          </a:xfrm>
          <a:prstGeom prst="rect">
            <a:avLst/>
          </a:prstGeom>
        </p:spPr>
      </p:pic>
      <p:sp>
        <p:nvSpPr>
          <p:cNvPr id="18" name="Título 1">
            <a:extLst>
              <a:ext uri="{FF2B5EF4-FFF2-40B4-BE49-F238E27FC236}">
                <a16:creationId xmlns:a16="http://schemas.microsoft.com/office/drawing/2014/main" id="{AECE92C3-4A2C-0EBB-FFCB-7E9D063FD624}"/>
              </a:ext>
            </a:extLst>
          </p:cNvPr>
          <p:cNvSpPr txBox="1">
            <a:spLocks/>
          </p:cNvSpPr>
          <p:nvPr/>
        </p:nvSpPr>
        <p:spPr>
          <a:xfrm>
            <a:off x="1366068" y="448718"/>
            <a:ext cx="6453099"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spc="600" dirty="0">
                <a:solidFill>
                  <a:srgbClr val="0B5892"/>
                </a:solidFill>
                <a:latin typeface="Arial" panose="020B0604020202020204" pitchFamily="34" charset="0"/>
                <a:cs typeface="Arial" panose="020B0604020202020204" pitchFamily="34" charset="0"/>
              </a:rPr>
              <a:t>RANKING DE DESEMPENHO</a:t>
            </a:r>
          </a:p>
        </p:txBody>
      </p:sp>
      <p:sp>
        <p:nvSpPr>
          <p:cNvPr id="19" name="Título 1">
            <a:extLst>
              <a:ext uri="{FF2B5EF4-FFF2-40B4-BE49-F238E27FC236}">
                <a16:creationId xmlns:a16="http://schemas.microsoft.com/office/drawing/2014/main" id="{AF6012E4-A8B2-DC8C-4066-C74AE831AF5B}"/>
              </a:ext>
            </a:extLst>
          </p:cNvPr>
          <p:cNvSpPr txBox="1">
            <a:spLocks/>
          </p:cNvSpPr>
          <p:nvPr/>
        </p:nvSpPr>
        <p:spPr>
          <a:xfrm>
            <a:off x="1400358" y="716411"/>
            <a:ext cx="6950456"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600" spc="300" dirty="0">
                <a:solidFill>
                  <a:srgbClr val="0B5892"/>
                </a:solidFill>
                <a:latin typeface="Arial" panose="020B0604020202020204" pitchFamily="34" charset="0"/>
                <a:cs typeface="Arial" panose="020B0604020202020204" pitchFamily="34" charset="0"/>
              </a:rPr>
              <a:t>Quantidade total de monitorias realizadas</a:t>
            </a:r>
          </a:p>
        </p:txBody>
      </p:sp>
      <p:cxnSp>
        <p:nvCxnSpPr>
          <p:cNvPr id="25" name="Conector reto 24">
            <a:extLst>
              <a:ext uri="{FF2B5EF4-FFF2-40B4-BE49-F238E27FC236}">
                <a16:creationId xmlns:a16="http://schemas.microsoft.com/office/drawing/2014/main" id="{2F31A6B5-04C9-12AC-B414-FEB35F643056}"/>
              </a:ext>
            </a:extLst>
          </p:cNvPr>
          <p:cNvCxnSpPr/>
          <p:nvPr/>
        </p:nvCxnSpPr>
        <p:spPr>
          <a:xfrm>
            <a:off x="725988" y="1185955"/>
            <a:ext cx="9855200" cy="0"/>
          </a:xfrm>
          <a:prstGeom prst="line">
            <a:avLst/>
          </a:prstGeom>
          <a:ln>
            <a:solidFill>
              <a:srgbClr val="0B5892"/>
            </a:solidFill>
          </a:ln>
        </p:spPr>
        <p:style>
          <a:lnRef idx="1">
            <a:schemeClr val="accent1"/>
          </a:lnRef>
          <a:fillRef idx="0">
            <a:schemeClr val="accent1"/>
          </a:fillRef>
          <a:effectRef idx="0">
            <a:schemeClr val="accent1"/>
          </a:effectRef>
          <a:fontRef idx="minor">
            <a:schemeClr val="tx1"/>
          </a:fontRef>
        </p:style>
      </p:cxnSp>
      <p:graphicFrame>
        <p:nvGraphicFramePr>
          <p:cNvPr id="26" name="Gráfico 25">
            <a:extLst>
              <a:ext uri="{FF2B5EF4-FFF2-40B4-BE49-F238E27FC236}">
                <a16:creationId xmlns:a16="http://schemas.microsoft.com/office/drawing/2014/main" id="{41CF0782-9903-AB8C-50F6-88BBF4B15F71}"/>
              </a:ext>
            </a:extLst>
          </p:cNvPr>
          <p:cNvGraphicFramePr/>
          <p:nvPr>
            <p:extLst>
              <p:ext uri="{D42A27DB-BD31-4B8C-83A1-F6EECF244321}">
                <p14:modId xmlns:p14="http://schemas.microsoft.com/office/powerpoint/2010/main" val="3516726689"/>
              </p:ext>
            </p:extLst>
          </p:nvPr>
        </p:nvGraphicFramePr>
        <p:xfrm>
          <a:off x="643466" y="1549889"/>
          <a:ext cx="5787167" cy="3251200"/>
        </p:xfrm>
        <a:graphic>
          <a:graphicData uri="http://schemas.openxmlformats.org/drawingml/2006/chart">
            <c:chart xmlns:c="http://schemas.openxmlformats.org/drawingml/2006/chart" xmlns:r="http://schemas.openxmlformats.org/officeDocument/2006/relationships" r:id="rId4"/>
          </a:graphicData>
        </a:graphic>
      </p:graphicFrame>
      <p:sp>
        <p:nvSpPr>
          <p:cNvPr id="27" name="Retângulo: Cantos Arredondados 26">
            <a:extLst>
              <a:ext uri="{FF2B5EF4-FFF2-40B4-BE49-F238E27FC236}">
                <a16:creationId xmlns:a16="http://schemas.microsoft.com/office/drawing/2014/main" id="{653E1976-A071-ADA5-DE20-0FFB6E0BE8F2}"/>
              </a:ext>
            </a:extLst>
          </p:cNvPr>
          <p:cNvSpPr/>
          <p:nvPr/>
        </p:nvSpPr>
        <p:spPr>
          <a:xfrm>
            <a:off x="7138142" y="1626082"/>
            <a:ext cx="4128654" cy="1839144"/>
          </a:xfrm>
          <a:prstGeom prst="roundRect">
            <a:avLst/>
          </a:prstGeom>
          <a:solidFill>
            <a:schemeClr val="bg1">
              <a:lumMod val="95000"/>
            </a:schemeClr>
          </a:solidFill>
          <a:ln>
            <a:noFill/>
          </a:ln>
          <a:effectLst>
            <a:outerShdw dist="101600" dir="10740000" algn="t" rotWithShape="0">
              <a:srgbClr val="00B0F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49" name="Google Shape;1944;p50">
            <a:extLst>
              <a:ext uri="{FF2B5EF4-FFF2-40B4-BE49-F238E27FC236}">
                <a16:creationId xmlns:a16="http://schemas.microsoft.com/office/drawing/2014/main" id="{9F358735-D920-8BC3-6EBC-B7D1304FC6BE}"/>
              </a:ext>
            </a:extLst>
          </p:cNvPr>
          <p:cNvGrpSpPr/>
          <p:nvPr/>
        </p:nvGrpSpPr>
        <p:grpSpPr>
          <a:xfrm>
            <a:off x="7308880" y="1717741"/>
            <a:ext cx="476316" cy="468384"/>
            <a:chOff x="860940" y="2746477"/>
            <a:chExt cx="371883" cy="365691"/>
          </a:xfrm>
          <a:solidFill>
            <a:srgbClr val="00B0F0"/>
          </a:solidFill>
        </p:grpSpPr>
        <p:sp>
          <p:nvSpPr>
            <p:cNvPr id="50" name="Google Shape;1945;p50">
              <a:extLst>
                <a:ext uri="{FF2B5EF4-FFF2-40B4-BE49-F238E27FC236}">
                  <a16:creationId xmlns:a16="http://schemas.microsoft.com/office/drawing/2014/main" id="{0852EEB5-F41C-324F-B5C6-4753B1073532}"/>
                </a:ext>
              </a:extLst>
            </p:cNvPr>
            <p:cNvSpPr/>
            <p:nvPr/>
          </p:nvSpPr>
          <p:spPr>
            <a:xfrm>
              <a:off x="908191" y="3026302"/>
              <a:ext cx="30294" cy="28961"/>
            </a:xfrm>
            <a:custGeom>
              <a:avLst/>
              <a:gdLst/>
              <a:ahLst/>
              <a:cxnLst/>
              <a:rect l="l" t="t" r="r" b="b"/>
              <a:pathLst>
                <a:path w="954" h="912" extrusionOk="0">
                  <a:moveTo>
                    <a:pt x="763" y="1"/>
                  </a:moveTo>
                  <a:cubicBezTo>
                    <a:pt x="718" y="1"/>
                    <a:pt x="674" y="16"/>
                    <a:pt x="644" y="45"/>
                  </a:cubicBezTo>
                  <a:lnTo>
                    <a:pt x="60" y="629"/>
                  </a:lnTo>
                  <a:cubicBezTo>
                    <a:pt x="1" y="688"/>
                    <a:pt x="1" y="807"/>
                    <a:pt x="60" y="867"/>
                  </a:cubicBezTo>
                  <a:cubicBezTo>
                    <a:pt x="90" y="897"/>
                    <a:pt x="135" y="911"/>
                    <a:pt x="179" y="911"/>
                  </a:cubicBezTo>
                  <a:cubicBezTo>
                    <a:pt x="224" y="911"/>
                    <a:pt x="269" y="897"/>
                    <a:pt x="299" y="867"/>
                  </a:cubicBezTo>
                  <a:lnTo>
                    <a:pt x="882" y="283"/>
                  </a:lnTo>
                  <a:cubicBezTo>
                    <a:pt x="953" y="224"/>
                    <a:pt x="953" y="105"/>
                    <a:pt x="882" y="45"/>
                  </a:cubicBezTo>
                  <a:cubicBezTo>
                    <a:pt x="852" y="16"/>
                    <a:pt x="807" y="1"/>
                    <a:pt x="76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946;p50">
              <a:extLst>
                <a:ext uri="{FF2B5EF4-FFF2-40B4-BE49-F238E27FC236}">
                  <a16:creationId xmlns:a16="http://schemas.microsoft.com/office/drawing/2014/main" id="{DE39814D-03DC-1BFB-CDDB-FD9D40826399}"/>
                </a:ext>
              </a:extLst>
            </p:cNvPr>
            <p:cNvSpPr/>
            <p:nvPr/>
          </p:nvSpPr>
          <p:spPr>
            <a:xfrm>
              <a:off x="943757" y="3061836"/>
              <a:ext cx="30263" cy="28961"/>
            </a:xfrm>
            <a:custGeom>
              <a:avLst/>
              <a:gdLst/>
              <a:ahLst/>
              <a:cxnLst/>
              <a:rect l="l" t="t" r="r" b="b"/>
              <a:pathLst>
                <a:path w="953" h="912" extrusionOk="0">
                  <a:moveTo>
                    <a:pt x="762" y="1"/>
                  </a:moveTo>
                  <a:cubicBezTo>
                    <a:pt x="717" y="1"/>
                    <a:pt x="673" y="16"/>
                    <a:pt x="643" y="46"/>
                  </a:cubicBezTo>
                  <a:lnTo>
                    <a:pt x="60" y="629"/>
                  </a:lnTo>
                  <a:cubicBezTo>
                    <a:pt x="0" y="688"/>
                    <a:pt x="0" y="807"/>
                    <a:pt x="60" y="867"/>
                  </a:cubicBezTo>
                  <a:cubicBezTo>
                    <a:pt x="89" y="897"/>
                    <a:pt x="134" y="912"/>
                    <a:pt x="179" y="912"/>
                  </a:cubicBezTo>
                  <a:cubicBezTo>
                    <a:pt x="223" y="912"/>
                    <a:pt x="268" y="897"/>
                    <a:pt x="298" y="867"/>
                  </a:cubicBezTo>
                  <a:lnTo>
                    <a:pt x="881" y="284"/>
                  </a:lnTo>
                  <a:cubicBezTo>
                    <a:pt x="953" y="224"/>
                    <a:pt x="953" y="105"/>
                    <a:pt x="881" y="46"/>
                  </a:cubicBezTo>
                  <a:cubicBezTo>
                    <a:pt x="851" y="16"/>
                    <a:pt x="807" y="1"/>
                    <a:pt x="7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947;p50">
              <a:extLst>
                <a:ext uri="{FF2B5EF4-FFF2-40B4-BE49-F238E27FC236}">
                  <a16:creationId xmlns:a16="http://schemas.microsoft.com/office/drawing/2014/main" id="{F17CD3BD-CEA3-0858-73F5-0D51689B8EDB}"/>
                </a:ext>
              </a:extLst>
            </p:cNvPr>
            <p:cNvSpPr/>
            <p:nvPr/>
          </p:nvSpPr>
          <p:spPr>
            <a:xfrm>
              <a:off x="926355" y="3044085"/>
              <a:ext cx="29881" cy="28579"/>
            </a:xfrm>
            <a:custGeom>
              <a:avLst/>
              <a:gdLst/>
              <a:ahLst/>
              <a:cxnLst/>
              <a:rect l="l" t="t" r="r" b="b"/>
              <a:pathLst>
                <a:path w="941" h="900" extrusionOk="0">
                  <a:moveTo>
                    <a:pt x="762" y="0"/>
                  </a:moveTo>
                  <a:cubicBezTo>
                    <a:pt x="718" y="0"/>
                    <a:pt x="673" y="15"/>
                    <a:pt x="643" y="45"/>
                  </a:cubicBezTo>
                  <a:lnTo>
                    <a:pt x="60" y="616"/>
                  </a:lnTo>
                  <a:cubicBezTo>
                    <a:pt x="0" y="676"/>
                    <a:pt x="0" y="795"/>
                    <a:pt x="60" y="855"/>
                  </a:cubicBezTo>
                  <a:cubicBezTo>
                    <a:pt x="90" y="884"/>
                    <a:pt x="134" y="899"/>
                    <a:pt x="179" y="899"/>
                  </a:cubicBezTo>
                  <a:cubicBezTo>
                    <a:pt x="224" y="899"/>
                    <a:pt x="268" y="884"/>
                    <a:pt x="298" y="855"/>
                  </a:cubicBezTo>
                  <a:lnTo>
                    <a:pt x="881" y="283"/>
                  </a:lnTo>
                  <a:cubicBezTo>
                    <a:pt x="941" y="224"/>
                    <a:pt x="941" y="116"/>
                    <a:pt x="881" y="45"/>
                  </a:cubicBezTo>
                  <a:cubicBezTo>
                    <a:pt x="852" y="15"/>
                    <a:pt x="807" y="0"/>
                    <a:pt x="76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948;p50">
              <a:extLst>
                <a:ext uri="{FF2B5EF4-FFF2-40B4-BE49-F238E27FC236}">
                  <a16:creationId xmlns:a16="http://schemas.microsoft.com/office/drawing/2014/main" id="{540F35DD-A805-C9C6-F2D5-9AEE449F5668}"/>
                </a:ext>
              </a:extLst>
            </p:cNvPr>
            <p:cNvSpPr/>
            <p:nvPr/>
          </p:nvSpPr>
          <p:spPr>
            <a:xfrm>
              <a:off x="860940" y="2746477"/>
              <a:ext cx="371883" cy="365691"/>
            </a:xfrm>
            <a:custGeom>
              <a:avLst/>
              <a:gdLst/>
              <a:ahLst/>
              <a:cxnLst/>
              <a:rect l="l" t="t" r="r" b="b"/>
              <a:pathLst>
                <a:path w="11711" h="11516" extrusionOk="0">
                  <a:moveTo>
                    <a:pt x="11312" y="344"/>
                  </a:moveTo>
                  <a:lnTo>
                    <a:pt x="10835" y="1987"/>
                  </a:lnTo>
                  <a:lnTo>
                    <a:pt x="9680" y="821"/>
                  </a:lnTo>
                  <a:lnTo>
                    <a:pt x="11312" y="344"/>
                  </a:lnTo>
                  <a:close/>
                  <a:moveTo>
                    <a:pt x="4882" y="3821"/>
                  </a:moveTo>
                  <a:lnTo>
                    <a:pt x="2822" y="5881"/>
                  </a:lnTo>
                  <a:lnTo>
                    <a:pt x="477" y="5690"/>
                  </a:lnTo>
                  <a:cubicBezTo>
                    <a:pt x="453" y="5690"/>
                    <a:pt x="429" y="5643"/>
                    <a:pt x="465" y="5631"/>
                  </a:cubicBezTo>
                  <a:cubicBezTo>
                    <a:pt x="1477" y="4619"/>
                    <a:pt x="2822" y="4000"/>
                    <a:pt x="4227" y="3881"/>
                  </a:cubicBezTo>
                  <a:lnTo>
                    <a:pt x="4882" y="3821"/>
                  </a:lnTo>
                  <a:close/>
                  <a:moveTo>
                    <a:pt x="2894" y="6297"/>
                  </a:moveTo>
                  <a:lnTo>
                    <a:pt x="3811" y="7226"/>
                  </a:lnTo>
                  <a:lnTo>
                    <a:pt x="3477" y="7571"/>
                  </a:lnTo>
                  <a:lnTo>
                    <a:pt x="2549" y="6643"/>
                  </a:lnTo>
                  <a:lnTo>
                    <a:pt x="2894" y="6297"/>
                  </a:lnTo>
                  <a:close/>
                  <a:moveTo>
                    <a:pt x="2727" y="7333"/>
                  </a:moveTo>
                  <a:lnTo>
                    <a:pt x="3203" y="7810"/>
                  </a:lnTo>
                  <a:lnTo>
                    <a:pt x="2799" y="8226"/>
                  </a:lnTo>
                  <a:cubicBezTo>
                    <a:pt x="2787" y="8238"/>
                    <a:pt x="2763" y="8262"/>
                    <a:pt x="2739" y="8298"/>
                  </a:cubicBezTo>
                  <a:lnTo>
                    <a:pt x="2310" y="7869"/>
                  </a:lnTo>
                  <a:cubicBezTo>
                    <a:pt x="2287" y="7833"/>
                    <a:pt x="2287" y="7774"/>
                    <a:pt x="2310" y="7750"/>
                  </a:cubicBezTo>
                  <a:lnTo>
                    <a:pt x="2727" y="7333"/>
                  </a:lnTo>
                  <a:close/>
                  <a:moveTo>
                    <a:pt x="9311" y="916"/>
                  </a:moveTo>
                  <a:lnTo>
                    <a:pt x="10740" y="2345"/>
                  </a:lnTo>
                  <a:lnTo>
                    <a:pt x="10299" y="3821"/>
                  </a:lnTo>
                  <a:lnTo>
                    <a:pt x="5597" y="8524"/>
                  </a:lnTo>
                  <a:lnTo>
                    <a:pt x="4680" y="7595"/>
                  </a:lnTo>
                  <a:lnTo>
                    <a:pt x="6823" y="5452"/>
                  </a:lnTo>
                  <a:cubicBezTo>
                    <a:pt x="6966" y="5309"/>
                    <a:pt x="7001" y="5035"/>
                    <a:pt x="6811" y="4833"/>
                  </a:cubicBezTo>
                  <a:cubicBezTo>
                    <a:pt x="6728" y="4750"/>
                    <a:pt x="6617" y="4708"/>
                    <a:pt x="6506" y="4708"/>
                  </a:cubicBezTo>
                  <a:cubicBezTo>
                    <a:pt x="6394" y="4708"/>
                    <a:pt x="6281" y="4750"/>
                    <a:pt x="6192" y="4833"/>
                  </a:cubicBezTo>
                  <a:lnTo>
                    <a:pt x="4049" y="6976"/>
                  </a:lnTo>
                  <a:lnTo>
                    <a:pt x="3132" y="6047"/>
                  </a:lnTo>
                  <a:lnTo>
                    <a:pt x="7835" y="1344"/>
                  </a:lnTo>
                  <a:lnTo>
                    <a:pt x="9311" y="916"/>
                  </a:lnTo>
                  <a:close/>
                  <a:moveTo>
                    <a:pt x="6495" y="5047"/>
                  </a:moveTo>
                  <a:cubicBezTo>
                    <a:pt x="6522" y="5047"/>
                    <a:pt x="6549" y="5059"/>
                    <a:pt x="6573" y="5083"/>
                  </a:cubicBezTo>
                  <a:cubicBezTo>
                    <a:pt x="6609" y="5131"/>
                    <a:pt x="6609" y="5178"/>
                    <a:pt x="6573" y="5226"/>
                  </a:cubicBezTo>
                  <a:lnTo>
                    <a:pt x="4311" y="7488"/>
                  </a:lnTo>
                  <a:lnTo>
                    <a:pt x="3203" y="8595"/>
                  </a:lnTo>
                  <a:cubicBezTo>
                    <a:pt x="3180" y="8619"/>
                    <a:pt x="3153" y="8631"/>
                    <a:pt x="3127" y="8631"/>
                  </a:cubicBezTo>
                  <a:cubicBezTo>
                    <a:pt x="3102" y="8631"/>
                    <a:pt x="3078" y="8619"/>
                    <a:pt x="3060" y="8595"/>
                  </a:cubicBezTo>
                  <a:cubicBezTo>
                    <a:pt x="3013" y="8548"/>
                    <a:pt x="3013" y="8488"/>
                    <a:pt x="3060" y="8441"/>
                  </a:cubicBezTo>
                  <a:lnTo>
                    <a:pt x="6418" y="5083"/>
                  </a:lnTo>
                  <a:cubicBezTo>
                    <a:pt x="6442" y="5059"/>
                    <a:pt x="6469" y="5047"/>
                    <a:pt x="6495" y="5047"/>
                  </a:cubicBezTo>
                  <a:close/>
                  <a:moveTo>
                    <a:pt x="4430" y="7857"/>
                  </a:moveTo>
                  <a:lnTo>
                    <a:pt x="5346" y="8786"/>
                  </a:lnTo>
                  <a:lnTo>
                    <a:pt x="5001" y="9119"/>
                  </a:lnTo>
                  <a:lnTo>
                    <a:pt x="4989" y="9119"/>
                  </a:lnTo>
                  <a:lnTo>
                    <a:pt x="4084" y="8202"/>
                  </a:lnTo>
                  <a:lnTo>
                    <a:pt x="4430" y="7857"/>
                  </a:lnTo>
                  <a:close/>
                  <a:moveTo>
                    <a:pt x="3846" y="8429"/>
                  </a:moveTo>
                  <a:lnTo>
                    <a:pt x="4323" y="8905"/>
                  </a:lnTo>
                  <a:lnTo>
                    <a:pt x="3906" y="9322"/>
                  </a:lnTo>
                  <a:cubicBezTo>
                    <a:pt x="3894" y="9334"/>
                    <a:pt x="3858" y="9357"/>
                    <a:pt x="3846" y="9357"/>
                  </a:cubicBezTo>
                  <a:cubicBezTo>
                    <a:pt x="3834" y="9357"/>
                    <a:pt x="3811" y="9357"/>
                    <a:pt x="3787" y="9322"/>
                  </a:cubicBezTo>
                  <a:lnTo>
                    <a:pt x="3358" y="8905"/>
                  </a:lnTo>
                  <a:cubicBezTo>
                    <a:pt x="3382" y="8893"/>
                    <a:pt x="3394" y="8881"/>
                    <a:pt x="3430" y="8845"/>
                  </a:cubicBezTo>
                  <a:lnTo>
                    <a:pt x="3846" y="8429"/>
                  </a:lnTo>
                  <a:close/>
                  <a:moveTo>
                    <a:pt x="11322" y="1"/>
                  </a:moveTo>
                  <a:cubicBezTo>
                    <a:pt x="11295" y="1"/>
                    <a:pt x="11267" y="4"/>
                    <a:pt x="11240" y="11"/>
                  </a:cubicBezTo>
                  <a:cubicBezTo>
                    <a:pt x="10514" y="213"/>
                    <a:pt x="8394" y="844"/>
                    <a:pt x="7704" y="1035"/>
                  </a:cubicBezTo>
                  <a:cubicBezTo>
                    <a:pt x="7668" y="1047"/>
                    <a:pt x="7656" y="1059"/>
                    <a:pt x="7621" y="1083"/>
                  </a:cubicBezTo>
                  <a:lnTo>
                    <a:pt x="5263" y="3440"/>
                  </a:lnTo>
                  <a:lnTo>
                    <a:pt x="4203" y="3535"/>
                  </a:lnTo>
                  <a:cubicBezTo>
                    <a:pt x="2703" y="3654"/>
                    <a:pt x="1286" y="4321"/>
                    <a:pt x="227" y="5381"/>
                  </a:cubicBezTo>
                  <a:cubicBezTo>
                    <a:pt x="1" y="5595"/>
                    <a:pt x="143" y="5988"/>
                    <a:pt x="465" y="6024"/>
                  </a:cubicBezTo>
                  <a:lnTo>
                    <a:pt x="2525" y="6190"/>
                  </a:lnTo>
                  <a:lnTo>
                    <a:pt x="2310" y="6405"/>
                  </a:lnTo>
                  <a:cubicBezTo>
                    <a:pt x="2179" y="6536"/>
                    <a:pt x="2179" y="6750"/>
                    <a:pt x="2310" y="6881"/>
                  </a:cubicBezTo>
                  <a:lnTo>
                    <a:pt x="2525" y="7083"/>
                  </a:lnTo>
                  <a:lnTo>
                    <a:pt x="2108" y="7500"/>
                  </a:lnTo>
                  <a:cubicBezTo>
                    <a:pt x="1941" y="7667"/>
                    <a:pt x="1941" y="7941"/>
                    <a:pt x="2108" y="8095"/>
                  </a:cubicBezTo>
                  <a:lnTo>
                    <a:pt x="3561" y="9560"/>
                  </a:lnTo>
                  <a:cubicBezTo>
                    <a:pt x="3644" y="9643"/>
                    <a:pt x="3751" y="9685"/>
                    <a:pt x="3858" y="9685"/>
                  </a:cubicBezTo>
                  <a:cubicBezTo>
                    <a:pt x="3965" y="9685"/>
                    <a:pt x="4073" y="9643"/>
                    <a:pt x="4156" y="9560"/>
                  </a:cubicBezTo>
                  <a:lnTo>
                    <a:pt x="4573" y="9143"/>
                  </a:lnTo>
                  <a:lnTo>
                    <a:pt x="4763" y="9334"/>
                  </a:lnTo>
                  <a:cubicBezTo>
                    <a:pt x="4835" y="9399"/>
                    <a:pt x="4924" y="9432"/>
                    <a:pt x="5015" y="9432"/>
                  </a:cubicBezTo>
                  <a:cubicBezTo>
                    <a:pt x="5105" y="9432"/>
                    <a:pt x="5198" y="9399"/>
                    <a:pt x="5275" y="9334"/>
                  </a:cubicBezTo>
                  <a:lnTo>
                    <a:pt x="5477" y="9131"/>
                  </a:lnTo>
                  <a:lnTo>
                    <a:pt x="5656" y="11179"/>
                  </a:lnTo>
                  <a:cubicBezTo>
                    <a:pt x="5680" y="11334"/>
                    <a:pt x="5763" y="11453"/>
                    <a:pt x="5894" y="11500"/>
                  </a:cubicBezTo>
                  <a:cubicBezTo>
                    <a:pt x="5935" y="11511"/>
                    <a:pt x="5975" y="11516"/>
                    <a:pt x="6015" y="11516"/>
                  </a:cubicBezTo>
                  <a:cubicBezTo>
                    <a:pt x="6115" y="11516"/>
                    <a:pt x="6210" y="11482"/>
                    <a:pt x="6287" y="11405"/>
                  </a:cubicBezTo>
                  <a:cubicBezTo>
                    <a:pt x="6942" y="10750"/>
                    <a:pt x="7430" y="9977"/>
                    <a:pt x="7763" y="9119"/>
                  </a:cubicBezTo>
                  <a:cubicBezTo>
                    <a:pt x="7787" y="9024"/>
                    <a:pt x="7740" y="8941"/>
                    <a:pt x="7656" y="8893"/>
                  </a:cubicBezTo>
                  <a:cubicBezTo>
                    <a:pt x="7635" y="8885"/>
                    <a:pt x="7614" y="8881"/>
                    <a:pt x="7594" y="8881"/>
                  </a:cubicBezTo>
                  <a:cubicBezTo>
                    <a:pt x="7525" y="8881"/>
                    <a:pt x="7467" y="8926"/>
                    <a:pt x="7430" y="9000"/>
                  </a:cubicBezTo>
                  <a:cubicBezTo>
                    <a:pt x="7132" y="9810"/>
                    <a:pt x="6656" y="10560"/>
                    <a:pt x="6037" y="11167"/>
                  </a:cubicBezTo>
                  <a:cubicBezTo>
                    <a:pt x="6027" y="11172"/>
                    <a:pt x="6015" y="11175"/>
                    <a:pt x="6005" y="11175"/>
                  </a:cubicBezTo>
                  <a:cubicBezTo>
                    <a:pt x="5990" y="11175"/>
                    <a:pt x="5978" y="11169"/>
                    <a:pt x="5978" y="11155"/>
                  </a:cubicBezTo>
                  <a:lnTo>
                    <a:pt x="5763" y="8822"/>
                  </a:lnTo>
                  <a:lnTo>
                    <a:pt x="7835" y="6750"/>
                  </a:lnTo>
                  <a:lnTo>
                    <a:pt x="7835" y="6750"/>
                  </a:lnTo>
                  <a:cubicBezTo>
                    <a:pt x="7763" y="7583"/>
                    <a:pt x="7740" y="7810"/>
                    <a:pt x="7656" y="8238"/>
                  </a:cubicBezTo>
                  <a:cubicBezTo>
                    <a:pt x="7644" y="8322"/>
                    <a:pt x="7680" y="8417"/>
                    <a:pt x="7787" y="8441"/>
                  </a:cubicBezTo>
                  <a:cubicBezTo>
                    <a:pt x="7803" y="8445"/>
                    <a:pt x="7819" y="8447"/>
                    <a:pt x="7834" y="8447"/>
                  </a:cubicBezTo>
                  <a:cubicBezTo>
                    <a:pt x="7909" y="8447"/>
                    <a:pt x="7972" y="8399"/>
                    <a:pt x="8002" y="8310"/>
                  </a:cubicBezTo>
                  <a:cubicBezTo>
                    <a:pt x="8121" y="7786"/>
                    <a:pt x="8121" y="7548"/>
                    <a:pt x="8216" y="6393"/>
                  </a:cubicBezTo>
                  <a:lnTo>
                    <a:pt x="10585" y="4023"/>
                  </a:lnTo>
                  <a:cubicBezTo>
                    <a:pt x="10597" y="4011"/>
                    <a:pt x="10621" y="3976"/>
                    <a:pt x="10633" y="3952"/>
                  </a:cubicBezTo>
                  <a:lnTo>
                    <a:pt x="11109" y="2345"/>
                  </a:lnTo>
                  <a:lnTo>
                    <a:pt x="11669" y="404"/>
                  </a:lnTo>
                  <a:cubicBezTo>
                    <a:pt x="11711" y="193"/>
                    <a:pt x="11529" y="1"/>
                    <a:pt x="1132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949;p50">
              <a:extLst>
                <a:ext uri="{FF2B5EF4-FFF2-40B4-BE49-F238E27FC236}">
                  <a16:creationId xmlns:a16="http://schemas.microsoft.com/office/drawing/2014/main" id="{175BBE7C-1325-07DB-FD14-D3361F9DECAE}"/>
                </a:ext>
              </a:extLst>
            </p:cNvPr>
            <p:cNvSpPr/>
            <p:nvPr/>
          </p:nvSpPr>
          <p:spPr>
            <a:xfrm>
              <a:off x="1070396" y="2832057"/>
              <a:ext cx="90406" cy="69035"/>
            </a:xfrm>
            <a:custGeom>
              <a:avLst/>
              <a:gdLst/>
              <a:ahLst/>
              <a:cxnLst/>
              <a:rect l="l" t="t" r="r" b="b"/>
              <a:pathLst>
                <a:path w="2847" h="2174" extrusionOk="0">
                  <a:moveTo>
                    <a:pt x="1730" y="0"/>
                  </a:moveTo>
                  <a:cubicBezTo>
                    <a:pt x="1668" y="0"/>
                    <a:pt x="1610" y="44"/>
                    <a:pt x="1584" y="114"/>
                  </a:cubicBezTo>
                  <a:cubicBezTo>
                    <a:pt x="1537" y="197"/>
                    <a:pt x="1584" y="293"/>
                    <a:pt x="1668" y="328"/>
                  </a:cubicBezTo>
                  <a:cubicBezTo>
                    <a:pt x="2179" y="554"/>
                    <a:pt x="2299" y="1221"/>
                    <a:pt x="1906" y="1614"/>
                  </a:cubicBezTo>
                  <a:cubicBezTo>
                    <a:pt x="1751" y="1769"/>
                    <a:pt x="1551" y="1846"/>
                    <a:pt x="1350" y="1846"/>
                  </a:cubicBezTo>
                  <a:cubicBezTo>
                    <a:pt x="1150" y="1846"/>
                    <a:pt x="947" y="1769"/>
                    <a:pt x="786" y="1614"/>
                  </a:cubicBezTo>
                  <a:cubicBezTo>
                    <a:pt x="405" y="1221"/>
                    <a:pt x="525" y="566"/>
                    <a:pt x="1025" y="328"/>
                  </a:cubicBezTo>
                  <a:cubicBezTo>
                    <a:pt x="1120" y="293"/>
                    <a:pt x="1144" y="197"/>
                    <a:pt x="1120" y="114"/>
                  </a:cubicBezTo>
                  <a:cubicBezTo>
                    <a:pt x="1083" y="41"/>
                    <a:pt x="1019" y="10"/>
                    <a:pt x="954" y="10"/>
                  </a:cubicBezTo>
                  <a:cubicBezTo>
                    <a:pt x="934" y="10"/>
                    <a:pt x="913" y="13"/>
                    <a:pt x="894" y="19"/>
                  </a:cubicBezTo>
                  <a:cubicBezTo>
                    <a:pt x="179" y="352"/>
                    <a:pt x="1" y="1281"/>
                    <a:pt x="572" y="1852"/>
                  </a:cubicBezTo>
                  <a:cubicBezTo>
                    <a:pt x="786" y="2078"/>
                    <a:pt x="1072" y="2174"/>
                    <a:pt x="1370" y="2174"/>
                  </a:cubicBezTo>
                  <a:cubicBezTo>
                    <a:pt x="2334" y="2162"/>
                    <a:pt x="2846" y="947"/>
                    <a:pt x="2132" y="245"/>
                  </a:cubicBezTo>
                  <a:cubicBezTo>
                    <a:pt x="2037" y="150"/>
                    <a:pt x="1918" y="66"/>
                    <a:pt x="1798" y="19"/>
                  </a:cubicBezTo>
                  <a:cubicBezTo>
                    <a:pt x="1776" y="6"/>
                    <a:pt x="1753" y="0"/>
                    <a:pt x="17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 name="CaixaDeTexto 54">
            <a:extLst>
              <a:ext uri="{FF2B5EF4-FFF2-40B4-BE49-F238E27FC236}">
                <a16:creationId xmlns:a16="http://schemas.microsoft.com/office/drawing/2014/main" id="{38A9B3AE-3935-6C51-243B-7FEE9C39D3B1}"/>
              </a:ext>
            </a:extLst>
          </p:cNvPr>
          <p:cNvSpPr txBox="1"/>
          <p:nvPr/>
        </p:nvSpPr>
        <p:spPr>
          <a:xfrm>
            <a:off x="7826628" y="1751439"/>
            <a:ext cx="1498347" cy="307777"/>
          </a:xfrm>
          <a:prstGeom prst="rect">
            <a:avLst/>
          </a:prstGeom>
          <a:solidFill>
            <a:schemeClr val="accent5">
              <a:lumMod val="40000"/>
              <a:lumOff val="60000"/>
            </a:schemeClr>
          </a:solidFill>
        </p:spPr>
        <p:txBody>
          <a:bodyPr wrap="square" rtlCol="0">
            <a:spAutoFit/>
          </a:bodyPr>
          <a:lstStyle/>
          <a:p>
            <a:r>
              <a:rPr lang="pt-BR" sz="1400" b="1" dirty="0">
                <a:solidFill>
                  <a:srgbClr val="00B0F0"/>
                </a:solidFill>
                <a:latin typeface="Arial" panose="020B0604020202020204" pitchFamily="34" charset="0"/>
                <a:cs typeface="Arial" panose="020B0604020202020204" pitchFamily="34" charset="0"/>
              </a:rPr>
              <a:t>Promotores</a:t>
            </a:r>
          </a:p>
        </p:txBody>
      </p:sp>
      <p:sp>
        <p:nvSpPr>
          <p:cNvPr id="56" name="CaixaDeTexto 55">
            <a:extLst>
              <a:ext uri="{FF2B5EF4-FFF2-40B4-BE49-F238E27FC236}">
                <a16:creationId xmlns:a16="http://schemas.microsoft.com/office/drawing/2014/main" id="{26AFC19B-DC9A-4495-80EA-17B4221445CD}"/>
              </a:ext>
            </a:extLst>
          </p:cNvPr>
          <p:cNvSpPr txBox="1"/>
          <p:nvPr/>
        </p:nvSpPr>
        <p:spPr>
          <a:xfrm>
            <a:off x="7793167" y="2151526"/>
            <a:ext cx="3104740" cy="738664"/>
          </a:xfrm>
          <a:prstGeom prst="rect">
            <a:avLst/>
          </a:prstGeom>
          <a:noFill/>
        </p:spPr>
        <p:txBody>
          <a:bodyPr wrap="square" rtlCol="0">
            <a:spAutoFit/>
          </a:bodyPr>
          <a:lstStyle/>
          <a:p>
            <a:r>
              <a:rPr lang="pt-BR" sz="1400" dirty="0">
                <a:solidFill>
                  <a:srgbClr val="00B0F0"/>
                </a:solidFill>
                <a:latin typeface="Arial" panose="020B0604020202020204" pitchFamily="34" charset="0"/>
                <a:cs typeface="Arial" panose="020B0604020202020204" pitchFamily="34" charset="0"/>
              </a:rPr>
              <a:t>Matteo Luca Georg</a:t>
            </a:r>
          </a:p>
          <a:p>
            <a:r>
              <a:rPr lang="pt-BR" sz="1400" dirty="0">
                <a:solidFill>
                  <a:srgbClr val="00B0F0"/>
                </a:solidFill>
                <a:latin typeface="Arial" panose="020B0604020202020204" pitchFamily="34" charset="0"/>
                <a:cs typeface="Arial" panose="020B0604020202020204" pitchFamily="34" charset="0"/>
              </a:rPr>
              <a:t>Jessica Caroline Rodrigues</a:t>
            </a:r>
          </a:p>
          <a:p>
            <a:r>
              <a:rPr lang="pt-BR" sz="1400" dirty="0">
                <a:solidFill>
                  <a:srgbClr val="00B0F0"/>
                </a:solidFill>
                <a:latin typeface="Arial" panose="020B0604020202020204" pitchFamily="34" charset="0"/>
                <a:cs typeface="Arial" panose="020B0604020202020204" pitchFamily="34" charset="0"/>
              </a:rPr>
              <a:t>Laura Helena Tobias</a:t>
            </a:r>
          </a:p>
        </p:txBody>
      </p:sp>
      <p:sp>
        <p:nvSpPr>
          <p:cNvPr id="65" name="Retângulo: Cantos Arredondados 64">
            <a:extLst>
              <a:ext uri="{FF2B5EF4-FFF2-40B4-BE49-F238E27FC236}">
                <a16:creationId xmlns:a16="http://schemas.microsoft.com/office/drawing/2014/main" id="{541AF359-95E5-0263-1E61-593631B04F92}"/>
              </a:ext>
            </a:extLst>
          </p:cNvPr>
          <p:cNvSpPr/>
          <p:nvPr/>
        </p:nvSpPr>
        <p:spPr>
          <a:xfrm>
            <a:off x="7138142" y="3903415"/>
            <a:ext cx="4128654" cy="1947500"/>
          </a:xfrm>
          <a:prstGeom prst="roundRect">
            <a:avLst/>
          </a:prstGeom>
          <a:solidFill>
            <a:schemeClr val="bg1">
              <a:lumMod val="95000"/>
            </a:schemeClr>
          </a:solidFill>
          <a:ln>
            <a:noFill/>
          </a:ln>
          <a:effectLst>
            <a:outerShdw dist="101600" dir="10740000" algn="t" rotWithShape="0">
              <a:srgbClr val="00B0F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66" name="Google Shape;1944;p50">
            <a:extLst>
              <a:ext uri="{FF2B5EF4-FFF2-40B4-BE49-F238E27FC236}">
                <a16:creationId xmlns:a16="http://schemas.microsoft.com/office/drawing/2014/main" id="{69A25EAC-3E79-6C6D-C1A5-CC759C4B62AE}"/>
              </a:ext>
            </a:extLst>
          </p:cNvPr>
          <p:cNvGrpSpPr/>
          <p:nvPr/>
        </p:nvGrpSpPr>
        <p:grpSpPr>
          <a:xfrm rot="10417960">
            <a:off x="7308880" y="3995073"/>
            <a:ext cx="476316" cy="468384"/>
            <a:chOff x="860940" y="2746477"/>
            <a:chExt cx="371883" cy="365691"/>
          </a:xfrm>
          <a:solidFill>
            <a:srgbClr val="00B0F0"/>
          </a:solidFill>
        </p:grpSpPr>
        <p:sp>
          <p:nvSpPr>
            <p:cNvPr id="67" name="Google Shape;1945;p50">
              <a:extLst>
                <a:ext uri="{FF2B5EF4-FFF2-40B4-BE49-F238E27FC236}">
                  <a16:creationId xmlns:a16="http://schemas.microsoft.com/office/drawing/2014/main" id="{4EC6FFA1-06F8-29D0-56BA-B28D242641A8}"/>
                </a:ext>
              </a:extLst>
            </p:cNvPr>
            <p:cNvSpPr/>
            <p:nvPr/>
          </p:nvSpPr>
          <p:spPr>
            <a:xfrm>
              <a:off x="908191" y="3026302"/>
              <a:ext cx="30294" cy="28961"/>
            </a:xfrm>
            <a:custGeom>
              <a:avLst/>
              <a:gdLst/>
              <a:ahLst/>
              <a:cxnLst/>
              <a:rect l="l" t="t" r="r" b="b"/>
              <a:pathLst>
                <a:path w="954" h="912" extrusionOk="0">
                  <a:moveTo>
                    <a:pt x="763" y="1"/>
                  </a:moveTo>
                  <a:cubicBezTo>
                    <a:pt x="718" y="1"/>
                    <a:pt x="674" y="16"/>
                    <a:pt x="644" y="45"/>
                  </a:cubicBezTo>
                  <a:lnTo>
                    <a:pt x="60" y="629"/>
                  </a:lnTo>
                  <a:cubicBezTo>
                    <a:pt x="1" y="688"/>
                    <a:pt x="1" y="807"/>
                    <a:pt x="60" y="867"/>
                  </a:cubicBezTo>
                  <a:cubicBezTo>
                    <a:pt x="90" y="897"/>
                    <a:pt x="135" y="911"/>
                    <a:pt x="179" y="911"/>
                  </a:cubicBezTo>
                  <a:cubicBezTo>
                    <a:pt x="224" y="911"/>
                    <a:pt x="269" y="897"/>
                    <a:pt x="299" y="867"/>
                  </a:cubicBezTo>
                  <a:lnTo>
                    <a:pt x="882" y="283"/>
                  </a:lnTo>
                  <a:cubicBezTo>
                    <a:pt x="953" y="224"/>
                    <a:pt x="953" y="105"/>
                    <a:pt x="882" y="45"/>
                  </a:cubicBezTo>
                  <a:cubicBezTo>
                    <a:pt x="852" y="16"/>
                    <a:pt x="807" y="1"/>
                    <a:pt x="76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946;p50">
              <a:extLst>
                <a:ext uri="{FF2B5EF4-FFF2-40B4-BE49-F238E27FC236}">
                  <a16:creationId xmlns:a16="http://schemas.microsoft.com/office/drawing/2014/main" id="{CDB0B717-135D-4A89-61D6-7B57CD9A366F}"/>
                </a:ext>
              </a:extLst>
            </p:cNvPr>
            <p:cNvSpPr/>
            <p:nvPr/>
          </p:nvSpPr>
          <p:spPr>
            <a:xfrm>
              <a:off x="943757" y="3061836"/>
              <a:ext cx="30263" cy="28961"/>
            </a:xfrm>
            <a:custGeom>
              <a:avLst/>
              <a:gdLst/>
              <a:ahLst/>
              <a:cxnLst/>
              <a:rect l="l" t="t" r="r" b="b"/>
              <a:pathLst>
                <a:path w="953" h="912" extrusionOk="0">
                  <a:moveTo>
                    <a:pt x="762" y="1"/>
                  </a:moveTo>
                  <a:cubicBezTo>
                    <a:pt x="717" y="1"/>
                    <a:pt x="673" y="16"/>
                    <a:pt x="643" y="46"/>
                  </a:cubicBezTo>
                  <a:lnTo>
                    <a:pt x="60" y="629"/>
                  </a:lnTo>
                  <a:cubicBezTo>
                    <a:pt x="0" y="688"/>
                    <a:pt x="0" y="807"/>
                    <a:pt x="60" y="867"/>
                  </a:cubicBezTo>
                  <a:cubicBezTo>
                    <a:pt x="89" y="897"/>
                    <a:pt x="134" y="912"/>
                    <a:pt x="179" y="912"/>
                  </a:cubicBezTo>
                  <a:cubicBezTo>
                    <a:pt x="223" y="912"/>
                    <a:pt x="268" y="897"/>
                    <a:pt x="298" y="867"/>
                  </a:cubicBezTo>
                  <a:lnTo>
                    <a:pt x="881" y="284"/>
                  </a:lnTo>
                  <a:cubicBezTo>
                    <a:pt x="953" y="224"/>
                    <a:pt x="953" y="105"/>
                    <a:pt x="881" y="46"/>
                  </a:cubicBezTo>
                  <a:cubicBezTo>
                    <a:pt x="851" y="16"/>
                    <a:pt x="807" y="1"/>
                    <a:pt x="7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947;p50">
              <a:extLst>
                <a:ext uri="{FF2B5EF4-FFF2-40B4-BE49-F238E27FC236}">
                  <a16:creationId xmlns:a16="http://schemas.microsoft.com/office/drawing/2014/main" id="{F2B69BB2-8A8E-690B-02AE-DB4DFA11DE21}"/>
                </a:ext>
              </a:extLst>
            </p:cNvPr>
            <p:cNvSpPr/>
            <p:nvPr/>
          </p:nvSpPr>
          <p:spPr>
            <a:xfrm>
              <a:off x="926355" y="3044085"/>
              <a:ext cx="29881" cy="28579"/>
            </a:xfrm>
            <a:custGeom>
              <a:avLst/>
              <a:gdLst/>
              <a:ahLst/>
              <a:cxnLst/>
              <a:rect l="l" t="t" r="r" b="b"/>
              <a:pathLst>
                <a:path w="941" h="900" extrusionOk="0">
                  <a:moveTo>
                    <a:pt x="762" y="0"/>
                  </a:moveTo>
                  <a:cubicBezTo>
                    <a:pt x="718" y="0"/>
                    <a:pt x="673" y="15"/>
                    <a:pt x="643" y="45"/>
                  </a:cubicBezTo>
                  <a:lnTo>
                    <a:pt x="60" y="616"/>
                  </a:lnTo>
                  <a:cubicBezTo>
                    <a:pt x="0" y="676"/>
                    <a:pt x="0" y="795"/>
                    <a:pt x="60" y="855"/>
                  </a:cubicBezTo>
                  <a:cubicBezTo>
                    <a:pt x="90" y="884"/>
                    <a:pt x="134" y="899"/>
                    <a:pt x="179" y="899"/>
                  </a:cubicBezTo>
                  <a:cubicBezTo>
                    <a:pt x="224" y="899"/>
                    <a:pt x="268" y="884"/>
                    <a:pt x="298" y="855"/>
                  </a:cubicBezTo>
                  <a:lnTo>
                    <a:pt x="881" y="283"/>
                  </a:lnTo>
                  <a:cubicBezTo>
                    <a:pt x="941" y="224"/>
                    <a:pt x="941" y="116"/>
                    <a:pt x="881" y="45"/>
                  </a:cubicBezTo>
                  <a:cubicBezTo>
                    <a:pt x="852" y="15"/>
                    <a:pt x="807" y="0"/>
                    <a:pt x="76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948;p50">
              <a:extLst>
                <a:ext uri="{FF2B5EF4-FFF2-40B4-BE49-F238E27FC236}">
                  <a16:creationId xmlns:a16="http://schemas.microsoft.com/office/drawing/2014/main" id="{931C70B4-DC29-C12E-BA16-6EA05435DD9F}"/>
                </a:ext>
              </a:extLst>
            </p:cNvPr>
            <p:cNvSpPr/>
            <p:nvPr/>
          </p:nvSpPr>
          <p:spPr>
            <a:xfrm>
              <a:off x="860940" y="2746477"/>
              <a:ext cx="371883" cy="365691"/>
            </a:xfrm>
            <a:custGeom>
              <a:avLst/>
              <a:gdLst/>
              <a:ahLst/>
              <a:cxnLst/>
              <a:rect l="l" t="t" r="r" b="b"/>
              <a:pathLst>
                <a:path w="11711" h="11516" extrusionOk="0">
                  <a:moveTo>
                    <a:pt x="11312" y="344"/>
                  </a:moveTo>
                  <a:lnTo>
                    <a:pt x="10835" y="1987"/>
                  </a:lnTo>
                  <a:lnTo>
                    <a:pt x="9680" y="821"/>
                  </a:lnTo>
                  <a:lnTo>
                    <a:pt x="11312" y="344"/>
                  </a:lnTo>
                  <a:close/>
                  <a:moveTo>
                    <a:pt x="4882" y="3821"/>
                  </a:moveTo>
                  <a:lnTo>
                    <a:pt x="2822" y="5881"/>
                  </a:lnTo>
                  <a:lnTo>
                    <a:pt x="477" y="5690"/>
                  </a:lnTo>
                  <a:cubicBezTo>
                    <a:pt x="453" y="5690"/>
                    <a:pt x="429" y="5643"/>
                    <a:pt x="465" y="5631"/>
                  </a:cubicBezTo>
                  <a:cubicBezTo>
                    <a:pt x="1477" y="4619"/>
                    <a:pt x="2822" y="4000"/>
                    <a:pt x="4227" y="3881"/>
                  </a:cubicBezTo>
                  <a:lnTo>
                    <a:pt x="4882" y="3821"/>
                  </a:lnTo>
                  <a:close/>
                  <a:moveTo>
                    <a:pt x="2894" y="6297"/>
                  </a:moveTo>
                  <a:lnTo>
                    <a:pt x="3811" y="7226"/>
                  </a:lnTo>
                  <a:lnTo>
                    <a:pt x="3477" y="7571"/>
                  </a:lnTo>
                  <a:lnTo>
                    <a:pt x="2549" y="6643"/>
                  </a:lnTo>
                  <a:lnTo>
                    <a:pt x="2894" y="6297"/>
                  </a:lnTo>
                  <a:close/>
                  <a:moveTo>
                    <a:pt x="2727" y="7333"/>
                  </a:moveTo>
                  <a:lnTo>
                    <a:pt x="3203" y="7810"/>
                  </a:lnTo>
                  <a:lnTo>
                    <a:pt x="2799" y="8226"/>
                  </a:lnTo>
                  <a:cubicBezTo>
                    <a:pt x="2787" y="8238"/>
                    <a:pt x="2763" y="8262"/>
                    <a:pt x="2739" y="8298"/>
                  </a:cubicBezTo>
                  <a:lnTo>
                    <a:pt x="2310" y="7869"/>
                  </a:lnTo>
                  <a:cubicBezTo>
                    <a:pt x="2287" y="7833"/>
                    <a:pt x="2287" y="7774"/>
                    <a:pt x="2310" y="7750"/>
                  </a:cubicBezTo>
                  <a:lnTo>
                    <a:pt x="2727" y="7333"/>
                  </a:lnTo>
                  <a:close/>
                  <a:moveTo>
                    <a:pt x="9311" y="916"/>
                  </a:moveTo>
                  <a:lnTo>
                    <a:pt x="10740" y="2345"/>
                  </a:lnTo>
                  <a:lnTo>
                    <a:pt x="10299" y="3821"/>
                  </a:lnTo>
                  <a:lnTo>
                    <a:pt x="5597" y="8524"/>
                  </a:lnTo>
                  <a:lnTo>
                    <a:pt x="4680" y="7595"/>
                  </a:lnTo>
                  <a:lnTo>
                    <a:pt x="6823" y="5452"/>
                  </a:lnTo>
                  <a:cubicBezTo>
                    <a:pt x="6966" y="5309"/>
                    <a:pt x="7001" y="5035"/>
                    <a:pt x="6811" y="4833"/>
                  </a:cubicBezTo>
                  <a:cubicBezTo>
                    <a:pt x="6728" y="4750"/>
                    <a:pt x="6617" y="4708"/>
                    <a:pt x="6506" y="4708"/>
                  </a:cubicBezTo>
                  <a:cubicBezTo>
                    <a:pt x="6394" y="4708"/>
                    <a:pt x="6281" y="4750"/>
                    <a:pt x="6192" y="4833"/>
                  </a:cubicBezTo>
                  <a:lnTo>
                    <a:pt x="4049" y="6976"/>
                  </a:lnTo>
                  <a:lnTo>
                    <a:pt x="3132" y="6047"/>
                  </a:lnTo>
                  <a:lnTo>
                    <a:pt x="7835" y="1344"/>
                  </a:lnTo>
                  <a:lnTo>
                    <a:pt x="9311" y="916"/>
                  </a:lnTo>
                  <a:close/>
                  <a:moveTo>
                    <a:pt x="6495" y="5047"/>
                  </a:moveTo>
                  <a:cubicBezTo>
                    <a:pt x="6522" y="5047"/>
                    <a:pt x="6549" y="5059"/>
                    <a:pt x="6573" y="5083"/>
                  </a:cubicBezTo>
                  <a:cubicBezTo>
                    <a:pt x="6609" y="5131"/>
                    <a:pt x="6609" y="5178"/>
                    <a:pt x="6573" y="5226"/>
                  </a:cubicBezTo>
                  <a:lnTo>
                    <a:pt x="4311" y="7488"/>
                  </a:lnTo>
                  <a:lnTo>
                    <a:pt x="3203" y="8595"/>
                  </a:lnTo>
                  <a:cubicBezTo>
                    <a:pt x="3180" y="8619"/>
                    <a:pt x="3153" y="8631"/>
                    <a:pt x="3127" y="8631"/>
                  </a:cubicBezTo>
                  <a:cubicBezTo>
                    <a:pt x="3102" y="8631"/>
                    <a:pt x="3078" y="8619"/>
                    <a:pt x="3060" y="8595"/>
                  </a:cubicBezTo>
                  <a:cubicBezTo>
                    <a:pt x="3013" y="8548"/>
                    <a:pt x="3013" y="8488"/>
                    <a:pt x="3060" y="8441"/>
                  </a:cubicBezTo>
                  <a:lnTo>
                    <a:pt x="6418" y="5083"/>
                  </a:lnTo>
                  <a:cubicBezTo>
                    <a:pt x="6442" y="5059"/>
                    <a:pt x="6469" y="5047"/>
                    <a:pt x="6495" y="5047"/>
                  </a:cubicBezTo>
                  <a:close/>
                  <a:moveTo>
                    <a:pt x="4430" y="7857"/>
                  </a:moveTo>
                  <a:lnTo>
                    <a:pt x="5346" y="8786"/>
                  </a:lnTo>
                  <a:lnTo>
                    <a:pt x="5001" y="9119"/>
                  </a:lnTo>
                  <a:lnTo>
                    <a:pt x="4989" y="9119"/>
                  </a:lnTo>
                  <a:lnTo>
                    <a:pt x="4084" y="8202"/>
                  </a:lnTo>
                  <a:lnTo>
                    <a:pt x="4430" y="7857"/>
                  </a:lnTo>
                  <a:close/>
                  <a:moveTo>
                    <a:pt x="3846" y="8429"/>
                  </a:moveTo>
                  <a:lnTo>
                    <a:pt x="4323" y="8905"/>
                  </a:lnTo>
                  <a:lnTo>
                    <a:pt x="3906" y="9322"/>
                  </a:lnTo>
                  <a:cubicBezTo>
                    <a:pt x="3894" y="9334"/>
                    <a:pt x="3858" y="9357"/>
                    <a:pt x="3846" y="9357"/>
                  </a:cubicBezTo>
                  <a:cubicBezTo>
                    <a:pt x="3834" y="9357"/>
                    <a:pt x="3811" y="9357"/>
                    <a:pt x="3787" y="9322"/>
                  </a:cubicBezTo>
                  <a:lnTo>
                    <a:pt x="3358" y="8905"/>
                  </a:lnTo>
                  <a:cubicBezTo>
                    <a:pt x="3382" y="8893"/>
                    <a:pt x="3394" y="8881"/>
                    <a:pt x="3430" y="8845"/>
                  </a:cubicBezTo>
                  <a:lnTo>
                    <a:pt x="3846" y="8429"/>
                  </a:lnTo>
                  <a:close/>
                  <a:moveTo>
                    <a:pt x="11322" y="1"/>
                  </a:moveTo>
                  <a:cubicBezTo>
                    <a:pt x="11295" y="1"/>
                    <a:pt x="11267" y="4"/>
                    <a:pt x="11240" y="11"/>
                  </a:cubicBezTo>
                  <a:cubicBezTo>
                    <a:pt x="10514" y="213"/>
                    <a:pt x="8394" y="844"/>
                    <a:pt x="7704" y="1035"/>
                  </a:cubicBezTo>
                  <a:cubicBezTo>
                    <a:pt x="7668" y="1047"/>
                    <a:pt x="7656" y="1059"/>
                    <a:pt x="7621" y="1083"/>
                  </a:cubicBezTo>
                  <a:lnTo>
                    <a:pt x="5263" y="3440"/>
                  </a:lnTo>
                  <a:lnTo>
                    <a:pt x="4203" y="3535"/>
                  </a:lnTo>
                  <a:cubicBezTo>
                    <a:pt x="2703" y="3654"/>
                    <a:pt x="1286" y="4321"/>
                    <a:pt x="227" y="5381"/>
                  </a:cubicBezTo>
                  <a:cubicBezTo>
                    <a:pt x="1" y="5595"/>
                    <a:pt x="143" y="5988"/>
                    <a:pt x="465" y="6024"/>
                  </a:cubicBezTo>
                  <a:lnTo>
                    <a:pt x="2525" y="6190"/>
                  </a:lnTo>
                  <a:lnTo>
                    <a:pt x="2310" y="6405"/>
                  </a:lnTo>
                  <a:cubicBezTo>
                    <a:pt x="2179" y="6536"/>
                    <a:pt x="2179" y="6750"/>
                    <a:pt x="2310" y="6881"/>
                  </a:cubicBezTo>
                  <a:lnTo>
                    <a:pt x="2525" y="7083"/>
                  </a:lnTo>
                  <a:lnTo>
                    <a:pt x="2108" y="7500"/>
                  </a:lnTo>
                  <a:cubicBezTo>
                    <a:pt x="1941" y="7667"/>
                    <a:pt x="1941" y="7941"/>
                    <a:pt x="2108" y="8095"/>
                  </a:cubicBezTo>
                  <a:lnTo>
                    <a:pt x="3561" y="9560"/>
                  </a:lnTo>
                  <a:cubicBezTo>
                    <a:pt x="3644" y="9643"/>
                    <a:pt x="3751" y="9685"/>
                    <a:pt x="3858" y="9685"/>
                  </a:cubicBezTo>
                  <a:cubicBezTo>
                    <a:pt x="3965" y="9685"/>
                    <a:pt x="4073" y="9643"/>
                    <a:pt x="4156" y="9560"/>
                  </a:cubicBezTo>
                  <a:lnTo>
                    <a:pt x="4573" y="9143"/>
                  </a:lnTo>
                  <a:lnTo>
                    <a:pt x="4763" y="9334"/>
                  </a:lnTo>
                  <a:cubicBezTo>
                    <a:pt x="4835" y="9399"/>
                    <a:pt x="4924" y="9432"/>
                    <a:pt x="5015" y="9432"/>
                  </a:cubicBezTo>
                  <a:cubicBezTo>
                    <a:pt x="5105" y="9432"/>
                    <a:pt x="5198" y="9399"/>
                    <a:pt x="5275" y="9334"/>
                  </a:cubicBezTo>
                  <a:lnTo>
                    <a:pt x="5477" y="9131"/>
                  </a:lnTo>
                  <a:lnTo>
                    <a:pt x="5656" y="11179"/>
                  </a:lnTo>
                  <a:cubicBezTo>
                    <a:pt x="5680" y="11334"/>
                    <a:pt x="5763" y="11453"/>
                    <a:pt x="5894" y="11500"/>
                  </a:cubicBezTo>
                  <a:cubicBezTo>
                    <a:pt x="5935" y="11511"/>
                    <a:pt x="5975" y="11516"/>
                    <a:pt x="6015" y="11516"/>
                  </a:cubicBezTo>
                  <a:cubicBezTo>
                    <a:pt x="6115" y="11516"/>
                    <a:pt x="6210" y="11482"/>
                    <a:pt x="6287" y="11405"/>
                  </a:cubicBezTo>
                  <a:cubicBezTo>
                    <a:pt x="6942" y="10750"/>
                    <a:pt x="7430" y="9977"/>
                    <a:pt x="7763" y="9119"/>
                  </a:cubicBezTo>
                  <a:cubicBezTo>
                    <a:pt x="7787" y="9024"/>
                    <a:pt x="7740" y="8941"/>
                    <a:pt x="7656" y="8893"/>
                  </a:cubicBezTo>
                  <a:cubicBezTo>
                    <a:pt x="7635" y="8885"/>
                    <a:pt x="7614" y="8881"/>
                    <a:pt x="7594" y="8881"/>
                  </a:cubicBezTo>
                  <a:cubicBezTo>
                    <a:pt x="7525" y="8881"/>
                    <a:pt x="7467" y="8926"/>
                    <a:pt x="7430" y="9000"/>
                  </a:cubicBezTo>
                  <a:cubicBezTo>
                    <a:pt x="7132" y="9810"/>
                    <a:pt x="6656" y="10560"/>
                    <a:pt x="6037" y="11167"/>
                  </a:cubicBezTo>
                  <a:cubicBezTo>
                    <a:pt x="6027" y="11172"/>
                    <a:pt x="6015" y="11175"/>
                    <a:pt x="6005" y="11175"/>
                  </a:cubicBezTo>
                  <a:cubicBezTo>
                    <a:pt x="5990" y="11175"/>
                    <a:pt x="5978" y="11169"/>
                    <a:pt x="5978" y="11155"/>
                  </a:cubicBezTo>
                  <a:lnTo>
                    <a:pt x="5763" y="8822"/>
                  </a:lnTo>
                  <a:lnTo>
                    <a:pt x="7835" y="6750"/>
                  </a:lnTo>
                  <a:lnTo>
                    <a:pt x="7835" y="6750"/>
                  </a:lnTo>
                  <a:cubicBezTo>
                    <a:pt x="7763" y="7583"/>
                    <a:pt x="7740" y="7810"/>
                    <a:pt x="7656" y="8238"/>
                  </a:cubicBezTo>
                  <a:cubicBezTo>
                    <a:pt x="7644" y="8322"/>
                    <a:pt x="7680" y="8417"/>
                    <a:pt x="7787" y="8441"/>
                  </a:cubicBezTo>
                  <a:cubicBezTo>
                    <a:pt x="7803" y="8445"/>
                    <a:pt x="7819" y="8447"/>
                    <a:pt x="7834" y="8447"/>
                  </a:cubicBezTo>
                  <a:cubicBezTo>
                    <a:pt x="7909" y="8447"/>
                    <a:pt x="7972" y="8399"/>
                    <a:pt x="8002" y="8310"/>
                  </a:cubicBezTo>
                  <a:cubicBezTo>
                    <a:pt x="8121" y="7786"/>
                    <a:pt x="8121" y="7548"/>
                    <a:pt x="8216" y="6393"/>
                  </a:cubicBezTo>
                  <a:lnTo>
                    <a:pt x="10585" y="4023"/>
                  </a:lnTo>
                  <a:cubicBezTo>
                    <a:pt x="10597" y="4011"/>
                    <a:pt x="10621" y="3976"/>
                    <a:pt x="10633" y="3952"/>
                  </a:cubicBezTo>
                  <a:lnTo>
                    <a:pt x="11109" y="2345"/>
                  </a:lnTo>
                  <a:lnTo>
                    <a:pt x="11669" y="404"/>
                  </a:lnTo>
                  <a:cubicBezTo>
                    <a:pt x="11711" y="193"/>
                    <a:pt x="11529" y="1"/>
                    <a:pt x="1132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949;p50">
              <a:extLst>
                <a:ext uri="{FF2B5EF4-FFF2-40B4-BE49-F238E27FC236}">
                  <a16:creationId xmlns:a16="http://schemas.microsoft.com/office/drawing/2014/main" id="{17756E2B-6058-7C72-5E4D-5871876DD484}"/>
                </a:ext>
              </a:extLst>
            </p:cNvPr>
            <p:cNvSpPr/>
            <p:nvPr/>
          </p:nvSpPr>
          <p:spPr>
            <a:xfrm>
              <a:off x="1070396" y="2832057"/>
              <a:ext cx="90406" cy="69035"/>
            </a:xfrm>
            <a:custGeom>
              <a:avLst/>
              <a:gdLst/>
              <a:ahLst/>
              <a:cxnLst/>
              <a:rect l="l" t="t" r="r" b="b"/>
              <a:pathLst>
                <a:path w="2847" h="2174" extrusionOk="0">
                  <a:moveTo>
                    <a:pt x="1730" y="0"/>
                  </a:moveTo>
                  <a:cubicBezTo>
                    <a:pt x="1668" y="0"/>
                    <a:pt x="1610" y="44"/>
                    <a:pt x="1584" y="114"/>
                  </a:cubicBezTo>
                  <a:cubicBezTo>
                    <a:pt x="1537" y="197"/>
                    <a:pt x="1584" y="293"/>
                    <a:pt x="1668" y="328"/>
                  </a:cubicBezTo>
                  <a:cubicBezTo>
                    <a:pt x="2179" y="554"/>
                    <a:pt x="2299" y="1221"/>
                    <a:pt x="1906" y="1614"/>
                  </a:cubicBezTo>
                  <a:cubicBezTo>
                    <a:pt x="1751" y="1769"/>
                    <a:pt x="1551" y="1846"/>
                    <a:pt x="1350" y="1846"/>
                  </a:cubicBezTo>
                  <a:cubicBezTo>
                    <a:pt x="1150" y="1846"/>
                    <a:pt x="947" y="1769"/>
                    <a:pt x="786" y="1614"/>
                  </a:cubicBezTo>
                  <a:cubicBezTo>
                    <a:pt x="405" y="1221"/>
                    <a:pt x="525" y="566"/>
                    <a:pt x="1025" y="328"/>
                  </a:cubicBezTo>
                  <a:cubicBezTo>
                    <a:pt x="1120" y="293"/>
                    <a:pt x="1144" y="197"/>
                    <a:pt x="1120" y="114"/>
                  </a:cubicBezTo>
                  <a:cubicBezTo>
                    <a:pt x="1083" y="41"/>
                    <a:pt x="1019" y="10"/>
                    <a:pt x="954" y="10"/>
                  </a:cubicBezTo>
                  <a:cubicBezTo>
                    <a:pt x="934" y="10"/>
                    <a:pt x="913" y="13"/>
                    <a:pt x="894" y="19"/>
                  </a:cubicBezTo>
                  <a:cubicBezTo>
                    <a:pt x="179" y="352"/>
                    <a:pt x="1" y="1281"/>
                    <a:pt x="572" y="1852"/>
                  </a:cubicBezTo>
                  <a:cubicBezTo>
                    <a:pt x="786" y="2078"/>
                    <a:pt x="1072" y="2174"/>
                    <a:pt x="1370" y="2174"/>
                  </a:cubicBezTo>
                  <a:cubicBezTo>
                    <a:pt x="2334" y="2162"/>
                    <a:pt x="2846" y="947"/>
                    <a:pt x="2132" y="245"/>
                  </a:cubicBezTo>
                  <a:cubicBezTo>
                    <a:pt x="2037" y="150"/>
                    <a:pt x="1918" y="66"/>
                    <a:pt x="1798" y="19"/>
                  </a:cubicBezTo>
                  <a:cubicBezTo>
                    <a:pt x="1776" y="6"/>
                    <a:pt x="1753" y="0"/>
                    <a:pt x="17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 name="CaixaDeTexto 71">
            <a:extLst>
              <a:ext uri="{FF2B5EF4-FFF2-40B4-BE49-F238E27FC236}">
                <a16:creationId xmlns:a16="http://schemas.microsoft.com/office/drawing/2014/main" id="{30CA1089-27B0-F7DF-3A3B-96A5386A18F5}"/>
              </a:ext>
            </a:extLst>
          </p:cNvPr>
          <p:cNvSpPr txBox="1"/>
          <p:nvPr/>
        </p:nvSpPr>
        <p:spPr>
          <a:xfrm>
            <a:off x="7826628" y="4028771"/>
            <a:ext cx="1498347" cy="307777"/>
          </a:xfrm>
          <a:prstGeom prst="rect">
            <a:avLst/>
          </a:prstGeom>
          <a:solidFill>
            <a:schemeClr val="accent5">
              <a:lumMod val="40000"/>
              <a:lumOff val="60000"/>
            </a:schemeClr>
          </a:solidFill>
        </p:spPr>
        <p:txBody>
          <a:bodyPr wrap="square" rtlCol="0">
            <a:spAutoFit/>
          </a:bodyPr>
          <a:lstStyle/>
          <a:p>
            <a:r>
              <a:rPr lang="pt-BR" sz="1400" b="1" dirty="0">
                <a:solidFill>
                  <a:srgbClr val="00B0F0"/>
                </a:solidFill>
                <a:latin typeface="Arial" panose="020B0604020202020204" pitchFamily="34" charset="0"/>
                <a:cs typeface="Arial" panose="020B0604020202020204" pitchFamily="34" charset="0"/>
              </a:rPr>
              <a:t>Ofensores</a:t>
            </a:r>
          </a:p>
        </p:txBody>
      </p:sp>
      <p:sp>
        <p:nvSpPr>
          <p:cNvPr id="75" name="Retângulo: Cantos Arredondados 74">
            <a:extLst>
              <a:ext uri="{FF2B5EF4-FFF2-40B4-BE49-F238E27FC236}">
                <a16:creationId xmlns:a16="http://schemas.microsoft.com/office/drawing/2014/main" id="{A81FFFC1-6D8F-506A-63DD-11FB59E02A69}"/>
              </a:ext>
            </a:extLst>
          </p:cNvPr>
          <p:cNvSpPr/>
          <p:nvPr/>
        </p:nvSpPr>
        <p:spPr>
          <a:xfrm>
            <a:off x="742950" y="4876593"/>
            <a:ext cx="5353050" cy="1443737"/>
          </a:xfrm>
          <a:prstGeom prst="roundRect">
            <a:avLst/>
          </a:prstGeom>
          <a:solidFill>
            <a:schemeClr val="bg1">
              <a:lumMod val="95000"/>
            </a:schemeClr>
          </a:solidFill>
          <a:ln>
            <a:noFill/>
          </a:ln>
          <a:effectLst>
            <a:outerShdw dist="101600" dir="10740000" algn="t" rotWithShape="0">
              <a:schemeClr val="tx1">
                <a:lumMod val="65000"/>
                <a:lumOff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76" name="Google Shape;1944;p50">
            <a:extLst>
              <a:ext uri="{FF2B5EF4-FFF2-40B4-BE49-F238E27FC236}">
                <a16:creationId xmlns:a16="http://schemas.microsoft.com/office/drawing/2014/main" id="{C27420A6-82FC-2092-ADE7-EB302F0A9296}"/>
              </a:ext>
            </a:extLst>
          </p:cNvPr>
          <p:cNvGrpSpPr/>
          <p:nvPr/>
        </p:nvGrpSpPr>
        <p:grpSpPr>
          <a:xfrm rot="10417960">
            <a:off x="913355" y="4932021"/>
            <a:ext cx="473619" cy="462234"/>
            <a:chOff x="860940" y="2746477"/>
            <a:chExt cx="371883" cy="365691"/>
          </a:xfrm>
          <a:solidFill>
            <a:srgbClr val="595959"/>
          </a:solidFill>
        </p:grpSpPr>
        <p:sp>
          <p:nvSpPr>
            <p:cNvPr id="77" name="Google Shape;1945;p50">
              <a:extLst>
                <a:ext uri="{FF2B5EF4-FFF2-40B4-BE49-F238E27FC236}">
                  <a16:creationId xmlns:a16="http://schemas.microsoft.com/office/drawing/2014/main" id="{16F847ED-2A51-EA57-29C8-F3DF5F4C2133}"/>
                </a:ext>
              </a:extLst>
            </p:cNvPr>
            <p:cNvSpPr/>
            <p:nvPr/>
          </p:nvSpPr>
          <p:spPr>
            <a:xfrm>
              <a:off x="908191" y="3026302"/>
              <a:ext cx="30294" cy="28961"/>
            </a:xfrm>
            <a:custGeom>
              <a:avLst/>
              <a:gdLst/>
              <a:ahLst/>
              <a:cxnLst/>
              <a:rect l="l" t="t" r="r" b="b"/>
              <a:pathLst>
                <a:path w="954" h="912" extrusionOk="0">
                  <a:moveTo>
                    <a:pt x="763" y="1"/>
                  </a:moveTo>
                  <a:cubicBezTo>
                    <a:pt x="718" y="1"/>
                    <a:pt x="674" y="16"/>
                    <a:pt x="644" y="45"/>
                  </a:cubicBezTo>
                  <a:lnTo>
                    <a:pt x="60" y="629"/>
                  </a:lnTo>
                  <a:cubicBezTo>
                    <a:pt x="1" y="688"/>
                    <a:pt x="1" y="807"/>
                    <a:pt x="60" y="867"/>
                  </a:cubicBezTo>
                  <a:cubicBezTo>
                    <a:pt x="90" y="897"/>
                    <a:pt x="135" y="911"/>
                    <a:pt x="179" y="911"/>
                  </a:cubicBezTo>
                  <a:cubicBezTo>
                    <a:pt x="224" y="911"/>
                    <a:pt x="269" y="897"/>
                    <a:pt x="299" y="867"/>
                  </a:cubicBezTo>
                  <a:lnTo>
                    <a:pt x="882" y="283"/>
                  </a:lnTo>
                  <a:cubicBezTo>
                    <a:pt x="953" y="224"/>
                    <a:pt x="953" y="105"/>
                    <a:pt x="882" y="45"/>
                  </a:cubicBezTo>
                  <a:cubicBezTo>
                    <a:pt x="852" y="16"/>
                    <a:pt x="807" y="1"/>
                    <a:pt x="76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lumMod val="50000"/>
                    <a:lumOff val="50000"/>
                  </a:schemeClr>
                </a:solidFill>
              </a:endParaRPr>
            </a:p>
          </p:txBody>
        </p:sp>
        <p:sp>
          <p:nvSpPr>
            <p:cNvPr id="78" name="Google Shape;1946;p50">
              <a:extLst>
                <a:ext uri="{FF2B5EF4-FFF2-40B4-BE49-F238E27FC236}">
                  <a16:creationId xmlns:a16="http://schemas.microsoft.com/office/drawing/2014/main" id="{A6EABB2D-F45F-65E1-17EA-651DCA31F9B0}"/>
                </a:ext>
              </a:extLst>
            </p:cNvPr>
            <p:cNvSpPr/>
            <p:nvPr/>
          </p:nvSpPr>
          <p:spPr>
            <a:xfrm>
              <a:off x="943757" y="3061836"/>
              <a:ext cx="30263" cy="28961"/>
            </a:xfrm>
            <a:custGeom>
              <a:avLst/>
              <a:gdLst/>
              <a:ahLst/>
              <a:cxnLst/>
              <a:rect l="l" t="t" r="r" b="b"/>
              <a:pathLst>
                <a:path w="953" h="912" extrusionOk="0">
                  <a:moveTo>
                    <a:pt x="762" y="1"/>
                  </a:moveTo>
                  <a:cubicBezTo>
                    <a:pt x="717" y="1"/>
                    <a:pt x="673" y="16"/>
                    <a:pt x="643" y="46"/>
                  </a:cubicBezTo>
                  <a:lnTo>
                    <a:pt x="60" y="629"/>
                  </a:lnTo>
                  <a:cubicBezTo>
                    <a:pt x="0" y="688"/>
                    <a:pt x="0" y="807"/>
                    <a:pt x="60" y="867"/>
                  </a:cubicBezTo>
                  <a:cubicBezTo>
                    <a:pt x="89" y="897"/>
                    <a:pt x="134" y="912"/>
                    <a:pt x="179" y="912"/>
                  </a:cubicBezTo>
                  <a:cubicBezTo>
                    <a:pt x="223" y="912"/>
                    <a:pt x="268" y="897"/>
                    <a:pt x="298" y="867"/>
                  </a:cubicBezTo>
                  <a:lnTo>
                    <a:pt x="881" y="284"/>
                  </a:lnTo>
                  <a:cubicBezTo>
                    <a:pt x="953" y="224"/>
                    <a:pt x="953" y="105"/>
                    <a:pt x="881" y="46"/>
                  </a:cubicBezTo>
                  <a:cubicBezTo>
                    <a:pt x="851" y="16"/>
                    <a:pt x="807" y="1"/>
                    <a:pt x="7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lumMod val="50000"/>
                    <a:lumOff val="50000"/>
                  </a:schemeClr>
                </a:solidFill>
              </a:endParaRPr>
            </a:p>
          </p:txBody>
        </p:sp>
        <p:sp>
          <p:nvSpPr>
            <p:cNvPr id="79" name="Google Shape;1947;p50">
              <a:extLst>
                <a:ext uri="{FF2B5EF4-FFF2-40B4-BE49-F238E27FC236}">
                  <a16:creationId xmlns:a16="http://schemas.microsoft.com/office/drawing/2014/main" id="{C556386D-AF06-1CBA-BF35-29A16BD1EA9F}"/>
                </a:ext>
              </a:extLst>
            </p:cNvPr>
            <p:cNvSpPr/>
            <p:nvPr/>
          </p:nvSpPr>
          <p:spPr>
            <a:xfrm>
              <a:off x="926355" y="3044085"/>
              <a:ext cx="29881" cy="28579"/>
            </a:xfrm>
            <a:custGeom>
              <a:avLst/>
              <a:gdLst/>
              <a:ahLst/>
              <a:cxnLst/>
              <a:rect l="l" t="t" r="r" b="b"/>
              <a:pathLst>
                <a:path w="941" h="900" extrusionOk="0">
                  <a:moveTo>
                    <a:pt x="762" y="0"/>
                  </a:moveTo>
                  <a:cubicBezTo>
                    <a:pt x="718" y="0"/>
                    <a:pt x="673" y="15"/>
                    <a:pt x="643" y="45"/>
                  </a:cubicBezTo>
                  <a:lnTo>
                    <a:pt x="60" y="616"/>
                  </a:lnTo>
                  <a:cubicBezTo>
                    <a:pt x="0" y="676"/>
                    <a:pt x="0" y="795"/>
                    <a:pt x="60" y="855"/>
                  </a:cubicBezTo>
                  <a:cubicBezTo>
                    <a:pt x="90" y="884"/>
                    <a:pt x="134" y="899"/>
                    <a:pt x="179" y="899"/>
                  </a:cubicBezTo>
                  <a:cubicBezTo>
                    <a:pt x="224" y="899"/>
                    <a:pt x="268" y="884"/>
                    <a:pt x="298" y="855"/>
                  </a:cubicBezTo>
                  <a:lnTo>
                    <a:pt x="881" y="283"/>
                  </a:lnTo>
                  <a:cubicBezTo>
                    <a:pt x="941" y="224"/>
                    <a:pt x="941" y="116"/>
                    <a:pt x="881" y="45"/>
                  </a:cubicBezTo>
                  <a:cubicBezTo>
                    <a:pt x="852" y="15"/>
                    <a:pt x="807" y="0"/>
                    <a:pt x="76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lumMod val="50000"/>
                    <a:lumOff val="50000"/>
                  </a:schemeClr>
                </a:solidFill>
              </a:endParaRPr>
            </a:p>
          </p:txBody>
        </p:sp>
        <p:sp>
          <p:nvSpPr>
            <p:cNvPr id="80" name="Google Shape;1948;p50">
              <a:extLst>
                <a:ext uri="{FF2B5EF4-FFF2-40B4-BE49-F238E27FC236}">
                  <a16:creationId xmlns:a16="http://schemas.microsoft.com/office/drawing/2014/main" id="{DD17478D-095D-7DE6-3195-F1EAEA16F2CA}"/>
                </a:ext>
              </a:extLst>
            </p:cNvPr>
            <p:cNvSpPr/>
            <p:nvPr/>
          </p:nvSpPr>
          <p:spPr>
            <a:xfrm>
              <a:off x="860940" y="2746477"/>
              <a:ext cx="371883" cy="365691"/>
            </a:xfrm>
            <a:custGeom>
              <a:avLst/>
              <a:gdLst/>
              <a:ahLst/>
              <a:cxnLst/>
              <a:rect l="l" t="t" r="r" b="b"/>
              <a:pathLst>
                <a:path w="11711" h="11516" extrusionOk="0">
                  <a:moveTo>
                    <a:pt x="11312" y="344"/>
                  </a:moveTo>
                  <a:lnTo>
                    <a:pt x="10835" y="1987"/>
                  </a:lnTo>
                  <a:lnTo>
                    <a:pt x="9680" y="821"/>
                  </a:lnTo>
                  <a:lnTo>
                    <a:pt x="11312" y="344"/>
                  </a:lnTo>
                  <a:close/>
                  <a:moveTo>
                    <a:pt x="4882" y="3821"/>
                  </a:moveTo>
                  <a:lnTo>
                    <a:pt x="2822" y="5881"/>
                  </a:lnTo>
                  <a:lnTo>
                    <a:pt x="477" y="5690"/>
                  </a:lnTo>
                  <a:cubicBezTo>
                    <a:pt x="453" y="5690"/>
                    <a:pt x="429" y="5643"/>
                    <a:pt x="465" y="5631"/>
                  </a:cubicBezTo>
                  <a:cubicBezTo>
                    <a:pt x="1477" y="4619"/>
                    <a:pt x="2822" y="4000"/>
                    <a:pt x="4227" y="3881"/>
                  </a:cubicBezTo>
                  <a:lnTo>
                    <a:pt x="4882" y="3821"/>
                  </a:lnTo>
                  <a:close/>
                  <a:moveTo>
                    <a:pt x="2894" y="6297"/>
                  </a:moveTo>
                  <a:lnTo>
                    <a:pt x="3811" y="7226"/>
                  </a:lnTo>
                  <a:lnTo>
                    <a:pt x="3477" y="7571"/>
                  </a:lnTo>
                  <a:lnTo>
                    <a:pt x="2549" y="6643"/>
                  </a:lnTo>
                  <a:lnTo>
                    <a:pt x="2894" y="6297"/>
                  </a:lnTo>
                  <a:close/>
                  <a:moveTo>
                    <a:pt x="2727" y="7333"/>
                  </a:moveTo>
                  <a:lnTo>
                    <a:pt x="3203" y="7810"/>
                  </a:lnTo>
                  <a:lnTo>
                    <a:pt x="2799" y="8226"/>
                  </a:lnTo>
                  <a:cubicBezTo>
                    <a:pt x="2787" y="8238"/>
                    <a:pt x="2763" y="8262"/>
                    <a:pt x="2739" y="8298"/>
                  </a:cubicBezTo>
                  <a:lnTo>
                    <a:pt x="2310" y="7869"/>
                  </a:lnTo>
                  <a:cubicBezTo>
                    <a:pt x="2287" y="7833"/>
                    <a:pt x="2287" y="7774"/>
                    <a:pt x="2310" y="7750"/>
                  </a:cubicBezTo>
                  <a:lnTo>
                    <a:pt x="2727" y="7333"/>
                  </a:lnTo>
                  <a:close/>
                  <a:moveTo>
                    <a:pt x="9311" y="916"/>
                  </a:moveTo>
                  <a:lnTo>
                    <a:pt x="10740" y="2345"/>
                  </a:lnTo>
                  <a:lnTo>
                    <a:pt x="10299" y="3821"/>
                  </a:lnTo>
                  <a:lnTo>
                    <a:pt x="5597" y="8524"/>
                  </a:lnTo>
                  <a:lnTo>
                    <a:pt x="4680" y="7595"/>
                  </a:lnTo>
                  <a:lnTo>
                    <a:pt x="6823" y="5452"/>
                  </a:lnTo>
                  <a:cubicBezTo>
                    <a:pt x="6966" y="5309"/>
                    <a:pt x="7001" y="5035"/>
                    <a:pt x="6811" y="4833"/>
                  </a:cubicBezTo>
                  <a:cubicBezTo>
                    <a:pt x="6728" y="4750"/>
                    <a:pt x="6617" y="4708"/>
                    <a:pt x="6506" y="4708"/>
                  </a:cubicBezTo>
                  <a:cubicBezTo>
                    <a:pt x="6394" y="4708"/>
                    <a:pt x="6281" y="4750"/>
                    <a:pt x="6192" y="4833"/>
                  </a:cubicBezTo>
                  <a:lnTo>
                    <a:pt x="4049" y="6976"/>
                  </a:lnTo>
                  <a:lnTo>
                    <a:pt x="3132" y="6047"/>
                  </a:lnTo>
                  <a:lnTo>
                    <a:pt x="7835" y="1344"/>
                  </a:lnTo>
                  <a:lnTo>
                    <a:pt x="9311" y="916"/>
                  </a:lnTo>
                  <a:close/>
                  <a:moveTo>
                    <a:pt x="6495" y="5047"/>
                  </a:moveTo>
                  <a:cubicBezTo>
                    <a:pt x="6522" y="5047"/>
                    <a:pt x="6549" y="5059"/>
                    <a:pt x="6573" y="5083"/>
                  </a:cubicBezTo>
                  <a:cubicBezTo>
                    <a:pt x="6609" y="5131"/>
                    <a:pt x="6609" y="5178"/>
                    <a:pt x="6573" y="5226"/>
                  </a:cubicBezTo>
                  <a:lnTo>
                    <a:pt x="4311" y="7488"/>
                  </a:lnTo>
                  <a:lnTo>
                    <a:pt x="3203" y="8595"/>
                  </a:lnTo>
                  <a:cubicBezTo>
                    <a:pt x="3180" y="8619"/>
                    <a:pt x="3153" y="8631"/>
                    <a:pt x="3127" y="8631"/>
                  </a:cubicBezTo>
                  <a:cubicBezTo>
                    <a:pt x="3102" y="8631"/>
                    <a:pt x="3078" y="8619"/>
                    <a:pt x="3060" y="8595"/>
                  </a:cubicBezTo>
                  <a:cubicBezTo>
                    <a:pt x="3013" y="8548"/>
                    <a:pt x="3013" y="8488"/>
                    <a:pt x="3060" y="8441"/>
                  </a:cubicBezTo>
                  <a:lnTo>
                    <a:pt x="6418" y="5083"/>
                  </a:lnTo>
                  <a:cubicBezTo>
                    <a:pt x="6442" y="5059"/>
                    <a:pt x="6469" y="5047"/>
                    <a:pt x="6495" y="5047"/>
                  </a:cubicBezTo>
                  <a:close/>
                  <a:moveTo>
                    <a:pt x="4430" y="7857"/>
                  </a:moveTo>
                  <a:lnTo>
                    <a:pt x="5346" y="8786"/>
                  </a:lnTo>
                  <a:lnTo>
                    <a:pt x="5001" y="9119"/>
                  </a:lnTo>
                  <a:lnTo>
                    <a:pt x="4989" y="9119"/>
                  </a:lnTo>
                  <a:lnTo>
                    <a:pt x="4084" y="8202"/>
                  </a:lnTo>
                  <a:lnTo>
                    <a:pt x="4430" y="7857"/>
                  </a:lnTo>
                  <a:close/>
                  <a:moveTo>
                    <a:pt x="3846" y="8429"/>
                  </a:moveTo>
                  <a:lnTo>
                    <a:pt x="4323" y="8905"/>
                  </a:lnTo>
                  <a:lnTo>
                    <a:pt x="3906" y="9322"/>
                  </a:lnTo>
                  <a:cubicBezTo>
                    <a:pt x="3894" y="9334"/>
                    <a:pt x="3858" y="9357"/>
                    <a:pt x="3846" y="9357"/>
                  </a:cubicBezTo>
                  <a:cubicBezTo>
                    <a:pt x="3834" y="9357"/>
                    <a:pt x="3811" y="9357"/>
                    <a:pt x="3787" y="9322"/>
                  </a:cubicBezTo>
                  <a:lnTo>
                    <a:pt x="3358" y="8905"/>
                  </a:lnTo>
                  <a:cubicBezTo>
                    <a:pt x="3382" y="8893"/>
                    <a:pt x="3394" y="8881"/>
                    <a:pt x="3430" y="8845"/>
                  </a:cubicBezTo>
                  <a:lnTo>
                    <a:pt x="3846" y="8429"/>
                  </a:lnTo>
                  <a:close/>
                  <a:moveTo>
                    <a:pt x="11322" y="1"/>
                  </a:moveTo>
                  <a:cubicBezTo>
                    <a:pt x="11295" y="1"/>
                    <a:pt x="11267" y="4"/>
                    <a:pt x="11240" y="11"/>
                  </a:cubicBezTo>
                  <a:cubicBezTo>
                    <a:pt x="10514" y="213"/>
                    <a:pt x="8394" y="844"/>
                    <a:pt x="7704" y="1035"/>
                  </a:cubicBezTo>
                  <a:cubicBezTo>
                    <a:pt x="7668" y="1047"/>
                    <a:pt x="7656" y="1059"/>
                    <a:pt x="7621" y="1083"/>
                  </a:cubicBezTo>
                  <a:lnTo>
                    <a:pt x="5263" y="3440"/>
                  </a:lnTo>
                  <a:lnTo>
                    <a:pt x="4203" y="3535"/>
                  </a:lnTo>
                  <a:cubicBezTo>
                    <a:pt x="2703" y="3654"/>
                    <a:pt x="1286" y="4321"/>
                    <a:pt x="227" y="5381"/>
                  </a:cubicBezTo>
                  <a:cubicBezTo>
                    <a:pt x="1" y="5595"/>
                    <a:pt x="143" y="5988"/>
                    <a:pt x="465" y="6024"/>
                  </a:cubicBezTo>
                  <a:lnTo>
                    <a:pt x="2525" y="6190"/>
                  </a:lnTo>
                  <a:lnTo>
                    <a:pt x="2310" y="6405"/>
                  </a:lnTo>
                  <a:cubicBezTo>
                    <a:pt x="2179" y="6536"/>
                    <a:pt x="2179" y="6750"/>
                    <a:pt x="2310" y="6881"/>
                  </a:cubicBezTo>
                  <a:lnTo>
                    <a:pt x="2525" y="7083"/>
                  </a:lnTo>
                  <a:lnTo>
                    <a:pt x="2108" y="7500"/>
                  </a:lnTo>
                  <a:cubicBezTo>
                    <a:pt x="1941" y="7667"/>
                    <a:pt x="1941" y="7941"/>
                    <a:pt x="2108" y="8095"/>
                  </a:cubicBezTo>
                  <a:lnTo>
                    <a:pt x="3561" y="9560"/>
                  </a:lnTo>
                  <a:cubicBezTo>
                    <a:pt x="3644" y="9643"/>
                    <a:pt x="3751" y="9685"/>
                    <a:pt x="3858" y="9685"/>
                  </a:cubicBezTo>
                  <a:cubicBezTo>
                    <a:pt x="3965" y="9685"/>
                    <a:pt x="4073" y="9643"/>
                    <a:pt x="4156" y="9560"/>
                  </a:cubicBezTo>
                  <a:lnTo>
                    <a:pt x="4573" y="9143"/>
                  </a:lnTo>
                  <a:lnTo>
                    <a:pt x="4763" y="9334"/>
                  </a:lnTo>
                  <a:cubicBezTo>
                    <a:pt x="4835" y="9399"/>
                    <a:pt x="4924" y="9432"/>
                    <a:pt x="5015" y="9432"/>
                  </a:cubicBezTo>
                  <a:cubicBezTo>
                    <a:pt x="5105" y="9432"/>
                    <a:pt x="5198" y="9399"/>
                    <a:pt x="5275" y="9334"/>
                  </a:cubicBezTo>
                  <a:lnTo>
                    <a:pt x="5477" y="9131"/>
                  </a:lnTo>
                  <a:lnTo>
                    <a:pt x="5656" y="11179"/>
                  </a:lnTo>
                  <a:cubicBezTo>
                    <a:pt x="5680" y="11334"/>
                    <a:pt x="5763" y="11453"/>
                    <a:pt x="5894" y="11500"/>
                  </a:cubicBezTo>
                  <a:cubicBezTo>
                    <a:pt x="5935" y="11511"/>
                    <a:pt x="5975" y="11516"/>
                    <a:pt x="6015" y="11516"/>
                  </a:cubicBezTo>
                  <a:cubicBezTo>
                    <a:pt x="6115" y="11516"/>
                    <a:pt x="6210" y="11482"/>
                    <a:pt x="6287" y="11405"/>
                  </a:cubicBezTo>
                  <a:cubicBezTo>
                    <a:pt x="6942" y="10750"/>
                    <a:pt x="7430" y="9977"/>
                    <a:pt x="7763" y="9119"/>
                  </a:cubicBezTo>
                  <a:cubicBezTo>
                    <a:pt x="7787" y="9024"/>
                    <a:pt x="7740" y="8941"/>
                    <a:pt x="7656" y="8893"/>
                  </a:cubicBezTo>
                  <a:cubicBezTo>
                    <a:pt x="7635" y="8885"/>
                    <a:pt x="7614" y="8881"/>
                    <a:pt x="7594" y="8881"/>
                  </a:cubicBezTo>
                  <a:cubicBezTo>
                    <a:pt x="7525" y="8881"/>
                    <a:pt x="7467" y="8926"/>
                    <a:pt x="7430" y="9000"/>
                  </a:cubicBezTo>
                  <a:cubicBezTo>
                    <a:pt x="7132" y="9810"/>
                    <a:pt x="6656" y="10560"/>
                    <a:pt x="6037" y="11167"/>
                  </a:cubicBezTo>
                  <a:cubicBezTo>
                    <a:pt x="6027" y="11172"/>
                    <a:pt x="6015" y="11175"/>
                    <a:pt x="6005" y="11175"/>
                  </a:cubicBezTo>
                  <a:cubicBezTo>
                    <a:pt x="5990" y="11175"/>
                    <a:pt x="5978" y="11169"/>
                    <a:pt x="5978" y="11155"/>
                  </a:cubicBezTo>
                  <a:lnTo>
                    <a:pt x="5763" y="8822"/>
                  </a:lnTo>
                  <a:lnTo>
                    <a:pt x="7835" y="6750"/>
                  </a:lnTo>
                  <a:lnTo>
                    <a:pt x="7835" y="6750"/>
                  </a:lnTo>
                  <a:cubicBezTo>
                    <a:pt x="7763" y="7583"/>
                    <a:pt x="7740" y="7810"/>
                    <a:pt x="7656" y="8238"/>
                  </a:cubicBezTo>
                  <a:cubicBezTo>
                    <a:pt x="7644" y="8322"/>
                    <a:pt x="7680" y="8417"/>
                    <a:pt x="7787" y="8441"/>
                  </a:cubicBezTo>
                  <a:cubicBezTo>
                    <a:pt x="7803" y="8445"/>
                    <a:pt x="7819" y="8447"/>
                    <a:pt x="7834" y="8447"/>
                  </a:cubicBezTo>
                  <a:cubicBezTo>
                    <a:pt x="7909" y="8447"/>
                    <a:pt x="7972" y="8399"/>
                    <a:pt x="8002" y="8310"/>
                  </a:cubicBezTo>
                  <a:cubicBezTo>
                    <a:pt x="8121" y="7786"/>
                    <a:pt x="8121" y="7548"/>
                    <a:pt x="8216" y="6393"/>
                  </a:cubicBezTo>
                  <a:lnTo>
                    <a:pt x="10585" y="4023"/>
                  </a:lnTo>
                  <a:cubicBezTo>
                    <a:pt x="10597" y="4011"/>
                    <a:pt x="10621" y="3976"/>
                    <a:pt x="10633" y="3952"/>
                  </a:cubicBezTo>
                  <a:lnTo>
                    <a:pt x="11109" y="2345"/>
                  </a:lnTo>
                  <a:lnTo>
                    <a:pt x="11669" y="404"/>
                  </a:lnTo>
                  <a:cubicBezTo>
                    <a:pt x="11711" y="193"/>
                    <a:pt x="11529" y="1"/>
                    <a:pt x="1132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lumMod val="50000"/>
                    <a:lumOff val="50000"/>
                  </a:schemeClr>
                </a:solidFill>
              </a:endParaRPr>
            </a:p>
          </p:txBody>
        </p:sp>
        <p:sp>
          <p:nvSpPr>
            <p:cNvPr id="81" name="Google Shape;1949;p50">
              <a:extLst>
                <a:ext uri="{FF2B5EF4-FFF2-40B4-BE49-F238E27FC236}">
                  <a16:creationId xmlns:a16="http://schemas.microsoft.com/office/drawing/2014/main" id="{17FAAC76-446F-8D4D-F94E-63B189A4661F}"/>
                </a:ext>
              </a:extLst>
            </p:cNvPr>
            <p:cNvSpPr/>
            <p:nvPr/>
          </p:nvSpPr>
          <p:spPr>
            <a:xfrm>
              <a:off x="1070396" y="2832057"/>
              <a:ext cx="90406" cy="69035"/>
            </a:xfrm>
            <a:custGeom>
              <a:avLst/>
              <a:gdLst/>
              <a:ahLst/>
              <a:cxnLst/>
              <a:rect l="l" t="t" r="r" b="b"/>
              <a:pathLst>
                <a:path w="2847" h="2174" extrusionOk="0">
                  <a:moveTo>
                    <a:pt x="1730" y="0"/>
                  </a:moveTo>
                  <a:cubicBezTo>
                    <a:pt x="1668" y="0"/>
                    <a:pt x="1610" y="44"/>
                    <a:pt x="1584" y="114"/>
                  </a:cubicBezTo>
                  <a:cubicBezTo>
                    <a:pt x="1537" y="197"/>
                    <a:pt x="1584" y="293"/>
                    <a:pt x="1668" y="328"/>
                  </a:cubicBezTo>
                  <a:cubicBezTo>
                    <a:pt x="2179" y="554"/>
                    <a:pt x="2299" y="1221"/>
                    <a:pt x="1906" y="1614"/>
                  </a:cubicBezTo>
                  <a:cubicBezTo>
                    <a:pt x="1751" y="1769"/>
                    <a:pt x="1551" y="1846"/>
                    <a:pt x="1350" y="1846"/>
                  </a:cubicBezTo>
                  <a:cubicBezTo>
                    <a:pt x="1150" y="1846"/>
                    <a:pt x="947" y="1769"/>
                    <a:pt x="786" y="1614"/>
                  </a:cubicBezTo>
                  <a:cubicBezTo>
                    <a:pt x="405" y="1221"/>
                    <a:pt x="525" y="566"/>
                    <a:pt x="1025" y="328"/>
                  </a:cubicBezTo>
                  <a:cubicBezTo>
                    <a:pt x="1120" y="293"/>
                    <a:pt x="1144" y="197"/>
                    <a:pt x="1120" y="114"/>
                  </a:cubicBezTo>
                  <a:cubicBezTo>
                    <a:pt x="1083" y="41"/>
                    <a:pt x="1019" y="10"/>
                    <a:pt x="954" y="10"/>
                  </a:cubicBezTo>
                  <a:cubicBezTo>
                    <a:pt x="934" y="10"/>
                    <a:pt x="913" y="13"/>
                    <a:pt x="894" y="19"/>
                  </a:cubicBezTo>
                  <a:cubicBezTo>
                    <a:pt x="179" y="352"/>
                    <a:pt x="1" y="1281"/>
                    <a:pt x="572" y="1852"/>
                  </a:cubicBezTo>
                  <a:cubicBezTo>
                    <a:pt x="786" y="2078"/>
                    <a:pt x="1072" y="2174"/>
                    <a:pt x="1370" y="2174"/>
                  </a:cubicBezTo>
                  <a:cubicBezTo>
                    <a:pt x="2334" y="2162"/>
                    <a:pt x="2846" y="947"/>
                    <a:pt x="2132" y="245"/>
                  </a:cubicBezTo>
                  <a:cubicBezTo>
                    <a:pt x="2037" y="150"/>
                    <a:pt x="1918" y="66"/>
                    <a:pt x="1798" y="19"/>
                  </a:cubicBezTo>
                  <a:cubicBezTo>
                    <a:pt x="1776" y="6"/>
                    <a:pt x="1753" y="0"/>
                    <a:pt x="17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lumMod val="50000"/>
                    <a:lumOff val="50000"/>
                  </a:schemeClr>
                </a:solidFill>
              </a:endParaRPr>
            </a:p>
          </p:txBody>
        </p:sp>
      </p:grpSp>
      <p:sp>
        <p:nvSpPr>
          <p:cNvPr id="82" name="CaixaDeTexto 81">
            <a:extLst>
              <a:ext uri="{FF2B5EF4-FFF2-40B4-BE49-F238E27FC236}">
                <a16:creationId xmlns:a16="http://schemas.microsoft.com/office/drawing/2014/main" id="{14B018D9-342A-3868-30C9-5C0C1995D984}"/>
              </a:ext>
            </a:extLst>
          </p:cNvPr>
          <p:cNvSpPr txBox="1"/>
          <p:nvPr/>
        </p:nvSpPr>
        <p:spPr>
          <a:xfrm>
            <a:off x="1431436" y="4965551"/>
            <a:ext cx="1721709" cy="246221"/>
          </a:xfrm>
          <a:prstGeom prst="rect">
            <a:avLst/>
          </a:prstGeom>
          <a:solidFill>
            <a:schemeClr val="bg1">
              <a:lumMod val="85000"/>
            </a:schemeClr>
          </a:solidFill>
        </p:spPr>
        <p:txBody>
          <a:bodyPr wrap="square" rtlCol="0">
            <a:spAutoFit/>
          </a:bodyPr>
          <a:lstStyle/>
          <a:p>
            <a:r>
              <a:rPr lang="pt-BR" sz="1000" b="1" dirty="0">
                <a:solidFill>
                  <a:schemeClr val="tx1">
                    <a:lumMod val="50000"/>
                    <a:lumOff val="50000"/>
                  </a:schemeClr>
                </a:solidFill>
                <a:latin typeface="Arial" panose="020B0604020202020204" pitchFamily="34" charset="0"/>
                <a:cs typeface="Arial" panose="020B0604020202020204" pitchFamily="34" charset="0"/>
              </a:rPr>
              <a:t>Ofensor - </a:t>
            </a:r>
            <a:r>
              <a:rPr lang="pt-BR" sz="1000" b="1" dirty="0" err="1">
                <a:solidFill>
                  <a:schemeClr val="tx1">
                    <a:lumMod val="50000"/>
                    <a:lumOff val="50000"/>
                  </a:schemeClr>
                </a:solidFill>
                <a:latin typeface="Arial" panose="020B0604020202020204" pitchFamily="34" charset="0"/>
                <a:cs typeface="Arial" panose="020B0604020202020204" pitchFamily="34" charset="0"/>
              </a:rPr>
              <a:t>Jun</a:t>
            </a:r>
            <a:endParaRPr lang="pt-BR" sz="1000" b="1" dirty="0">
              <a:solidFill>
                <a:schemeClr val="tx1">
                  <a:lumMod val="50000"/>
                  <a:lumOff val="50000"/>
                </a:schemeClr>
              </a:solidFill>
              <a:latin typeface="Arial" panose="020B0604020202020204" pitchFamily="34" charset="0"/>
              <a:cs typeface="Arial" panose="020B0604020202020204" pitchFamily="34" charset="0"/>
            </a:endParaRPr>
          </a:p>
        </p:txBody>
      </p:sp>
      <p:grpSp>
        <p:nvGrpSpPr>
          <p:cNvPr id="108" name="Google Shape;2920;p52">
            <a:extLst>
              <a:ext uri="{FF2B5EF4-FFF2-40B4-BE49-F238E27FC236}">
                <a16:creationId xmlns:a16="http://schemas.microsoft.com/office/drawing/2014/main" id="{63628D53-B11F-5521-60BB-608FCA4EE4F0}"/>
              </a:ext>
            </a:extLst>
          </p:cNvPr>
          <p:cNvGrpSpPr/>
          <p:nvPr/>
        </p:nvGrpSpPr>
        <p:grpSpPr>
          <a:xfrm>
            <a:off x="1105368" y="5445514"/>
            <a:ext cx="290273" cy="272688"/>
            <a:chOff x="1749728" y="2894777"/>
            <a:chExt cx="386927" cy="363438"/>
          </a:xfrm>
          <a:solidFill>
            <a:srgbClr val="595959"/>
          </a:solidFill>
        </p:grpSpPr>
        <p:sp>
          <p:nvSpPr>
            <p:cNvPr id="109" name="Google Shape;2921;p52">
              <a:extLst>
                <a:ext uri="{FF2B5EF4-FFF2-40B4-BE49-F238E27FC236}">
                  <a16:creationId xmlns:a16="http://schemas.microsoft.com/office/drawing/2014/main" id="{FDDFA6D6-8C32-7A6A-A50F-07F075031B94}"/>
                </a:ext>
              </a:extLst>
            </p:cNvPr>
            <p:cNvSpPr/>
            <p:nvPr/>
          </p:nvSpPr>
          <p:spPr>
            <a:xfrm>
              <a:off x="1809595" y="3025333"/>
              <a:ext cx="97424" cy="32432"/>
            </a:xfrm>
            <a:custGeom>
              <a:avLst/>
              <a:gdLst/>
              <a:ahLst/>
              <a:cxnLst/>
              <a:rect l="l" t="t" r="r" b="b"/>
              <a:pathLst>
                <a:path w="3061" h="1019" extrusionOk="0">
                  <a:moveTo>
                    <a:pt x="1208" y="0"/>
                  </a:moveTo>
                  <a:cubicBezTo>
                    <a:pt x="852" y="0"/>
                    <a:pt x="531" y="35"/>
                    <a:pt x="322" y="66"/>
                  </a:cubicBezTo>
                  <a:cubicBezTo>
                    <a:pt x="143" y="101"/>
                    <a:pt x="1" y="244"/>
                    <a:pt x="1" y="423"/>
                  </a:cubicBezTo>
                  <a:lnTo>
                    <a:pt x="1" y="840"/>
                  </a:lnTo>
                  <a:cubicBezTo>
                    <a:pt x="1" y="947"/>
                    <a:pt x="84" y="1018"/>
                    <a:pt x="179" y="1018"/>
                  </a:cubicBezTo>
                  <a:cubicBezTo>
                    <a:pt x="286" y="1018"/>
                    <a:pt x="358" y="947"/>
                    <a:pt x="358" y="840"/>
                  </a:cubicBezTo>
                  <a:lnTo>
                    <a:pt x="358" y="423"/>
                  </a:lnTo>
                  <a:cubicBezTo>
                    <a:pt x="358" y="423"/>
                    <a:pt x="358" y="411"/>
                    <a:pt x="382" y="411"/>
                  </a:cubicBezTo>
                  <a:cubicBezTo>
                    <a:pt x="549" y="383"/>
                    <a:pt x="870" y="340"/>
                    <a:pt x="1231" y="340"/>
                  </a:cubicBezTo>
                  <a:cubicBezTo>
                    <a:pt x="1330" y="340"/>
                    <a:pt x="1433" y="344"/>
                    <a:pt x="1536" y="351"/>
                  </a:cubicBezTo>
                  <a:cubicBezTo>
                    <a:pt x="2084" y="387"/>
                    <a:pt x="2489" y="530"/>
                    <a:pt x="2727" y="768"/>
                  </a:cubicBezTo>
                  <a:cubicBezTo>
                    <a:pt x="2763" y="804"/>
                    <a:pt x="2807" y="822"/>
                    <a:pt x="2852" y="822"/>
                  </a:cubicBezTo>
                  <a:cubicBezTo>
                    <a:pt x="2897" y="822"/>
                    <a:pt x="2941" y="804"/>
                    <a:pt x="2977" y="768"/>
                  </a:cubicBezTo>
                  <a:cubicBezTo>
                    <a:pt x="3060" y="709"/>
                    <a:pt x="3060" y="590"/>
                    <a:pt x="2977" y="530"/>
                  </a:cubicBezTo>
                  <a:cubicBezTo>
                    <a:pt x="2554" y="107"/>
                    <a:pt x="1828" y="0"/>
                    <a:pt x="120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2922;p52">
              <a:extLst>
                <a:ext uri="{FF2B5EF4-FFF2-40B4-BE49-F238E27FC236}">
                  <a16:creationId xmlns:a16="http://schemas.microsoft.com/office/drawing/2014/main" id="{94668A65-463E-AA9D-034A-B51AB18167D3}"/>
                </a:ext>
              </a:extLst>
            </p:cNvPr>
            <p:cNvSpPr/>
            <p:nvPr/>
          </p:nvSpPr>
          <p:spPr>
            <a:xfrm>
              <a:off x="1749728" y="2974346"/>
              <a:ext cx="216777" cy="283869"/>
            </a:xfrm>
            <a:custGeom>
              <a:avLst/>
              <a:gdLst/>
              <a:ahLst/>
              <a:cxnLst/>
              <a:rect l="l" t="t" r="r" b="b"/>
              <a:pathLst>
                <a:path w="6811" h="8919" extrusionOk="0">
                  <a:moveTo>
                    <a:pt x="5311" y="334"/>
                  </a:moveTo>
                  <a:lnTo>
                    <a:pt x="5311" y="2061"/>
                  </a:lnTo>
                  <a:cubicBezTo>
                    <a:pt x="5311" y="2311"/>
                    <a:pt x="5251" y="2561"/>
                    <a:pt x="5132" y="2799"/>
                  </a:cubicBezTo>
                  <a:cubicBezTo>
                    <a:pt x="5120" y="2835"/>
                    <a:pt x="5120" y="2846"/>
                    <a:pt x="5120" y="2882"/>
                  </a:cubicBezTo>
                  <a:lnTo>
                    <a:pt x="5120" y="3382"/>
                  </a:lnTo>
                  <a:cubicBezTo>
                    <a:pt x="5120" y="3858"/>
                    <a:pt x="4918" y="4311"/>
                    <a:pt x="4560" y="4644"/>
                  </a:cubicBezTo>
                  <a:cubicBezTo>
                    <a:pt x="4227" y="4955"/>
                    <a:pt x="3811" y="5111"/>
                    <a:pt x="3369" y="5111"/>
                  </a:cubicBezTo>
                  <a:cubicBezTo>
                    <a:pt x="3338" y="5111"/>
                    <a:pt x="3306" y="5110"/>
                    <a:pt x="3275" y="5109"/>
                  </a:cubicBezTo>
                  <a:cubicBezTo>
                    <a:pt x="2382" y="5061"/>
                    <a:pt x="1679" y="4275"/>
                    <a:pt x="1679" y="3323"/>
                  </a:cubicBezTo>
                  <a:lnTo>
                    <a:pt x="1679" y="2882"/>
                  </a:lnTo>
                  <a:cubicBezTo>
                    <a:pt x="1679" y="2846"/>
                    <a:pt x="1679" y="2823"/>
                    <a:pt x="1667" y="2799"/>
                  </a:cubicBezTo>
                  <a:cubicBezTo>
                    <a:pt x="1548" y="2561"/>
                    <a:pt x="1489" y="2311"/>
                    <a:pt x="1489" y="2061"/>
                  </a:cubicBezTo>
                  <a:lnTo>
                    <a:pt x="1489" y="1668"/>
                  </a:lnTo>
                  <a:cubicBezTo>
                    <a:pt x="1489" y="930"/>
                    <a:pt x="2096" y="334"/>
                    <a:pt x="2822" y="334"/>
                  </a:cubicBezTo>
                  <a:close/>
                  <a:moveTo>
                    <a:pt x="4358" y="5240"/>
                  </a:moveTo>
                  <a:lnTo>
                    <a:pt x="4358" y="5573"/>
                  </a:lnTo>
                  <a:lnTo>
                    <a:pt x="3406" y="6228"/>
                  </a:lnTo>
                  <a:lnTo>
                    <a:pt x="2441" y="5573"/>
                  </a:lnTo>
                  <a:lnTo>
                    <a:pt x="2441" y="5240"/>
                  </a:lnTo>
                  <a:cubicBezTo>
                    <a:pt x="2691" y="5371"/>
                    <a:pt x="2977" y="5466"/>
                    <a:pt x="3251" y="5478"/>
                  </a:cubicBezTo>
                  <a:lnTo>
                    <a:pt x="3394" y="5478"/>
                  </a:lnTo>
                  <a:cubicBezTo>
                    <a:pt x="3727" y="5478"/>
                    <a:pt x="4060" y="5406"/>
                    <a:pt x="4358" y="5240"/>
                  </a:cubicBezTo>
                  <a:close/>
                  <a:moveTo>
                    <a:pt x="2286" y="5883"/>
                  </a:moveTo>
                  <a:lnTo>
                    <a:pt x="3120" y="6466"/>
                  </a:lnTo>
                  <a:lnTo>
                    <a:pt x="2679" y="6906"/>
                  </a:lnTo>
                  <a:lnTo>
                    <a:pt x="2655" y="6906"/>
                  </a:lnTo>
                  <a:lnTo>
                    <a:pt x="2108" y="6073"/>
                  </a:lnTo>
                  <a:lnTo>
                    <a:pt x="2286" y="5883"/>
                  </a:lnTo>
                  <a:close/>
                  <a:moveTo>
                    <a:pt x="4525" y="5883"/>
                  </a:moveTo>
                  <a:lnTo>
                    <a:pt x="4703" y="6073"/>
                  </a:lnTo>
                  <a:lnTo>
                    <a:pt x="4144" y="6906"/>
                  </a:lnTo>
                  <a:lnTo>
                    <a:pt x="4132" y="6906"/>
                  </a:lnTo>
                  <a:lnTo>
                    <a:pt x="3691" y="6466"/>
                  </a:lnTo>
                  <a:lnTo>
                    <a:pt x="4525" y="5883"/>
                  </a:lnTo>
                  <a:close/>
                  <a:moveTo>
                    <a:pt x="2834" y="1"/>
                  </a:moveTo>
                  <a:cubicBezTo>
                    <a:pt x="1905" y="1"/>
                    <a:pt x="1143" y="763"/>
                    <a:pt x="1143" y="1703"/>
                  </a:cubicBezTo>
                  <a:lnTo>
                    <a:pt x="1143" y="2084"/>
                  </a:lnTo>
                  <a:cubicBezTo>
                    <a:pt x="1143" y="2382"/>
                    <a:pt x="1203" y="2680"/>
                    <a:pt x="1334" y="2954"/>
                  </a:cubicBezTo>
                  <a:lnTo>
                    <a:pt x="1334" y="3358"/>
                  </a:lnTo>
                  <a:cubicBezTo>
                    <a:pt x="1334" y="4025"/>
                    <a:pt x="1631" y="4620"/>
                    <a:pt x="2096" y="5025"/>
                  </a:cubicBezTo>
                  <a:lnTo>
                    <a:pt x="2096" y="5621"/>
                  </a:lnTo>
                  <a:lnTo>
                    <a:pt x="1762" y="5954"/>
                  </a:lnTo>
                  <a:cubicBezTo>
                    <a:pt x="1739" y="6002"/>
                    <a:pt x="1703" y="6049"/>
                    <a:pt x="1727" y="6097"/>
                  </a:cubicBezTo>
                  <a:lnTo>
                    <a:pt x="619" y="6490"/>
                  </a:lnTo>
                  <a:cubicBezTo>
                    <a:pt x="250" y="6633"/>
                    <a:pt x="0" y="6990"/>
                    <a:pt x="0" y="7371"/>
                  </a:cubicBezTo>
                  <a:lnTo>
                    <a:pt x="0" y="8740"/>
                  </a:lnTo>
                  <a:cubicBezTo>
                    <a:pt x="0" y="8847"/>
                    <a:pt x="72" y="8919"/>
                    <a:pt x="179" y="8919"/>
                  </a:cubicBezTo>
                  <a:cubicBezTo>
                    <a:pt x="274" y="8919"/>
                    <a:pt x="358" y="8847"/>
                    <a:pt x="358" y="8740"/>
                  </a:cubicBezTo>
                  <a:lnTo>
                    <a:pt x="358" y="7371"/>
                  </a:lnTo>
                  <a:cubicBezTo>
                    <a:pt x="358" y="7133"/>
                    <a:pt x="500" y="6906"/>
                    <a:pt x="739" y="6823"/>
                  </a:cubicBezTo>
                  <a:lnTo>
                    <a:pt x="1905" y="6406"/>
                  </a:lnTo>
                  <a:lnTo>
                    <a:pt x="2382" y="7121"/>
                  </a:lnTo>
                  <a:cubicBezTo>
                    <a:pt x="2441" y="7204"/>
                    <a:pt x="2536" y="7264"/>
                    <a:pt x="2644" y="7287"/>
                  </a:cubicBezTo>
                  <a:lnTo>
                    <a:pt x="2679" y="7287"/>
                  </a:lnTo>
                  <a:cubicBezTo>
                    <a:pt x="2774" y="7287"/>
                    <a:pt x="2870" y="7240"/>
                    <a:pt x="2929" y="7180"/>
                  </a:cubicBezTo>
                  <a:lnTo>
                    <a:pt x="3227" y="6883"/>
                  </a:lnTo>
                  <a:lnTo>
                    <a:pt x="3227" y="8740"/>
                  </a:lnTo>
                  <a:cubicBezTo>
                    <a:pt x="3227" y="8847"/>
                    <a:pt x="3298" y="8919"/>
                    <a:pt x="3406" y="8919"/>
                  </a:cubicBezTo>
                  <a:cubicBezTo>
                    <a:pt x="3513" y="8919"/>
                    <a:pt x="3584" y="8847"/>
                    <a:pt x="3584" y="8740"/>
                  </a:cubicBezTo>
                  <a:lnTo>
                    <a:pt x="3584" y="6883"/>
                  </a:lnTo>
                  <a:lnTo>
                    <a:pt x="3882" y="7180"/>
                  </a:lnTo>
                  <a:cubicBezTo>
                    <a:pt x="3953" y="7252"/>
                    <a:pt x="4048" y="7287"/>
                    <a:pt x="4132" y="7287"/>
                  </a:cubicBezTo>
                  <a:lnTo>
                    <a:pt x="4168" y="7287"/>
                  </a:lnTo>
                  <a:cubicBezTo>
                    <a:pt x="4263" y="7264"/>
                    <a:pt x="4370" y="7204"/>
                    <a:pt x="4429" y="7121"/>
                  </a:cubicBezTo>
                  <a:lnTo>
                    <a:pt x="4906" y="6406"/>
                  </a:lnTo>
                  <a:lnTo>
                    <a:pt x="6073" y="6823"/>
                  </a:lnTo>
                  <a:cubicBezTo>
                    <a:pt x="6287" y="6906"/>
                    <a:pt x="6454" y="7121"/>
                    <a:pt x="6454" y="7371"/>
                  </a:cubicBezTo>
                  <a:lnTo>
                    <a:pt x="6454" y="8740"/>
                  </a:lnTo>
                  <a:cubicBezTo>
                    <a:pt x="6454" y="8847"/>
                    <a:pt x="6525" y="8919"/>
                    <a:pt x="6632" y="8919"/>
                  </a:cubicBezTo>
                  <a:cubicBezTo>
                    <a:pt x="6739" y="8919"/>
                    <a:pt x="6811" y="8847"/>
                    <a:pt x="6811" y="8740"/>
                  </a:cubicBezTo>
                  <a:lnTo>
                    <a:pt x="6811" y="7371"/>
                  </a:lnTo>
                  <a:cubicBezTo>
                    <a:pt x="6811" y="6954"/>
                    <a:pt x="6573" y="6609"/>
                    <a:pt x="6203" y="6478"/>
                  </a:cubicBezTo>
                  <a:lnTo>
                    <a:pt x="5096" y="6073"/>
                  </a:lnTo>
                  <a:cubicBezTo>
                    <a:pt x="5096" y="6037"/>
                    <a:pt x="5084" y="5966"/>
                    <a:pt x="5060" y="5942"/>
                  </a:cubicBezTo>
                  <a:lnTo>
                    <a:pt x="4727" y="5597"/>
                  </a:lnTo>
                  <a:lnTo>
                    <a:pt x="4727" y="5025"/>
                  </a:lnTo>
                  <a:cubicBezTo>
                    <a:pt x="4763" y="4990"/>
                    <a:pt x="4799" y="4966"/>
                    <a:pt x="4834" y="4930"/>
                  </a:cubicBezTo>
                  <a:cubicBezTo>
                    <a:pt x="5251" y="4549"/>
                    <a:pt x="5489" y="3978"/>
                    <a:pt x="5489" y="3418"/>
                  </a:cubicBezTo>
                  <a:lnTo>
                    <a:pt x="5489" y="2954"/>
                  </a:lnTo>
                  <a:cubicBezTo>
                    <a:pt x="5608" y="2680"/>
                    <a:pt x="5680" y="2382"/>
                    <a:pt x="5680" y="2084"/>
                  </a:cubicBezTo>
                  <a:lnTo>
                    <a:pt x="5680" y="179"/>
                  </a:lnTo>
                  <a:cubicBezTo>
                    <a:pt x="5680" y="84"/>
                    <a:pt x="5608" y="1"/>
                    <a:pt x="550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 name="Google Shape;2923;p52">
              <a:extLst>
                <a:ext uri="{FF2B5EF4-FFF2-40B4-BE49-F238E27FC236}">
                  <a16:creationId xmlns:a16="http://schemas.microsoft.com/office/drawing/2014/main" id="{AAD4228F-5FFA-755D-E425-CA9B492F10D2}"/>
                </a:ext>
              </a:extLst>
            </p:cNvPr>
            <p:cNvSpPr/>
            <p:nvPr/>
          </p:nvSpPr>
          <p:spPr>
            <a:xfrm>
              <a:off x="1785725" y="3222186"/>
              <a:ext cx="11394" cy="35647"/>
            </a:xfrm>
            <a:custGeom>
              <a:avLst/>
              <a:gdLst/>
              <a:ahLst/>
              <a:cxnLst/>
              <a:rect l="l" t="t" r="r" b="b"/>
              <a:pathLst>
                <a:path w="358" h="1120" extrusionOk="0">
                  <a:moveTo>
                    <a:pt x="179" y="0"/>
                  </a:moveTo>
                  <a:cubicBezTo>
                    <a:pt x="72" y="0"/>
                    <a:pt x="0" y="72"/>
                    <a:pt x="0" y="179"/>
                  </a:cubicBezTo>
                  <a:lnTo>
                    <a:pt x="0" y="941"/>
                  </a:lnTo>
                  <a:cubicBezTo>
                    <a:pt x="0" y="1048"/>
                    <a:pt x="72" y="1120"/>
                    <a:pt x="179" y="1120"/>
                  </a:cubicBezTo>
                  <a:cubicBezTo>
                    <a:pt x="274" y="1120"/>
                    <a:pt x="358" y="1048"/>
                    <a:pt x="358" y="941"/>
                  </a:cubicBezTo>
                  <a:lnTo>
                    <a:pt x="358" y="179"/>
                  </a:lnTo>
                  <a:cubicBezTo>
                    <a:pt x="358" y="72"/>
                    <a:pt x="274" y="0"/>
                    <a:pt x="17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2924;p52">
              <a:extLst>
                <a:ext uri="{FF2B5EF4-FFF2-40B4-BE49-F238E27FC236}">
                  <a16:creationId xmlns:a16="http://schemas.microsoft.com/office/drawing/2014/main" id="{5C13BF80-0535-0784-D512-665573F88EDA}"/>
                </a:ext>
              </a:extLst>
            </p:cNvPr>
            <p:cNvSpPr/>
            <p:nvPr/>
          </p:nvSpPr>
          <p:spPr>
            <a:xfrm>
              <a:off x="1919114" y="3222186"/>
              <a:ext cx="11394" cy="35647"/>
            </a:xfrm>
            <a:custGeom>
              <a:avLst/>
              <a:gdLst/>
              <a:ahLst/>
              <a:cxnLst/>
              <a:rect l="l" t="t" r="r" b="b"/>
              <a:pathLst>
                <a:path w="358" h="1120" extrusionOk="0">
                  <a:moveTo>
                    <a:pt x="179" y="0"/>
                  </a:moveTo>
                  <a:cubicBezTo>
                    <a:pt x="72" y="0"/>
                    <a:pt x="0" y="72"/>
                    <a:pt x="0" y="179"/>
                  </a:cubicBezTo>
                  <a:lnTo>
                    <a:pt x="0" y="941"/>
                  </a:lnTo>
                  <a:cubicBezTo>
                    <a:pt x="0" y="1048"/>
                    <a:pt x="72" y="1120"/>
                    <a:pt x="179" y="1120"/>
                  </a:cubicBezTo>
                  <a:cubicBezTo>
                    <a:pt x="286" y="1120"/>
                    <a:pt x="358" y="1048"/>
                    <a:pt x="358" y="941"/>
                  </a:cubicBezTo>
                  <a:lnTo>
                    <a:pt x="358" y="179"/>
                  </a:lnTo>
                  <a:cubicBezTo>
                    <a:pt x="358" y="72"/>
                    <a:pt x="274" y="0"/>
                    <a:pt x="17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2925;p52">
              <a:extLst>
                <a:ext uri="{FF2B5EF4-FFF2-40B4-BE49-F238E27FC236}">
                  <a16:creationId xmlns:a16="http://schemas.microsoft.com/office/drawing/2014/main" id="{6352A84D-D188-7064-68A3-6EB8CC36A5DD}"/>
                </a:ext>
              </a:extLst>
            </p:cNvPr>
            <p:cNvSpPr/>
            <p:nvPr/>
          </p:nvSpPr>
          <p:spPr>
            <a:xfrm>
              <a:off x="1956257" y="2931156"/>
              <a:ext cx="180398" cy="188737"/>
            </a:xfrm>
            <a:custGeom>
              <a:avLst/>
              <a:gdLst/>
              <a:ahLst/>
              <a:cxnLst/>
              <a:rect l="l" t="t" r="r" b="b"/>
              <a:pathLst>
                <a:path w="5668" h="5930" extrusionOk="0">
                  <a:moveTo>
                    <a:pt x="738" y="1"/>
                  </a:moveTo>
                  <a:cubicBezTo>
                    <a:pt x="322" y="1"/>
                    <a:pt x="0" y="346"/>
                    <a:pt x="0" y="751"/>
                  </a:cubicBezTo>
                  <a:lnTo>
                    <a:pt x="0" y="3799"/>
                  </a:lnTo>
                  <a:cubicBezTo>
                    <a:pt x="0" y="4215"/>
                    <a:pt x="334" y="4549"/>
                    <a:pt x="738" y="4549"/>
                  </a:cubicBezTo>
                  <a:lnTo>
                    <a:pt x="1084" y="4549"/>
                  </a:lnTo>
                  <a:lnTo>
                    <a:pt x="810" y="5585"/>
                  </a:lnTo>
                  <a:cubicBezTo>
                    <a:pt x="786" y="5704"/>
                    <a:pt x="834" y="5811"/>
                    <a:pt x="929" y="5882"/>
                  </a:cubicBezTo>
                  <a:cubicBezTo>
                    <a:pt x="977" y="5918"/>
                    <a:pt x="1036" y="5930"/>
                    <a:pt x="1084" y="5930"/>
                  </a:cubicBezTo>
                  <a:cubicBezTo>
                    <a:pt x="1143" y="5930"/>
                    <a:pt x="1203" y="5918"/>
                    <a:pt x="1250" y="5870"/>
                  </a:cubicBezTo>
                  <a:lnTo>
                    <a:pt x="3072" y="4525"/>
                  </a:lnTo>
                  <a:lnTo>
                    <a:pt x="4918" y="4525"/>
                  </a:lnTo>
                  <a:cubicBezTo>
                    <a:pt x="5334" y="4525"/>
                    <a:pt x="5668" y="4192"/>
                    <a:pt x="5668" y="3787"/>
                  </a:cubicBezTo>
                  <a:lnTo>
                    <a:pt x="5668" y="751"/>
                  </a:lnTo>
                  <a:cubicBezTo>
                    <a:pt x="5656" y="334"/>
                    <a:pt x="5322" y="12"/>
                    <a:pt x="4906" y="12"/>
                  </a:cubicBezTo>
                  <a:lnTo>
                    <a:pt x="3953" y="12"/>
                  </a:lnTo>
                  <a:cubicBezTo>
                    <a:pt x="3846" y="12"/>
                    <a:pt x="3775" y="84"/>
                    <a:pt x="3775" y="191"/>
                  </a:cubicBezTo>
                  <a:cubicBezTo>
                    <a:pt x="3775" y="286"/>
                    <a:pt x="3846" y="370"/>
                    <a:pt x="3953" y="370"/>
                  </a:cubicBezTo>
                  <a:lnTo>
                    <a:pt x="4906" y="370"/>
                  </a:lnTo>
                  <a:cubicBezTo>
                    <a:pt x="5132" y="370"/>
                    <a:pt x="5299" y="548"/>
                    <a:pt x="5299" y="751"/>
                  </a:cubicBezTo>
                  <a:lnTo>
                    <a:pt x="5299" y="3799"/>
                  </a:lnTo>
                  <a:cubicBezTo>
                    <a:pt x="5299" y="4025"/>
                    <a:pt x="5120" y="4192"/>
                    <a:pt x="4906" y="4192"/>
                  </a:cubicBezTo>
                  <a:lnTo>
                    <a:pt x="3001" y="4192"/>
                  </a:lnTo>
                  <a:cubicBezTo>
                    <a:pt x="2953" y="4192"/>
                    <a:pt x="2929" y="4203"/>
                    <a:pt x="2893" y="4215"/>
                  </a:cubicBezTo>
                  <a:lnTo>
                    <a:pt x="1203" y="5454"/>
                  </a:lnTo>
                  <a:lnTo>
                    <a:pt x="1203" y="5454"/>
                  </a:lnTo>
                  <a:lnTo>
                    <a:pt x="1465" y="4418"/>
                  </a:lnTo>
                  <a:cubicBezTo>
                    <a:pt x="1489" y="4358"/>
                    <a:pt x="1465" y="4311"/>
                    <a:pt x="1441" y="4263"/>
                  </a:cubicBezTo>
                  <a:cubicBezTo>
                    <a:pt x="1405" y="4215"/>
                    <a:pt x="1346" y="4192"/>
                    <a:pt x="1310" y="4192"/>
                  </a:cubicBezTo>
                  <a:lnTo>
                    <a:pt x="738" y="4192"/>
                  </a:lnTo>
                  <a:cubicBezTo>
                    <a:pt x="512" y="4192"/>
                    <a:pt x="357" y="4013"/>
                    <a:pt x="357" y="3799"/>
                  </a:cubicBezTo>
                  <a:lnTo>
                    <a:pt x="357" y="751"/>
                  </a:lnTo>
                  <a:cubicBezTo>
                    <a:pt x="357" y="524"/>
                    <a:pt x="536" y="370"/>
                    <a:pt x="738" y="370"/>
                  </a:cubicBezTo>
                  <a:lnTo>
                    <a:pt x="1691" y="370"/>
                  </a:lnTo>
                  <a:cubicBezTo>
                    <a:pt x="1798" y="370"/>
                    <a:pt x="1870" y="286"/>
                    <a:pt x="1870" y="179"/>
                  </a:cubicBezTo>
                  <a:cubicBezTo>
                    <a:pt x="1870" y="84"/>
                    <a:pt x="1798" y="1"/>
                    <a:pt x="169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2926;p52">
              <a:extLst>
                <a:ext uri="{FF2B5EF4-FFF2-40B4-BE49-F238E27FC236}">
                  <a16:creationId xmlns:a16="http://schemas.microsoft.com/office/drawing/2014/main" id="{22E10A1F-9E8A-32AB-F7FF-7755319FD2F1}"/>
                </a:ext>
              </a:extLst>
            </p:cNvPr>
            <p:cNvSpPr/>
            <p:nvPr/>
          </p:nvSpPr>
          <p:spPr>
            <a:xfrm>
              <a:off x="2027487" y="2894777"/>
              <a:ext cx="36029" cy="108786"/>
            </a:xfrm>
            <a:custGeom>
              <a:avLst/>
              <a:gdLst/>
              <a:ahLst/>
              <a:cxnLst/>
              <a:rect l="l" t="t" r="r" b="b"/>
              <a:pathLst>
                <a:path w="1132" h="3418" extrusionOk="0">
                  <a:moveTo>
                    <a:pt x="775" y="358"/>
                  </a:moveTo>
                  <a:lnTo>
                    <a:pt x="596" y="3049"/>
                  </a:lnTo>
                  <a:lnTo>
                    <a:pt x="560" y="3049"/>
                  </a:lnTo>
                  <a:lnTo>
                    <a:pt x="394" y="358"/>
                  </a:lnTo>
                  <a:close/>
                  <a:moveTo>
                    <a:pt x="179" y="1"/>
                  </a:moveTo>
                  <a:cubicBezTo>
                    <a:pt x="143" y="1"/>
                    <a:pt x="96" y="24"/>
                    <a:pt x="48" y="60"/>
                  </a:cubicBezTo>
                  <a:cubicBezTo>
                    <a:pt x="24" y="96"/>
                    <a:pt x="1" y="155"/>
                    <a:pt x="1" y="203"/>
                  </a:cubicBezTo>
                  <a:lnTo>
                    <a:pt x="203" y="3251"/>
                  </a:lnTo>
                  <a:cubicBezTo>
                    <a:pt x="203" y="3334"/>
                    <a:pt x="286" y="3418"/>
                    <a:pt x="382" y="3418"/>
                  </a:cubicBezTo>
                  <a:lnTo>
                    <a:pt x="763" y="3418"/>
                  </a:lnTo>
                  <a:cubicBezTo>
                    <a:pt x="858" y="3418"/>
                    <a:pt x="941" y="3334"/>
                    <a:pt x="941" y="3251"/>
                  </a:cubicBezTo>
                  <a:lnTo>
                    <a:pt x="1132" y="203"/>
                  </a:lnTo>
                  <a:cubicBezTo>
                    <a:pt x="1132" y="155"/>
                    <a:pt x="1120" y="96"/>
                    <a:pt x="1072" y="60"/>
                  </a:cubicBezTo>
                  <a:cubicBezTo>
                    <a:pt x="1048" y="36"/>
                    <a:pt x="1001" y="1"/>
                    <a:pt x="94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2927;p52">
              <a:extLst>
                <a:ext uri="{FF2B5EF4-FFF2-40B4-BE49-F238E27FC236}">
                  <a16:creationId xmlns:a16="http://schemas.microsoft.com/office/drawing/2014/main" id="{9D928E9F-9404-2739-D5EB-520029C80975}"/>
                </a:ext>
              </a:extLst>
            </p:cNvPr>
            <p:cNvSpPr/>
            <p:nvPr/>
          </p:nvSpPr>
          <p:spPr>
            <a:xfrm>
              <a:off x="2027487" y="3009992"/>
              <a:ext cx="36029" cy="36029"/>
            </a:xfrm>
            <a:custGeom>
              <a:avLst/>
              <a:gdLst/>
              <a:ahLst/>
              <a:cxnLst/>
              <a:rect l="l" t="t" r="r" b="b"/>
              <a:pathLst>
                <a:path w="1132" h="1132" extrusionOk="0">
                  <a:moveTo>
                    <a:pt x="572" y="345"/>
                  </a:moveTo>
                  <a:cubicBezTo>
                    <a:pt x="691" y="345"/>
                    <a:pt x="775" y="429"/>
                    <a:pt x="775" y="548"/>
                  </a:cubicBezTo>
                  <a:cubicBezTo>
                    <a:pt x="775" y="667"/>
                    <a:pt x="691" y="762"/>
                    <a:pt x="572" y="762"/>
                  </a:cubicBezTo>
                  <a:cubicBezTo>
                    <a:pt x="453" y="762"/>
                    <a:pt x="358" y="667"/>
                    <a:pt x="358" y="548"/>
                  </a:cubicBezTo>
                  <a:cubicBezTo>
                    <a:pt x="358" y="429"/>
                    <a:pt x="453" y="345"/>
                    <a:pt x="572" y="345"/>
                  </a:cubicBezTo>
                  <a:close/>
                  <a:moveTo>
                    <a:pt x="572" y="0"/>
                  </a:moveTo>
                  <a:cubicBezTo>
                    <a:pt x="263" y="0"/>
                    <a:pt x="1" y="250"/>
                    <a:pt x="1" y="572"/>
                  </a:cubicBezTo>
                  <a:cubicBezTo>
                    <a:pt x="1" y="881"/>
                    <a:pt x="263" y="1131"/>
                    <a:pt x="572" y="1131"/>
                  </a:cubicBezTo>
                  <a:cubicBezTo>
                    <a:pt x="882" y="1131"/>
                    <a:pt x="1132" y="881"/>
                    <a:pt x="1132" y="572"/>
                  </a:cubicBezTo>
                  <a:cubicBezTo>
                    <a:pt x="1132" y="250"/>
                    <a:pt x="882" y="0"/>
                    <a:pt x="57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6" name="CaixaDeTexto 115">
            <a:extLst>
              <a:ext uri="{FF2B5EF4-FFF2-40B4-BE49-F238E27FC236}">
                <a16:creationId xmlns:a16="http://schemas.microsoft.com/office/drawing/2014/main" id="{DA156382-2638-6C1E-8CE6-704A837F03B7}"/>
              </a:ext>
            </a:extLst>
          </p:cNvPr>
          <p:cNvSpPr txBox="1"/>
          <p:nvPr/>
        </p:nvSpPr>
        <p:spPr>
          <a:xfrm>
            <a:off x="1492649" y="5473208"/>
            <a:ext cx="3087159" cy="276999"/>
          </a:xfrm>
          <a:prstGeom prst="rect">
            <a:avLst/>
          </a:prstGeom>
          <a:noFill/>
        </p:spPr>
        <p:txBody>
          <a:bodyPr wrap="square" rtlCol="0">
            <a:spAutoFit/>
          </a:bodyPr>
          <a:lstStyle/>
          <a:p>
            <a:r>
              <a:rPr lang="pt-BR" sz="1200" b="1" dirty="0">
                <a:solidFill>
                  <a:schemeClr val="tx1">
                    <a:lumMod val="50000"/>
                    <a:lumOff val="50000"/>
                  </a:schemeClr>
                </a:solidFill>
                <a:latin typeface="Arial" panose="020B0604020202020204" pitchFamily="34" charset="0"/>
                <a:cs typeface="Arial" panose="020B0604020202020204" pitchFamily="34" charset="0"/>
              </a:rPr>
              <a:t>Antonina </a:t>
            </a:r>
            <a:r>
              <a:rPr lang="pt-BR" sz="1200" b="1" dirty="0" err="1">
                <a:solidFill>
                  <a:schemeClr val="tx1">
                    <a:lumMod val="50000"/>
                    <a:lumOff val="50000"/>
                  </a:schemeClr>
                </a:solidFill>
                <a:latin typeface="Arial" panose="020B0604020202020204" pitchFamily="34" charset="0"/>
                <a:cs typeface="Arial" panose="020B0604020202020204" pitchFamily="34" charset="0"/>
              </a:rPr>
              <a:t>Haak</a:t>
            </a:r>
            <a:r>
              <a:rPr lang="pt-BR" sz="1200" b="1" dirty="0">
                <a:solidFill>
                  <a:schemeClr val="tx1">
                    <a:lumMod val="50000"/>
                    <a:lumOff val="50000"/>
                  </a:schemeClr>
                </a:solidFill>
                <a:latin typeface="Arial" panose="020B0604020202020204" pitchFamily="34" charset="0"/>
                <a:cs typeface="Arial" panose="020B0604020202020204" pitchFamily="34" charset="0"/>
              </a:rPr>
              <a:t> – 78,60 </a:t>
            </a:r>
          </a:p>
        </p:txBody>
      </p:sp>
      <p:sp>
        <p:nvSpPr>
          <p:cNvPr id="2" name="CaixaDeTexto 1">
            <a:extLst>
              <a:ext uri="{FF2B5EF4-FFF2-40B4-BE49-F238E27FC236}">
                <a16:creationId xmlns:a16="http://schemas.microsoft.com/office/drawing/2014/main" id="{BE16E655-5E8E-8D0C-F691-C7C86C0C5166}"/>
              </a:ext>
            </a:extLst>
          </p:cNvPr>
          <p:cNvSpPr txBox="1"/>
          <p:nvPr/>
        </p:nvSpPr>
        <p:spPr>
          <a:xfrm>
            <a:off x="1431436" y="1336969"/>
            <a:ext cx="3992681" cy="307777"/>
          </a:xfrm>
          <a:prstGeom prst="rect">
            <a:avLst/>
          </a:prstGeom>
          <a:noFill/>
        </p:spPr>
        <p:txBody>
          <a:bodyPr wrap="square" rtlCol="0">
            <a:spAutoFit/>
          </a:bodyPr>
          <a:lstStyle/>
          <a:p>
            <a:pPr algn="ctr"/>
            <a:r>
              <a:rPr lang="pt-BR" sz="1400" b="1" dirty="0">
                <a:solidFill>
                  <a:schemeClr val="tx1">
                    <a:lumMod val="50000"/>
                    <a:lumOff val="50000"/>
                  </a:schemeClr>
                </a:solidFill>
                <a:latin typeface="Arial" panose="020B0604020202020204" pitchFamily="34" charset="0"/>
                <a:cs typeface="Arial" panose="020B0604020202020204" pitchFamily="34" charset="0"/>
              </a:rPr>
              <a:t>Comparativo dos Ofensores (Jun. </a:t>
            </a:r>
            <a:r>
              <a:rPr lang="pt-BR" sz="1400" b="1" dirty="0" err="1">
                <a:solidFill>
                  <a:schemeClr val="tx1">
                    <a:lumMod val="50000"/>
                    <a:lumOff val="50000"/>
                  </a:schemeClr>
                </a:solidFill>
                <a:latin typeface="Arial" panose="020B0604020202020204" pitchFamily="34" charset="0"/>
                <a:cs typeface="Arial" panose="020B0604020202020204" pitchFamily="34" charset="0"/>
              </a:rPr>
              <a:t>vs</a:t>
            </a:r>
            <a:r>
              <a:rPr lang="pt-BR" sz="1400" b="1" dirty="0">
                <a:solidFill>
                  <a:schemeClr val="tx1">
                    <a:lumMod val="50000"/>
                    <a:lumOff val="50000"/>
                  </a:schemeClr>
                </a:solidFill>
                <a:latin typeface="Arial" panose="020B0604020202020204" pitchFamily="34" charset="0"/>
                <a:cs typeface="Arial" panose="020B0604020202020204" pitchFamily="34" charset="0"/>
              </a:rPr>
              <a:t> Jul)                                                                                                                                                                                                  </a:t>
            </a:r>
          </a:p>
        </p:txBody>
      </p:sp>
      <p:sp>
        <p:nvSpPr>
          <p:cNvPr id="14" name="CaixaDeTexto 13">
            <a:extLst>
              <a:ext uri="{FF2B5EF4-FFF2-40B4-BE49-F238E27FC236}">
                <a16:creationId xmlns:a16="http://schemas.microsoft.com/office/drawing/2014/main" id="{5C34990A-B742-8B70-72C1-C1572B90EC57}"/>
              </a:ext>
            </a:extLst>
          </p:cNvPr>
          <p:cNvSpPr txBox="1"/>
          <p:nvPr/>
        </p:nvSpPr>
        <p:spPr>
          <a:xfrm>
            <a:off x="10268941" y="2175918"/>
            <a:ext cx="825699" cy="738664"/>
          </a:xfrm>
          <a:prstGeom prst="rect">
            <a:avLst/>
          </a:prstGeom>
          <a:noFill/>
        </p:spPr>
        <p:txBody>
          <a:bodyPr wrap="square" rtlCol="0">
            <a:spAutoFit/>
          </a:bodyPr>
          <a:lstStyle/>
          <a:p>
            <a:pPr algn="ctr"/>
            <a:r>
              <a:rPr lang="pt-BR" sz="1400" dirty="0">
                <a:solidFill>
                  <a:srgbClr val="00B0F0"/>
                </a:solidFill>
                <a:latin typeface="Arial" panose="020B0604020202020204" pitchFamily="34" charset="0"/>
                <a:cs typeface="Arial" panose="020B0604020202020204" pitchFamily="34" charset="0"/>
              </a:rPr>
              <a:t>99,20</a:t>
            </a:r>
          </a:p>
          <a:p>
            <a:pPr algn="ctr"/>
            <a:r>
              <a:rPr lang="pt-BR" sz="1400" dirty="0">
                <a:solidFill>
                  <a:srgbClr val="00B0F0"/>
                </a:solidFill>
                <a:latin typeface="Arial" panose="020B0604020202020204" pitchFamily="34" charset="0"/>
                <a:cs typeface="Arial" panose="020B0604020202020204" pitchFamily="34" charset="0"/>
              </a:rPr>
              <a:t>99,00</a:t>
            </a:r>
          </a:p>
          <a:p>
            <a:pPr algn="ctr"/>
            <a:r>
              <a:rPr lang="pt-BR" sz="1400" dirty="0">
                <a:solidFill>
                  <a:srgbClr val="00B0F0"/>
                </a:solidFill>
                <a:latin typeface="Arial" panose="020B0604020202020204" pitchFamily="34" charset="0"/>
                <a:cs typeface="Arial" panose="020B0604020202020204" pitchFamily="34" charset="0"/>
              </a:rPr>
              <a:t>98,83</a:t>
            </a:r>
          </a:p>
        </p:txBody>
      </p:sp>
      <p:sp>
        <p:nvSpPr>
          <p:cNvPr id="3" name="CaixaDeTexto 2">
            <a:extLst>
              <a:ext uri="{FF2B5EF4-FFF2-40B4-BE49-F238E27FC236}">
                <a16:creationId xmlns:a16="http://schemas.microsoft.com/office/drawing/2014/main" id="{4DFFCBC5-C10D-7350-20D9-4478BD0627C1}"/>
              </a:ext>
            </a:extLst>
          </p:cNvPr>
          <p:cNvSpPr txBox="1"/>
          <p:nvPr/>
        </p:nvSpPr>
        <p:spPr>
          <a:xfrm>
            <a:off x="7742500" y="4459242"/>
            <a:ext cx="3104740" cy="307777"/>
          </a:xfrm>
          <a:prstGeom prst="rect">
            <a:avLst/>
          </a:prstGeom>
          <a:noFill/>
        </p:spPr>
        <p:txBody>
          <a:bodyPr wrap="square" rtlCol="0">
            <a:spAutoFit/>
          </a:bodyPr>
          <a:lstStyle/>
          <a:p>
            <a:r>
              <a:rPr lang="pt-BR" sz="1400" dirty="0">
                <a:solidFill>
                  <a:srgbClr val="00B0F0"/>
                </a:solidFill>
                <a:latin typeface="Arial" panose="020B0604020202020204" pitchFamily="34" charset="0"/>
                <a:cs typeface="Arial" panose="020B0604020202020204" pitchFamily="34" charset="0"/>
              </a:rPr>
              <a:t>Antonina </a:t>
            </a:r>
            <a:r>
              <a:rPr lang="pt-BR" sz="1400" dirty="0" err="1">
                <a:solidFill>
                  <a:srgbClr val="00B0F0"/>
                </a:solidFill>
                <a:latin typeface="Arial" panose="020B0604020202020204" pitchFamily="34" charset="0"/>
                <a:cs typeface="Arial" panose="020B0604020202020204" pitchFamily="34" charset="0"/>
              </a:rPr>
              <a:t>Haak</a:t>
            </a:r>
            <a:endParaRPr lang="pt-BR" sz="1400" dirty="0">
              <a:solidFill>
                <a:srgbClr val="00B0F0"/>
              </a:solidFill>
              <a:latin typeface="Arial" panose="020B0604020202020204" pitchFamily="34" charset="0"/>
              <a:cs typeface="Arial" panose="020B0604020202020204" pitchFamily="34" charset="0"/>
            </a:endParaRPr>
          </a:p>
        </p:txBody>
      </p:sp>
      <p:sp>
        <p:nvSpPr>
          <p:cNvPr id="4" name="CaixaDeTexto 3">
            <a:extLst>
              <a:ext uri="{FF2B5EF4-FFF2-40B4-BE49-F238E27FC236}">
                <a16:creationId xmlns:a16="http://schemas.microsoft.com/office/drawing/2014/main" id="{C2EB8149-8633-C810-80A9-CDE4B5A92E1E}"/>
              </a:ext>
            </a:extLst>
          </p:cNvPr>
          <p:cNvSpPr txBox="1"/>
          <p:nvPr/>
        </p:nvSpPr>
        <p:spPr>
          <a:xfrm>
            <a:off x="10285564" y="4474630"/>
            <a:ext cx="825699" cy="307777"/>
          </a:xfrm>
          <a:prstGeom prst="rect">
            <a:avLst/>
          </a:prstGeom>
          <a:noFill/>
        </p:spPr>
        <p:txBody>
          <a:bodyPr wrap="square" rtlCol="0">
            <a:spAutoFit/>
          </a:bodyPr>
          <a:lstStyle/>
          <a:p>
            <a:pPr algn="ctr"/>
            <a:r>
              <a:rPr lang="pt-BR" sz="1400" dirty="0">
                <a:solidFill>
                  <a:srgbClr val="00B0F0"/>
                </a:solidFill>
                <a:latin typeface="Arial" panose="020B0604020202020204" pitchFamily="34" charset="0"/>
                <a:cs typeface="Arial" panose="020B0604020202020204" pitchFamily="34" charset="0"/>
              </a:rPr>
              <a:t>82,17</a:t>
            </a:r>
          </a:p>
        </p:txBody>
      </p:sp>
    </p:spTree>
    <p:extLst>
      <p:ext uri="{BB962C8B-B14F-4D97-AF65-F5344CB8AC3E}">
        <p14:creationId xmlns:p14="http://schemas.microsoft.com/office/powerpoint/2010/main" val="28103093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D0B76-4018-0910-FFC6-A6CCC935CDD6}"/>
            </a:ext>
          </a:extLst>
        </p:cNvPr>
        <p:cNvGrpSpPr/>
        <p:nvPr/>
      </p:nvGrpSpPr>
      <p:grpSpPr>
        <a:xfrm>
          <a:off x="0" y="0"/>
          <a:ext cx="0" cy="0"/>
          <a:chOff x="0" y="0"/>
          <a:chExt cx="0" cy="0"/>
        </a:xfrm>
      </p:grpSpPr>
      <p:pic>
        <p:nvPicPr>
          <p:cNvPr id="39" name="Imagem 38">
            <a:extLst>
              <a:ext uri="{FF2B5EF4-FFF2-40B4-BE49-F238E27FC236}">
                <a16:creationId xmlns:a16="http://schemas.microsoft.com/office/drawing/2014/main" id="{2424F326-DDD4-7962-7CCB-B8B96149B5BD}"/>
              </a:ext>
            </a:extLst>
          </p:cNvPr>
          <p:cNvPicPr>
            <a:picLocks noChangeAspect="1"/>
          </p:cNvPicPr>
          <p:nvPr/>
        </p:nvPicPr>
        <p:blipFill>
          <a:blip r:embed="rId2">
            <a:alphaModFix amt="4000"/>
          </a:blip>
          <a:stretch>
            <a:fillRect/>
          </a:stretch>
        </p:blipFill>
        <p:spPr>
          <a:xfrm>
            <a:off x="9157251" y="4596063"/>
            <a:ext cx="5030445" cy="5148116"/>
          </a:xfrm>
          <a:prstGeom prst="rect">
            <a:avLst/>
          </a:prstGeom>
          <a:effectLst/>
        </p:spPr>
      </p:pic>
      <p:pic>
        <p:nvPicPr>
          <p:cNvPr id="38" name="Imagem 37">
            <a:extLst>
              <a:ext uri="{FF2B5EF4-FFF2-40B4-BE49-F238E27FC236}">
                <a16:creationId xmlns:a16="http://schemas.microsoft.com/office/drawing/2014/main" id="{EA6F87C1-0EC5-C2E1-CF82-9F052D364E25}"/>
              </a:ext>
            </a:extLst>
          </p:cNvPr>
          <p:cNvPicPr>
            <a:picLocks noChangeAspect="1"/>
          </p:cNvPicPr>
          <p:nvPr/>
        </p:nvPicPr>
        <p:blipFill>
          <a:blip r:embed="rId2">
            <a:alphaModFix amt="4000"/>
          </a:blip>
          <a:stretch>
            <a:fillRect/>
          </a:stretch>
        </p:blipFill>
        <p:spPr>
          <a:xfrm>
            <a:off x="-2128370" y="-2021305"/>
            <a:ext cx="5030445" cy="5148116"/>
          </a:xfrm>
          <a:prstGeom prst="rect">
            <a:avLst/>
          </a:prstGeom>
          <a:effectLst/>
        </p:spPr>
      </p:pic>
      <p:sp>
        <p:nvSpPr>
          <p:cNvPr id="6" name="Título 1">
            <a:extLst>
              <a:ext uri="{FF2B5EF4-FFF2-40B4-BE49-F238E27FC236}">
                <a16:creationId xmlns:a16="http://schemas.microsoft.com/office/drawing/2014/main" id="{4D84F348-76BD-D0A8-0A6F-86DEFEE7EC58}"/>
              </a:ext>
            </a:extLst>
          </p:cNvPr>
          <p:cNvSpPr txBox="1">
            <a:spLocks/>
          </p:cNvSpPr>
          <p:nvPr/>
        </p:nvSpPr>
        <p:spPr>
          <a:xfrm>
            <a:off x="5946417" y="431573"/>
            <a:ext cx="5811865"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pt-BR" sz="1600" spc="600" dirty="0">
                <a:solidFill>
                  <a:srgbClr val="00B0F0"/>
                </a:solidFill>
                <a:latin typeface="Arial" panose="020B0604020202020204" pitchFamily="34" charset="0"/>
                <a:cs typeface="Arial" panose="020B0604020202020204" pitchFamily="34" charset="0"/>
              </a:rPr>
              <a:t>CADASTRO POSITIVO</a:t>
            </a:r>
          </a:p>
        </p:txBody>
      </p:sp>
      <p:grpSp>
        <p:nvGrpSpPr>
          <p:cNvPr id="20" name="Google Shape;1964;p50">
            <a:extLst>
              <a:ext uri="{FF2B5EF4-FFF2-40B4-BE49-F238E27FC236}">
                <a16:creationId xmlns:a16="http://schemas.microsoft.com/office/drawing/2014/main" id="{23A8CF0F-640B-BC88-BCF8-4E1697DF63DE}"/>
              </a:ext>
            </a:extLst>
          </p:cNvPr>
          <p:cNvGrpSpPr/>
          <p:nvPr/>
        </p:nvGrpSpPr>
        <p:grpSpPr>
          <a:xfrm flipH="1">
            <a:off x="742950" y="537670"/>
            <a:ext cx="603644" cy="576232"/>
            <a:chOff x="4126815" y="2760704"/>
            <a:chExt cx="380393" cy="363118"/>
          </a:xfrm>
          <a:solidFill>
            <a:srgbClr val="0B5892"/>
          </a:solidFill>
        </p:grpSpPr>
        <p:sp>
          <p:nvSpPr>
            <p:cNvPr id="21" name="Google Shape;1965;p50">
              <a:extLst>
                <a:ext uri="{FF2B5EF4-FFF2-40B4-BE49-F238E27FC236}">
                  <a16:creationId xmlns:a16="http://schemas.microsoft.com/office/drawing/2014/main" id="{15878682-696D-DD06-65F8-7637EBB096BD}"/>
                </a:ext>
              </a:extLst>
            </p:cNvPr>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966;p50">
              <a:extLst>
                <a:ext uri="{FF2B5EF4-FFF2-40B4-BE49-F238E27FC236}">
                  <a16:creationId xmlns:a16="http://schemas.microsoft.com/office/drawing/2014/main" id="{0A50DA29-125D-054E-308D-DEBAD5969F39}"/>
                </a:ext>
              </a:extLst>
            </p:cNvPr>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967;p50">
              <a:extLst>
                <a:ext uri="{FF2B5EF4-FFF2-40B4-BE49-F238E27FC236}">
                  <a16:creationId xmlns:a16="http://schemas.microsoft.com/office/drawing/2014/main" id="{7804C364-08ED-8B65-38FE-6098DAF36C91}"/>
                </a:ext>
              </a:extLst>
            </p:cNvPr>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968;p50">
              <a:extLst>
                <a:ext uri="{FF2B5EF4-FFF2-40B4-BE49-F238E27FC236}">
                  <a16:creationId xmlns:a16="http://schemas.microsoft.com/office/drawing/2014/main" id="{107ADC73-EC5B-7E3D-9095-6A4ABFF14131}"/>
                </a:ext>
              </a:extLst>
            </p:cNvPr>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Retângulo 28">
            <a:extLst>
              <a:ext uri="{FF2B5EF4-FFF2-40B4-BE49-F238E27FC236}">
                <a16:creationId xmlns:a16="http://schemas.microsoft.com/office/drawing/2014/main" id="{52ADF8FD-76D2-FECC-39A0-B6F1018F35F7}"/>
              </a:ext>
            </a:extLst>
          </p:cNvPr>
          <p:cNvSpPr/>
          <p:nvPr/>
        </p:nvSpPr>
        <p:spPr>
          <a:xfrm>
            <a:off x="-449179" y="6707874"/>
            <a:ext cx="14054469" cy="33461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 name="Imagem 7">
            <a:extLst>
              <a:ext uri="{FF2B5EF4-FFF2-40B4-BE49-F238E27FC236}">
                <a16:creationId xmlns:a16="http://schemas.microsoft.com/office/drawing/2014/main" id="{D893831A-1269-9CE6-0EB0-A9A27CC67E0B}"/>
              </a:ext>
            </a:extLst>
          </p:cNvPr>
          <p:cNvPicPr>
            <a:picLocks noChangeAspect="1"/>
          </p:cNvPicPr>
          <p:nvPr/>
        </p:nvPicPr>
        <p:blipFill>
          <a:blip r:embed="rId3"/>
          <a:stretch>
            <a:fillRect/>
          </a:stretch>
        </p:blipFill>
        <p:spPr>
          <a:xfrm>
            <a:off x="-124691" y="-20995"/>
            <a:ext cx="12316692" cy="88042"/>
          </a:xfrm>
          <a:prstGeom prst="rect">
            <a:avLst/>
          </a:prstGeom>
        </p:spPr>
      </p:pic>
      <p:sp>
        <p:nvSpPr>
          <p:cNvPr id="18" name="Título 1">
            <a:extLst>
              <a:ext uri="{FF2B5EF4-FFF2-40B4-BE49-F238E27FC236}">
                <a16:creationId xmlns:a16="http://schemas.microsoft.com/office/drawing/2014/main" id="{43DBCC4E-BBE9-F713-D5C7-9807CCE05009}"/>
              </a:ext>
            </a:extLst>
          </p:cNvPr>
          <p:cNvSpPr txBox="1">
            <a:spLocks/>
          </p:cNvSpPr>
          <p:nvPr/>
        </p:nvSpPr>
        <p:spPr>
          <a:xfrm>
            <a:off x="1366068" y="448718"/>
            <a:ext cx="6453099"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spc="600" dirty="0">
                <a:solidFill>
                  <a:srgbClr val="0B5892"/>
                </a:solidFill>
                <a:latin typeface="Arial" panose="020B0604020202020204" pitchFamily="34" charset="0"/>
                <a:cs typeface="Arial" panose="020B0604020202020204" pitchFamily="34" charset="0"/>
              </a:rPr>
              <a:t>RANKING DE DESEMPENHO</a:t>
            </a:r>
          </a:p>
        </p:txBody>
      </p:sp>
      <p:sp>
        <p:nvSpPr>
          <p:cNvPr id="19" name="Título 1">
            <a:extLst>
              <a:ext uri="{FF2B5EF4-FFF2-40B4-BE49-F238E27FC236}">
                <a16:creationId xmlns:a16="http://schemas.microsoft.com/office/drawing/2014/main" id="{F3A1ABAA-8A1B-87FD-20DE-2856E72FCBA8}"/>
              </a:ext>
            </a:extLst>
          </p:cNvPr>
          <p:cNvSpPr txBox="1">
            <a:spLocks/>
          </p:cNvSpPr>
          <p:nvPr/>
        </p:nvSpPr>
        <p:spPr>
          <a:xfrm>
            <a:off x="1400358" y="716411"/>
            <a:ext cx="6950456" cy="4811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600" spc="300" dirty="0">
                <a:solidFill>
                  <a:srgbClr val="0B5892"/>
                </a:solidFill>
                <a:latin typeface="Arial" panose="020B0604020202020204" pitchFamily="34" charset="0"/>
                <a:cs typeface="Arial" panose="020B0604020202020204" pitchFamily="34" charset="0"/>
              </a:rPr>
              <a:t>Quantidade total de monitorias realizadas</a:t>
            </a:r>
          </a:p>
        </p:txBody>
      </p:sp>
      <p:cxnSp>
        <p:nvCxnSpPr>
          <p:cNvPr id="25" name="Conector reto 24">
            <a:extLst>
              <a:ext uri="{FF2B5EF4-FFF2-40B4-BE49-F238E27FC236}">
                <a16:creationId xmlns:a16="http://schemas.microsoft.com/office/drawing/2014/main" id="{FB2C1365-2838-D9ED-7F0A-64FB8467F21C}"/>
              </a:ext>
            </a:extLst>
          </p:cNvPr>
          <p:cNvCxnSpPr/>
          <p:nvPr/>
        </p:nvCxnSpPr>
        <p:spPr>
          <a:xfrm>
            <a:off x="725988" y="1185955"/>
            <a:ext cx="9855200" cy="0"/>
          </a:xfrm>
          <a:prstGeom prst="line">
            <a:avLst/>
          </a:prstGeom>
          <a:ln>
            <a:solidFill>
              <a:srgbClr val="0B5892"/>
            </a:solidFill>
          </a:ln>
        </p:spPr>
        <p:style>
          <a:lnRef idx="1">
            <a:schemeClr val="accent1"/>
          </a:lnRef>
          <a:fillRef idx="0">
            <a:schemeClr val="accent1"/>
          </a:fillRef>
          <a:effectRef idx="0">
            <a:schemeClr val="accent1"/>
          </a:effectRef>
          <a:fontRef idx="minor">
            <a:schemeClr val="tx1"/>
          </a:fontRef>
        </p:style>
      </p:cxnSp>
      <p:sp>
        <p:nvSpPr>
          <p:cNvPr id="3" name="Retângulo: Cantos Arredondados 2">
            <a:extLst>
              <a:ext uri="{FF2B5EF4-FFF2-40B4-BE49-F238E27FC236}">
                <a16:creationId xmlns:a16="http://schemas.microsoft.com/office/drawing/2014/main" id="{FC6DDDC2-BFC8-C9C8-0B50-3B58EE3679C5}"/>
              </a:ext>
            </a:extLst>
          </p:cNvPr>
          <p:cNvSpPr/>
          <p:nvPr/>
        </p:nvSpPr>
        <p:spPr>
          <a:xfrm>
            <a:off x="1294993" y="1712151"/>
            <a:ext cx="4651424" cy="2772813"/>
          </a:xfrm>
          <a:prstGeom prst="roundRect">
            <a:avLst/>
          </a:prstGeom>
          <a:solidFill>
            <a:schemeClr val="bg1">
              <a:lumMod val="95000"/>
            </a:schemeClr>
          </a:solidFill>
          <a:ln>
            <a:noFill/>
          </a:ln>
          <a:effectLst>
            <a:outerShdw dist="101600" dir="10740000" algn="t" rotWithShape="0">
              <a:srgbClr val="00B0F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4" name="Google Shape;1944;p50">
            <a:extLst>
              <a:ext uri="{FF2B5EF4-FFF2-40B4-BE49-F238E27FC236}">
                <a16:creationId xmlns:a16="http://schemas.microsoft.com/office/drawing/2014/main" id="{C4880D48-BE11-FB9A-2E22-BE0B0C709C1C}"/>
              </a:ext>
            </a:extLst>
          </p:cNvPr>
          <p:cNvGrpSpPr/>
          <p:nvPr/>
        </p:nvGrpSpPr>
        <p:grpSpPr>
          <a:xfrm rot="10417960">
            <a:off x="1465731" y="1803809"/>
            <a:ext cx="476316" cy="468384"/>
            <a:chOff x="860940" y="2746477"/>
            <a:chExt cx="371883" cy="365691"/>
          </a:xfrm>
          <a:solidFill>
            <a:srgbClr val="00B0F0"/>
          </a:solidFill>
        </p:grpSpPr>
        <p:sp>
          <p:nvSpPr>
            <p:cNvPr id="5" name="Google Shape;1945;p50">
              <a:extLst>
                <a:ext uri="{FF2B5EF4-FFF2-40B4-BE49-F238E27FC236}">
                  <a16:creationId xmlns:a16="http://schemas.microsoft.com/office/drawing/2014/main" id="{A83F6B13-2199-2CB5-570A-5B802815C353}"/>
                </a:ext>
              </a:extLst>
            </p:cNvPr>
            <p:cNvSpPr/>
            <p:nvPr/>
          </p:nvSpPr>
          <p:spPr>
            <a:xfrm>
              <a:off x="908191" y="3026302"/>
              <a:ext cx="30294" cy="28961"/>
            </a:xfrm>
            <a:custGeom>
              <a:avLst/>
              <a:gdLst/>
              <a:ahLst/>
              <a:cxnLst/>
              <a:rect l="l" t="t" r="r" b="b"/>
              <a:pathLst>
                <a:path w="954" h="912" extrusionOk="0">
                  <a:moveTo>
                    <a:pt x="763" y="1"/>
                  </a:moveTo>
                  <a:cubicBezTo>
                    <a:pt x="718" y="1"/>
                    <a:pt x="674" y="16"/>
                    <a:pt x="644" y="45"/>
                  </a:cubicBezTo>
                  <a:lnTo>
                    <a:pt x="60" y="629"/>
                  </a:lnTo>
                  <a:cubicBezTo>
                    <a:pt x="1" y="688"/>
                    <a:pt x="1" y="807"/>
                    <a:pt x="60" y="867"/>
                  </a:cubicBezTo>
                  <a:cubicBezTo>
                    <a:pt x="90" y="897"/>
                    <a:pt x="135" y="911"/>
                    <a:pt x="179" y="911"/>
                  </a:cubicBezTo>
                  <a:cubicBezTo>
                    <a:pt x="224" y="911"/>
                    <a:pt x="269" y="897"/>
                    <a:pt x="299" y="867"/>
                  </a:cubicBezTo>
                  <a:lnTo>
                    <a:pt x="882" y="283"/>
                  </a:lnTo>
                  <a:cubicBezTo>
                    <a:pt x="953" y="224"/>
                    <a:pt x="953" y="105"/>
                    <a:pt x="882" y="45"/>
                  </a:cubicBezTo>
                  <a:cubicBezTo>
                    <a:pt x="852" y="16"/>
                    <a:pt x="807" y="1"/>
                    <a:pt x="76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946;p50">
              <a:extLst>
                <a:ext uri="{FF2B5EF4-FFF2-40B4-BE49-F238E27FC236}">
                  <a16:creationId xmlns:a16="http://schemas.microsoft.com/office/drawing/2014/main" id="{A4AD9247-4388-AF8B-9BB9-87913BD3E1B3}"/>
                </a:ext>
              </a:extLst>
            </p:cNvPr>
            <p:cNvSpPr/>
            <p:nvPr/>
          </p:nvSpPr>
          <p:spPr>
            <a:xfrm>
              <a:off x="943757" y="3061836"/>
              <a:ext cx="30263" cy="28961"/>
            </a:xfrm>
            <a:custGeom>
              <a:avLst/>
              <a:gdLst/>
              <a:ahLst/>
              <a:cxnLst/>
              <a:rect l="l" t="t" r="r" b="b"/>
              <a:pathLst>
                <a:path w="953" h="912" extrusionOk="0">
                  <a:moveTo>
                    <a:pt x="762" y="1"/>
                  </a:moveTo>
                  <a:cubicBezTo>
                    <a:pt x="717" y="1"/>
                    <a:pt x="673" y="16"/>
                    <a:pt x="643" y="46"/>
                  </a:cubicBezTo>
                  <a:lnTo>
                    <a:pt x="60" y="629"/>
                  </a:lnTo>
                  <a:cubicBezTo>
                    <a:pt x="0" y="688"/>
                    <a:pt x="0" y="807"/>
                    <a:pt x="60" y="867"/>
                  </a:cubicBezTo>
                  <a:cubicBezTo>
                    <a:pt x="89" y="897"/>
                    <a:pt x="134" y="912"/>
                    <a:pt x="179" y="912"/>
                  </a:cubicBezTo>
                  <a:cubicBezTo>
                    <a:pt x="223" y="912"/>
                    <a:pt x="268" y="897"/>
                    <a:pt x="298" y="867"/>
                  </a:cubicBezTo>
                  <a:lnTo>
                    <a:pt x="881" y="284"/>
                  </a:lnTo>
                  <a:cubicBezTo>
                    <a:pt x="953" y="224"/>
                    <a:pt x="953" y="105"/>
                    <a:pt x="881" y="46"/>
                  </a:cubicBezTo>
                  <a:cubicBezTo>
                    <a:pt x="851" y="16"/>
                    <a:pt x="807" y="1"/>
                    <a:pt x="7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47;p50">
              <a:extLst>
                <a:ext uri="{FF2B5EF4-FFF2-40B4-BE49-F238E27FC236}">
                  <a16:creationId xmlns:a16="http://schemas.microsoft.com/office/drawing/2014/main" id="{4B07B3B9-9E88-9EBA-2E34-648FE0382E1F}"/>
                </a:ext>
              </a:extLst>
            </p:cNvPr>
            <p:cNvSpPr/>
            <p:nvPr/>
          </p:nvSpPr>
          <p:spPr>
            <a:xfrm>
              <a:off x="926355" y="3044085"/>
              <a:ext cx="29881" cy="28579"/>
            </a:xfrm>
            <a:custGeom>
              <a:avLst/>
              <a:gdLst/>
              <a:ahLst/>
              <a:cxnLst/>
              <a:rect l="l" t="t" r="r" b="b"/>
              <a:pathLst>
                <a:path w="941" h="900" extrusionOk="0">
                  <a:moveTo>
                    <a:pt x="762" y="0"/>
                  </a:moveTo>
                  <a:cubicBezTo>
                    <a:pt x="718" y="0"/>
                    <a:pt x="673" y="15"/>
                    <a:pt x="643" y="45"/>
                  </a:cubicBezTo>
                  <a:lnTo>
                    <a:pt x="60" y="616"/>
                  </a:lnTo>
                  <a:cubicBezTo>
                    <a:pt x="0" y="676"/>
                    <a:pt x="0" y="795"/>
                    <a:pt x="60" y="855"/>
                  </a:cubicBezTo>
                  <a:cubicBezTo>
                    <a:pt x="90" y="884"/>
                    <a:pt x="134" y="899"/>
                    <a:pt x="179" y="899"/>
                  </a:cubicBezTo>
                  <a:cubicBezTo>
                    <a:pt x="224" y="899"/>
                    <a:pt x="268" y="884"/>
                    <a:pt x="298" y="855"/>
                  </a:cubicBezTo>
                  <a:lnTo>
                    <a:pt x="881" y="283"/>
                  </a:lnTo>
                  <a:cubicBezTo>
                    <a:pt x="941" y="224"/>
                    <a:pt x="941" y="116"/>
                    <a:pt x="881" y="45"/>
                  </a:cubicBezTo>
                  <a:cubicBezTo>
                    <a:pt x="852" y="15"/>
                    <a:pt x="807" y="0"/>
                    <a:pt x="76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48;p50">
              <a:extLst>
                <a:ext uri="{FF2B5EF4-FFF2-40B4-BE49-F238E27FC236}">
                  <a16:creationId xmlns:a16="http://schemas.microsoft.com/office/drawing/2014/main" id="{73F21EA2-DA10-75A7-FF06-004F969E02FB}"/>
                </a:ext>
              </a:extLst>
            </p:cNvPr>
            <p:cNvSpPr/>
            <p:nvPr/>
          </p:nvSpPr>
          <p:spPr>
            <a:xfrm>
              <a:off x="860940" y="2746477"/>
              <a:ext cx="371883" cy="365691"/>
            </a:xfrm>
            <a:custGeom>
              <a:avLst/>
              <a:gdLst/>
              <a:ahLst/>
              <a:cxnLst/>
              <a:rect l="l" t="t" r="r" b="b"/>
              <a:pathLst>
                <a:path w="11711" h="11516" extrusionOk="0">
                  <a:moveTo>
                    <a:pt x="11312" y="344"/>
                  </a:moveTo>
                  <a:lnTo>
                    <a:pt x="10835" y="1987"/>
                  </a:lnTo>
                  <a:lnTo>
                    <a:pt x="9680" y="821"/>
                  </a:lnTo>
                  <a:lnTo>
                    <a:pt x="11312" y="344"/>
                  </a:lnTo>
                  <a:close/>
                  <a:moveTo>
                    <a:pt x="4882" y="3821"/>
                  </a:moveTo>
                  <a:lnTo>
                    <a:pt x="2822" y="5881"/>
                  </a:lnTo>
                  <a:lnTo>
                    <a:pt x="477" y="5690"/>
                  </a:lnTo>
                  <a:cubicBezTo>
                    <a:pt x="453" y="5690"/>
                    <a:pt x="429" y="5643"/>
                    <a:pt x="465" y="5631"/>
                  </a:cubicBezTo>
                  <a:cubicBezTo>
                    <a:pt x="1477" y="4619"/>
                    <a:pt x="2822" y="4000"/>
                    <a:pt x="4227" y="3881"/>
                  </a:cubicBezTo>
                  <a:lnTo>
                    <a:pt x="4882" y="3821"/>
                  </a:lnTo>
                  <a:close/>
                  <a:moveTo>
                    <a:pt x="2894" y="6297"/>
                  </a:moveTo>
                  <a:lnTo>
                    <a:pt x="3811" y="7226"/>
                  </a:lnTo>
                  <a:lnTo>
                    <a:pt x="3477" y="7571"/>
                  </a:lnTo>
                  <a:lnTo>
                    <a:pt x="2549" y="6643"/>
                  </a:lnTo>
                  <a:lnTo>
                    <a:pt x="2894" y="6297"/>
                  </a:lnTo>
                  <a:close/>
                  <a:moveTo>
                    <a:pt x="2727" y="7333"/>
                  </a:moveTo>
                  <a:lnTo>
                    <a:pt x="3203" y="7810"/>
                  </a:lnTo>
                  <a:lnTo>
                    <a:pt x="2799" y="8226"/>
                  </a:lnTo>
                  <a:cubicBezTo>
                    <a:pt x="2787" y="8238"/>
                    <a:pt x="2763" y="8262"/>
                    <a:pt x="2739" y="8298"/>
                  </a:cubicBezTo>
                  <a:lnTo>
                    <a:pt x="2310" y="7869"/>
                  </a:lnTo>
                  <a:cubicBezTo>
                    <a:pt x="2287" y="7833"/>
                    <a:pt x="2287" y="7774"/>
                    <a:pt x="2310" y="7750"/>
                  </a:cubicBezTo>
                  <a:lnTo>
                    <a:pt x="2727" y="7333"/>
                  </a:lnTo>
                  <a:close/>
                  <a:moveTo>
                    <a:pt x="9311" y="916"/>
                  </a:moveTo>
                  <a:lnTo>
                    <a:pt x="10740" y="2345"/>
                  </a:lnTo>
                  <a:lnTo>
                    <a:pt x="10299" y="3821"/>
                  </a:lnTo>
                  <a:lnTo>
                    <a:pt x="5597" y="8524"/>
                  </a:lnTo>
                  <a:lnTo>
                    <a:pt x="4680" y="7595"/>
                  </a:lnTo>
                  <a:lnTo>
                    <a:pt x="6823" y="5452"/>
                  </a:lnTo>
                  <a:cubicBezTo>
                    <a:pt x="6966" y="5309"/>
                    <a:pt x="7001" y="5035"/>
                    <a:pt x="6811" y="4833"/>
                  </a:cubicBezTo>
                  <a:cubicBezTo>
                    <a:pt x="6728" y="4750"/>
                    <a:pt x="6617" y="4708"/>
                    <a:pt x="6506" y="4708"/>
                  </a:cubicBezTo>
                  <a:cubicBezTo>
                    <a:pt x="6394" y="4708"/>
                    <a:pt x="6281" y="4750"/>
                    <a:pt x="6192" y="4833"/>
                  </a:cubicBezTo>
                  <a:lnTo>
                    <a:pt x="4049" y="6976"/>
                  </a:lnTo>
                  <a:lnTo>
                    <a:pt x="3132" y="6047"/>
                  </a:lnTo>
                  <a:lnTo>
                    <a:pt x="7835" y="1344"/>
                  </a:lnTo>
                  <a:lnTo>
                    <a:pt x="9311" y="916"/>
                  </a:lnTo>
                  <a:close/>
                  <a:moveTo>
                    <a:pt x="6495" y="5047"/>
                  </a:moveTo>
                  <a:cubicBezTo>
                    <a:pt x="6522" y="5047"/>
                    <a:pt x="6549" y="5059"/>
                    <a:pt x="6573" y="5083"/>
                  </a:cubicBezTo>
                  <a:cubicBezTo>
                    <a:pt x="6609" y="5131"/>
                    <a:pt x="6609" y="5178"/>
                    <a:pt x="6573" y="5226"/>
                  </a:cubicBezTo>
                  <a:lnTo>
                    <a:pt x="4311" y="7488"/>
                  </a:lnTo>
                  <a:lnTo>
                    <a:pt x="3203" y="8595"/>
                  </a:lnTo>
                  <a:cubicBezTo>
                    <a:pt x="3180" y="8619"/>
                    <a:pt x="3153" y="8631"/>
                    <a:pt x="3127" y="8631"/>
                  </a:cubicBezTo>
                  <a:cubicBezTo>
                    <a:pt x="3102" y="8631"/>
                    <a:pt x="3078" y="8619"/>
                    <a:pt x="3060" y="8595"/>
                  </a:cubicBezTo>
                  <a:cubicBezTo>
                    <a:pt x="3013" y="8548"/>
                    <a:pt x="3013" y="8488"/>
                    <a:pt x="3060" y="8441"/>
                  </a:cubicBezTo>
                  <a:lnTo>
                    <a:pt x="6418" y="5083"/>
                  </a:lnTo>
                  <a:cubicBezTo>
                    <a:pt x="6442" y="5059"/>
                    <a:pt x="6469" y="5047"/>
                    <a:pt x="6495" y="5047"/>
                  </a:cubicBezTo>
                  <a:close/>
                  <a:moveTo>
                    <a:pt x="4430" y="7857"/>
                  </a:moveTo>
                  <a:lnTo>
                    <a:pt x="5346" y="8786"/>
                  </a:lnTo>
                  <a:lnTo>
                    <a:pt x="5001" y="9119"/>
                  </a:lnTo>
                  <a:lnTo>
                    <a:pt x="4989" y="9119"/>
                  </a:lnTo>
                  <a:lnTo>
                    <a:pt x="4084" y="8202"/>
                  </a:lnTo>
                  <a:lnTo>
                    <a:pt x="4430" y="7857"/>
                  </a:lnTo>
                  <a:close/>
                  <a:moveTo>
                    <a:pt x="3846" y="8429"/>
                  </a:moveTo>
                  <a:lnTo>
                    <a:pt x="4323" y="8905"/>
                  </a:lnTo>
                  <a:lnTo>
                    <a:pt x="3906" y="9322"/>
                  </a:lnTo>
                  <a:cubicBezTo>
                    <a:pt x="3894" y="9334"/>
                    <a:pt x="3858" y="9357"/>
                    <a:pt x="3846" y="9357"/>
                  </a:cubicBezTo>
                  <a:cubicBezTo>
                    <a:pt x="3834" y="9357"/>
                    <a:pt x="3811" y="9357"/>
                    <a:pt x="3787" y="9322"/>
                  </a:cubicBezTo>
                  <a:lnTo>
                    <a:pt x="3358" y="8905"/>
                  </a:lnTo>
                  <a:cubicBezTo>
                    <a:pt x="3382" y="8893"/>
                    <a:pt x="3394" y="8881"/>
                    <a:pt x="3430" y="8845"/>
                  </a:cubicBezTo>
                  <a:lnTo>
                    <a:pt x="3846" y="8429"/>
                  </a:lnTo>
                  <a:close/>
                  <a:moveTo>
                    <a:pt x="11322" y="1"/>
                  </a:moveTo>
                  <a:cubicBezTo>
                    <a:pt x="11295" y="1"/>
                    <a:pt x="11267" y="4"/>
                    <a:pt x="11240" y="11"/>
                  </a:cubicBezTo>
                  <a:cubicBezTo>
                    <a:pt x="10514" y="213"/>
                    <a:pt x="8394" y="844"/>
                    <a:pt x="7704" y="1035"/>
                  </a:cubicBezTo>
                  <a:cubicBezTo>
                    <a:pt x="7668" y="1047"/>
                    <a:pt x="7656" y="1059"/>
                    <a:pt x="7621" y="1083"/>
                  </a:cubicBezTo>
                  <a:lnTo>
                    <a:pt x="5263" y="3440"/>
                  </a:lnTo>
                  <a:lnTo>
                    <a:pt x="4203" y="3535"/>
                  </a:lnTo>
                  <a:cubicBezTo>
                    <a:pt x="2703" y="3654"/>
                    <a:pt x="1286" y="4321"/>
                    <a:pt x="227" y="5381"/>
                  </a:cubicBezTo>
                  <a:cubicBezTo>
                    <a:pt x="1" y="5595"/>
                    <a:pt x="143" y="5988"/>
                    <a:pt x="465" y="6024"/>
                  </a:cubicBezTo>
                  <a:lnTo>
                    <a:pt x="2525" y="6190"/>
                  </a:lnTo>
                  <a:lnTo>
                    <a:pt x="2310" y="6405"/>
                  </a:lnTo>
                  <a:cubicBezTo>
                    <a:pt x="2179" y="6536"/>
                    <a:pt x="2179" y="6750"/>
                    <a:pt x="2310" y="6881"/>
                  </a:cubicBezTo>
                  <a:lnTo>
                    <a:pt x="2525" y="7083"/>
                  </a:lnTo>
                  <a:lnTo>
                    <a:pt x="2108" y="7500"/>
                  </a:lnTo>
                  <a:cubicBezTo>
                    <a:pt x="1941" y="7667"/>
                    <a:pt x="1941" y="7941"/>
                    <a:pt x="2108" y="8095"/>
                  </a:cubicBezTo>
                  <a:lnTo>
                    <a:pt x="3561" y="9560"/>
                  </a:lnTo>
                  <a:cubicBezTo>
                    <a:pt x="3644" y="9643"/>
                    <a:pt x="3751" y="9685"/>
                    <a:pt x="3858" y="9685"/>
                  </a:cubicBezTo>
                  <a:cubicBezTo>
                    <a:pt x="3965" y="9685"/>
                    <a:pt x="4073" y="9643"/>
                    <a:pt x="4156" y="9560"/>
                  </a:cubicBezTo>
                  <a:lnTo>
                    <a:pt x="4573" y="9143"/>
                  </a:lnTo>
                  <a:lnTo>
                    <a:pt x="4763" y="9334"/>
                  </a:lnTo>
                  <a:cubicBezTo>
                    <a:pt x="4835" y="9399"/>
                    <a:pt x="4924" y="9432"/>
                    <a:pt x="5015" y="9432"/>
                  </a:cubicBezTo>
                  <a:cubicBezTo>
                    <a:pt x="5105" y="9432"/>
                    <a:pt x="5198" y="9399"/>
                    <a:pt x="5275" y="9334"/>
                  </a:cubicBezTo>
                  <a:lnTo>
                    <a:pt x="5477" y="9131"/>
                  </a:lnTo>
                  <a:lnTo>
                    <a:pt x="5656" y="11179"/>
                  </a:lnTo>
                  <a:cubicBezTo>
                    <a:pt x="5680" y="11334"/>
                    <a:pt x="5763" y="11453"/>
                    <a:pt x="5894" y="11500"/>
                  </a:cubicBezTo>
                  <a:cubicBezTo>
                    <a:pt x="5935" y="11511"/>
                    <a:pt x="5975" y="11516"/>
                    <a:pt x="6015" y="11516"/>
                  </a:cubicBezTo>
                  <a:cubicBezTo>
                    <a:pt x="6115" y="11516"/>
                    <a:pt x="6210" y="11482"/>
                    <a:pt x="6287" y="11405"/>
                  </a:cubicBezTo>
                  <a:cubicBezTo>
                    <a:pt x="6942" y="10750"/>
                    <a:pt x="7430" y="9977"/>
                    <a:pt x="7763" y="9119"/>
                  </a:cubicBezTo>
                  <a:cubicBezTo>
                    <a:pt x="7787" y="9024"/>
                    <a:pt x="7740" y="8941"/>
                    <a:pt x="7656" y="8893"/>
                  </a:cubicBezTo>
                  <a:cubicBezTo>
                    <a:pt x="7635" y="8885"/>
                    <a:pt x="7614" y="8881"/>
                    <a:pt x="7594" y="8881"/>
                  </a:cubicBezTo>
                  <a:cubicBezTo>
                    <a:pt x="7525" y="8881"/>
                    <a:pt x="7467" y="8926"/>
                    <a:pt x="7430" y="9000"/>
                  </a:cubicBezTo>
                  <a:cubicBezTo>
                    <a:pt x="7132" y="9810"/>
                    <a:pt x="6656" y="10560"/>
                    <a:pt x="6037" y="11167"/>
                  </a:cubicBezTo>
                  <a:cubicBezTo>
                    <a:pt x="6027" y="11172"/>
                    <a:pt x="6015" y="11175"/>
                    <a:pt x="6005" y="11175"/>
                  </a:cubicBezTo>
                  <a:cubicBezTo>
                    <a:pt x="5990" y="11175"/>
                    <a:pt x="5978" y="11169"/>
                    <a:pt x="5978" y="11155"/>
                  </a:cubicBezTo>
                  <a:lnTo>
                    <a:pt x="5763" y="8822"/>
                  </a:lnTo>
                  <a:lnTo>
                    <a:pt x="7835" y="6750"/>
                  </a:lnTo>
                  <a:lnTo>
                    <a:pt x="7835" y="6750"/>
                  </a:lnTo>
                  <a:cubicBezTo>
                    <a:pt x="7763" y="7583"/>
                    <a:pt x="7740" y="7810"/>
                    <a:pt x="7656" y="8238"/>
                  </a:cubicBezTo>
                  <a:cubicBezTo>
                    <a:pt x="7644" y="8322"/>
                    <a:pt x="7680" y="8417"/>
                    <a:pt x="7787" y="8441"/>
                  </a:cubicBezTo>
                  <a:cubicBezTo>
                    <a:pt x="7803" y="8445"/>
                    <a:pt x="7819" y="8447"/>
                    <a:pt x="7834" y="8447"/>
                  </a:cubicBezTo>
                  <a:cubicBezTo>
                    <a:pt x="7909" y="8447"/>
                    <a:pt x="7972" y="8399"/>
                    <a:pt x="8002" y="8310"/>
                  </a:cubicBezTo>
                  <a:cubicBezTo>
                    <a:pt x="8121" y="7786"/>
                    <a:pt x="8121" y="7548"/>
                    <a:pt x="8216" y="6393"/>
                  </a:cubicBezTo>
                  <a:lnTo>
                    <a:pt x="10585" y="4023"/>
                  </a:lnTo>
                  <a:cubicBezTo>
                    <a:pt x="10597" y="4011"/>
                    <a:pt x="10621" y="3976"/>
                    <a:pt x="10633" y="3952"/>
                  </a:cubicBezTo>
                  <a:lnTo>
                    <a:pt x="11109" y="2345"/>
                  </a:lnTo>
                  <a:lnTo>
                    <a:pt x="11669" y="404"/>
                  </a:lnTo>
                  <a:cubicBezTo>
                    <a:pt x="11711" y="193"/>
                    <a:pt x="11529" y="1"/>
                    <a:pt x="1132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49;p50">
              <a:extLst>
                <a:ext uri="{FF2B5EF4-FFF2-40B4-BE49-F238E27FC236}">
                  <a16:creationId xmlns:a16="http://schemas.microsoft.com/office/drawing/2014/main" id="{127A895D-33F9-2F30-8493-09D909EC7177}"/>
                </a:ext>
              </a:extLst>
            </p:cNvPr>
            <p:cNvSpPr/>
            <p:nvPr/>
          </p:nvSpPr>
          <p:spPr>
            <a:xfrm>
              <a:off x="1070396" y="2832057"/>
              <a:ext cx="90406" cy="69035"/>
            </a:xfrm>
            <a:custGeom>
              <a:avLst/>
              <a:gdLst/>
              <a:ahLst/>
              <a:cxnLst/>
              <a:rect l="l" t="t" r="r" b="b"/>
              <a:pathLst>
                <a:path w="2847" h="2174" extrusionOk="0">
                  <a:moveTo>
                    <a:pt x="1730" y="0"/>
                  </a:moveTo>
                  <a:cubicBezTo>
                    <a:pt x="1668" y="0"/>
                    <a:pt x="1610" y="44"/>
                    <a:pt x="1584" y="114"/>
                  </a:cubicBezTo>
                  <a:cubicBezTo>
                    <a:pt x="1537" y="197"/>
                    <a:pt x="1584" y="293"/>
                    <a:pt x="1668" y="328"/>
                  </a:cubicBezTo>
                  <a:cubicBezTo>
                    <a:pt x="2179" y="554"/>
                    <a:pt x="2299" y="1221"/>
                    <a:pt x="1906" y="1614"/>
                  </a:cubicBezTo>
                  <a:cubicBezTo>
                    <a:pt x="1751" y="1769"/>
                    <a:pt x="1551" y="1846"/>
                    <a:pt x="1350" y="1846"/>
                  </a:cubicBezTo>
                  <a:cubicBezTo>
                    <a:pt x="1150" y="1846"/>
                    <a:pt x="947" y="1769"/>
                    <a:pt x="786" y="1614"/>
                  </a:cubicBezTo>
                  <a:cubicBezTo>
                    <a:pt x="405" y="1221"/>
                    <a:pt x="525" y="566"/>
                    <a:pt x="1025" y="328"/>
                  </a:cubicBezTo>
                  <a:cubicBezTo>
                    <a:pt x="1120" y="293"/>
                    <a:pt x="1144" y="197"/>
                    <a:pt x="1120" y="114"/>
                  </a:cubicBezTo>
                  <a:cubicBezTo>
                    <a:pt x="1083" y="41"/>
                    <a:pt x="1019" y="10"/>
                    <a:pt x="954" y="10"/>
                  </a:cubicBezTo>
                  <a:cubicBezTo>
                    <a:pt x="934" y="10"/>
                    <a:pt x="913" y="13"/>
                    <a:pt x="894" y="19"/>
                  </a:cubicBezTo>
                  <a:cubicBezTo>
                    <a:pt x="179" y="352"/>
                    <a:pt x="1" y="1281"/>
                    <a:pt x="572" y="1852"/>
                  </a:cubicBezTo>
                  <a:cubicBezTo>
                    <a:pt x="786" y="2078"/>
                    <a:pt x="1072" y="2174"/>
                    <a:pt x="1370" y="2174"/>
                  </a:cubicBezTo>
                  <a:cubicBezTo>
                    <a:pt x="2334" y="2162"/>
                    <a:pt x="2846" y="947"/>
                    <a:pt x="2132" y="245"/>
                  </a:cubicBezTo>
                  <a:cubicBezTo>
                    <a:pt x="2037" y="150"/>
                    <a:pt x="1918" y="66"/>
                    <a:pt x="1798" y="19"/>
                  </a:cubicBezTo>
                  <a:cubicBezTo>
                    <a:pt x="1776" y="6"/>
                    <a:pt x="1753" y="0"/>
                    <a:pt x="17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 name="CaixaDeTexto 11">
            <a:extLst>
              <a:ext uri="{FF2B5EF4-FFF2-40B4-BE49-F238E27FC236}">
                <a16:creationId xmlns:a16="http://schemas.microsoft.com/office/drawing/2014/main" id="{01E1B279-903A-E5EC-034C-CB37A87857DF}"/>
              </a:ext>
            </a:extLst>
          </p:cNvPr>
          <p:cNvSpPr txBox="1"/>
          <p:nvPr/>
        </p:nvSpPr>
        <p:spPr>
          <a:xfrm>
            <a:off x="1983479" y="1837507"/>
            <a:ext cx="1498347" cy="307777"/>
          </a:xfrm>
          <a:prstGeom prst="rect">
            <a:avLst/>
          </a:prstGeom>
          <a:solidFill>
            <a:schemeClr val="accent5">
              <a:lumMod val="40000"/>
              <a:lumOff val="60000"/>
            </a:schemeClr>
          </a:solidFill>
        </p:spPr>
        <p:txBody>
          <a:bodyPr wrap="square" rtlCol="0">
            <a:spAutoFit/>
          </a:bodyPr>
          <a:lstStyle/>
          <a:p>
            <a:r>
              <a:rPr lang="pt-BR" sz="1400" b="1" dirty="0">
                <a:solidFill>
                  <a:srgbClr val="00B0F0"/>
                </a:solidFill>
                <a:latin typeface="Arial" panose="020B0604020202020204" pitchFamily="34" charset="0"/>
                <a:cs typeface="Arial" panose="020B0604020202020204" pitchFamily="34" charset="0"/>
              </a:rPr>
              <a:t>Ofensores</a:t>
            </a:r>
          </a:p>
        </p:txBody>
      </p:sp>
      <p:sp>
        <p:nvSpPr>
          <p:cNvPr id="32" name="CaixaDeTexto 31">
            <a:extLst>
              <a:ext uri="{FF2B5EF4-FFF2-40B4-BE49-F238E27FC236}">
                <a16:creationId xmlns:a16="http://schemas.microsoft.com/office/drawing/2014/main" id="{658FEC38-B5C8-304A-EEB0-631E72B02DCF}"/>
              </a:ext>
            </a:extLst>
          </p:cNvPr>
          <p:cNvSpPr txBox="1"/>
          <p:nvPr/>
        </p:nvSpPr>
        <p:spPr>
          <a:xfrm>
            <a:off x="1899351" y="2211974"/>
            <a:ext cx="3104740" cy="307777"/>
          </a:xfrm>
          <a:prstGeom prst="rect">
            <a:avLst/>
          </a:prstGeom>
          <a:noFill/>
        </p:spPr>
        <p:txBody>
          <a:bodyPr wrap="square" rtlCol="0">
            <a:spAutoFit/>
          </a:bodyPr>
          <a:lstStyle/>
          <a:p>
            <a:r>
              <a:rPr lang="pt-BR" sz="1400" dirty="0">
                <a:solidFill>
                  <a:srgbClr val="00B0F0"/>
                </a:solidFill>
                <a:latin typeface="Arial" panose="020B0604020202020204" pitchFamily="34" charset="0"/>
                <a:cs typeface="Arial" panose="020B0604020202020204" pitchFamily="34" charset="0"/>
              </a:rPr>
              <a:t>Antonina </a:t>
            </a:r>
            <a:r>
              <a:rPr lang="pt-BR" sz="1400" dirty="0" err="1">
                <a:solidFill>
                  <a:srgbClr val="00B0F0"/>
                </a:solidFill>
                <a:latin typeface="Arial" panose="020B0604020202020204" pitchFamily="34" charset="0"/>
                <a:cs typeface="Arial" panose="020B0604020202020204" pitchFamily="34" charset="0"/>
              </a:rPr>
              <a:t>Haak</a:t>
            </a:r>
            <a:endParaRPr lang="pt-BR" sz="1400" dirty="0">
              <a:solidFill>
                <a:srgbClr val="00B0F0"/>
              </a:solidFill>
              <a:latin typeface="Arial" panose="020B0604020202020204" pitchFamily="34" charset="0"/>
              <a:cs typeface="Arial" panose="020B0604020202020204" pitchFamily="34" charset="0"/>
            </a:endParaRPr>
          </a:p>
        </p:txBody>
      </p:sp>
      <p:sp>
        <p:nvSpPr>
          <p:cNvPr id="91" name="CaixaDeTexto 90">
            <a:extLst>
              <a:ext uri="{FF2B5EF4-FFF2-40B4-BE49-F238E27FC236}">
                <a16:creationId xmlns:a16="http://schemas.microsoft.com/office/drawing/2014/main" id="{B9A04F12-680F-D90E-25AD-BB53663740D4}"/>
              </a:ext>
            </a:extLst>
          </p:cNvPr>
          <p:cNvSpPr txBox="1"/>
          <p:nvPr/>
        </p:nvSpPr>
        <p:spPr>
          <a:xfrm>
            <a:off x="1431436" y="1336969"/>
            <a:ext cx="6064238" cy="307777"/>
          </a:xfrm>
          <a:prstGeom prst="rect">
            <a:avLst/>
          </a:prstGeom>
          <a:noFill/>
        </p:spPr>
        <p:txBody>
          <a:bodyPr wrap="square" rtlCol="0">
            <a:spAutoFit/>
          </a:bodyPr>
          <a:lstStyle/>
          <a:p>
            <a:r>
              <a:rPr lang="pt-BR" sz="1400" b="1" dirty="0">
                <a:solidFill>
                  <a:schemeClr val="tx1">
                    <a:lumMod val="50000"/>
                    <a:lumOff val="50000"/>
                  </a:schemeClr>
                </a:solidFill>
                <a:latin typeface="Arial" panose="020B0604020202020204" pitchFamily="34" charset="0"/>
                <a:cs typeface="Arial" panose="020B0604020202020204" pitchFamily="34" charset="0"/>
              </a:rPr>
              <a:t>Análises do Perfil dos Ofensores</a:t>
            </a:r>
          </a:p>
        </p:txBody>
      </p:sp>
      <p:sp>
        <p:nvSpPr>
          <p:cNvPr id="14" name="CaixaDeTexto 13">
            <a:extLst>
              <a:ext uri="{FF2B5EF4-FFF2-40B4-BE49-F238E27FC236}">
                <a16:creationId xmlns:a16="http://schemas.microsoft.com/office/drawing/2014/main" id="{EF2DC42B-20F7-6E8B-CEE6-65EB90B3A78A}"/>
              </a:ext>
            </a:extLst>
          </p:cNvPr>
          <p:cNvSpPr txBox="1"/>
          <p:nvPr/>
        </p:nvSpPr>
        <p:spPr>
          <a:xfrm>
            <a:off x="1521183" y="2507081"/>
            <a:ext cx="4164502" cy="1107996"/>
          </a:xfrm>
          <a:prstGeom prst="rect">
            <a:avLst/>
          </a:prstGeom>
          <a:noFill/>
        </p:spPr>
        <p:txBody>
          <a:bodyPr wrap="square" rtlCol="0">
            <a:spAutoFit/>
          </a:bodyPr>
          <a:lstStyle/>
          <a:p>
            <a:pPr algn="just"/>
            <a:r>
              <a:rPr lang="pt-BR" sz="1100" dirty="0">
                <a:solidFill>
                  <a:schemeClr val="tx1">
                    <a:lumMod val="65000"/>
                    <a:lumOff val="35000"/>
                  </a:schemeClr>
                </a:solidFill>
                <a:latin typeface="Arial" panose="020B0604020202020204" pitchFamily="34" charset="0"/>
                <a:cs typeface="Arial" panose="020B0604020202020204" pitchFamily="34" charset="0"/>
              </a:rPr>
              <a:t>A colaboradora apresenta bom desempenho, com destaque para comunicação, cordialidade, agilidade e argumentação. No entanto, neste ciclo, uma falha na validação das informações resultou em nota zero. O caso é pontual, sendo necessário reforçar a atenção aos fluxos e às validações para evitar recorrências.</a:t>
            </a:r>
          </a:p>
        </p:txBody>
      </p:sp>
      <p:sp>
        <p:nvSpPr>
          <p:cNvPr id="13" name="CaixaDeTexto 12">
            <a:extLst>
              <a:ext uri="{FF2B5EF4-FFF2-40B4-BE49-F238E27FC236}">
                <a16:creationId xmlns:a16="http://schemas.microsoft.com/office/drawing/2014/main" id="{390CB92A-9646-717C-7C2A-16C34C859D57}"/>
              </a:ext>
            </a:extLst>
          </p:cNvPr>
          <p:cNvSpPr txBox="1"/>
          <p:nvPr/>
        </p:nvSpPr>
        <p:spPr>
          <a:xfrm>
            <a:off x="3670697" y="1663268"/>
            <a:ext cx="2014988" cy="261610"/>
          </a:xfrm>
          <a:prstGeom prst="rect">
            <a:avLst/>
          </a:prstGeom>
          <a:solidFill>
            <a:schemeClr val="bg1">
              <a:lumMod val="75000"/>
            </a:schemeClr>
          </a:solidFill>
        </p:spPr>
        <p:txBody>
          <a:bodyPr wrap="square" rtlCol="0">
            <a:spAutoFit/>
          </a:bodyPr>
          <a:lstStyle/>
          <a:p>
            <a:pPr algn="ctr"/>
            <a:r>
              <a:rPr lang="pt-BR" sz="1100" b="1" dirty="0">
                <a:solidFill>
                  <a:schemeClr val="bg2">
                    <a:lumMod val="25000"/>
                  </a:schemeClr>
                </a:solidFill>
                <a:latin typeface="Arial" panose="020B0604020202020204" pitchFamily="34" charset="0"/>
                <a:cs typeface="Arial" panose="020B0604020202020204" pitchFamily="34" charset="0"/>
              </a:rPr>
              <a:t>Média atual:	82,17</a:t>
            </a:r>
          </a:p>
        </p:txBody>
      </p:sp>
    </p:spTree>
    <p:extLst>
      <p:ext uri="{BB962C8B-B14F-4D97-AF65-F5344CB8AC3E}">
        <p14:creationId xmlns:p14="http://schemas.microsoft.com/office/powerpoint/2010/main" val="28996856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Imagem 37">
            <a:extLst>
              <a:ext uri="{FF2B5EF4-FFF2-40B4-BE49-F238E27FC236}">
                <a16:creationId xmlns:a16="http://schemas.microsoft.com/office/drawing/2014/main" id="{DE2A603E-716D-41D5-ABEF-1625839B46A3}"/>
              </a:ext>
            </a:extLst>
          </p:cNvPr>
          <p:cNvPicPr>
            <a:picLocks noChangeAspect="1"/>
          </p:cNvPicPr>
          <p:nvPr/>
        </p:nvPicPr>
        <p:blipFill>
          <a:blip r:embed="rId2">
            <a:alphaModFix amt="4000"/>
          </a:blip>
          <a:stretch>
            <a:fillRect/>
          </a:stretch>
        </p:blipFill>
        <p:spPr>
          <a:xfrm>
            <a:off x="-2192539" y="-1973179"/>
            <a:ext cx="5030445" cy="5148116"/>
          </a:xfrm>
          <a:prstGeom prst="rect">
            <a:avLst/>
          </a:prstGeom>
          <a:effectLst/>
        </p:spPr>
      </p:pic>
      <p:pic>
        <p:nvPicPr>
          <p:cNvPr id="39" name="Imagem 38">
            <a:extLst>
              <a:ext uri="{FF2B5EF4-FFF2-40B4-BE49-F238E27FC236}">
                <a16:creationId xmlns:a16="http://schemas.microsoft.com/office/drawing/2014/main" id="{8F6A83EB-6687-479D-BD59-51B6B2B8CBF9}"/>
              </a:ext>
            </a:extLst>
          </p:cNvPr>
          <p:cNvPicPr>
            <a:picLocks noChangeAspect="1"/>
          </p:cNvPicPr>
          <p:nvPr/>
        </p:nvPicPr>
        <p:blipFill>
          <a:blip r:embed="rId2">
            <a:alphaModFix amt="4000"/>
          </a:blip>
          <a:stretch>
            <a:fillRect/>
          </a:stretch>
        </p:blipFill>
        <p:spPr>
          <a:xfrm>
            <a:off x="9157251" y="4596063"/>
            <a:ext cx="5030445" cy="5148116"/>
          </a:xfrm>
          <a:prstGeom prst="rect">
            <a:avLst/>
          </a:prstGeom>
          <a:effectLst/>
        </p:spPr>
      </p:pic>
      <p:sp>
        <p:nvSpPr>
          <p:cNvPr id="15" name="Retângulo: Cantos Arredondados 14">
            <a:extLst>
              <a:ext uri="{FF2B5EF4-FFF2-40B4-BE49-F238E27FC236}">
                <a16:creationId xmlns:a16="http://schemas.microsoft.com/office/drawing/2014/main" id="{1B71EADA-2995-4F0E-898A-DAD0EBF1629A}"/>
              </a:ext>
            </a:extLst>
          </p:cNvPr>
          <p:cNvSpPr/>
          <p:nvPr/>
        </p:nvSpPr>
        <p:spPr>
          <a:xfrm>
            <a:off x="940477" y="2158889"/>
            <a:ext cx="2437660" cy="408165"/>
          </a:xfrm>
          <a:prstGeom prst="round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rgbClr val="0B5892"/>
              </a:solidFill>
            </a:endParaRPr>
          </a:p>
        </p:txBody>
      </p:sp>
      <p:sp>
        <p:nvSpPr>
          <p:cNvPr id="6" name="Título 1">
            <a:extLst>
              <a:ext uri="{FF2B5EF4-FFF2-40B4-BE49-F238E27FC236}">
                <a16:creationId xmlns:a16="http://schemas.microsoft.com/office/drawing/2014/main" id="{F19E4ED5-6191-4819-BC5E-0686AFC2CEAF}"/>
              </a:ext>
            </a:extLst>
          </p:cNvPr>
          <p:cNvSpPr txBox="1">
            <a:spLocks/>
          </p:cNvSpPr>
          <p:nvPr/>
        </p:nvSpPr>
        <p:spPr>
          <a:xfrm>
            <a:off x="395849" y="431573"/>
            <a:ext cx="5811865"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600" spc="600" dirty="0">
                <a:solidFill>
                  <a:schemeClr val="tx1">
                    <a:lumMod val="50000"/>
                    <a:lumOff val="50000"/>
                  </a:schemeClr>
                </a:solidFill>
                <a:latin typeface="Arial" panose="020B0604020202020204" pitchFamily="34" charset="0"/>
                <a:cs typeface="Arial" panose="020B0604020202020204" pitchFamily="34" charset="0"/>
              </a:rPr>
              <a:t>RELATÓRIO MENSAL</a:t>
            </a:r>
          </a:p>
        </p:txBody>
      </p:sp>
      <p:sp>
        <p:nvSpPr>
          <p:cNvPr id="4" name="Retângulo 3">
            <a:extLst>
              <a:ext uri="{FF2B5EF4-FFF2-40B4-BE49-F238E27FC236}">
                <a16:creationId xmlns:a16="http://schemas.microsoft.com/office/drawing/2014/main" id="{21D28AC1-0221-48D8-B024-0763281FCC5A}"/>
              </a:ext>
            </a:extLst>
          </p:cNvPr>
          <p:cNvSpPr/>
          <p:nvPr/>
        </p:nvSpPr>
        <p:spPr>
          <a:xfrm>
            <a:off x="-641684" y="6707874"/>
            <a:ext cx="4776717" cy="300251"/>
          </a:xfrm>
          <a:prstGeom prst="rect">
            <a:avLst/>
          </a:prstGeom>
          <a:solidFill>
            <a:srgbClr val="9E22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8" name="Retângulo 27">
            <a:extLst>
              <a:ext uri="{FF2B5EF4-FFF2-40B4-BE49-F238E27FC236}">
                <a16:creationId xmlns:a16="http://schemas.microsoft.com/office/drawing/2014/main" id="{1B97A203-0963-4EDB-AFF5-18D33C0036C8}"/>
              </a:ext>
            </a:extLst>
          </p:cNvPr>
          <p:cNvSpPr/>
          <p:nvPr/>
        </p:nvSpPr>
        <p:spPr>
          <a:xfrm>
            <a:off x="4040868" y="6707874"/>
            <a:ext cx="4776717" cy="300251"/>
          </a:xfrm>
          <a:prstGeom prst="rect">
            <a:avLst/>
          </a:prstGeom>
          <a:solidFill>
            <a:srgbClr val="0B589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9" name="Retângulo 28">
            <a:extLst>
              <a:ext uri="{FF2B5EF4-FFF2-40B4-BE49-F238E27FC236}">
                <a16:creationId xmlns:a16="http://schemas.microsoft.com/office/drawing/2014/main" id="{0BBC58FB-2C41-419E-8246-609C9177CDA9}"/>
              </a:ext>
            </a:extLst>
          </p:cNvPr>
          <p:cNvSpPr/>
          <p:nvPr/>
        </p:nvSpPr>
        <p:spPr>
          <a:xfrm>
            <a:off x="8828573" y="6707874"/>
            <a:ext cx="4776717" cy="30025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 name="Imagem 7">
            <a:extLst>
              <a:ext uri="{FF2B5EF4-FFF2-40B4-BE49-F238E27FC236}">
                <a16:creationId xmlns:a16="http://schemas.microsoft.com/office/drawing/2014/main" id="{55CA91AA-A108-4071-B0A7-0374C74EDA09}"/>
              </a:ext>
            </a:extLst>
          </p:cNvPr>
          <p:cNvPicPr>
            <a:picLocks noChangeAspect="1"/>
          </p:cNvPicPr>
          <p:nvPr/>
        </p:nvPicPr>
        <p:blipFill>
          <a:blip r:embed="rId3"/>
          <a:stretch>
            <a:fillRect/>
          </a:stretch>
        </p:blipFill>
        <p:spPr>
          <a:xfrm>
            <a:off x="-124691" y="-20995"/>
            <a:ext cx="12316692" cy="88042"/>
          </a:xfrm>
          <a:prstGeom prst="rect">
            <a:avLst/>
          </a:prstGeom>
        </p:spPr>
      </p:pic>
      <p:sp>
        <p:nvSpPr>
          <p:cNvPr id="13" name="Título 1">
            <a:extLst>
              <a:ext uri="{FF2B5EF4-FFF2-40B4-BE49-F238E27FC236}">
                <a16:creationId xmlns:a16="http://schemas.microsoft.com/office/drawing/2014/main" id="{07062480-4CDC-C85A-37DA-9A4F7FB0C889}"/>
              </a:ext>
            </a:extLst>
          </p:cNvPr>
          <p:cNvSpPr txBox="1">
            <a:spLocks/>
          </p:cNvSpPr>
          <p:nvPr/>
        </p:nvSpPr>
        <p:spPr>
          <a:xfrm>
            <a:off x="509191" y="2955832"/>
            <a:ext cx="6453099" cy="11210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spc="600" dirty="0">
                <a:solidFill>
                  <a:srgbClr val="0B5892"/>
                </a:solidFill>
                <a:latin typeface="Arial" panose="020B0604020202020204" pitchFamily="34" charset="0"/>
                <a:cs typeface="Arial" panose="020B0604020202020204" pitchFamily="34" charset="0"/>
              </a:rPr>
              <a:t>APLICAÇÃO </a:t>
            </a:r>
          </a:p>
          <a:p>
            <a:pPr algn="l"/>
            <a:r>
              <a:rPr lang="pt-BR" sz="2400" b="1" spc="600" dirty="0">
                <a:solidFill>
                  <a:srgbClr val="0B5892"/>
                </a:solidFill>
                <a:latin typeface="Arial" panose="020B0604020202020204" pitchFamily="34" charset="0"/>
                <a:cs typeface="Arial" panose="020B0604020202020204" pitchFamily="34" charset="0"/>
              </a:rPr>
              <a:t>DE FEEDBACKS</a:t>
            </a:r>
          </a:p>
        </p:txBody>
      </p:sp>
      <p:pic>
        <p:nvPicPr>
          <p:cNvPr id="5" name="Imagem 4">
            <a:extLst>
              <a:ext uri="{FF2B5EF4-FFF2-40B4-BE49-F238E27FC236}">
                <a16:creationId xmlns:a16="http://schemas.microsoft.com/office/drawing/2014/main" id="{E922514B-CE79-5872-64B5-1078145D44FC}"/>
              </a:ext>
            </a:extLst>
          </p:cNvPr>
          <p:cNvPicPr>
            <a:picLocks noChangeAspect="1"/>
          </p:cNvPicPr>
          <p:nvPr/>
        </p:nvPicPr>
        <p:blipFill>
          <a:blip r:embed="rId4"/>
          <a:stretch>
            <a:fillRect/>
          </a:stretch>
        </p:blipFill>
        <p:spPr>
          <a:xfrm>
            <a:off x="5266669" y="271887"/>
            <a:ext cx="4688937" cy="6231146"/>
          </a:xfrm>
          <a:prstGeom prst="rect">
            <a:avLst/>
          </a:prstGeom>
        </p:spPr>
      </p:pic>
    </p:spTree>
    <p:extLst>
      <p:ext uri="{BB962C8B-B14F-4D97-AF65-F5344CB8AC3E}">
        <p14:creationId xmlns:p14="http://schemas.microsoft.com/office/powerpoint/2010/main" val="34063021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9707A-F939-D155-E6B8-3A30E4806558}"/>
            </a:ext>
          </a:extLst>
        </p:cNvPr>
        <p:cNvGrpSpPr/>
        <p:nvPr/>
      </p:nvGrpSpPr>
      <p:grpSpPr>
        <a:xfrm>
          <a:off x="0" y="0"/>
          <a:ext cx="0" cy="0"/>
          <a:chOff x="0" y="0"/>
          <a:chExt cx="0" cy="0"/>
        </a:xfrm>
      </p:grpSpPr>
      <p:pic>
        <p:nvPicPr>
          <p:cNvPr id="38" name="Imagem 37">
            <a:extLst>
              <a:ext uri="{FF2B5EF4-FFF2-40B4-BE49-F238E27FC236}">
                <a16:creationId xmlns:a16="http://schemas.microsoft.com/office/drawing/2014/main" id="{D8565778-9A8A-CB2D-6EAB-9B425286488D}"/>
              </a:ext>
            </a:extLst>
          </p:cNvPr>
          <p:cNvPicPr>
            <a:picLocks noChangeAspect="1"/>
          </p:cNvPicPr>
          <p:nvPr/>
        </p:nvPicPr>
        <p:blipFill>
          <a:blip r:embed="rId2">
            <a:alphaModFix amt="4000"/>
          </a:blip>
          <a:stretch>
            <a:fillRect/>
          </a:stretch>
        </p:blipFill>
        <p:spPr>
          <a:xfrm>
            <a:off x="-2192539" y="-1973179"/>
            <a:ext cx="5030445" cy="5148116"/>
          </a:xfrm>
          <a:prstGeom prst="rect">
            <a:avLst/>
          </a:prstGeom>
          <a:effectLst/>
        </p:spPr>
      </p:pic>
      <p:pic>
        <p:nvPicPr>
          <p:cNvPr id="39" name="Imagem 38">
            <a:extLst>
              <a:ext uri="{FF2B5EF4-FFF2-40B4-BE49-F238E27FC236}">
                <a16:creationId xmlns:a16="http://schemas.microsoft.com/office/drawing/2014/main" id="{96ED971E-038C-2591-F710-8FB300AA97B3}"/>
              </a:ext>
            </a:extLst>
          </p:cNvPr>
          <p:cNvPicPr>
            <a:picLocks noChangeAspect="1"/>
          </p:cNvPicPr>
          <p:nvPr/>
        </p:nvPicPr>
        <p:blipFill>
          <a:blip r:embed="rId2">
            <a:alphaModFix amt="4000"/>
          </a:blip>
          <a:stretch>
            <a:fillRect/>
          </a:stretch>
        </p:blipFill>
        <p:spPr>
          <a:xfrm>
            <a:off x="9157251" y="4596063"/>
            <a:ext cx="5030445" cy="5148116"/>
          </a:xfrm>
          <a:prstGeom prst="rect">
            <a:avLst/>
          </a:prstGeom>
          <a:effectLst/>
        </p:spPr>
      </p:pic>
      <p:sp>
        <p:nvSpPr>
          <p:cNvPr id="15" name="Retângulo: Cantos Arredondados 14">
            <a:extLst>
              <a:ext uri="{FF2B5EF4-FFF2-40B4-BE49-F238E27FC236}">
                <a16:creationId xmlns:a16="http://schemas.microsoft.com/office/drawing/2014/main" id="{845D0E69-871C-6A95-4E0F-FCE2B8D03FD2}"/>
              </a:ext>
            </a:extLst>
          </p:cNvPr>
          <p:cNvSpPr/>
          <p:nvPr/>
        </p:nvSpPr>
        <p:spPr>
          <a:xfrm>
            <a:off x="940477" y="2158889"/>
            <a:ext cx="2437660" cy="408165"/>
          </a:xfrm>
          <a:prstGeom prst="round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rgbClr val="0B5892"/>
              </a:solidFill>
            </a:endParaRPr>
          </a:p>
        </p:txBody>
      </p:sp>
      <p:sp>
        <p:nvSpPr>
          <p:cNvPr id="6" name="Título 1">
            <a:extLst>
              <a:ext uri="{FF2B5EF4-FFF2-40B4-BE49-F238E27FC236}">
                <a16:creationId xmlns:a16="http://schemas.microsoft.com/office/drawing/2014/main" id="{2999EE84-DD24-54BA-43A1-3733C6BDF60D}"/>
              </a:ext>
            </a:extLst>
          </p:cNvPr>
          <p:cNvSpPr txBox="1">
            <a:spLocks/>
          </p:cNvSpPr>
          <p:nvPr/>
        </p:nvSpPr>
        <p:spPr>
          <a:xfrm>
            <a:off x="395849" y="431573"/>
            <a:ext cx="5811865"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600" spc="600" dirty="0">
                <a:solidFill>
                  <a:schemeClr val="tx1">
                    <a:lumMod val="50000"/>
                    <a:lumOff val="50000"/>
                  </a:schemeClr>
                </a:solidFill>
                <a:latin typeface="Arial" panose="020B0604020202020204" pitchFamily="34" charset="0"/>
                <a:cs typeface="Arial" panose="020B0604020202020204" pitchFamily="34" charset="0"/>
              </a:rPr>
              <a:t>RELATÓRIO MENSAL</a:t>
            </a:r>
          </a:p>
        </p:txBody>
      </p:sp>
      <p:sp>
        <p:nvSpPr>
          <p:cNvPr id="4" name="Retângulo 3">
            <a:extLst>
              <a:ext uri="{FF2B5EF4-FFF2-40B4-BE49-F238E27FC236}">
                <a16:creationId xmlns:a16="http://schemas.microsoft.com/office/drawing/2014/main" id="{4C62E7D1-8149-8D76-D3C5-7EC222CD56F4}"/>
              </a:ext>
            </a:extLst>
          </p:cNvPr>
          <p:cNvSpPr/>
          <p:nvPr/>
        </p:nvSpPr>
        <p:spPr>
          <a:xfrm>
            <a:off x="-641684" y="6707874"/>
            <a:ext cx="4776717" cy="300251"/>
          </a:xfrm>
          <a:prstGeom prst="rect">
            <a:avLst/>
          </a:prstGeom>
          <a:solidFill>
            <a:srgbClr val="9E22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8" name="Retângulo 27">
            <a:extLst>
              <a:ext uri="{FF2B5EF4-FFF2-40B4-BE49-F238E27FC236}">
                <a16:creationId xmlns:a16="http://schemas.microsoft.com/office/drawing/2014/main" id="{C71B2F94-DF8E-5B4B-1A54-99CB3CE4BA8D}"/>
              </a:ext>
            </a:extLst>
          </p:cNvPr>
          <p:cNvSpPr/>
          <p:nvPr/>
        </p:nvSpPr>
        <p:spPr>
          <a:xfrm>
            <a:off x="4040868" y="6707874"/>
            <a:ext cx="4776717" cy="300251"/>
          </a:xfrm>
          <a:prstGeom prst="rect">
            <a:avLst/>
          </a:prstGeom>
          <a:solidFill>
            <a:srgbClr val="0B589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9" name="Retângulo 28">
            <a:extLst>
              <a:ext uri="{FF2B5EF4-FFF2-40B4-BE49-F238E27FC236}">
                <a16:creationId xmlns:a16="http://schemas.microsoft.com/office/drawing/2014/main" id="{0480AA37-008A-56D9-AAEB-BFB431B52569}"/>
              </a:ext>
            </a:extLst>
          </p:cNvPr>
          <p:cNvSpPr/>
          <p:nvPr/>
        </p:nvSpPr>
        <p:spPr>
          <a:xfrm>
            <a:off x="8828573" y="6707874"/>
            <a:ext cx="4776717" cy="30025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 name="Imagem 7">
            <a:extLst>
              <a:ext uri="{FF2B5EF4-FFF2-40B4-BE49-F238E27FC236}">
                <a16:creationId xmlns:a16="http://schemas.microsoft.com/office/drawing/2014/main" id="{0C2FA3F5-EBB0-88DA-760B-CD79148ED389}"/>
              </a:ext>
            </a:extLst>
          </p:cNvPr>
          <p:cNvPicPr>
            <a:picLocks noChangeAspect="1"/>
          </p:cNvPicPr>
          <p:nvPr/>
        </p:nvPicPr>
        <p:blipFill>
          <a:blip r:embed="rId3"/>
          <a:stretch>
            <a:fillRect/>
          </a:stretch>
        </p:blipFill>
        <p:spPr>
          <a:xfrm>
            <a:off x="-124691" y="-20995"/>
            <a:ext cx="12316692" cy="88042"/>
          </a:xfrm>
          <a:prstGeom prst="rect">
            <a:avLst/>
          </a:prstGeom>
        </p:spPr>
      </p:pic>
      <p:sp>
        <p:nvSpPr>
          <p:cNvPr id="13" name="Título 1">
            <a:extLst>
              <a:ext uri="{FF2B5EF4-FFF2-40B4-BE49-F238E27FC236}">
                <a16:creationId xmlns:a16="http://schemas.microsoft.com/office/drawing/2014/main" id="{1CF4D93B-9CCF-62CD-8281-4B77948B1BF6}"/>
              </a:ext>
            </a:extLst>
          </p:cNvPr>
          <p:cNvSpPr txBox="1">
            <a:spLocks/>
          </p:cNvSpPr>
          <p:nvPr/>
        </p:nvSpPr>
        <p:spPr>
          <a:xfrm>
            <a:off x="509191" y="2955832"/>
            <a:ext cx="6453099" cy="11210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spc="600" dirty="0">
                <a:solidFill>
                  <a:srgbClr val="0B5892"/>
                </a:solidFill>
                <a:latin typeface="Arial" panose="020B0604020202020204" pitchFamily="34" charset="0"/>
                <a:cs typeface="Arial" panose="020B0604020202020204" pitchFamily="34" charset="0"/>
              </a:rPr>
              <a:t>APLICAÇÃO </a:t>
            </a:r>
          </a:p>
          <a:p>
            <a:pPr algn="l"/>
            <a:r>
              <a:rPr lang="pt-BR" sz="2400" b="1" spc="600" dirty="0">
                <a:solidFill>
                  <a:srgbClr val="0B5892"/>
                </a:solidFill>
                <a:latin typeface="Arial" panose="020B0604020202020204" pitchFamily="34" charset="0"/>
                <a:cs typeface="Arial" panose="020B0604020202020204" pitchFamily="34" charset="0"/>
              </a:rPr>
              <a:t>DE FEEDBACKS</a:t>
            </a:r>
          </a:p>
        </p:txBody>
      </p:sp>
      <p:pic>
        <p:nvPicPr>
          <p:cNvPr id="3" name="Imagem 2">
            <a:extLst>
              <a:ext uri="{FF2B5EF4-FFF2-40B4-BE49-F238E27FC236}">
                <a16:creationId xmlns:a16="http://schemas.microsoft.com/office/drawing/2014/main" id="{F3886E4E-AF5C-8728-124E-6FC03C37D6F4}"/>
              </a:ext>
            </a:extLst>
          </p:cNvPr>
          <p:cNvPicPr>
            <a:picLocks noChangeAspect="1"/>
          </p:cNvPicPr>
          <p:nvPr/>
        </p:nvPicPr>
        <p:blipFill>
          <a:blip r:embed="rId4"/>
          <a:stretch>
            <a:fillRect/>
          </a:stretch>
        </p:blipFill>
        <p:spPr>
          <a:xfrm>
            <a:off x="5274724" y="410411"/>
            <a:ext cx="4480459" cy="5954099"/>
          </a:xfrm>
          <a:prstGeom prst="rect">
            <a:avLst/>
          </a:prstGeom>
        </p:spPr>
      </p:pic>
    </p:spTree>
    <p:extLst>
      <p:ext uri="{BB962C8B-B14F-4D97-AF65-F5344CB8AC3E}">
        <p14:creationId xmlns:p14="http://schemas.microsoft.com/office/powerpoint/2010/main" val="24695363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BE7AF-5575-AFDC-6156-64B5AB6FFA0D}"/>
            </a:ext>
          </a:extLst>
        </p:cNvPr>
        <p:cNvGrpSpPr/>
        <p:nvPr/>
      </p:nvGrpSpPr>
      <p:grpSpPr>
        <a:xfrm>
          <a:off x="0" y="0"/>
          <a:ext cx="0" cy="0"/>
          <a:chOff x="0" y="0"/>
          <a:chExt cx="0" cy="0"/>
        </a:xfrm>
      </p:grpSpPr>
      <p:pic>
        <p:nvPicPr>
          <p:cNvPr id="38" name="Imagem 37">
            <a:extLst>
              <a:ext uri="{FF2B5EF4-FFF2-40B4-BE49-F238E27FC236}">
                <a16:creationId xmlns:a16="http://schemas.microsoft.com/office/drawing/2014/main" id="{0D15548C-4E26-7924-4AFD-649C71057EAE}"/>
              </a:ext>
            </a:extLst>
          </p:cNvPr>
          <p:cNvPicPr>
            <a:picLocks noChangeAspect="1"/>
          </p:cNvPicPr>
          <p:nvPr/>
        </p:nvPicPr>
        <p:blipFill>
          <a:blip r:embed="rId2">
            <a:alphaModFix amt="4000"/>
          </a:blip>
          <a:stretch>
            <a:fillRect/>
          </a:stretch>
        </p:blipFill>
        <p:spPr>
          <a:xfrm>
            <a:off x="-2192539" y="-1973179"/>
            <a:ext cx="5030445" cy="5148116"/>
          </a:xfrm>
          <a:prstGeom prst="rect">
            <a:avLst/>
          </a:prstGeom>
          <a:effectLst/>
        </p:spPr>
      </p:pic>
      <p:pic>
        <p:nvPicPr>
          <p:cNvPr id="39" name="Imagem 38">
            <a:extLst>
              <a:ext uri="{FF2B5EF4-FFF2-40B4-BE49-F238E27FC236}">
                <a16:creationId xmlns:a16="http://schemas.microsoft.com/office/drawing/2014/main" id="{F7B77D19-9778-E15A-70F7-FF3FB12AE788}"/>
              </a:ext>
            </a:extLst>
          </p:cNvPr>
          <p:cNvPicPr>
            <a:picLocks noChangeAspect="1"/>
          </p:cNvPicPr>
          <p:nvPr/>
        </p:nvPicPr>
        <p:blipFill>
          <a:blip r:embed="rId2">
            <a:alphaModFix amt="4000"/>
          </a:blip>
          <a:stretch>
            <a:fillRect/>
          </a:stretch>
        </p:blipFill>
        <p:spPr>
          <a:xfrm>
            <a:off x="9157251" y="4596063"/>
            <a:ext cx="5030445" cy="5148116"/>
          </a:xfrm>
          <a:prstGeom prst="rect">
            <a:avLst/>
          </a:prstGeom>
          <a:effectLst/>
        </p:spPr>
      </p:pic>
      <p:sp>
        <p:nvSpPr>
          <p:cNvPr id="15" name="Retângulo: Cantos Arredondados 14">
            <a:extLst>
              <a:ext uri="{FF2B5EF4-FFF2-40B4-BE49-F238E27FC236}">
                <a16:creationId xmlns:a16="http://schemas.microsoft.com/office/drawing/2014/main" id="{4370B51A-0FCF-63C4-9ABE-FFCF08CB93B3}"/>
              </a:ext>
            </a:extLst>
          </p:cNvPr>
          <p:cNvSpPr/>
          <p:nvPr/>
        </p:nvSpPr>
        <p:spPr>
          <a:xfrm>
            <a:off x="940477" y="2158889"/>
            <a:ext cx="2437660" cy="408165"/>
          </a:xfrm>
          <a:prstGeom prst="round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rgbClr val="0B5892"/>
              </a:solidFill>
            </a:endParaRPr>
          </a:p>
        </p:txBody>
      </p:sp>
      <p:sp>
        <p:nvSpPr>
          <p:cNvPr id="6" name="Título 1">
            <a:extLst>
              <a:ext uri="{FF2B5EF4-FFF2-40B4-BE49-F238E27FC236}">
                <a16:creationId xmlns:a16="http://schemas.microsoft.com/office/drawing/2014/main" id="{5AD55B23-2658-2E6C-64B7-D5395F0C2628}"/>
              </a:ext>
            </a:extLst>
          </p:cNvPr>
          <p:cNvSpPr txBox="1">
            <a:spLocks/>
          </p:cNvSpPr>
          <p:nvPr/>
        </p:nvSpPr>
        <p:spPr>
          <a:xfrm>
            <a:off x="395849" y="431573"/>
            <a:ext cx="5811865"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600" spc="600" dirty="0">
                <a:solidFill>
                  <a:schemeClr val="tx1">
                    <a:lumMod val="50000"/>
                    <a:lumOff val="50000"/>
                  </a:schemeClr>
                </a:solidFill>
                <a:latin typeface="Arial" panose="020B0604020202020204" pitchFamily="34" charset="0"/>
                <a:cs typeface="Arial" panose="020B0604020202020204" pitchFamily="34" charset="0"/>
              </a:rPr>
              <a:t>RELATÓRIO MENSAL</a:t>
            </a:r>
          </a:p>
        </p:txBody>
      </p:sp>
      <p:sp>
        <p:nvSpPr>
          <p:cNvPr id="4" name="Retângulo 3">
            <a:extLst>
              <a:ext uri="{FF2B5EF4-FFF2-40B4-BE49-F238E27FC236}">
                <a16:creationId xmlns:a16="http://schemas.microsoft.com/office/drawing/2014/main" id="{6D5EBA9D-4C7A-96B0-1638-7CF98A811623}"/>
              </a:ext>
            </a:extLst>
          </p:cNvPr>
          <p:cNvSpPr/>
          <p:nvPr/>
        </p:nvSpPr>
        <p:spPr>
          <a:xfrm>
            <a:off x="-641684" y="6707874"/>
            <a:ext cx="4776717" cy="300251"/>
          </a:xfrm>
          <a:prstGeom prst="rect">
            <a:avLst/>
          </a:prstGeom>
          <a:solidFill>
            <a:srgbClr val="9E22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8" name="Retângulo 27">
            <a:extLst>
              <a:ext uri="{FF2B5EF4-FFF2-40B4-BE49-F238E27FC236}">
                <a16:creationId xmlns:a16="http://schemas.microsoft.com/office/drawing/2014/main" id="{857EE140-AD8D-579A-3A1C-71571C22A7F4}"/>
              </a:ext>
            </a:extLst>
          </p:cNvPr>
          <p:cNvSpPr/>
          <p:nvPr/>
        </p:nvSpPr>
        <p:spPr>
          <a:xfrm>
            <a:off x="4040868" y="6707874"/>
            <a:ext cx="4776717" cy="300251"/>
          </a:xfrm>
          <a:prstGeom prst="rect">
            <a:avLst/>
          </a:prstGeom>
          <a:solidFill>
            <a:srgbClr val="0B589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9" name="Retângulo 28">
            <a:extLst>
              <a:ext uri="{FF2B5EF4-FFF2-40B4-BE49-F238E27FC236}">
                <a16:creationId xmlns:a16="http://schemas.microsoft.com/office/drawing/2014/main" id="{646D9E9E-DA6E-97EA-E102-69AB186CF470}"/>
              </a:ext>
            </a:extLst>
          </p:cNvPr>
          <p:cNvSpPr/>
          <p:nvPr/>
        </p:nvSpPr>
        <p:spPr>
          <a:xfrm>
            <a:off x="8828573" y="6707874"/>
            <a:ext cx="4776717" cy="30025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 name="Imagem 7">
            <a:extLst>
              <a:ext uri="{FF2B5EF4-FFF2-40B4-BE49-F238E27FC236}">
                <a16:creationId xmlns:a16="http://schemas.microsoft.com/office/drawing/2014/main" id="{D5E58A86-AF29-67A6-95D6-C20E1C0E7A78}"/>
              </a:ext>
            </a:extLst>
          </p:cNvPr>
          <p:cNvPicPr>
            <a:picLocks noChangeAspect="1"/>
          </p:cNvPicPr>
          <p:nvPr/>
        </p:nvPicPr>
        <p:blipFill>
          <a:blip r:embed="rId3"/>
          <a:stretch>
            <a:fillRect/>
          </a:stretch>
        </p:blipFill>
        <p:spPr>
          <a:xfrm>
            <a:off x="-124691" y="-20995"/>
            <a:ext cx="12316692" cy="88042"/>
          </a:xfrm>
          <a:prstGeom prst="rect">
            <a:avLst/>
          </a:prstGeom>
        </p:spPr>
      </p:pic>
      <p:sp>
        <p:nvSpPr>
          <p:cNvPr id="13" name="Título 1">
            <a:extLst>
              <a:ext uri="{FF2B5EF4-FFF2-40B4-BE49-F238E27FC236}">
                <a16:creationId xmlns:a16="http://schemas.microsoft.com/office/drawing/2014/main" id="{8E9A17BE-87A8-A4B3-5F73-9C3D91BABBAC}"/>
              </a:ext>
            </a:extLst>
          </p:cNvPr>
          <p:cNvSpPr txBox="1">
            <a:spLocks/>
          </p:cNvSpPr>
          <p:nvPr/>
        </p:nvSpPr>
        <p:spPr>
          <a:xfrm>
            <a:off x="509191" y="2955832"/>
            <a:ext cx="6453099" cy="11210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spc="600" dirty="0">
                <a:solidFill>
                  <a:srgbClr val="0B5892"/>
                </a:solidFill>
                <a:latin typeface="Arial" panose="020B0604020202020204" pitchFamily="34" charset="0"/>
                <a:cs typeface="Arial" panose="020B0604020202020204" pitchFamily="34" charset="0"/>
              </a:rPr>
              <a:t>APLICAÇÃO </a:t>
            </a:r>
          </a:p>
          <a:p>
            <a:pPr algn="l"/>
            <a:r>
              <a:rPr lang="pt-BR" sz="2400" b="1" spc="600" dirty="0">
                <a:solidFill>
                  <a:srgbClr val="0B5892"/>
                </a:solidFill>
                <a:latin typeface="Arial" panose="020B0604020202020204" pitchFamily="34" charset="0"/>
                <a:cs typeface="Arial" panose="020B0604020202020204" pitchFamily="34" charset="0"/>
              </a:rPr>
              <a:t>DE FEEDBACKS</a:t>
            </a:r>
          </a:p>
        </p:txBody>
      </p:sp>
      <p:pic>
        <p:nvPicPr>
          <p:cNvPr id="3" name="Imagem 2">
            <a:extLst>
              <a:ext uri="{FF2B5EF4-FFF2-40B4-BE49-F238E27FC236}">
                <a16:creationId xmlns:a16="http://schemas.microsoft.com/office/drawing/2014/main" id="{1DF65BC0-B723-9337-F49F-19B865608AD3}"/>
              </a:ext>
            </a:extLst>
          </p:cNvPr>
          <p:cNvPicPr>
            <a:picLocks noChangeAspect="1"/>
          </p:cNvPicPr>
          <p:nvPr/>
        </p:nvPicPr>
        <p:blipFill>
          <a:blip r:embed="rId4"/>
          <a:stretch>
            <a:fillRect/>
          </a:stretch>
        </p:blipFill>
        <p:spPr>
          <a:xfrm>
            <a:off x="5182834" y="278903"/>
            <a:ext cx="4664239" cy="6198324"/>
          </a:xfrm>
          <a:prstGeom prst="rect">
            <a:avLst/>
          </a:prstGeom>
        </p:spPr>
      </p:pic>
    </p:spTree>
    <p:extLst>
      <p:ext uri="{BB962C8B-B14F-4D97-AF65-F5344CB8AC3E}">
        <p14:creationId xmlns:p14="http://schemas.microsoft.com/office/powerpoint/2010/main" val="8935690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67051-2980-EF3B-C8A6-08B541D997E9}"/>
            </a:ext>
          </a:extLst>
        </p:cNvPr>
        <p:cNvGrpSpPr/>
        <p:nvPr/>
      </p:nvGrpSpPr>
      <p:grpSpPr>
        <a:xfrm>
          <a:off x="0" y="0"/>
          <a:ext cx="0" cy="0"/>
          <a:chOff x="0" y="0"/>
          <a:chExt cx="0" cy="0"/>
        </a:xfrm>
      </p:grpSpPr>
      <p:pic>
        <p:nvPicPr>
          <p:cNvPr id="38" name="Imagem 37">
            <a:extLst>
              <a:ext uri="{FF2B5EF4-FFF2-40B4-BE49-F238E27FC236}">
                <a16:creationId xmlns:a16="http://schemas.microsoft.com/office/drawing/2014/main" id="{8393AF51-D59C-D62D-8DFA-F9B2F3F32094}"/>
              </a:ext>
            </a:extLst>
          </p:cNvPr>
          <p:cNvPicPr>
            <a:picLocks noChangeAspect="1"/>
          </p:cNvPicPr>
          <p:nvPr/>
        </p:nvPicPr>
        <p:blipFill>
          <a:blip r:embed="rId2">
            <a:alphaModFix amt="4000"/>
          </a:blip>
          <a:stretch>
            <a:fillRect/>
          </a:stretch>
        </p:blipFill>
        <p:spPr>
          <a:xfrm>
            <a:off x="-2192539" y="-1973179"/>
            <a:ext cx="5030445" cy="5148116"/>
          </a:xfrm>
          <a:prstGeom prst="rect">
            <a:avLst/>
          </a:prstGeom>
          <a:effectLst/>
        </p:spPr>
      </p:pic>
      <p:pic>
        <p:nvPicPr>
          <p:cNvPr id="39" name="Imagem 38">
            <a:extLst>
              <a:ext uri="{FF2B5EF4-FFF2-40B4-BE49-F238E27FC236}">
                <a16:creationId xmlns:a16="http://schemas.microsoft.com/office/drawing/2014/main" id="{AE24FBA2-5E30-6609-5ABD-D33475F40922}"/>
              </a:ext>
            </a:extLst>
          </p:cNvPr>
          <p:cNvPicPr>
            <a:picLocks noChangeAspect="1"/>
          </p:cNvPicPr>
          <p:nvPr/>
        </p:nvPicPr>
        <p:blipFill>
          <a:blip r:embed="rId2">
            <a:alphaModFix amt="4000"/>
          </a:blip>
          <a:stretch>
            <a:fillRect/>
          </a:stretch>
        </p:blipFill>
        <p:spPr>
          <a:xfrm>
            <a:off x="9157251" y="4596063"/>
            <a:ext cx="5030445" cy="5148116"/>
          </a:xfrm>
          <a:prstGeom prst="rect">
            <a:avLst/>
          </a:prstGeom>
          <a:effectLst/>
        </p:spPr>
      </p:pic>
      <p:sp>
        <p:nvSpPr>
          <p:cNvPr id="15" name="Retângulo: Cantos Arredondados 14">
            <a:extLst>
              <a:ext uri="{FF2B5EF4-FFF2-40B4-BE49-F238E27FC236}">
                <a16:creationId xmlns:a16="http://schemas.microsoft.com/office/drawing/2014/main" id="{10EB993A-09DB-0AF6-1C36-CA897F22DD2F}"/>
              </a:ext>
            </a:extLst>
          </p:cNvPr>
          <p:cNvSpPr/>
          <p:nvPr/>
        </p:nvSpPr>
        <p:spPr>
          <a:xfrm>
            <a:off x="940477" y="2158889"/>
            <a:ext cx="2437660" cy="408165"/>
          </a:xfrm>
          <a:prstGeom prst="round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rgbClr val="0B5892"/>
              </a:solidFill>
            </a:endParaRPr>
          </a:p>
        </p:txBody>
      </p:sp>
      <p:sp>
        <p:nvSpPr>
          <p:cNvPr id="6" name="Título 1">
            <a:extLst>
              <a:ext uri="{FF2B5EF4-FFF2-40B4-BE49-F238E27FC236}">
                <a16:creationId xmlns:a16="http://schemas.microsoft.com/office/drawing/2014/main" id="{FD2CD8E3-E77C-750E-0CEF-31666482A164}"/>
              </a:ext>
            </a:extLst>
          </p:cNvPr>
          <p:cNvSpPr txBox="1">
            <a:spLocks/>
          </p:cNvSpPr>
          <p:nvPr/>
        </p:nvSpPr>
        <p:spPr>
          <a:xfrm>
            <a:off x="395849" y="431573"/>
            <a:ext cx="5811865"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600" spc="600" dirty="0">
                <a:solidFill>
                  <a:schemeClr val="tx1">
                    <a:lumMod val="50000"/>
                    <a:lumOff val="50000"/>
                  </a:schemeClr>
                </a:solidFill>
                <a:latin typeface="Arial" panose="020B0604020202020204" pitchFamily="34" charset="0"/>
                <a:cs typeface="Arial" panose="020B0604020202020204" pitchFamily="34" charset="0"/>
              </a:rPr>
              <a:t>RELATÓRIO MENSAL</a:t>
            </a:r>
          </a:p>
        </p:txBody>
      </p:sp>
      <p:sp>
        <p:nvSpPr>
          <p:cNvPr id="4" name="Retângulo 3">
            <a:extLst>
              <a:ext uri="{FF2B5EF4-FFF2-40B4-BE49-F238E27FC236}">
                <a16:creationId xmlns:a16="http://schemas.microsoft.com/office/drawing/2014/main" id="{F7AF476D-A076-3C69-BE54-5A55845E259B}"/>
              </a:ext>
            </a:extLst>
          </p:cNvPr>
          <p:cNvSpPr/>
          <p:nvPr/>
        </p:nvSpPr>
        <p:spPr>
          <a:xfrm>
            <a:off x="-641684" y="6707874"/>
            <a:ext cx="4776717" cy="300251"/>
          </a:xfrm>
          <a:prstGeom prst="rect">
            <a:avLst/>
          </a:prstGeom>
          <a:solidFill>
            <a:srgbClr val="9E22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8" name="Retângulo 27">
            <a:extLst>
              <a:ext uri="{FF2B5EF4-FFF2-40B4-BE49-F238E27FC236}">
                <a16:creationId xmlns:a16="http://schemas.microsoft.com/office/drawing/2014/main" id="{90E2CCFF-24DB-9E30-D05E-DFB7F2E7D0D3}"/>
              </a:ext>
            </a:extLst>
          </p:cNvPr>
          <p:cNvSpPr/>
          <p:nvPr/>
        </p:nvSpPr>
        <p:spPr>
          <a:xfrm>
            <a:off x="4040868" y="6707874"/>
            <a:ext cx="4776717" cy="300251"/>
          </a:xfrm>
          <a:prstGeom prst="rect">
            <a:avLst/>
          </a:prstGeom>
          <a:solidFill>
            <a:srgbClr val="0B589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9" name="Retângulo 28">
            <a:extLst>
              <a:ext uri="{FF2B5EF4-FFF2-40B4-BE49-F238E27FC236}">
                <a16:creationId xmlns:a16="http://schemas.microsoft.com/office/drawing/2014/main" id="{1E4E3F01-FA23-473A-9DC2-449E656BAD41}"/>
              </a:ext>
            </a:extLst>
          </p:cNvPr>
          <p:cNvSpPr/>
          <p:nvPr/>
        </p:nvSpPr>
        <p:spPr>
          <a:xfrm>
            <a:off x="8828573" y="6707874"/>
            <a:ext cx="4776717" cy="30025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 name="Imagem 7">
            <a:extLst>
              <a:ext uri="{FF2B5EF4-FFF2-40B4-BE49-F238E27FC236}">
                <a16:creationId xmlns:a16="http://schemas.microsoft.com/office/drawing/2014/main" id="{BE16D660-EA4A-91F9-B2E6-844A756A1975}"/>
              </a:ext>
            </a:extLst>
          </p:cNvPr>
          <p:cNvPicPr>
            <a:picLocks noChangeAspect="1"/>
          </p:cNvPicPr>
          <p:nvPr/>
        </p:nvPicPr>
        <p:blipFill>
          <a:blip r:embed="rId3"/>
          <a:stretch>
            <a:fillRect/>
          </a:stretch>
        </p:blipFill>
        <p:spPr>
          <a:xfrm>
            <a:off x="-124691" y="-20995"/>
            <a:ext cx="12316692" cy="88042"/>
          </a:xfrm>
          <a:prstGeom prst="rect">
            <a:avLst/>
          </a:prstGeom>
        </p:spPr>
      </p:pic>
      <p:sp>
        <p:nvSpPr>
          <p:cNvPr id="13" name="Título 1">
            <a:extLst>
              <a:ext uri="{FF2B5EF4-FFF2-40B4-BE49-F238E27FC236}">
                <a16:creationId xmlns:a16="http://schemas.microsoft.com/office/drawing/2014/main" id="{E9037863-56DD-F325-6B13-E897ACFA1406}"/>
              </a:ext>
            </a:extLst>
          </p:cNvPr>
          <p:cNvSpPr txBox="1">
            <a:spLocks/>
          </p:cNvSpPr>
          <p:nvPr/>
        </p:nvSpPr>
        <p:spPr>
          <a:xfrm>
            <a:off x="509191" y="2955832"/>
            <a:ext cx="6453099" cy="11210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spc="600" dirty="0">
                <a:solidFill>
                  <a:srgbClr val="0B5892"/>
                </a:solidFill>
                <a:latin typeface="Arial" panose="020B0604020202020204" pitchFamily="34" charset="0"/>
                <a:cs typeface="Arial" panose="020B0604020202020204" pitchFamily="34" charset="0"/>
              </a:rPr>
              <a:t>ORGULHOS </a:t>
            </a:r>
          </a:p>
          <a:p>
            <a:pPr algn="l"/>
            <a:r>
              <a:rPr lang="pt-BR" sz="2400" b="1" spc="600" dirty="0">
                <a:solidFill>
                  <a:srgbClr val="0B5892"/>
                </a:solidFill>
                <a:latin typeface="Arial" panose="020B0604020202020204" pitchFamily="34" charset="0"/>
                <a:cs typeface="Arial" panose="020B0604020202020204" pitchFamily="34" charset="0"/>
              </a:rPr>
              <a:t>DA QUALIDADE</a:t>
            </a:r>
          </a:p>
        </p:txBody>
      </p:sp>
      <p:pic>
        <p:nvPicPr>
          <p:cNvPr id="3" name="Imagem 2">
            <a:extLst>
              <a:ext uri="{FF2B5EF4-FFF2-40B4-BE49-F238E27FC236}">
                <a16:creationId xmlns:a16="http://schemas.microsoft.com/office/drawing/2014/main" id="{EB67F449-5328-A9B0-7453-173D392C58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17018" y="333729"/>
            <a:ext cx="4447002" cy="5929335"/>
          </a:xfrm>
          <a:prstGeom prst="rect">
            <a:avLst/>
          </a:prstGeom>
        </p:spPr>
      </p:pic>
    </p:spTree>
    <p:extLst>
      <p:ext uri="{BB962C8B-B14F-4D97-AF65-F5344CB8AC3E}">
        <p14:creationId xmlns:p14="http://schemas.microsoft.com/office/powerpoint/2010/main" val="36227458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48FD6-2A40-47AA-4901-0DD4E0447D9E}"/>
            </a:ext>
          </a:extLst>
        </p:cNvPr>
        <p:cNvGrpSpPr/>
        <p:nvPr/>
      </p:nvGrpSpPr>
      <p:grpSpPr>
        <a:xfrm>
          <a:off x="0" y="0"/>
          <a:ext cx="0" cy="0"/>
          <a:chOff x="0" y="0"/>
          <a:chExt cx="0" cy="0"/>
        </a:xfrm>
      </p:grpSpPr>
      <p:pic>
        <p:nvPicPr>
          <p:cNvPr id="38" name="Imagem 37">
            <a:extLst>
              <a:ext uri="{FF2B5EF4-FFF2-40B4-BE49-F238E27FC236}">
                <a16:creationId xmlns:a16="http://schemas.microsoft.com/office/drawing/2014/main" id="{E946B470-181A-1C29-7470-46DD95500DEF}"/>
              </a:ext>
            </a:extLst>
          </p:cNvPr>
          <p:cNvPicPr>
            <a:picLocks noChangeAspect="1"/>
          </p:cNvPicPr>
          <p:nvPr/>
        </p:nvPicPr>
        <p:blipFill>
          <a:blip r:embed="rId2">
            <a:alphaModFix amt="4000"/>
          </a:blip>
          <a:stretch>
            <a:fillRect/>
          </a:stretch>
        </p:blipFill>
        <p:spPr>
          <a:xfrm>
            <a:off x="-2192539" y="-1973179"/>
            <a:ext cx="5030445" cy="5148116"/>
          </a:xfrm>
          <a:prstGeom prst="rect">
            <a:avLst/>
          </a:prstGeom>
          <a:effectLst/>
        </p:spPr>
      </p:pic>
      <p:pic>
        <p:nvPicPr>
          <p:cNvPr id="39" name="Imagem 38">
            <a:extLst>
              <a:ext uri="{FF2B5EF4-FFF2-40B4-BE49-F238E27FC236}">
                <a16:creationId xmlns:a16="http://schemas.microsoft.com/office/drawing/2014/main" id="{7FA64121-F7BF-E8CC-1ED0-6FA9967E3CC5}"/>
              </a:ext>
            </a:extLst>
          </p:cNvPr>
          <p:cNvPicPr>
            <a:picLocks noChangeAspect="1"/>
          </p:cNvPicPr>
          <p:nvPr/>
        </p:nvPicPr>
        <p:blipFill>
          <a:blip r:embed="rId2">
            <a:alphaModFix amt="4000"/>
          </a:blip>
          <a:stretch>
            <a:fillRect/>
          </a:stretch>
        </p:blipFill>
        <p:spPr>
          <a:xfrm>
            <a:off x="9157251" y="4596063"/>
            <a:ext cx="5030445" cy="5148116"/>
          </a:xfrm>
          <a:prstGeom prst="rect">
            <a:avLst/>
          </a:prstGeom>
          <a:effectLst/>
        </p:spPr>
      </p:pic>
      <p:sp>
        <p:nvSpPr>
          <p:cNvPr id="15" name="Retângulo: Cantos Arredondados 14">
            <a:extLst>
              <a:ext uri="{FF2B5EF4-FFF2-40B4-BE49-F238E27FC236}">
                <a16:creationId xmlns:a16="http://schemas.microsoft.com/office/drawing/2014/main" id="{61D35D00-B789-6203-92DB-95BD85B13E42}"/>
              </a:ext>
            </a:extLst>
          </p:cNvPr>
          <p:cNvSpPr/>
          <p:nvPr/>
        </p:nvSpPr>
        <p:spPr>
          <a:xfrm>
            <a:off x="940477" y="2158889"/>
            <a:ext cx="2437660" cy="408165"/>
          </a:xfrm>
          <a:prstGeom prst="round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rgbClr val="0B5892"/>
              </a:solidFill>
            </a:endParaRPr>
          </a:p>
        </p:txBody>
      </p:sp>
      <p:sp>
        <p:nvSpPr>
          <p:cNvPr id="6" name="Título 1">
            <a:extLst>
              <a:ext uri="{FF2B5EF4-FFF2-40B4-BE49-F238E27FC236}">
                <a16:creationId xmlns:a16="http://schemas.microsoft.com/office/drawing/2014/main" id="{CBB82B81-08CA-52E6-0C26-B05865E100EF}"/>
              </a:ext>
            </a:extLst>
          </p:cNvPr>
          <p:cNvSpPr txBox="1">
            <a:spLocks/>
          </p:cNvSpPr>
          <p:nvPr/>
        </p:nvSpPr>
        <p:spPr>
          <a:xfrm>
            <a:off x="395849" y="431573"/>
            <a:ext cx="5811865"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600" spc="600" dirty="0">
                <a:solidFill>
                  <a:schemeClr val="tx1">
                    <a:lumMod val="50000"/>
                    <a:lumOff val="50000"/>
                  </a:schemeClr>
                </a:solidFill>
                <a:latin typeface="Arial" panose="020B0604020202020204" pitchFamily="34" charset="0"/>
                <a:cs typeface="Arial" panose="020B0604020202020204" pitchFamily="34" charset="0"/>
              </a:rPr>
              <a:t>RELATÓRIO MENSAL</a:t>
            </a:r>
          </a:p>
        </p:txBody>
      </p:sp>
      <p:sp>
        <p:nvSpPr>
          <p:cNvPr id="4" name="Retângulo 3">
            <a:extLst>
              <a:ext uri="{FF2B5EF4-FFF2-40B4-BE49-F238E27FC236}">
                <a16:creationId xmlns:a16="http://schemas.microsoft.com/office/drawing/2014/main" id="{1CCD182A-6298-75DF-D35E-BBEAC2F102D2}"/>
              </a:ext>
            </a:extLst>
          </p:cNvPr>
          <p:cNvSpPr/>
          <p:nvPr/>
        </p:nvSpPr>
        <p:spPr>
          <a:xfrm>
            <a:off x="-641684" y="6707874"/>
            <a:ext cx="4776717" cy="300251"/>
          </a:xfrm>
          <a:prstGeom prst="rect">
            <a:avLst/>
          </a:prstGeom>
          <a:solidFill>
            <a:srgbClr val="9E22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8" name="Retângulo 27">
            <a:extLst>
              <a:ext uri="{FF2B5EF4-FFF2-40B4-BE49-F238E27FC236}">
                <a16:creationId xmlns:a16="http://schemas.microsoft.com/office/drawing/2014/main" id="{4207B5BA-42B1-8202-9132-F2957885D437}"/>
              </a:ext>
            </a:extLst>
          </p:cNvPr>
          <p:cNvSpPr/>
          <p:nvPr/>
        </p:nvSpPr>
        <p:spPr>
          <a:xfrm>
            <a:off x="4040868" y="6707874"/>
            <a:ext cx="4776717" cy="300251"/>
          </a:xfrm>
          <a:prstGeom prst="rect">
            <a:avLst/>
          </a:prstGeom>
          <a:solidFill>
            <a:srgbClr val="0B589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9" name="Retângulo 28">
            <a:extLst>
              <a:ext uri="{FF2B5EF4-FFF2-40B4-BE49-F238E27FC236}">
                <a16:creationId xmlns:a16="http://schemas.microsoft.com/office/drawing/2014/main" id="{B1D41335-32E1-C1C9-3F9D-052DC0DAF8B3}"/>
              </a:ext>
            </a:extLst>
          </p:cNvPr>
          <p:cNvSpPr/>
          <p:nvPr/>
        </p:nvSpPr>
        <p:spPr>
          <a:xfrm>
            <a:off x="8828573" y="6707874"/>
            <a:ext cx="4776717" cy="30025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 name="Imagem 7">
            <a:extLst>
              <a:ext uri="{FF2B5EF4-FFF2-40B4-BE49-F238E27FC236}">
                <a16:creationId xmlns:a16="http://schemas.microsoft.com/office/drawing/2014/main" id="{64D79B0E-1558-CFCB-7797-B6A5C848E667}"/>
              </a:ext>
            </a:extLst>
          </p:cNvPr>
          <p:cNvPicPr>
            <a:picLocks noChangeAspect="1"/>
          </p:cNvPicPr>
          <p:nvPr/>
        </p:nvPicPr>
        <p:blipFill>
          <a:blip r:embed="rId3"/>
          <a:stretch>
            <a:fillRect/>
          </a:stretch>
        </p:blipFill>
        <p:spPr>
          <a:xfrm>
            <a:off x="-124691" y="-20995"/>
            <a:ext cx="12316692" cy="88042"/>
          </a:xfrm>
          <a:prstGeom prst="rect">
            <a:avLst/>
          </a:prstGeom>
        </p:spPr>
      </p:pic>
      <p:sp>
        <p:nvSpPr>
          <p:cNvPr id="13" name="Título 1">
            <a:extLst>
              <a:ext uri="{FF2B5EF4-FFF2-40B4-BE49-F238E27FC236}">
                <a16:creationId xmlns:a16="http://schemas.microsoft.com/office/drawing/2014/main" id="{6AA4E4A9-B090-F58C-C430-6BD221CA5E82}"/>
              </a:ext>
            </a:extLst>
          </p:cNvPr>
          <p:cNvSpPr txBox="1">
            <a:spLocks/>
          </p:cNvSpPr>
          <p:nvPr/>
        </p:nvSpPr>
        <p:spPr>
          <a:xfrm>
            <a:off x="509191" y="2955832"/>
            <a:ext cx="6453099" cy="11210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spc="600" dirty="0">
                <a:solidFill>
                  <a:srgbClr val="0B5892"/>
                </a:solidFill>
                <a:latin typeface="Arial" panose="020B0604020202020204" pitchFamily="34" charset="0"/>
                <a:cs typeface="Arial" panose="020B0604020202020204" pitchFamily="34" charset="0"/>
              </a:rPr>
              <a:t>ORGULHOS </a:t>
            </a:r>
          </a:p>
          <a:p>
            <a:pPr algn="l"/>
            <a:r>
              <a:rPr lang="pt-BR" sz="2400" b="1" spc="600" dirty="0">
                <a:solidFill>
                  <a:srgbClr val="0B5892"/>
                </a:solidFill>
                <a:latin typeface="Arial" panose="020B0604020202020204" pitchFamily="34" charset="0"/>
                <a:cs typeface="Arial" panose="020B0604020202020204" pitchFamily="34" charset="0"/>
              </a:rPr>
              <a:t>DA QUALIDADE</a:t>
            </a:r>
          </a:p>
        </p:txBody>
      </p:sp>
      <p:pic>
        <p:nvPicPr>
          <p:cNvPr id="5" name="Imagem 4">
            <a:extLst>
              <a:ext uri="{FF2B5EF4-FFF2-40B4-BE49-F238E27FC236}">
                <a16:creationId xmlns:a16="http://schemas.microsoft.com/office/drawing/2014/main" id="{44AC2EBA-990D-9A34-6E03-AE2407DCCF5C}"/>
              </a:ext>
            </a:extLst>
          </p:cNvPr>
          <p:cNvPicPr>
            <a:picLocks noChangeAspect="1"/>
          </p:cNvPicPr>
          <p:nvPr/>
        </p:nvPicPr>
        <p:blipFill>
          <a:blip r:embed="rId4"/>
          <a:stretch>
            <a:fillRect/>
          </a:stretch>
        </p:blipFill>
        <p:spPr>
          <a:xfrm>
            <a:off x="5613400" y="391828"/>
            <a:ext cx="4493448" cy="5991264"/>
          </a:xfrm>
          <a:prstGeom prst="rect">
            <a:avLst/>
          </a:prstGeom>
        </p:spPr>
      </p:pic>
    </p:spTree>
    <p:extLst>
      <p:ext uri="{BB962C8B-B14F-4D97-AF65-F5344CB8AC3E}">
        <p14:creationId xmlns:p14="http://schemas.microsoft.com/office/powerpoint/2010/main" val="4236998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7C58D-0DE7-05A8-7D11-08C3031435C8}"/>
            </a:ext>
          </a:extLst>
        </p:cNvPr>
        <p:cNvGrpSpPr/>
        <p:nvPr/>
      </p:nvGrpSpPr>
      <p:grpSpPr>
        <a:xfrm>
          <a:off x="0" y="0"/>
          <a:ext cx="0" cy="0"/>
          <a:chOff x="0" y="0"/>
          <a:chExt cx="0" cy="0"/>
        </a:xfrm>
      </p:grpSpPr>
      <p:pic>
        <p:nvPicPr>
          <p:cNvPr id="38" name="Imagem 37">
            <a:extLst>
              <a:ext uri="{FF2B5EF4-FFF2-40B4-BE49-F238E27FC236}">
                <a16:creationId xmlns:a16="http://schemas.microsoft.com/office/drawing/2014/main" id="{BDB487FB-256C-8D6F-884B-33A3A208228F}"/>
              </a:ext>
            </a:extLst>
          </p:cNvPr>
          <p:cNvPicPr>
            <a:picLocks noChangeAspect="1"/>
          </p:cNvPicPr>
          <p:nvPr/>
        </p:nvPicPr>
        <p:blipFill>
          <a:blip r:embed="rId2">
            <a:alphaModFix amt="4000"/>
          </a:blip>
          <a:stretch>
            <a:fillRect/>
          </a:stretch>
        </p:blipFill>
        <p:spPr>
          <a:xfrm>
            <a:off x="-2192539" y="-1973179"/>
            <a:ext cx="5030445" cy="5148116"/>
          </a:xfrm>
          <a:prstGeom prst="rect">
            <a:avLst/>
          </a:prstGeom>
          <a:effectLst/>
        </p:spPr>
      </p:pic>
      <p:pic>
        <p:nvPicPr>
          <p:cNvPr id="39" name="Imagem 38">
            <a:extLst>
              <a:ext uri="{FF2B5EF4-FFF2-40B4-BE49-F238E27FC236}">
                <a16:creationId xmlns:a16="http://schemas.microsoft.com/office/drawing/2014/main" id="{C68C3B14-5EC5-F408-1126-A02CC69AEE24}"/>
              </a:ext>
            </a:extLst>
          </p:cNvPr>
          <p:cNvPicPr>
            <a:picLocks noChangeAspect="1"/>
          </p:cNvPicPr>
          <p:nvPr/>
        </p:nvPicPr>
        <p:blipFill>
          <a:blip r:embed="rId2">
            <a:alphaModFix amt="4000"/>
          </a:blip>
          <a:stretch>
            <a:fillRect/>
          </a:stretch>
        </p:blipFill>
        <p:spPr>
          <a:xfrm>
            <a:off x="9157251" y="4596063"/>
            <a:ext cx="5030445" cy="5148116"/>
          </a:xfrm>
          <a:prstGeom prst="rect">
            <a:avLst/>
          </a:prstGeom>
          <a:effectLst/>
        </p:spPr>
      </p:pic>
      <p:sp>
        <p:nvSpPr>
          <p:cNvPr id="15" name="Retângulo: Cantos Arredondados 14">
            <a:extLst>
              <a:ext uri="{FF2B5EF4-FFF2-40B4-BE49-F238E27FC236}">
                <a16:creationId xmlns:a16="http://schemas.microsoft.com/office/drawing/2014/main" id="{1ECB2F88-CBB6-2F4F-DCBC-13E26C193AE7}"/>
              </a:ext>
            </a:extLst>
          </p:cNvPr>
          <p:cNvSpPr/>
          <p:nvPr/>
        </p:nvSpPr>
        <p:spPr>
          <a:xfrm>
            <a:off x="940477" y="2158889"/>
            <a:ext cx="2437660" cy="408165"/>
          </a:xfrm>
          <a:prstGeom prst="round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rgbClr val="0B5892"/>
              </a:solidFill>
            </a:endParaRPr>
          </a:p>
        </p:txBody>
      </p:sp>
      <p:sp>
        <p:nvSpPr>
          <p:cNvPr id="6" name="Título 1">
            <a:extLst>
              <a:ext uri="{FF2B5EF4-FFF2-40B4-BE49-F238E27FC236}">
                <a16:creationId xmlns:a16="http://schemas.microsoft.com/office/drawing/2014/main" id="{7BB02BEB-26BB-C5C0-4B7F-25992D3E599F}"/>
              </a:ext>
            </a:extLst>
          </p:cNvPr>
          <p:cNvSpPr txBox="1">
            <a:spLocks/>
          </p:cNvSpPr>
          <p:nvPr/>
        </p:nvSpPr>
        <p:spPr>
          <a:xfrm>
            <a:off x="395849" y="431573"/>
            <a:ext cx="5811865"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600" spc="600" dirty="0">
                <a:solidFill>
                  <a:schemeClr val="tx1">
                    <a:lumMod val="50000"/>
                    <a:lumOff val="50000"/>
                  </a:schemeClr>
                </a:solidFill>
                <a:latin typeface="Arial" panose="020B0604020202020204" pitchFamily="34" charset="0"/>
                <a:cs typeface="Arial" panose="020B0604020202020204" pitchFamily="34" charset="0"/>
              </a:rPr>
              <a:t>RELATÓRIO MENSAL</a:t>
            </a:r>
          </a:p>
        </p:txBody>
      </p:sp>
      <p:sp>
        <p:nvSpPr>
          <p:cNvPr id="4" name="Retângulo 3">
            <a:extLst>
              <a:ext uri="{FF2B5EF4-FFF2-40B4-BE49-F238E27FC236}">
                <a16:creationId xmlns:a16="http://schemas.microsoft.com/office/drawing/2014/main" id="{0A749497-72CB-0CD8-27BE-99C9C14E3C41}"/>
              </a:ext>
            </a:extLst>
          </p:cNvPr>
          <p:cNvSpPr/>
          <p:nvPr/>
        </p:nvSpPr>
        <p:spPr>
          <a:xfrm>
            <a:off x="-641684" y="6707874"/>
            <a:ext cx="4776717" cy="300251"/>
          </a:xfrm>
          <a:prstGeom prst="rect">
            <a:avLst/>
          </a:prstGeom>
          <a:solidFill>
            <a:srgbClr val="9E22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8" name="Retângulo 27">
            <a:extLst>
              <a:ext uri="{FF2B5EF4-FFF2-40B4-BE49-F238E27FC236}">
                <a16:creationId xmlns:a16="http://schemas.microsoft.com/office/drawing/2014/main" id="{D74D1E1D-60DE-B9F4-48E9-DC52BF256B6F}"/>
              </a:ext>
            </a:extLst>
          </p:cNvPr>
          <p:cNvSpPr/>
          <p:nvPr/>
        </p:nvSpPr>
        <p:spPr>
          <a:xfrm>
            <a:off x="4040868" y="6707874"/>
            <a:ext cx="4776717" cy="300251"/>
          </a:xfrm>
          <a:prstGeom prst="rect">
            <a:avLst/>
          </a:prstGeom>
          <a:solidFill>
            <a:srgbClr val="0B589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9" name="Retângulo 28">
            <a:extLst>
              <a:ext uri="{FF2B5EF4-FFF2-40B4-BE49-F238E27FC236}">
                <a16:creationId xmlns:a16="http://schemas.microsoft.com/office/drawing/2014/main" id="{56E16C17-064A-8670-0278-D5D0BAD80053}"/>
              </a:ext>
            </a:extLst>
          </p:cNvPr>
          <p:cNvSpPr/>
          <p:nvPr/>
        </p:nvSpPr>
        <p:spPr>
          <a:xfrm>
            <a:off x="8828573" y="6707874"/>
            <a:ext cx="4776717" cy="30025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 name="Imagem 7">
            <a:extLst>
              <a:ext uri="{FF2B5EF4-FFF2-40B4-BE49-F238E27FC236}">
                <a16:creationId xmlns:a16="http://schemas.microsoft.com/office/drawing/2014/main" id="{62E83204-ECAC-447A-8060-CBA944182517}"/>
              </a:ext>
            </a:extLst>
          </p:cNvPr>
          <p:cNvPicPr>
            <a:picLocks noChangeAspect="1"/>
          </p:cNvPicPr>
          <p:nvPr/>
        </p:nvPicPr>
        <p:blipFill>
          <a:blip r:embed="rId3"/>
          <a:stretch>
            <a:fillRect/>
          </a:stretch>
        </p:blipFill>
        <p:spPr>
          <a:xfrm>
            <a:off x="-124691" y="-20995"/>
            <a:ext cx="12316692" cy="88042"/>
          </a:xfrm>
          <a:prstGeom prst="rect">
            <a:avLst/>
          </a:prstGeom>
        </p:spPr>
      </p:pic>
      <p:sp>
        <p:nvSpPr>
          <p:cNvPr id="13" name="Título 1">
            <a:extLst>
              <a:ext uri="{FF2B5EF4-FFF2-40B4-BE49-F238E27FC236}">
                <a16:creationId xmlns:a16="http://schemas.microsoft.com/office/drawing/2014/main" id="{F234CA6A-7228-97C1-518A-A720AB315E9F}"/>
              </a:ext>
            </a:extLst>
          </p:cNvPr>
          <p:cNvSpPr txBox="1">
            <a:spLocks/>
          </p:cNvSpPr>
          <p:nvPr/>
        </p:nvSpPr>
        <p:spPr>
          <a:xfrm>
            <a:off x="509191" y="2955832"/>
            <a:ext cx="6453099" cy="11210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spc="600" dirty="0">
                <a:solidFill>
                  <a:srgbClr val="0B5892"/>
                </a:solidFill>
                <a:latin typeface="Arial" panose="020B0604020202020204" pitchFamily="34" charset="0"/>
                <a:cs typeface="Arial" panose="020B0604020202020204" pitchFamily="34" charset="0"/>
              </a:rPr>
              <a:t>ORGULHOS </a:t>
            </a:r>
          </a:p>
          <a:p>
            <a:pPr algn="l"/>
            <a:r>
              <a:rPr lang="pt-BR" sz="2400" b="1" spc="600" dirty="0">
                <a:solidFill>
                  <a:srgbClr val="0B5892"/>
                </a:solidFill>
                <a:latin typeface="Arial" panose="020B0604020202020204" pitchFamily="34" charset="0"/>
                <a:cs typeface="Arial" panose="020B0604020202020204" pitchFamily="34" charset="0"/>
              </a:rPr>
              <a:t>DA QUALIDADE</a:t>
            </a:r>
          </a:p>
        </p:txBody>
      </p:sp>
      <p:pic>
        <p:nvPicPr>
          <p:cNvPr id="3" name="Imagem 2">
            <a:extLst>
              <a:ext uri="{FF2B5EF4-FFF2-40B4-BE49-F238E27FC236}">
                <a16:creationId xmlns:a16="http://schemas.microsoft.com/office/drawing/2014/main" id="{115E94B4-FD60-A2C4-7156-322046AF2460}"/>
              </a:ext>
            </a:extLst>
          </p:cNvPr>
          <p:cNvPicPr>
            <a:picLocks noChangeAspect="1"/>
          </p:cNvPicPr>
          <p:nvPr/>
        </p:nvPicPr>
        <p:blipFill>
          <a:blip r:embed="rId4"/>
          <a:stretch>
            <a:fillRect/>
          </a:stretch>
        </p:blipFill>
        <p:spPr>
          <a:xfrm>
            <a:off x="6033655" y="431573"/>
            <a:ext cx="4543046" cy="6057395"/>
          </a:xfrm>
          <a:prstGeom prst="rect">
            <a:avLst/>
          </a:prstGeom>
        </p:spPr>
      </p:pic>
    </p:spTree>
    <p:extLst>
      <p:ext uri="{BB962C8B-B14F-4D97-AF65-F5344CB8AC3E}">
        <p14:creationId xmlns:p14="http://schemas.microsoft.com/office/powerpoint/2010/main" val="32779188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4E58C-6C68-7A81-C932-D0DBBA69461A}"/>
            </a:ext>
          </a:extLst>
        </p:cNvPr>
        <p:cNvGrpSpPr/>
        <p:nvPr/>
      </p:nvGrpSpPr>
      <p:grpSpPr>
        <a:xfrm>
          <a:off x="0" y="0"/>
          <a:ext cx="0" cy="0"/>
          <a:chOff x="0" y="0"/>
          <a:chExt cx="0" cy="0"/>
        </a:xfrm>
      </p:grpSpPr>
      <p:pic>
        <p:nvPicPr>
          <p:cNvPr id="38" name="Imagem 37">
            <a:extLst>
              <a:ext uri="{FF2B5EF4-FFF2-40B4-BE49-F238E27FC236}">
                <a16:creationId xmlns:a16="http://schemas.microsoft.com/office/drawing/2014/main" id="{4B7C4E20-F260-230A-816A-A62CCC90A356}"/>
              </a:ext>
            </a:extLst>
          </p:cNvPr>
          <p:cNvPicPr>
            <a:picLocks noChangeAspect="1"/>
          </p:cNvPicPr>
          <p:nvPr/>
        </p:nvPicPr>
        <p:blipFill>
          <a:blip r:embed="rId2">
            <a:alphaModFix amt="4000"/>
          </a:blip>
          <a:stretch>
            <a:fillRect/>
          </a:stretch>
        </p:blipFill>
        <p:spPr>
          <a:xfrm>
            <a:off x="-2192539" y="-1973179"/>
            <a:ext cx="5030445" cy="5148116"/>
          </a:xfrm>
          <a:prstGeom prst="rect">
            <a:avLst/>
          </a:prstGeom>
          <a:effectLst/>
        </p:spPr>
      </p:pic>
      <p:pic>
        <p:nvPicPr>
          <p:cNvPr id="39" name="Imagem 38">
            <a:extLst>
              <a:ext uri="{FF2B5EF4-FFF2-40B4-BE49-F238E27FC236}">
                <a16:creationId xmlns:a16="http://schemas.microsoft.com/office/drawing/2014/main" id="{D0E04988-2736-83FE-A213-2FA9FDE85440}"/>
              </a:ext>
            </a:extLst>
          </p:cNvPr>
          <p:cNvPicPr>
            <a:picLocks noChangeAspect="1"/>
          </p:cNvPicPr>
          <p:nvPr/>
        </p:nvPicPr>
        <p:blipFill>
          <a:blip r:embed="rId2">
            <a:alphaModFix amt="4000"/>
          </a:blip>
          <a:stretch>
            <a:fillRect/>
          </a:stretch>
        </p:blipFill>
        <p:spPr>
          <a:xfrm>
            <a:off x="9157251" y="4596063"/>
            <a:ext cx="5030445" cy="5148116"/>
          </a:xfrm>
          <a:prstGeom prst="rect">
            <a:avLst/>
          </a:prstGeom>
          <a:effectLst/>
        </p:spPr>
      </p:pic>
      <p:sp>
        <p:nvSpPr>
          <p:cNvPr id="10" name="Título 1">
            <a:extLst>
              <a:ext uri="{FF2B5EF4-FFF2-40B4-BE49-F238E27FC236}">
                <a16:creationId xmlns:a16="http://schemas.microsoft.com/office/drawing/2014/main" id="{4B739D44-2607-FACF-0FE1-E6015A603876}"/>
              </a:ext>
            </a:extLst>
          </p:cNvPr>
          <p:cNvSpPr txBox="1">
            <a:spLocks/>
          </p:cNvSpPr>
          <p:nvPr/>
        </p:nvSpPr>
        <p:spPr>
          <a:xfrm>
            <a:off x="-1" y="855616"/>
            <a:ext cx="12192001" cy="5580185"/>
          </a:xfrm>
          <a:prstGeom prst="rect">
            <a:avLst/>
          </a:prstGeom>
          <a:effectLst>
            <a:reflection blurRad="6350" stA="50000" endA="295" endPos="92000" dist="101600" dir="5400000" sy="-100000" algn="bl" rotWithShape="0"/>
          </a:effectLst>
        </p:spPr>
        <p:txBody>
          <a:bodyPr vert="horz" lIns="91440" tIns="45720" rIns="91440" bIns="45720" rtlCol="0" anchor="b">
            <a:normAutofit fontScale="9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pt-BR" sz="43300" b="1" spc="-300" dirty="0">
                <a:solidFill>
                  <a:schemeClr val="tx1">
                    <a:lumMod val="50000"/>
                    <a:lumOff val="50000"/>
                    <a:alpha val="11000"/>
                  </a:schemeClr>
                </a:solidFill>
                <a:latin typeface="Arial" panose="020B0604020202020204" pitchFamily="34" charset="0"/>
                <a:cs typeface="Arial" panose="020B0604020202020204" pitchFamily="34" charset="0"/>
              </a:rPr>
              <a:t>2026</a:t>
            </a:r>
          </a:p>
        </p:txBody>
      </p:sp>
      <p:sp>
        <p:nvSpPr>
          <p:cNvPr id="15" name="Retângulo: Cantos Arredondados 14">
            <a:extLst>
              <a:ext uri="{FF2B5EF4-FFF2-40B4-BE49-F238E27FC236}">
                <a16:creationId xmlns:a16="http://schemas.microsoft.com/office/drawing/2014/main" id="{5234FCD0-9E91-DFB2-34EB-EA7A639CF06B}"/>
              </a:ext>
            </a:extLst>
          </p:cNvPr>
          <p:cNvSpPr/>
          <p:nvPr/>
        </p:nvSpPr>
        <p:spPr>
          <a:xfrm>
            <a:off x="940477" y="2158889"/>
            <a:ext cx="2437660" cy="408165"/>
          </a:xfrm>
          <a:prstGeom prst="round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rgbClr val="0B5892"/>
              </a:solidFill>
            </a:endParaRPr>
          </a:p>
        </p:txBody>
      </p:sp>
      <p:sp>
        <p:nvSpPr>
          <p:cNvPr id="6" name="Título 1">
            <a:extLst>
              <a:ext uri="{FF2B5EF4-FFF2-40B4-BE49-F238E27FC236}">
                <a16:creationId xmlns:a16="http://schemas.microsoft.com/office/drawing/2014/main" id="{35726B89-85C6-8279-5345-709AB952C608}"/>
              </a:ext>
            </a:extLst>
          </p:cNvPr>
          <p:cNvSpPr txBox="1">
            <a:spLocks/>
          </p:cNvSpPr>
          <p:nvPr/>
        </p:nvSpPr>
        <p:spPr>
          <a:xfrm>
            <a:off x="395849" y="431573"/>
            <a:ext cx="5811865" cy="4723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1600" spc="600" dirty="0">
                <a:solidFill>
                  <a:schemeClr val="tx1">
                    <a:lumMod val="50000"/>
                    <a:lumOff val="50000"/>
                  </a:schemeClr>
                </a:solidFill>
                <a:latin typeface="Arial" panose="020B0604020202020204" pitchFamily="34" charset="0"/>
                <a:cs typeface="Arial" panose="020B0604020202020204" pitchFamily="34" charset="0"/>
              </a:rPr>
              <a:t>RELATÓRIO MENSAL</a:t>
            </a:r>
          </a:p>
        </p:txBody>
      </p:sp>
      <p:pic>
        <p:nvPicPr>
          <p:cNvPr id="19" name="Imagem 18">
            <a:extLst>
              <a:ext uri="{FF2B5EF4-FFF2-40B4-BE49-F238E27FC236}">
                <a16:creationId xmlns:a16="http://schemas.microsoft.com/office/drawing/2014/main" id="{42E7B1A5-0426-5B87-1855-2E9B9375E1D9}"/>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8091022" y="2362971"/>
            <a:ext cx="2132458" cy="2132458"/>
          </a:xfrm>
          <a:prstGeom prst="rect">
            <a:avLst/>
          </a:prstGeom>
          <a:effectLst>
            <a:outerShdw blurRad="457200" dist="38100" dir="2700000" sx="106000" sy="106000" algn="tl" rotWithShape="0">
              <a:prstClr val="black">
                <a:alpha val="40000"/>
              </a:prstClr>
            </a:outerShdw>
            <a:reflection blurRad="6350" stA="50000" endA="300" endPos="55500" dist="101600" dir="5400000" sy="-100000" algn="bl" rotWithShape="0"/>
          </a:effectLst>
        </p:spPr>
      </p:pic>
      <p:sp>
        <p:nvSpPr>
          <p:cNvPr id="4" name="Retângulo 3">
            <a:extLst>
              <a:ext uri="{FF2B5EF4-FFF2-40B4-BE49-F238E27FC236}">
                <a16:creationId xmlns:a16="http://schemas.microsoft.com/office/drawing/2014/main" id="{47F7F124-C86B-71F6-118C-0228750BED4D}"/>
              </a:ext>
            </a:extLst>
          </p:cNvPr>
          <p:cNvSpPr/>
          <p:nvPr/>
        </p:nvSpPr>
        <p:spPr>
          <a:xfrm>
            <a:off x="-641684" y="6707874"/>
            <a:ext cx="4776717" cy="300251"/>
          </a:xfrm>
          <a:prstGeom prst="rect">
            <a:avLst/>
          </a:prstGeom>
          <a:solidFill>
            <a:srgbClr val="9E22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8" name="Retângulo 27">
            <a:extLst>
              <a:ext uri="{FF2B5EF4-FFF2-40B4-BE49-F238E27FC236}">
                <a16:creationId xmlns:a16="http://schemas.microsoft.com/office/drawing/2014/main" id="{0E55B967-7F15-7AF2-1282-229A77AE5B83}"/>
              </a:ext>
            </a:extLst>
          </p:cNvPr>
          <p:cNvSpPr/>
          <p:nvPr/>
        </p:nvSpPr>
        <p:spPr>
          <a:xfrm>
            <a:off x="4040868" y="6707874"/>
            <a:ext cx="4776717" cy="300251"/>
          </a:xfrm>
          <a:prstGeom prst="rect">
            <a:avLst/>
          </a:prstGeom>
          <a:solidFill>
            <a:srgbClr val="0B589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9" name="Retângulo 28">
            <a:extLst>
              <a:ext uri="{FF2B5EF4-FFF2-40B4-BE49-F238E27FC236}">
                <a16:creationId xmlns:a16="http://schemas.microsoft.com/office/drawing/2014/main" id="{85344B85-A217-E7D9-2D5E-2EC45DE86B8B}"/>
              </a:ext>
            </a:extLst>
          </p:cNvPr>
          <p:cNvSpPr/>
          <p:nvPr/>
        </p:nvSpPr>
        <p:spPr>
          <a:xfrm>
            <a:off x="8828573" y="6707874"/>
            <a:ext cx="4776717" cy="30025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 name="Imagem 7">
            <a:extLst>
              <a:ext uri="{FF2B5EF4-FFF2-40B4-BE49-F238E27FC236}">
                <a16:creationId xmlns:a16="http://schemas.microsoft.com/office/drawing/2014/main" id="{0B1E848E-8AC3-A515-B30D-013314DE99AD}"/>
              </a:ext>
            </a:extLst>
          </p:cNvPr>
          <p:cNvPicPr>
            <a:picLocks noChangeAspect="1"/>
          </p:cNvPicPr>
          <p:nvPr/>
        </p:nvPicPr>
        <p:blipFill>
          <a:blip r:embed="rId5"/>
          <a:stretch>
            <a:fillRect/>
          </a:stretch>
        </p:blipFill>
        <p:spPr>
          <a:xfrm>
            <a:off x="-124691" y="-20995"/>
            <a:ext cx="12316692" cy="88042"/>
          </a:xfrm>
          <a:prstGeom prst="rect">
            <a:avLst/>
          </a:prstGeom>
        </p:spPr>
      </p:pic>
      <p:sp>
        <p:nvSpPr>
          <p:cNvPr id="33" name="Título 1">
            <a:extLst>
              <a:ext uri="{FF2B5EF4-FFF2-40B4-BE49-F238E27FC236}">
                <a16:creationId xmlns:a16="http://schemas.microsoft.com/office/drawing/2014/main" id="{5409BC11-B801-BF56-9C04-5A0FA50D279D}"/>
              </a:ext>
            </a:extLst>
          </p:cNvPr>
          <p:cNvSpPr txBox="1">
            <a:spLocks/>
          </p:cNvSpPr>
          <p:nvPr/>
        </p:nvSpPr>
        <p:spPr>
          <a:xfrm>
            <a:off x="3536698" y="3429000"/>
            <a:ext cx="4927487" cy="472328"/>
          </a:xfrm>
          <a:prstGeom prst="rect">
            <a:avLst/>
          </a:prstGeom>
        </p:spPr>
        <p:txBody>
          <a:bodyPr vert="horz" lIns="91440" tIns="45720" rIns="91440" bIns="45720" rtlCol="0" anchor="b">
            <a:normAutofit fontScale="9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pt-BR" sz="1600" spc="600" dirty="0">
                <a:solidFill>
                  <a:srgbClr val="0B5892"/>
                </a:solidFill>
                <a:latin typeface="Arial" panose="020B0604020202020204" pitchFamily="34" charset="0"/>
                <a:cs typeface="Arial" panose="020B0604020202020204" pitchFamily="34" charset="0"/>
              </a:rPr>
              <a:t>Excelência não é um ato, </a:t>
            </a:r>
          </a:p>
          <a:p>
            <a:r>
              <a:rPr lang="pt-BR" sz="1600" spc="600" dirty="0">
                <a:solidFill>
                  <a:srgbClr val="0B5892"/>
                </a:solidFill>
                <a:latin typeface="Arial" panose="020B0604020202020204" pitchFamily="34" charset="0"/>
                <a:cs typeface="Arial" panose="020B0604020202020204" pitchFamily="34" charset="0"/>
              </a:rPr>
              <a:t>é um hábito diário.</a:t>
            </a:r>
          </a:p>
        </p:txBody>
      </p:sp>
    </p:spTree>
    <p:extLst>
      <p:ext uri="{BB962C8B-B14F-4D97-AF65-F5344CB8AC3E}">
        <p14:creationId xmlns:p14="http://schemas.microsoft.com/office/powerpoint/2010/main" val="1096008186"/>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6582</TotalTime>
  <Words>2606</Words>
  <Application>Microsoft Office PowerPoint</Application>
  <PresentationFormat>Widescreen</PresentationFormat>
  <Paragraphs>592</Paragraphs>
  <Slides>36</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36</vt:i4>
      </vt:variant>
    </vt:vector>
  </HeadingPairs>
  <TitlesOfParts>
    <vt:vector size="40" baseType="lpstr">
      <vt:lpstr>Arial</vt:lpstr>
      <vt:lpstr>Calibri</vt:lpstr>
      <vt:lpstr>Calibri Light</vt:lpstr>
      <vt:lpstr>Tema do Office</vt:lpstr>
      <vt:lpstr>WEEKLY</vt:lpstr>
      <vt:lpstr>Apresentação do PowerPoint</vt:lpstr>
      <vt:lpstr>PREMIUM</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CRC</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CP</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WEEKLY</dc:title>
  <dc:creator>AVANCAR</dc:creator>
  <cp:lastModifiedBy>Qualidade ITS</cp:lastModifiedBy>
  <cp:revision>216</cp:revision>
  <dcterms:created xsi:type="dcterms:W3CDTF">2026-03-05T00:13:41Z</dcterms:created>
  <dcterms:modified xsi:type="dcterms:W3CDTF">2026-08-13T18:06:26Z</dcterms:modified>
</cp:coreProperties>
</file>
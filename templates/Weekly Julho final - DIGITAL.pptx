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2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drawings/drawing2.xml" ContentType="application/vnd.openxmlformats-officedocument.drawingml.chartshapes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9"/>
  </p:notesMasterIdLst>
  <p:sldIdLst>
    <p:sldId id="259" r:id="rId3"/>
    <p:sldId id="257" r:id="rId4"/>
    <p:sldId id="256" r:id="rId5"/>
    <p:sldId id="277" r:id="rId6"/>
    <p:sldId id="278" r:id="rId7"/>
    <p:sldId id="279" r:id="rId8"/>
    <p:sldId id="280" r:id="rId9"/>
    <p:sldId id="291" r:id="rId10"/>
    <p:sldId id="281" r:id="rId11"/>
    <p:sldId id="282" r:id="rId12"/>
    <p:sldId id="312" r:id="rId13"/>
    <p:sldId id="260" r:id="rId14"/>
    <p:sldId id="271" r:id="rId15"/>
    <p:sldId id="313" r:id="rId16"/>
    <p:sldId id="273" r:id="rId17"/>
    <p:sldId id="274" r:id="rId18"/>
    <p:sldId id="293" r:id="rId19"/>
    <p:sldId id="275" r:id="rId20"/>
    <p:sldId id="276" r:id="rId21"/>
    <p:sldId id="294" r:id="rId22"/>
    <p:sldId id="333" r:id="rId23"/>
    <p:sldId id="297" r:id="rId24"/>
    <p:sldId id="314" r:id="rId25"/>
    <p:sldId id="315" r:id="rId26"/>
    <p:sldId id="316" r:id="rId27"/>
    <p:sldId id="295" r:id="rId28"/>
    <p:sldId id="304" r:id="rId29"/>
    <p:sldId id="305" r:id="rId30"/>
    <p:sldId id="269" r:id="rId31"/>
    <p:sldId id="306" r:id="rId32"/>
    <p:sldId id="307" r:id="rId33"/>
    <p:sldId id="317" r:id="rId34"/>
    <p:sldId id="318" r:id="rId35"/>
    <p:sldId id="319" r:id="rId36"/>
    <p:sldId id="320" r:id="rId37"/>
    <p:sldId id="311" r:id="rId38"/>
    <p:sldId id="321" r:id="rId39"/>
    <p:sldId id="303" r:id="rId40"/>
    <p:sldId id="334" r:id="rId41"/>
    <p:sldId id="324" r:id="rId42"/>
    <p:sldId id="328" r:id="rId43"/>
    <p:sldId id="332" r:id="rId44"/>
    <p:sldId id="326" r:id="rId45"/>
    <p:sldId id="327" r:id="rId46"/>
    <p:sldId id="325" r:id="rId47"/>
    <p:sldId id="265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CAR" initials="A" lastIdx="1" clrIdx="0">
    <p:extLst>
      <p:ext uri="{19B8F6BF-5375-455C-9EA6-DF929625EA0E}">
        <p15:presenceInfo xmlns:p15="http://schemas.microsoft.com/office/powerpoint/2012/main" userId="AVANCAR" providerId="None"/>
      </p:ext>
    </p:extLst>
  </p:cmAuthor>
  <p:cmAuthor id="2" name="Qualidade ITS" initials="QI" lastIdx="1" clrIdx="1">
    <p:extLst>
      <p:ext uri="{19B8F6BF-5375-455C-9EA6-DF929625EA0E}">
        <p15:presenceInfo xmlns:p15="http://schemas.microsoft.com/office/powerpoint/2012/main" userId="928feaa4ad8d6cc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5F6"/>
    <a:srgbClr val="D905C5"/>
    <a:srgbClr val="002060"/>
    <a:srgbClr val="BDD7EE"/>
    <a:srgbClr val="A9D18E"/>
    <a:srgbClr val="FAFAFA"/>
    <a:srgbClr val="00B050"/>
    <a:srgbClr val="A7E1C1"/>
    <a:srgbClr val="FFFF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9B7F42-4D07-44F4-A1F2-EF151695E094}" v="72" dt="2026-08-12T16:26:26.1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80" autoAdjust="0"/>
    <p:restoredTop sz="94038" autoAdjust="0"/>
  </p:normalViewPr>
  <p:slideViewPr>
    <p:cSldViewPr snapToGrid="0">
      <p:cViewPr varScale="1">
        <p:scale>
          <a:sx n="83" d="100"/>
          <a:sy n="83" d="100"/>
        </p:scale>
        <p:origin x="7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commentAuthors" Target="commentAuthors.xml"/><Relationship Id="rId55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Relationship Id="rId4" Type="http://schemas.openxmlformats.org/officeDocument/2006/relationships/chartUserShapes" Target="../drawings/drawing1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Relationship Id="rId4" Type="http://schemas.openxmlformats.org/officeDocument/2006/relationships/chartUserShapes" Target="../drawings/drawing2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Operação 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26</c:v>
                </c:pt>
                <c:pt idx="1">
                  <c:v>29</c:v>
                </c:pt>
                <c:pt idx="2">
                  <c:v>12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38-4387-98CC-526F27A5BF99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30</c:v>
                </c:pt>
                <c:pt idx="1">
                  <c:v>30</c:v>
                </c:pt>
                <c:pt idx="2">
                  <c:v>24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38-4387-98CC-526F27A5BF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25</c:v>
                </c:pt>
                <c:pt idx="1">
                  <c:v>18</c:v>
                </c:pt>
                <c:pt idx="2">
                  <c:v>15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3-41C1-B223-D609309025C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13-41C1-B223-D609309025C0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Excelência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25</c:v>
                </c:pt>
                <c:pt idx="1">
                  <c:v>33</c:v>
                </c:pt>
                <c:pt idx="2">
                  <c:v>20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13-41C1-B223-D609309025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Média do Canal</c:v>
                </c:pt>
              </c:strCache>
            </c:strRef>
          </c:tx>
          <c:spPr>
            <a:ln w="28575" cap="rnd">
              <a:solidFill>
                <a:srgbClr val="C55A1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84.59</c:v>
                </c:pt>
                <c:pt idx="1">
                  <c:v>82.47</c:v>
                </c:pt>
                <c:pt idx="2">
                  <c:v>93.06</c:v>
                </c:pt>
                <c:pt idx="3">
                  <c:v>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97-4712-9BF9-9830BDD2941E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0928000"/>
        <c:axId val="480928480"/>
      </c:line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Operação 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0543971293477058E-2"/>
                  <c:y val="2.156326156598886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851690981591847"/>
                      <c:h val="0.136480889762177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2F18-48FA-B8FD-90648E2564BC}"/>
                </c:ext>
              </c:extLst>
            </c:dLbl>
            <c:dLbl>
              <c:idx val="1"/>
              <c:layout>
                <c:manualLayout>
                  <c:x val="-5.5996633826815589E-17"/>
                  <c:y val="6.751626309803106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18-48FA-B8FD-90648E2564BC}"/>
                </c:ext>
              </c:extLst>
            </c:dLbl>
            <c:dLbl>
              <c:idx val="2"/>
              <c:layout>
                <c:manualLayout>
                  <c:x val="-3.6652765552172471E-2"/>
                  <c:y val="7.554460522292796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F18-48FA-B8FD-90648E2564BC}"/>
                </c:ext>
              </c:extLst>
            </c:dLbl>
            <c:dLbl>
              <c:idx val="3"/>
              <c:layout>
                <c:manualLayout>
                  <c:x val="-1.2217588517390712E-2"/>
                  <c:y val="-4.304284449513372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18-48FA-B8FD-90648E2564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84.88</c:v>
                </c:pt>
                <c:pt idx="1">
                  <c:v>88.31</c:v>
                </c:pt>
                <c:pt idx="2">
                  <c:v>96.75</c:v>
                </c:pt>
                <c:pt idx="3">
                  <c:v>90.08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18-48FA-B8FD-90648E2564BC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163191388043062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F18-48FA-B8FD-90648E2564BC}"/>
                </c:ext>
              </c:extLst>
            </c:dLbl>
            <c:dLbl>
              <c:idx val="1"/>
              <c:layout>
                <c:manualLayout>
                  <c:x val="2.4435177034781645E-2"/>
                  <c:y val="1.445621304132541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F18-48FA-B8FD-90648E2564BC}"/>
                </c:ext>
              </c:extLst>
            </c:dLbl>
            <c:dLbl>
              <c:idx val="3"/>
              <c:layout>
                <c:manualLayout>
                  <c:x val="3.0543971293477057E-3"/>
                  <c:y val="2.16841307080968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F18-48FA-B8FD-90648E2564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84.33</c:v>
                </c:pt>
                <c:pt idx="1">
                  <c:v>76.83</c:v>
                </c:pt>
                <c:pt idx="2">
                  <c:v>91.21</c:v>
                </c:pt>
                <c:pt idx="3">
                  <c:v>83.67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F18-48FA-B8FD-90648E2564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  <a:alpha val="38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4268056815134804"/>
          <c:y val="4.1196058910364243E-2"/>
          <c:w val="0.5351991453507754"/>
          <c:h val="0.778813926538560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Pontos Ofensores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Planilha1!$A$2:$A$11</c:f>
              <c:strCache>
                <c:ptCount val="10"/>
                <c:pt idx="0">
                  <c:v>Técnica - Observação interna.</c:v>
                </c:pt>
                <c:pt idx="1">
                  <c:v>Técnica - Tabulação</c:v>
                </c:pt>
                <c:pt idx="2">
                  <c:v>Experiência  - Domínio do tema.</c:v>
                </c:pt>
                <c:pt idx="3">
                  <c:v>Experiência  - Atenção e interesse.</c:v>
                </c:pt>
                <c:pt idx="4">
                  <c:v>Comunicação - Macro utilizada da forma correta</c:v>
                </c:pt>
                <c:pt idx="5">
                  <c:v>Comunicação - Erros de gramática e digitação.</c:v>
                </c:pt>
                <c:pt idx="6">
                  <c:v>Técnica - Informação/Procedimento incorreto.</c:v>
                </c:pt>
                <c:pt idx="7">
                  <c:v>Técnica -  Informação/Procedimento incompleto.</c:v>
                </c:pt>
                <c:pt idx="8">
                  <c:v>Técnica - Se apresentou conforme o roteiro de atendimento?</c:v>
                </c:pt>
                <c:pt idx="9">
                  <c:v>Experiência  - Questionou se permanecem eventuais dúvidas e recapitulou procedimento apresentado.</c:v>
                </c:pt>
              </c:strCache>
            </c:strRef>
          </c:cat>
          <c:val>
            <c:numRef>
              <c:f>Planilha1!$B$2:$B$11</c:f>
              <c:numCache>
                <c:formatCode>General</c:formatCode>
                <c:ptCount val="10"/>
                <c:pt idx="0">
                  <c:v>30</c:v>
                </c:pt>
                <c:pt idx="1">
                  <c:v>27</c:v>
                </c:pt>
                <c:pt idx="2">
                  <c:v>22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  <c:pt idx="6">
                  <c:v>7</c:v>
                </c:pt>
                <c:pt idx="7">
                  <c:v>5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36-4018-8C54-CDF65940D9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03513503"/>
        <c:axId val="1003513919"/>
      </c:barChart>
      <c:catAx>
        <c:axId val="1003513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1003513919"/>
        <c:crosses val="autoZero"/>
        <c:auto val="1"/>
        <c:lblAlgn val="l"/>
        <c:lblOffset val="100"/>
        <c:noMultiLvlLbl val="0"/>
      </c:catAx>
      <c:valAx>
        <c:axId val="1003513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1003513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5</c:v>
                </c:pt>
                <c:pt idx="1">
                  <c:v>6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7E-405F-B2DB-0B439CAD8A6A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6320048893117599E-3"/>
                  <c:y val="-6.178977508920940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A7E-405F-B2DB-0B439CAD8A6A}"/>
                </c:ext>
              </c:extLst>
            </c:dLbl>
            <c:dLbl>
              <c:idx val="1"/>
              <c:layout>
                <c:manualLayout>
                  <c:x val="0"/>
                  <c:y val="2.677113506286962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A7E-405F-B2DB-0B439CAD8A6A}"/>
                </c:ext>
              </c:extLst>
            </c:dLbl>
            <c:dLbl>
              <c:idx val="2"/>
              <c:layout>
                <c:manualLayout>
                  <c:x val="3.1584058671741119E-2"/>
                  <c:y val="-3.035156652710203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A7E-405F-B2DB-0B439CAD8A6A}"/>
                </c:ext>
              </c:extLst>
            </c:dLbl>
            <c:dLbl>
              <c:idx val="3"/>
              <c:layout>
                <c:manualLayout>
                  <c:x val="1.1872621740070243E-2"/>
                  <c:y val="-4.707396482173084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A7E-405F-B2DB-0B439CAD8A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A7E-405F-B2DB-0B439CAD8A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2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 No Prazo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6320048893117838E-3"/>
                  <c:y val="-6.335281030406023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C54-4455-86F2-9BBFFC361D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13</c:v>
                </c:pt>
                <c:pt idx="1">
                  <c:v>16</c:v>
                </c:pt>
                <c:pt idx="2">
                  <c:v>11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7F-4209-86A6-58A3D2DAFDA5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6320048893117599E-3"/>
                  <c:y val="-3.785538266095105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7F-4209-86A6-58A3D2DAFDA5}"/>
                </c:ext>
              </c:extLst>
            </c:dLbl>
            <c:dLbl>
              <c:idx val="1"/>
              <c:layout>
                <c:manualLayout>
                  <c:x val="2.105603911449408E-2"/>
                  <c:y val="-2.371989078707144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47F-4209-86A6-58A3D2DAFDA5}"/>
                </c:ext>
              </c:extLst>
            </c:dLbl>
            <c:dLbl>
              <c:idx val="2"/>
              <c:layout>
                <c:manualLayout>
                  <c:x val="3.1584058671741119E-2"/>
                  <c:y val="-3.035156652710203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47F-4209-86A6-58A3D2DAFDA5}"/>
                </c:ext>
              </c:extLst>
            </c:dLbl>
            <c:dLbl>
              <c:idx val="3"/>
              <c:layout>
                <c:manualLayout>
                  <c:x val="2.2400641297317281E-2"/>
                  <c:y val="-9.986797340844771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47F-4209-86A6-58A3D2DAFD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12</c:v>
                </c:pt>
                <c:pt idx="1">
                  <c:v>1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47F-4209-86A6-58A3D2DAFDA5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FC-4462-86CD-01B537E516E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2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  <c:majorUnit val="5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8899378573315752"/>
          <c:y val="2.34375E-2"/>
          <c:w val="0.55392146105339624"/>
          <c:h val="0.7522293307086613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Planilha1!$A$2:$A$6</c:f>
              <c:strCache>
                <c:ptCount val="5"/>
                <c:pt idx="0">
                  <c:v>Rafael Vitor R. De Araujo</c:v>
                </c:pt>
                <c:pt idx="1">
                  <c:v>Lorraine Cristina Pontes</c:v>
                </c:pt>
                <c:pt idx="2">
                  <c:v>Andressa Santos Matos</c:v>
                </c:pt>
                <c:pt idx="3">
                  <c:v>Victor Hugo dos Santos</c:v>
                </c:pt>
                <c:pt idx="4">
                  <c:v>Geisiane Da Silva Santos</c:v>
                </c:pt>
              </c:strCache>
            </c:strRef>
          </c:cat>
          <c:val>
            <c:numRef>
              <c:f>Planilha1!$B$2:$B$6</c:f>
              <c:numCache>
                <c:formatCode>General</c:formatCode>
                <c:ptCount val="5"/>
                <c:pt idx="0">
                  <c:v>71.75</c:v>
                </c:pt>
                <c:pt idx="1">
                  <c:v>71.430000000000007</c:v>
                </c:pt>
                <c:pt idx="2">
                  <c:v>68</c:v>
                </c:pt>
                <c:pt idx="3">
                  <c:v>65.5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BA-48C8-9C48-BBCA51719E2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Jul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Planilha1!$A$2:$A$6</c:f>
              <c:strCache>
                <c:ptCount val="5"/>
                <c:pt idx="0">
                  <c:v>Rafael Vitor R. De Araujo</c:v>
                </c:pt>
                <c:pt idx="1">
                  <c:v>Lorraine Cristina Pontes</c:v>
                </c:pt>
                <c:pt idx="2">
                  <c:v>Andressa Santos Matos</c:v>
                </c:pt>
                <c:pt idx="3">
                  <c:v>Victor Hugo dos Santos</c:v>
                </c:pt>
                <c:pt idx="4">
                  <c:v>Geisiane Da Silva Santos</c:v>
                </c:pt>
              </c:strCache>
            </c:strRef>
          </c:cat>
          <c:val>
            <c:numRef>
              <c:f>Planilha1!$C$2:$C$6</c:f>
              <c:numCache>
                <c:formatCode>General</c:formatCode>
                <c:ptCount val="5"/>
                <c:pt idx="0">
                  <c:v>96.67</c:v>
                </c:pt>
                <c:pt idx="1">
                  <c:v>81.17</c:v>
                </c:pt>
                <c:pt idx="2">
                  <c:v>97.43</c:v>
                </c:pt>
                <c:pt idx="3">
                  <c:v>33.33</c:v>
                </c:pt>
                <c:pt idx="4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BA-48C8-9C48-BBCA51719E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63710783"/>
        <c:axId val="363698303"/>
      </c:barChart>
      <c:catAx>
        <c:axId val="3637107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63698303"/>
        <c:crosses val="autoZero"/>
        <c:auto val="1"/>
        <c:lblAlgn val="ctr"/>
        <c:lblOffset val="100"/>
        <c:noMultiLvlLbl val="0"/>
      </c:catAx>
      <c:valAx>
        <c:axId val="363698303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63710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Operação </c:v>
                </c:pt>
              </c:strCache>
            </c:strRef>
          </c:tx>
          <c:spPr>
            <a:solidFill>
              <a:srgbClr val="FF99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28</c:v>
                </c:pt>
                <c:pt idx="1">
                  <c:v>32</c:v>
                </c:pt>
                <c:pt idx="2">
                  <c:v>36</c:v>
                </c:pt>
                <c:pt idx="3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38-4387-98CC-526F27A5BF99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D905C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29</c:v>
                </c:pt>
                <c:pt idx="1">
                  <c:v>30</c:v>
                </c:pt>
                <c:pt idx="2">
                  <c:v>36</c:v>
                </c:pt>
                <c:pt idx="3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38-4387-98CC-526F27A5BF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rgbClr val="FF99C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25</c:v>
                </c:pt>
                <c:pt idx="1">
                  <c:v>30</c:v>
                </c:pt>
                <c:pt idx="2">
                  <c:v>42</c:v>
                </c:pt>
                <c:pt idx="3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3-41C1-B223-D609309025C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rgbClr val="D905C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13-41C1-B223-D609309025C0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Excelência</c:v>
                </c:pt>
              </c:strCache>
            </c:strRef>
          </c:tx>
          <c:spPr>
            <a:solidFill>
              <a:srgbClr val="FF339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24</c:v>
                </c:pt>
                <c:pt idx="1">
                  <c:v>26</c:v>
                </c:pt>
                <c:pt idx="2">
                  <c:v>24</c:v>
                </c:pt>
                <c:pt idx="3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13-41C1-B223-D609309025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Média do Canal</c:v>
                </c:pt>
              </c:strCache>
            </c:strRef>
          </c:tx>
          <c:spPr>
            <a:ln w="28575" cap="rnd">
              <a:solidFill>
                <a:srgbClr val="D905C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0.00</c:formatCode>
                <c:ptCount val="4"/>
                <c:pt idx="0">
                  <c:v>80.473684210526315</c:v>
                </c:pt>
                <c:pt idx="1">
                  <c:v>84.596774193548384</c:v>
                </c:pt>
                <c:pt idx="2">
                  <c:v>84.291666666666671</c:v>
                </c:pt>
                <c:pt idx="3">
                  <c:v>83.102564102564102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97-4712-9BF9-9830BDD2941E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0928000"/>
        <c:axId val="480928480"/>
      </c:line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Operação </c:v>
                </c:pt>
              </c:strCache>
            </c:strRef>
          </c:tx>
          <c:spPr>
            <a:solidFill>
              <a:srgbClr val="FF99CC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1631913880431178E-3"/>
                  <c:y val="-5.05967456446389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821-44C1-A1BD-D381622B8E70}"/>
                </c:ext>
              </c:extLst>
            </c:dLbl>
            <c:dLbl>
              <c:idx val="1"/>
              <c:layout>
                <c:manualLayout>
                  <c:x val="-1.2217588517390823E-2"/>
                  <c:y val="-9.820798678980635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821-44C1-A1BD-D381622B8E70}"/>
                </c:ext>
              </c:extLst>
            </c:dLbl>
            <c:dLbl>
              <c:idx val="2"/>
              <c:layout>
                <c:manualLayout>
                  <c:x val="-3.6652765552172471E-2"/>
                  <c:y val="7.554460522292796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F54-400D-B25D-5D46B711302A}"/>
                </c:ext>
              </c:extLst>
            </c:dLbl>
            <c:dLbl>
              <c:idx val="3"/>
              <c:layout>
                <c:manualLayout>
                  <c:x val="-3.0543971293477058E-2"/>
                  <c:y val="-3.05444089259222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821-44C1-A1BD-D381622B8E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0.00</c:formatCode>
                <c:ptCount val="4"/>
                <c:pt idx="0">
                  <c:v>89.214285714285708</c:v>
                </c:pt>
                <c:pt idx="1">
                  <c:v>91.28125</c:v>
                </c:pt>
                <c:pt idx="2">
                  <c:v>91.555555555555557</c:v>
                </c:pt>
                <c:pt idx="3">
                  <c:v>89.666666666666671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21-44C1-A1BD-D381622B8E7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D905C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5815956940215591E-2"/>
                  <c:y val="-1.6564219425242427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21-44C1-A1BD-D381622B8E70}"/>
                </c:ext>
              </c:extLst>
            </c:dLbl>
            <c:dLbl>
              <c:idx val="1"/>
              <c:layout>
                <c:manualLayout>
                  <c:x val="2.4435177034781645E-2"/>
                  <c:y val="1.445621304132541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821-44C1-A1BD-D381622B8E70}"/>
                </c:ext>
              </c:extLst>
            </c:dLbl>
            <c:dLbl>
              <c:idx val="3"/>
              <c:layout>
                <c:manualLayout>
                  <c:x val="3.6652765552172471E-2"/>
                  <c:y val="2.168431956198812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821-44C1-A1BD-D381622B8E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0.00</c:formatCode>
                <c:ptCount val="4"/>
                <c:pt idx="0">
                  <c:v>72.034482758620683</c:v>
                </c:pt>
                <c:pt idx="1">
                  <c:v>77.466666666666669</c:v>
                </c:pt>
                <c:pt idx="2">
                  <c:v>77.027777777777771</c:v>
                </c:pt>
                <c:pt idx="3">
                  <c:v>76.538461538461533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21-44C1-A1BD-D381622B8E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  <a:alpha val="38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 Ofensores</c:v>
                </c:pt>
              </c:strCache>
            </c:strRef>
          </c:tx>
          <c:spPr>
            <a:solidFill>
              <a:srgbClr val="D905C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Planilha1!$A$2:$A$11</c:f>
              <c:strCache>
                <c:ptCount val="10"/>
                <c:pt idx="0">
                  <c:v>Técnica - Tabulação</c:v>
                </c:pt>
                <c:pt idx="1">
                  <c:v>Experiência  - Proatividade</c:v>
                </c:pt>
                <c:pt idx="2">
                  <c:v>Experiência  - Atenção e interesse.</c:v>
                </c:pt>
                <c:pt idx="3">
                  <c:v>Técnica - Observação interna.</c:v>
                </c:pt>
                <c:pt idx="4">
                  <c:v>Experiência  - Domínio do tema.</c:v>
                </c:pt>
                <c:pt idx="5">
                  <c:v>Comunicação - Erros de gramática e digitação.</c:v>
                </c:pt>
                <c:pt idx="6">
                  <c:v>Experiência  - Questionou se permanecem eventuais dúvidas e recapitulou procedimento apresentado.</c:v>
                </c:pt>
                <c:pt idx="7">
                  <c:v>Técnica - Informação/Procedimento incorreto.</c:v>
                </c:pt>
                <c:pt idx="8">
                  <c:v>Experiência  - Argumentação inadequada.</c:v>
                </c:pt>
                <c:pt idx="9">
                  <c:v>Comunicação - Segurança e clareza nas informações.</c:v>
                </c:pt>
              </c:strCache>
            </c:strRef>
          </c:cat>
          <c:val>
            <c:numRef>
              <c:f>Planilha1!$B$2:$B$11</c:f>
              <c:numCache>
                <c:formatCode>General</c:formatCode>
                <c:ptCount val="10"/>
                <c:pt idx="0">
                  <c:v>65</c:v>
                </c:pt>
                <c:pt idx="1">
                  <c:v>31</c:v>
                </c:pt>
                <c:pt idx="2">
                  <c:v>30</c:v>
                </c:pt>
                <c:pt idx="3">
                  <c:v>30</c:v>
                </c:pt>
                <c:pt idx="4">
                  <c:v>25</c:v>
                </c:pt>
                <c:pt idx="5">
                  <c:v>21</c:v>
                </c:pt>
                <c:pt idx="6">
                  <c:v>15</c:v>
                </c:pt>
                <c:pt idx="7">
                  <c:v>12</c:v>
                </c:pt>
                <c:pt idx="8">
                  <c:v>7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63-4EFE-9056-09C96CCF04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03513503"/>
        <c:axId val="1003513919"/>
      </c:barChart>
      <c:catAx>
        <c:axId val="1003513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1003513919"/>
        <c:crosses val="autoZero"/>
        <c:auto val="1"/>
        <c:lblAlgn val="ctr"/>
        <c:lblOffset val="100"/>
        <c:noMultiLvlLbl val="0"/>
      </c:catAx>
      <c:valAx>
        <c:axId val="1003513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1003513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D905C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8424034225182344E-2"/>
                  <c:y val="-9.6787897640261466E-17"/>
                </c:manualLayout>
              </c:layout>
              <c:dLblPos val="outEnd"/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E3D-4793-B255-584D47A670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7E-405F-B2DB-0B439CAD8A6A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99CC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05603911449408E-2"/>
                  <c:y val="-6.178977508920940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A7E-405F-B2DB-0B439CAD8A6A}"/>
                </c:ext>
              </c:extLst>
            </c:dLbl>
            <c:dLbl>
              <c:idx val="1"/>
              <c:layout>
                <c:manualLayout>
                  <c:x val="2.6320048893117114E-3"/>
                  <c:y val="-7.881688211056312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A7E-405F-B2DB-0B439CAD8A6A}"/>
                </c:ext>
              </c:extLst>
            </c:dLbl>
            <c:dLbl>
              <c:idx val="2"/>
              <c:layout>
                <c:manualLayout>
                  <c:x val="3.1584058671741119E-2"/>
                  <c:y val="-3.035156652710203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A7E-405F-B2DB-0B439CAD8A6A}"/>
                </c:ext>
              </c:extLst>
            </c:dLbl>
            <c:dLbl>
              <c:idx val="3"/>
              <c:layout>
                <c:manualLayout>
                  <c:x val="2.2400641297317281E-2"/>
                  <c:y val="-9.986797340844771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A7E-405F-B2DB-0B439CAD8A6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5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A7E-405F-B2DB-0B439CAD8A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Planilha1!$D$1</c15:sqref>
                        </c15:formulaRef>
                      </c:ext>
                    </c:extLst>
                    <c:strCache>
                      <c:ptCount val="1"/>
                      <c:pt idx="0">
                        <c:v>Justificada</c:v>
                      </c:pt>
                    </c:strCache>
                  </c:strRef>
                </c:tx>
                <c:spPr>
                  <a:solidFill>
                    <a:schemeClr val="accent1">
                      <a:tint val="65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3"/>
                    <c:layout>
                      <c:manualLayout>
                        <c:x val="-2.6320048893117599E-3"/>
                        <c:y val="-2.1571133067506493E-2"/>
                      </c:manualLayout>
                    </c:layout>
                    <c:spPr>
                      <a:noFill/>
                      <a:ln>
                        <a:noFill/>
                      </a:ln>
                      <a:effectLst/>
                    </c:spPr>
                    <c:txPr>
                      <a:bodyPr rot="0" spcFirstLastPara="1" vertOverflow="ellipsis" vert="horz" wrap="square" lIns="38100" tIns="19050" rIns="38100" bIns="19050" anchor="ctr" anchorCtr="1">
                        <a:spAutoFit/>
                      </a:bodyPr>
                      <a:lstStyle/>
                      <a:p>
                        <a:pPr>
                          <a:defRPr sz="1197" b="0" i="0" u="none" strike="noStrike" kern="1200" baseline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defRPr>
                        </a:pPr>
                        <a:endParaRPr lang="pt-BR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2-048A-48B1-AB95-AE8E24671BFD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pt-BR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Planilha1!$A$2:$A$5</c15:sqref>
                        </c15:formulaRef>
                      </c:ext>
                    </c:extLst>
                    <c:strCache>
                      <c:ptCount val="4"/>
                      <c:pt idx="0">
                        <c:v>1º Ciclo</c:v>
                      </c:pt>
                      <c:pt idx="1">
                        <c:v>2º Ciclo</c:v>
                      </c:pt>
                      <c:pt idx="2">
                        <c:v>3º Ciclo</c:v>
                      </c:pt>
                      <c:pt idx="3">
                        <c:v>4º Ciclo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Planilha1!$D$2:$D$5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048A-48B1-AB95-AE8E24671BFD}"/>
                  </c:ext>
                </c:extLst>
              </c15:ser>
            </c15:filteredBarSeries>
          </c:ext>
        </c:extLst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D905C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25</c:v>
                </c:pt>
                <c:pt idx="1">
                  <c:v>28</c:v>
                </c:pt>
                <c:pt idx="2">
                  <c:v>36</c:v>
                </c:pt>
                <c:pt idx="3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B9-4DEE-962C-39D4048D834C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99CC"/>
            </a:solidFill>
            <a:ln>
              <a:noFill/>
            </a:ln>
            <a:effectLst>
              <a:outerShdw blurRad="50800" dist="50800" dir="5400000" algn="ctr" rotWithShape="0">
                <a:schemeClr val="accent5">
                  <a:lumMod val="60000"/>
                  <a:lumOff val="40000"/>
                </a:schemeClr>
              </a:outerShdw>
            </a:effectLst>
          </c:spPr>
          <c:invertIfNegative val="0"/>
          <c:dLbls>
            <c:dLbl>
              <c:idx val="3"/>
              <c:layout>
                <c:manualLayout>
                  <c:x val="7.8960146679352798E-3"/>
                  <c:y val="-3.69558060107018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CB9-4DEE-962C-39D4048D83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1">
                  <c:v>2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B9-4DEE-962C-39D4048D834C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1D-4FFC-851A-311FF64C3A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5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8899378573315752"/>
          <c:y val="2.34375E-2"/>
          <c:w val="0.55392146105339624"/>
          <c:h val="0.7522293307086613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rgbClr val="D905C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Planilha1!$A$2:$A$6</c:f>
              <c:strCache>
                <c:ptCount val="5"/>
                <c:pt idx="0">
                  <c:v>Jose Erismar Estrela</c:v>
                </c:pt>
                <c:pt idx="1">
                  <c:v>Adila Daniele Da Costa</c:v>
                </c:pt>
                <c:pt idx="2">
                  <c:v>Bianca Junsek Roloff</c:v>
                </c:pt>
                <c:pt idx="3">
                  <c:v>Alex Gama Lima</c:v>
                </c:pt>
                <c:pt idx="4">
                  <c:v>Nayara Oliveira Barros</c:v>
                </c:pt>
              </c:strCache>
            </c:strRef>
          </c:cat>
          <c:val>
            <c:numRef>
              <c:f>Planilha1!$B$2:$B$6</c:f>
              <c:numCache>
                <c:formatCode>General</c:formatCode>
                <c:ptCount val="5"/>
                <c:pt idx="0">
                  <c:v>57.5</c:v>
                </c:pt>
                <c:pt idx="1">
                  <c:v>67.63</c:v>
                </c:pt>
                <c:pt idx="2">
                  <c:v>69.13</c:v>
                </c:pt>
                <c:pt idx="3">
                  <c:v>70.5</c:v>
                </c:pt>
                <c:pt idx="4">
                  <c:v>76.430000000000007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81-4145-8ECA-3C316756563E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Jul</c:v>
                </c:pt>
              </c:strCache>
            </c:strRef>
          </c:tx>
          <c:spPr>
            <a:solidFill>
              <a:srgbClr val="FDB5F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Planilha1!$A$2:$A$6</c:f>
              <c:strCache>
                <c:ptCount val="5"/>
                <c:pt idx="0">
                  <c:v>Jose Erismar Estrela</c:v>
                </c:pt>
                <c:pt idx="1">
                  <c:v>Adila Daniele Da Costa</c:v>
                </c:pt>
                <c:pt idx="2">
                  <c:v>Bianca Junsek Roloff</c:v>
                </c:pt>
                <c:pt idx="3">
                  <c:v>Alex Gama Lima</c:v>
                </c:pt>
                <c:pt idx="4">
                  <c:v>Nayara Oliveira Barros</c:v>
                </c:pt>
              </c:strCache>
            </c:strRef>
          </c:cat>
          <c:val>
            <c:numRef>
              <c:f>Planilha1!$C$2:$C$6</c:f>
              <c:numCache>
                <c:formatCode>General</c:formatCode>
                <c:ptCount val="5"/>
                <c:pt idx="0">
                  <c:v>95.38</c:v>
                </c:pt>
                <c:pt idx="1">
                  <c:v>64.88</c:v>
                </c:pt>
                <c:pt idx="2">
                  <c:v>79.63</c:v>
                </c:pt>
                <c:pt idx="3">
                  <c:v>58.88</c:v>
                </c:pt>
                <c:pt idx="4">
                  <c:v>94.38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81-4145-8ECA-3C3167565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63710783"/>
        <c:axId val="363698303"/>
      </c:barChart>
      <c:catAx>
        <c:axId val="3637107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63698303"/>
        <c:crosses val="autoZero"/>
        <c:auto val="1"/>
        <c:lblAlgn val="ctr"/>
        <c:lblOffset val="100"/>
        <c:noMultiLvlLbl val="0"/>
      </c:catAx>
      <c:valAx>
        <c:axId val="363698303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63710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Operação 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1">
                  <c:v>12</c:v>
                </c:pt>
                <c:pt idx="2">
                  <c:v>9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38-4387-98CC-526F27A5BF99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38-4387-98CC-526F27A5BF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1">
                  <c:v>5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3-41C1-B223-D609309025C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Excelência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7</c:v>
                </c:pt>
                <c:pt idx="1">
                  <c:v>16</c:v>
                </c:pt>
                <c:pt idx="2">
                  <c:v>12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13-41C1-B223-D609309025C0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 NCG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13-41C1-B223-D609309025C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2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Média do Canal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77.78</c:v>
                </c:pt>
                <c:pt idx="1">
                  <c:v>97.48</c:v>
                </c:pt>
                <c:pt idx="2">
                  <c:v>81.89</c:v>
                </c:pt>
                <c:pt idx="3">
                  <c:v>84.35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97-4712-9BF9-9830BDD2941E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0928000"/>
        <c:axId val="480928480"/>
      </c:line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Operação 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1631913880431178E-3"/>
                  <c:y val="-5.05967456446389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821-44C1-A1BD-D381622B8E70}"/>
                </c:ext>
              </c:extLst>
            </c:dLbl>
            <c:dLbl>
              <c:idx val="1"/>
              <c:layout>
                <c:manualLayout>
                  <c:x val="-9.163191388043173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821-44C1-A1BD-D381622B8E70}"/>
                </c:ext>
              </c:extLst>
            </c:dLbl>
            <c:dLbl>
              <c:idx val="2"/>
              <c:layout>
                <c:manualLayout>
                  <c:x val="-3.054397129347705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BE-47A3-ABA5-3CE310A93C21}"/>
                </c:ext>
              </c:extLst>
            </c:dLbl>
            <c:dLbl>
              <c:idx val="3"/>
              <c:layout>
                <c:manualLayout>
                  <c:x val="-3.3598368422824876E-2"/>
                  <c:y val="7.228033264564772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821-44C1-A1BD-D381622B8E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1">
                  <c:v>95.58</c:v>
                </c:pt>
                <c:pt idx="2">
                  <c:v>88.89</c:v>
                </c:pt>
                <c:pt idx="3">
                  <c:v>88.7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21-44C1-A1BD-D381622B8E7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4.5815956940215591E-2"/>
                  <c:y val="-1.6564219425242427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21-44C1-A1BD-D381622B8E70}"/>
                </c:ext>
              </c:extLst>
            </c:dLbl>
            <c:dLbl>
              <c:idx val="1"/>
              <c:layout>
                <c:manualLayout>
                  <c:x val="6.108794258695355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821-44C1-A1BD-D381622B8E70}"/>
                </c:ext>
              </c:extLst>
            </c:dLbl>
            <c:dLbl>
              <c:idx val="2"/>
              <c:layout>
                <c:manualLayout>
                  <c:x val="1.832638277608623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3BE-47A3-ABA5-3CE310A93C21}"/>
                </c:ext>
              </c:extLst>
            </c:dLbl>
            <c:dLbl>
              <c:idx val="3"/>
              <c:layout>
                <c:manualLayout>
                  <c:x val="3.665276555217247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821-44C1-A1BD-D381622B8E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77.78</c:v>
                </c:pt>
                <c:pt idx="1">
                  <c:v>100</c:v>
                </c:pt>
                <c:pt idx="2">
                  <c:v>74.89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21-44C1-A1BD-D381622B8E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  <a:alpha val="38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Ofensores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Planilha1!$A$2:$A$11</c:f>
              <c:strCache>
                <c:ptCount val="9"/>
                <c:pt idx="0">
                  <c:v>Técnica - Tabulação</c:v>
                </c:pt>
                <c:pt idx="1">
                  <c:v>Técnica - Informação/Procedimento incorreto.</c:v>
                </c:pt>
                <c:pt idx="2">
                  <c:v>Comunicação - Erros de gramática e digitação.</c:v>
                </c:pt>
                <c:pt idx="3">
                  <c:v>Comunicação - Macro utilizada da forma correta</c:v>
                </c:pt>
                <c:pt idx="4">
                  <c:v>Comunicação - Gírias e Vício de linguagem.</c:v>
                </c:pt>
                <c:pt idx="5">
                  <c:v>Técnica -  Informação/Procedimento incompleto.</c:v>
                </c:pt>
                <c:pt idx="6">
                  <c:v>Técnica - Solicitou avaliação</c:v>
                </c:pt>
                <c:pt idx="7">
                  <c:v>Experiência  - Argumentação inadequada.</c:v>
                </c:pt>
                <c:pt idx="8">
                  <c:v>Experiência  - Atenção e interesse.</c:v>
                </c:pt>
              </c:strCache>
            </c:strRef>
          </c:cat>
          <c:val>
            <c:numRef>
              <c:f>Planilha1!$B$2:$B$11</c:f>
              <c:numCache>
                <c:formatCode>General</c:formatCode>
                <c:ptCount val="10"/>
                <c:pt idx="0">
                  <c:v>7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11-4B04-BF30-1ED14689AA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03513503"/>
        <c:axId val="1003513919"/>
      </c:barChart>
      <c:catAx>
        <c:axId val="1003513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1003513919"/>
        <c:crosses val="autoZero"/>
        <c:auto val="1"/>
        <c:lblAlgn val="ctr"/>
        <c:lblOffset val="100"/>
        <c:noMultiLvlLbl val="0"/>
      </c:catAx>
      <c:valAx>
        <c:axId val="1003513919"/>
        <c:scaling>
          <c:orientation val="minMax"/>
          <c:max val="7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10035135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Planilha1!$A$2:$A$4</c:f>
              <c:strCache>
                <c:ptCount val="3"/>
                <c:pt idx="0">
                  <c:v>1º Ciclo</c:v>
                </c:pt>
                <c:pt idx="1">
                  <c:v>3º Ciclo</c:v>
                </c:pt>
                <c:pt idx="2">
                  <c:v>4º Ciclo</c:v>
                </c:pt>
              </c:strCache>
            </c:strRef>
          </c:cat>
          <c:val>
            <c:numRef>
              <c:f>Planilha1!$B$2:$B$4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7E-405F-B2DB-0B439CAD8A6A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A9D18E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6.529413329697336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EBF-450F-AA30-C6FDCFE27D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Planilha1!$A$2:$A$4</c:f>
              <c:strCache>
                <c:ptCount val="3"/>
                <c:pt idx="0">
                  <c:v>1º Ciclo</c:v>
                </c:pt>
                <c:pt idx="1">
                  <c:v>3º Ciclo</c:v>
                </c:pt>
                <c:pt idx="2">
                  <c:v>4º Ciclo</c:v>
                </c:pt>
              </c:strCache>
            </c:strRef>
          </c:cat>
          <c:val>
            <c:numRef>
              <c:f>Planilha1!$C$2:$C$4</c:f>
              <c:numCache>
                <c:formatCode>General</c:formatCode>
                <c:ptCount val="3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BF-450F-AA30-C6FDCFE27D5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3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Planilha1!$A$2:$A$4</c:f>
              <c:strCache>
                <c:ptCount val="3"/>
                <c:pt idx="0">
                  <c:v>2º Ciclo</c:v>
                </c:pt>
                <c:pt idx="1">
                  <c:v>3º Ciclo</c:v>
                </c:pt>
                <c:pt idx="2">
                  <c:v>4º Ciclo</c:v>
                </c:pt>
              </c:strCache>
            </c:strRef>
          </c:cat>
          <c:val>
            <c:numRef>
              <c:f>Planilha1!$B$2:$B$4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D6-46FB-8633-5B76B4CCB4F8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A9D18E"/>
            </a:solidFill>
            <a:ln>
              <a:noFill/>
            </a:ln>
            <a:effectLst>
              <a:outerShdw blurRad="50800" dist="50800" dir="5400000" algn="ctr" rotWithShape="0">
                <a:schemeClr val="accent5">
                  <a:lumMod val="60000"/>
                  <a:lumOff val="40000"/>
                </a:schemeClr>
              </a:outerShdw>
            </a:effectLst>
          </c:spPr>
          <c:invertIfNegative val="0"/>
          <c:dLbls>
            <c:dLbl>
              <c:idx val="2"/>
              <c:layout>
                <c:manualLayout>
                  <c:x val="7.8960146679352798E-3"/>
                  <c:y val="-3.69558060107018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0DA-4510-B3FA-8698CD8E19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Planilha1!$A$2:$A$4</c:f>
              <c:strCache>
                <c:ptCount val="3"/>
                <c:pt idx="0">
                  <c:v>2º Ciclo</c:v>
                </c:pt>
                <c:pt idx="1">
                  <c:v>3º Ciclo</c:v>
                </c:pt>
                <c:pt idx="2">
                  <c:v>4º Ciclo</c:v>
                </c:pt>
              </c:strCache>
            </c:strRef>
          </c:cat>
          <c:val>
            <c:numRef>
              <c:f>Planilha1!$C$2:$C$4</c:f>
              <c:numCache>
                <c:formatCode>General</c:formatCode>
                <c:ptCount val="3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D6-46FB-8633-5B76B4CCB4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8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  <c:userShapes r:id="rId4"/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Vanessa Nogueira</c:v>
                </c:pt>
                <c:pt idx="1">
                  <c:v>Gustavo Da Rosa</c:v>
                </c:pt>
                <c:pt idx="2">
                  <c:v>Djanira Juliana A. De Almeida</c:v>
                </c:pt>
                <c:pt idx="3">
                  <c:v>Maria Dluz Schon Ribeiro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98.83</c:v>
                </c:pt>
                <c:pt idx="1">
                  <c:v>100</c:v>
                </c:pt>
                <c:pt idx="2">
                  <c:v>98.14</c:v>
                </c:pt>
                <c:pt idx="3">
                  <c:v>81.17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BA-48C8-9C48-BBCA51719E2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Jul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Vanessa Nogueira</c:v>
                </c:pt>
                <c:pt idx="1">
                  <c:v>Gustavo Da Rosa</c:v>
                </c:pt>
                <c:pt idx="2">
                  <c:v>Djanira Juliana A. De Almeida</c:v>
                </c:pt>
                <c:pt idx="3">
                  <c:v>Maria Dluz Schon Ribeiro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98.14</c:v>
                </c:pt>
                <c:pt idx="1">
                  <c:v>55.29</c:v>
                </c:pt>
                <c:pt idx="2">
                  <c:v>99.38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BA-48C8-9C48-BBCA51719E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63710783"/>
        <c:axId val="363698303"/>
      </c:barChart>
      <c:catAx>
        <c:axId val="3637107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63698303"/>
        <c:crosses val="autoZero"/>
        <c:auto val="1"/>
        <c:lblAlgn val="ctr"/>
        <c:lblOffset val="100"/>
        <c:noMultiLvlLbl val="0"/>
      </c:catAx>
      <c:valAx>
        <c:axId val="363698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63710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783623621312478E-2"/>
          <c:y val="0.16411444312276968"/>
          <c:w val="0.89461800795586277"/>
          <c:h val="0.456921054279095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Operação 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1">
                  <c:v>5</c:v>
                </c:pt>
                <c:pt idx="2">
                  <c:v>7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38-4387-98CC-526F27A5BF99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38-4387-98CC-526F27A5BF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3-41C1-B223-D609309025C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Excelência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6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13-41C1-B223-D609309025C0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chemeClr val="accent5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1">
                  <c:v>3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10-43AB-90C9-8B8476E27C1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Média do Canal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97.5</c:v>
                </c:pt>
                <c:pt idx="1">
                  <c:v>69.91</c:v>
                </c:pt>
                <c:pt idx="2">
                  <c:v>75.930000000000007</c:v>
                </c:pt>
                <c:pt idx="3">
                  <c:v>83.53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97-4712-9BF9-9830BDD2941E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0928000"/>
        <c:axId val="480928480"/>
      </c:line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Operação 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1631913880431178E-3"/>
                  <c:y val="-5.05967456446389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821-44C1-A1BD-D381622B8E70}"/>
                </c:ext>
              </c:extLst>
            </c:dLbl>
            <c:dLbl>
              <c:idx val="1"/>
              <c:layout>
                <c:manualLayout>
                  <c:x val="-9.163191388043173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821-44C1-A1BD-D381622B8E70}"/>
                </c:ext>
              </c:extLst>
            </c:dLbl>
            <c:dLbl>
              <c:idx val="2"/>
              <c:layout>
                <c:manualLayout>
                  <c:x val="-1.8326382776086125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291-44CB-BFE7-7D06DCE3A3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Planilha1!$B$3:$B$5</c:f>
              <c:numCache>
                <c:formatCode>General</c:formatCode>
                <c:ptCount val="3"/>
                <c:pt idx="0">
                  <c:v>57.4</c:v>
                </c:pt>
                <c:pt idx="1">
                  <c:v>84</c:v>
                </c:pt>
                <c:pt idx="2" formatCode="0.00">
                  <c:v>83.857142857142861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21-44C1-A1BD-D381622B8E70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8326382776086208E-2"/>
                  <c:y val="-1.510892104458559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21-44C1-A1BD-D381622B8E70}"/>
                </c:ext>
              </c:extLst>
            </c:dLbl>
            <c:dLbl>
              <c:idx val="1"/>
              <c:layout>
                <c:manualLayout>
                  <c:x val="9.1631913880431178E-3"/>
                  <c:y val="6.901921688201835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821-44C1-A1BD-D381622B8E70}"/>
                </c:ext>
              </c:extLst>
            </c:dLbl>
            <c:dLbl>
              <c:idx val="2"/>
              <c:layout>
                <c:manualLayout>
                  <c:x val="2.1380779905433828E-2"/>
                  <c:y val="-7.554460522292805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91-44CB-BFE7-7D06DCE3A31C}"/>
                </c:ext>
              </c:extLst>
            </c:dLbl>
            <c:dLbl>
              <c:idx val="3"/>
              <c:layout>
                <c:manualLayout>
                  <c:x val="2.9793599715242486E-3"/>
                  <c:y val="1.412981537374354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821-44C1-A1BD-D381622B8E7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1° Ciclo </c:v>
                </c:pt>
                <c:pt idx="1">
                  <c:v>2° Ciclo </c:v>
                </c:pt>
                <c:pt idx="2">
                  <c:v>3° Ciclo </c:v>
                </c:pt>
                <c:pt idx="3">
                  <c:v>4° Ciclo </c:v>
                </c:pt>
              </c:strCache>
            </c:strRef>
          </c:cat>
          <c:val>
            <c:numRef>
              <c:f>Planilha1!$C$2:$C$5</c:f>
              <c:numCache>
                <c:formatCode>0.00</c:formatCode>
                <c:ptCount val="4"/>
                <c:pt idx="0">
                  <c:v>97.5</c:v>
                </c:pt>
                <c:pt idx="1">
                  <c:v>80.333333333333329</c:v>
                </c:pt>
                <c:pt idx="2">
                  <c:v>68.875</c:v>
                </c:pt>
                <c:pt idx="3">
                  <c:v>83.25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21-44C1-A1BD-D381622B8E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  <a:alpha val="38000"/>
                </a:schemeClr>
              </a:solidFill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Ofensores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Planilha1!$A$2:$A$11</c:f>
              <c:strCache>
                <c:ptCount val="10"/>
                <c:pt idx="0">
                  <c:v>Técnica - Tabulação</c:v>
                </c:pt>
                <c:pt idx="1">
                  <c:v>Experiência  - Atenção e interesse.</c:v>
                </c:pt>
                <c:pt idx="2">
                  <c:v>Técnica - Usou corretamente a flag de não resolvido/duplicado.</c:v>
                </c:pt>
                <c:pt idx="3">
                  <c:v>Comunicação - Erros de gramática e digitação.</c:v>
                </c:pt>
                <c:pt idx="4">
                  <c:v>Experiência  - Domínio do tema.</c:v>
                </c:pt>
                <c:pt idx="5">
                  <c:v>Técnica - Observação interna.</c:v>
                </c:pt>
                <c:pt idx="6">
                  <c:v>Técnica - Informação/Procedimento incorreto.</c:v>
                </c:pt>
                <c:pt idx="7">
                  <c:v>Comunicação - Macro utilizada da forma correta</c:v>
                </c:pt>
                <c:pt idx="8">
                  <c:v>Experiência  - Proatividade</c:v>
                </c:pt>
                <c:pt idx="9">
                  <c:v>Técnica -  Informação/Procedimento incompleto.</c:v>
                </c:pt>
              </c:strCache>
            </c:strRef>
          </c:cat>
          <c:val>
            <c:numRef>
              <c:f>Planilha1!$B$2:$B$11</c:f>
              <c:numCache>
                <c:formatCode>General</c:formatCode>
                <c:ptCount val="10"/>
                <c:pt idx="0">
                  <c:v>9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11-4B04-BF30-1ED14689AA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03513503"/>
        <c:axId val="1003513919"/>
      </c:barChart>
      <c:catAx>
        <c:axId val="1003513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1003513919"/>
        <c:crosses val="autoZero"/>
        <c:auto val="1"/>
        <c:lblAlgn val="ctr"/>
        <c:lblOffset val="100"/>
        <c:noMultiLvlLbl val="0"/>
      </c:catAx>
      <c:valAx>
        <c:axId val="1003513919"/>
        <c:scaling>
          <c:orientation val="minMax"/>
          <c:max val="9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10035135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7F-4209-86A6-58A3D2DAFDA5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4A7FB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8252865549495192E-17"/>
                  <c:y val="2.677113506287035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7F-4209-86A6-58A3D2DAFDA5}"/>
                </c:ext>
              </c:extLst>
            </c:dLbl>
            <c:dLbl>
              <c:idx val="1"/>
              <c:layout>
                <c:manualLayout>
                  <c:x val="3.1584058671741119E-2"/>
                  <c:y val="-3.035156652710203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47F-4209-86A6-58A3D2DAFDA5}"/>
                </c:ext>
              </c:extLst>
            </c:dLbl>
            <c:dLbl>
              <c:idx val="2"/>
              <c:layout>
                <c:manualLayout>
                  <c:x val="2.2400641297317281E-2"/>
                  <c:y val="-9.986797340844771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47F-4209-86A6-58A3D2DAFDA5}"/>
                </c:ext>
              </c:extLst>
            </c:dLbl>
            <c:dLbl>
              <c:idx val="3"/>
              <c:layout>
                <c:manualLayout>
                  <c:x val="2.6320048893117599E-3"/>
                  <c:y val="-2.578426123306850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2C1-468E-8948-E0BD037DEF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47F-4209-86A6-58A3D2DAFDA5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2.6320048893118562E-3"/>
                  <c:y val="2.248650635024626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0A5-493A-83F1-D04EB2C3A5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2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Planilha1!$A$2:$A$5</c:f>
              <c:strCache>
                <c:ptCount val="4"/>
                <c:pt idx="0">
                  <c:v>1º Ciclo</c:v>
                </c:pt>
                <c:pt idx="1">
                  <c:v>2º Ciclo</c:v>
                </c:pt>
                <c:pt idx="2">
                  <c:v>3º Ciclo</c:v>
                </c:pt>
                <c:pt idx="3">
                  <c:v>4º Ciclo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A5-493A-83F1-D04EB2C3A54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  <c:userShapes r:id="rId4"/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Dentro do Prazo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Planilha1!$A$2:$A$4</c:f>
              <c:strCache>
                <c:ptCount val="3"/>
                <c:pt idx="0">
                  <c:v>2º Ciclo</c:v>
                </c:pt>
                <c:pt idx="1">
                  <c:v>3º Ciclo</c:v>
                </c:pt>
                <c:pt idx="2">
                  <c:v>4º Ciclo</c:v>
                </c:pt>
              </c:strCache>
            </c:strRef>
          </c:cat>
          <c:val>
            <c:numRef>
              <c:f>Planilha1!$B$2:$B$4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7F-40EE-9B97-849B79533024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0"/>
                  <c:y val="-3.344438088840261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2">
                          <a:lumMod val="25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25-4AC2-86D2-AE2F0B931B0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Planilha1!$A$2:$A$4</c:f>
              <c:strCache>
                <c:ptCount val="3"/>
                <c:pt idx="0">
                  <c:v>2º Ciclo</c:v>
                </c:pt>
                <c:pt idx="1">
                  <c:v>3º Ciclo</c:v>
                </c:pt>
                <c:pt idx="2">
                  <c:v>4º Ciclo</c:v>
                </c:pt>
              </c:strCache>
            </c:strRef>
          </c:cat>
          <c:val>
            <c:numRef>
              <c:f>Planilha1!$C$2:$C$4</c:f>
              <c:numCache>
                <c:formatCode>General</c:formatCode>
                <c:ptCount val="3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25-4AC2-86D2-AE2F0B931B0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rgbClr val="BDD7E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</c:f>
              <c:strCache>
                <c:ptCount val="1"/>
                <c:pt idx="0">
                  <c:v>Daniel Felipe Santos De Souza</c:v>
                </c:pt>
              </c:strCache>
            </c:strRef>
          </c:cat>
          <c:val>
            <c:numRef>
              <c:f>Planilha1!$B$2</c:f>
              <c:numCache>
                <c:formatCode>General</c:formatCode>
                <c:ptCount val="1"/>
                <c:pt idx="0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D1-479C-860E-A94B532B5BF2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Jul</c:v>
                </c:pt>
              </c:strCache>
            </c:strRef>
          </c:tx>
          <c:spPr>
            <a:solidFill>
              <a:srgbClr val="002060"/>
            </a:solidFill>
            <a:ln>
              <a:solidFill>
                <a:srgbClr val="00206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Planilha1!$A$2</c:f>
              <c:strCache>
                <c:ptCount val="1"/>
                <c:pt idx="0">
                  <c:v>Daniel Felipe Santos De Souza</c:v>
                </c:pt>
              </c:strCache>
            </c:strRef>
          </c:cat>
          <c:val>
            <c:numRef>
              <c:f>Planilha1!$C$2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D1-479C-860E-A94B532B5B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63710783"/>
        <c:axId val="363698303"/>
      </c:barChart>
      <c:catAx>
        <c:axId val="3637107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63698303"/>
        <c:crosses val="autoZero"/>
        <c:auto val="1"/>
        <c:lblAlgn val="ctr"/>
        <c:lblOffset val="100"/>
        <c:noMultiLvlLbl val="0"/>
      </c:catAx>
      <c:valAx>
        <c:axId val="363698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363710783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9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0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7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8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3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0.16879</cdr:x>
      <cdr:y>0.29553</cdr:y>
    </cdr:from>
    <cdr:to>
      <cdr:x>0.2825</cdr:x>
      <cdr:y>0.38509</cdr:y>
    </cdr:to>
    <cdr:sp macro="" textlink="">
      <cdr:nvSpPr>
        <cdr:cNvPr id="3" name="CaixaDeTexto 12">
          <a:extLst xmlns:a="http://schemas.openxmlformats.org/drawingml/2006/main">
            <a:ext uri="{FF2B5EF4-FFF2-40B4-BE49-F238E27FC236}">
              <a16:creationId xmlns:a16="http://schemas.microsoft.com/office/drawing/2014/main" id="{92936D5E-14AC-7686-88BB-F41D483F95A1}"/>
            </a:ext>
          </a:extLst>
        </cdr:cNvPr>
        <cdr:cNvSpPr txBox="1"/>
      </cdr:nvSpPr>
      <cdr:spPr>
        <a:xfrm xmlns:a="http://schemas.openxmlformats.org/drawingml/2006/main">
          <a:off x="814443" y="710918"/>
          <a:ext cx="548675" cy="21544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80%</a:t>
          </a:r>
        </a:p>
      </cdr:txBody>
    </cdr:sp>
  </cdr:relSizeAnchor>
  <cdr:relSizeAnchor xmlns:cdr="http://schemas.openxmlformats.org/drawingml/2006/chartDrawing">
    <cdr:from>
      <cdr:x>0.26521</cdr:x>
      <cdr:y>0.45349</cdr:y>
    </cdr:from>
    <cdr:to>
      <cdr:x>0.37892</cdr:x>
      <cdr:y>0.54305</cdr:y>
    </cdr:to>
    <cdr:sp macro="" textlink="">
      <cdr:nvSpPr>
        <cdr:cNvPr id="4" name="CaixaDeTexto 12">
          <a:extLst xmlns:a="http://schemas.openxmlformats.org/drawingml/2006/main">
            <a:ext uri="{FF2B5EF4-FFF2-40B4-BE49-F238E27FC236}">
              <a16:creationId xmlns:a16="http://schemas.microsoft.com/office/drawing/2014/main" id="{D08D7D22-2884-4E01-9350-ABA263CCA548}"/>
            </a:ext>
          </a:extLst>
        </cdr:cNvPr>
        <cdr:cNvSpPr txBox="1"/>
      </cdr:nvSpPr>
      <cdr:spPr>
        <a:xfrm xmlns:a="http://schemas.openxmlformats.org/drawingml/2006/main">
          <a:off x="1279675" y="1090914"/>
          <a:ext cx="548675" cy="21544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20%</a:t>
          </a:r>
        </a:p>
      </cdr:txBody>
    </cdr:sp>
  </cdr:relSizeAnchor>
  <cdr:relSizeAnchor xmlns:cdr="http://schemas.openxmlformats.org/drawingml/2006/chartDrawing">
    <cdr:from>
      <cdr:x>0.44277</cdr:x>
      <cdr:y>0.35689</cdr:y>
    </cdr:from>
    <cdr:to>
      <cdr:x>0.55648</cdr:x>
      <cdr:y>0.44645</cdr:y>
    </cdr:to>
    <cdr:sp macro="" textlink="">
      <cdr:nvSpPr>
        <cdr:cNvPr id="5" name="CaixaDeTexto 12">
          <a:extLst xmlns:a="http://schemas.openxmlformats.org/drawingml/2006/main">
            <a:ext uri="{FF2B5EF4-FFF2-40B4-BE49-F238E27FC236}">
              <a16:creationId xmlns:a16="http://schemas.microsoft.com/office/drawing/2014/main" id="{82D1C149-00CA-4DF5-B3DD-AA8158CACE5E}"/>
            </a:ext>
          </a:extLst>
        </cdr:cNvPr>
        <cdr:cNvSpPr txBox="1"/>
      </cdr:nvSpPr>
      <cdr:spPr>
        <a:xfrm xmlns:a="http://schemas.openxmlformats.org/drawingml/2006/main">
          <a:off x="2136472" y="858535"/>
          <a:ext cx="548675" cy="21544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100%</a:t>
          </a:r>
        </a:p>
      </cdr:txBody>
    </cdr:sp>
  </cdr:relSizeAnchor>
  <cdr:relSizeAnchor xmlns:cdr="http://schemas.openxmlformats.org/drawingml/2006/chartDrawing">
    <cdr:from>
      <cdr:x>0.7273</cdr:x>
      <cdr:y>0.47128</cdr:y>
    </cdr:from>
    <cdr:to>
      <cdr:x>0.84101</cdr:x>
      <cdr:y>0.56084</cdr:y>
    </cdr:to>
    <cdr:sp macro="" textlink="">
      <cdr:nvSpPr>
        <cdr:cNvPr id="6" name="CaixaDeTexto 12">
          <a:extLst xmlns:a="http://schemas.openxmlformats.org/drawingml/2006/main">
            <a:ext uri="{FF2B5EF4-FFF2-40B4-BE49-F238E27FC236}">
              <a16:creationId xmlns:a16="http://schemas.microsoft.com/office/drawing/2014/main" id="{6746C015-187E-44BB-B94D-089E661FDC8A}"/>
            </a:ext>
          </a:extLst>
        </cdr:cNvPr>
        <cdr:cNvSpPr txBox="1"/>
      </cdr:nvSpPr>
      <cdr:spPr>
        <a:xfrm xmlns:a="http://schemas.openxmlformats.org/drawingml/2006/main">
          <a:off x="3509367" y="1133692"/>
          <a:ext cx="548675" cy="21544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100%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0.12207</cdr:x>
      <cdr:y>0.43196</cdr:y>
    </cdr:from>
    <cdr:to>
      <cdr:x>0.23578</cdr:x>
      <cdr:y>0.52152</cdr:y>
    </cdr:to>
    <cdr:sp macro="" textlink="">
      <cdr:nvSpPr>
        <cdr:cNvPr id="2" name="CaixaDeTexto 4">
          <a:extLst xmlns:a="http://schemas.openxmlformats.org/drawingml/2006/main">
            <a:ext uri="{FF2B5EF4-FFF2-40B4-BE49-F238E27FC236}">
              <a16:creationId xmlns:a16="http://schemas.microsoft.com/office/drawing/2014/main" id="{00C37DE5-92F8-9011-69CD-EFE1E5237EA9}"/>
            </a:ext>
          </a:extLst>
        </cdr:cNvPr>
        <cdr:cNvSpPr txBox="1"/>
      </cdr:nvSpPr>
      <cdr:spPr>
        <a:xfrm xmlns:a="http://schemas.openxmlformats.org/drawingml/2006/main">
          <a:off x="588999" y="1039109"/>
          <a:ext cx="548676" cy="21544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50%</a:t>
          </a:r>
        </a:p>
      </cdr:txBody>
    </cdr:sp>
  </cdr:relSizeAnchor>
  <cdr:relSizeAnchor xmlns:cdr="http://schemas.openxmlformats.org/drawingml/2006/chartDrawing">
    <cdr:from>
      <cdr:x>0.4084</cdr:x>
      <cdr:y>0.39507</cdr:y>
    </cdr:from>
    <cdr:to>
      <cdr:x>0.5221</cdr:x>
      <cdr:y>0.48463</cdr:y>
    </cdr:to>
    <cdr:sp macro="" textlink="">
      <cdr:nvSpPr>
        <cdr:cNvPr id="3" name="CaixaDeTexto 7">
          <a:extLst xmlns:a="http://schemas.openxmlformats.org/drawingml/2006/main">
            <a:ext uri="{FF2B5EF4-FFF2-40B4-BE49-F238E27FC236}">
              <a16:creationId xmlns:a16="http://schemas.microsoft.com/office/drawing/2014/main" id="{AE4CC3FF-0FD4-CD0C-7555-7A01B924C075}"/>
            </a:ext>
          </a:extLst>
        </cdr:cNvPr>
        <cdr:cNvSpPr txBox="1"/>
      </cdr:nvSpPr>
      <cdr:spPr>
        <a:xfrm xmlns:a="http://schemas.openxmlformats.org/drawingml/2006/main">
          <a:off x="1970599" y="950374"/>
          <a:ext cx="548628" cy="21544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33,33%</a:t>
          </a:r>
          <a:endParaRPr lang="pt-BR" sz="7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0.60977</cdr:x>
      <cdr:y>0.18458</cdr:y>
    </cdr:from>
    <cdr:to>
      <cdr:x>0.72347</cdr:x>
      <cdr:y>0.27414</cdr:y>
    </cdr:to>
    <cdr:sp macro="" textlink="">
      <cdr:nvSpPr>
        <cdr:cNvPr id="4" name="CaixaDeTexto 9">
          <a:extLst xmlns:a="http://schemas.openxmlformats.org/drawingml/2006/main">
            <a:ext uri="{FF2B5EF4-FFF2-40B4-BE49-F238E27FC236}">
              <a16:creationId xmlns:a16="http://schemas.microsoft.com/office/drawing/2014/main" id="{0B1CE29B-28EF-BD78-3BA1-3D3B33E86D11}"/>
            </a:ext>
          </a:extLst>
        </cdr:cNvPr>
        <cdr:cNvSpPr txBox="1"/>
      </cdr:nvSpPr>
      <cdr:spPr>
        <a:xfrm xmlns:a="http://schemas.openxmlformats.org/drawingml/2006/main">
          <a:off x="2942253" y="444026"/>
          <a:ext cx="548627" cy="21544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83,33%</a:t>
          </a:r>
        </a:p>
      </cdr:txBody>
    </cdr:sp>
  </cdr:relSizeAnchor>
  <cdr:relSizeAnchor xmlns:cdr="http://schemas.openxmlformats.org/drawingml/2006/chartDrawing">
    <cdr:from>
      <cdr:x>0.84345</cdr:x>
      <cdr:y>0.3424</cdr:y>
    </cdr:from>
    <cdr:to>
      <cdr:x>0.95715</cdr:x>
      <cdr:y>0.43196</cdr:y>
    </cdr:to>
    <cdr:sp macro="" textlink="">
      <cdr:nvSpPr>
        <cdr:cNvPr id="7" name="CaixaDeTexto 12">
          <a:extLst xmlns:a="http://schemas.openxmlformats.org/drawingml/2006/main">
            <a:ext uri="{FF2B5EF4-FFF2-40B4-BE49-F238E27FC236}">
              <a16:creationId xmlns:a16="http://schemas.microsoft.com/office/drawing/2014/main" id="{0AB9AEE6-F078-004A-9A6B-EB4D9268BA8B}"/>
            </a:ext>
          </a:extLst>
        </cdr:cNvPr>
        <cdr:cNvSpPr txBox="1"/>
      </cdr:nvSpPr>
      <cdr:spPr>
        <a:xfrm xmlns:a="http://schemas.openxmlformats.org/drawingml/2006/main">
          <a:off x="4069837" y="823666"/>
          <a:ext cx="548628" cy="21544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100%</a:t>
          </a:r>
          <a:endParaRPr lang="pt-BR" sz="7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0.84969</cdr:x>
      <cdr:y>0.50607</cdr:y>
    </cdr:from>
    <cdr:to>
      <cdr:x>0.96339</cdr:x>
      <cdr:y>0.59563</cdr:y>
    </cdr:to>
    <cdr:sp macro="" textlink="">
      <cdr:nvSpPr>
        <cdr:cNvPr id="8" name="CaixaDeTexto 11">
          <a:extLst xmlns:a="http://schemas.openxmlformats.org/drawingml/2006/main">
            <a:ext uri="{FF2B5EF4-FFF2-40B4-BE49-F238E27FC236}">
              <a16:creationId xmlns:a16="http://schemas.microsoft.com/office/drawing/2014/main" id="{8F325EEE-C511-0421-9242-FCAE2D179BD7}"/>
            </a:ext>
          </a:extLst>
        </cdr:cNvPr>
        <cdr:cNvSpPr txBox="1"/>
      </cdr:nvSpPr>
      <cdr:spPr>
        <a:xfrm xmlns:a="http://schemas.openxmlformats.org/drawingml/2006/main">
          <a:off x="4099940" y="1217390"/>
          <a:ext cx="548628" cy="21544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indent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66,67%</a:t>
          </a:r>
        </a:p>
      </cdr:txBody>
    </cdr:sp>
  </cdr:relSizeAnchor>
  <cdr:relSizeAnchor xmlns:cdr="http://schemas.openxmlformats.org/drawingml/2006/chartDrawing">
    <cdr:from>
      <cdr:x>0.21595</cdr:x>
      <cdr:y>0.45604</cdr:y>
    </cdr:from>
    <cdr:to>
      <cdr:x>0.32965</cdr:x>
      <cdr:y>0.5456</cdr:y>
    </cdr:to>
    <cdr:sp macro="" textlink="">
      <cdr:nvSpPr>
        <cdr:cNvPr id="9" name="CaixaDeTexto 7">
          <a:extLst xmlns:a="http://schemas.openxmlformats.org/drawingml/2006/main">
            <a:ext uri="{FF2B5EF4-FFF2-40B4-BE49-F238E27FC236}">
              <a16:creationId xmlns:a16="http://schemas.microsoft.com/office/drawing/2014/main" id="{0F658E8D-D0F6-41D1-994E-16F6B53A9EC1}"/>
            </a:ext>
          </a:extLst>
        </cdr:cNvPr>
        <cdr:cNvSpPr txBox="1"/>
      </cdr:nvSpPr>
      <cdr:spPr>
        <a:xfrm xmlns:a="http://schemas.openxmlformats.org/drawingml/2006/main">
          <a:off x="1042012" y="1097041"/>
          <a:ext cx="548628" cy="21544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100%</a:t>
          </a:r>
          <a:endParaRPr lang="pt-BR" sz="700" dirty="0">
            <a:solidFill>
              <a:schemeClr val="bg1">
                <a:lumMod val="9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0.17892</cdr:x>
      <cdr:y>0.4234</cdr:y>
    </cdr:from>
    <cdr:to>
      <cdr:x>0.29263</cdr:x>
      <cdr:y>0.51296</cdr:y>
    </cdr:to>
    <cdr:sp macro="" textlink="">
      <cdr:nvSpPr>
        <cdr:cNvPr id="10" name="CaixaDeTexto 4">
          <a:extLst xmlns:a="http://schemas.openxmlformats.org/drawingml/2006/main">
            <a:ext uri="{FF2B5EF4-FFF2-40B4-BE49-F238E27FC236}">
              <a16:creationId xmlns:a16="http://schemas.microsoft.com/office/drawing/2014/main" id="{3F14279B-F59B-45C6-85DD-4626A54A62D2}"/>
            </a:ext>
          </a:extLst>
        </cdr:cNvPr>
        <cdr:cNvSpPr txBox="1"/>
      </cdr:nvSpPr>
      <cdr:spPr>
        <a:xfrm xmlns:a="http://schemas.openxmlformats.org/drawingml/2006/main">
          <a:off x="863337" y="1018530"/>
          <a:ext cx="548676" cy="21544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50%</a:t>
          </a:r>
        </a:p>
      </cdr:txBody>
    </cdr:sp>
  </cdr:relSizeAnchor>
  <cdr:relSizeAnchor xmlns:cdr="http://schemas.openxmlformats.org/drawingml/2006/chartDrawing">
    <cdr:from>
      <cdr:x>0.33323</cdr:x>
      <cdr:y>0.34019</cdr:y>
    </cdr:from>
    <cdr:to>
      <cdr:x>0.44693</cdr:x>
      <cdr:y>0.42975</cdr:y>
    </cdr:to>
    <cdr:sp macro="" textlink="">
      <cdr:nvSpPr>
        <cdr:cNvPr id="11" name="CaixaDeTexto 7">
          <a:extLst xmlns:a="http://schemas.openxmlformats.org/drawingml/2006/main">
            <a:ext uri="{FF2B5EF4-FFF2-40B4-BE49-F238E27FC236}">
              <a16:creationId xmlns:a16="http://schemas.microsoft.com/office/drawing/2014/main" id="{5171BA52-808F-4F21-9A8F-90EDB1A4D63C}"/>
            </a:ext>
          </a:extLst>
        </cdr:cNvPr>
        <cdr:cNvSpPr txBox="1"/>
      </cdr:nvSpPr>
      <cdr:spPr>
        <a:xfrm xmlns:a="http://schemas.openxmlformats.org/drawingml/2006/main">
          <a:off x="1607914" y="818344"/>
          <a:ext cx="548628" cy="21544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66,67%</a:t>
          </a:r>
          <a:endParaRPr lang="pt-BR" sz="700" dirty="0">
            <a:solidFill>
              <a:schemeClr val="tx1">
                <a:lumMod val="65000"/>
                <a:lumOff val="3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  <cdr:relSizeAnchor xmlns:cdr="http://schemas.openxmlformats.org/drawingml/2006/chartDrawing">
    <cdr:from>
      <cdr:x>0.65658</cdr:x>
      <cdr:y>0.44579</cdr:y>
    </cdr:from>
    <cdr:to>
      <cdr:x>0.77028</cdr:x>
      <cdr:y>0.53535</cdr:y>
    </cdr:to>
    <cdr:sp macro="" textlink="">
      <cdr:nvSpPr>
        <cdr:cNvPr id="12" name="CaixaDeTexto 9">
          <a:extLst xmlns:a="http://schemas.openxmlformats.org/drawingml/2006/main">
            <a:ext uri="{FF2B5EF4-FFF2-40B4-BE49-F238E27FC236}">
              <a16:creationId xmlns:a16="http://schemas.microsoft.com/office/drawing/2014/main" id="{3F4F2710-C131-4429-8C77-124888AA461D}"/>
            </a:ext>
          </a:extLst>
        </cdr:cNvPr>
        <cdr:cNvSpPr txBox="1"/>
      </cdr:nvSpPr>
      <cdr:spPr>
        <a:xfrm xmlns:a="http://schemas.openxmlformats.org/drawingml/2006/main">
          <a:off x="3168128" y="1072392"/>
          <a:ext cx="548627" cy="215443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pt-BR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BR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16,67%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F9F5F-61E0-419B-AC64-9788E8FD6C1E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229835-F6EC-493C-A1F5-48CF43CC15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25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29835-F6EC-493C-A1F5-48CF43CC15A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860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29835-F6EC-493C-A1F5-48CF43CC15A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927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29835-F6EC-493C-A1F5-48CF43CC15AB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529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47EE8-4303-46C7-AC58-9A0761678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11B05B-930F-4207-9AC6-E526592C1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B80240-26B0-4718-9482-FCEFBA7E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9F2770-A00D-45E0-8A27-922D11BA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CF22A5-E0F5-4D0C-991D-489B988F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02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79184-820B-4104-AB6B-E51978A2A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ACA27B-98CF-4560-A159-254EAB6C3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805A3F-8729-4933-915D-5B0D1D90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C4AE7D-B8D1-4215-92A1-0140A5BA4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7AD5E5-9DFE-4B23-AA2F-5FE9A547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166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B9F23-A61F-46AC-9A4E-641B8B32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568F9F-3E4F-4220-8A3E-6DD04508F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C5999E-0486-4957-84ED-3C83051A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A91186-45A2-4E45-9003-DF5B298B9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B004F9-E6E0-4294-A165-46ABBD32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139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73CC3-3117-4A98-8AF5-2D444EEB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01455D-C5EF-4659-8A36-FA88E4677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AA88E4-D01D-4CF1-B1FB-07CF4D2E4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52F283-C6B9-40AF-B851-CF3B311A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759488-C253-48BD-BD01-9E09B721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67C49C-4D79-4721-A23C-CD7EA052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763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40CD4-42C4-44E5-BBD0-DA06E5D8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1C2DC9-CBCB-472D-8AFC-AD72B6774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783CC5-E0E6-49A6-99FE-2C7EC3968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E26C98-9F53-4B15-B864-D26142881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91DAB4-96A1-4885-993D-1644F6590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ACEC98A-05A4-4A1A-9ECF-FBBE8139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56572A-F1CA-40B3-9C2D-4EEB9BB1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323276-F0CF-4971-B34C-EECD3594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12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6960C-F197-49A4-908C-3211BC156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A0BEB64-A6F8-4D09-91EA-17C729EF3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3E23F6-17B2-45A6-A4A9-47E38CCE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B55702-D6C6-4BDE-97DA-4ECA697E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565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F983172-A4FE-4971-9780-A2DB220FB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A29A99-AADF-4E23-8279-3D3CB202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6D661F-0B39-4FDF-8834-881E3AA3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87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6A51E-7523-49B3-9EF0-486E8282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E574B6-E754-4FF3-BF1E-B4D820A97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128BA3-BD21-4491-BD09-EFD8AA989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36FBFC-BD0A-4B81-A99E-60A646D8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F47FF0-234E-407A-B7B4-CA144955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FD96D0-4412-48D4-A6B8-72177CAF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42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F55F4-FE9C-4787-8EB8-4D352A03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9089F6D-85A7-4465-A87C-C54A0C41B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ECC5B6-74B4-4B9A-AC17-E3FDCC26F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4ED76-64D5-437D-A276-48AC4B9F3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2B90BE-B934-4969-AA04-9C1FDC92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3FF7C7-94BD-41D2-BA89-3C49975E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33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5DD43-BE83-435F-AD67-16ED9E0B6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CEB165-2BF4-44E0-8AF3-7F5D9D03D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4154C9-7B45-40AA-81BA-FE3887EA0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52A3FA-EC1B-403D-88D5-D75E1292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1A9408-2648-4661-8769-1DE466DC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989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523552-55A8-4200-8C39-CE9C1C118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74DB7F-2FD6-482F-88B3-13352CCAE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9A6A25-5218-4B02-A3A9-54225840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590FB6-F1E7-4D56-A4E8-1D04039C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7E6256-D0EC-43AA-A6D6-A161EFF9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9299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47EE8-4303-46C7-AC58-9A0761678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11B05B-930F-4207-9AC6-E526592C1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B80240-26B0-4718-9482-FCEFBA7E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9F2770-A00D-45E0-8A27-922D11BA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CF22A5-E0F5-4D0C-991D-489B988F0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9599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779184-820B-4104-AB6B-E51978A2A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ACA27B-98CF-4560-A159-254EAB6C3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805A3F-8729-4933-915D-5B0D1D90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C4AE7D-B8D1-4215-92A1-0140A5BA4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7AD5E5-9DFE-4B23-AA2F-5FE9A547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6035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B9F23-A61F-46AC-9A4E-641B8B320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568F9F-3E4F-4220-8A3E-6DD04508F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C5999E-0486-4957-84ED-3C83051A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A91186-45A2-4E45-9003-DF5B298B9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B004F9-E6E0-4294-A165-46ABBD32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096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73CC3-3117-4A98-8AF5-2D444EEB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01455D-C5EF-4659-8A36-FA88E4677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AA88E4-D01D-4CF1-B1FB-07CF4D2E4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52F283-C6B9-40AF-B851-CF3B311A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759488-C253-48BD-BD01-9E09B721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67C49C-4D79-4721-A23C-CD7EA052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409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40CD4-42C4-44E5-BBD0-DA06E5D8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1C2DC9-CBCB-472D-8AFC-AD72B6774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783CC5-E0E6-49A6-99FE-2C7EC3968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E26C98-9F53-4B15-B864-D26142881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91DAB4-96A1-4885-993D-1644F6590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ACEC98A-05A4-4A1A-9ECF-FBBE8139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56572A-F1CA-40B3-9C2D-4EEB9BB1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323276-F0CF-4971-B34C-EECD3594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484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6960C-F197-49A4-908C-3211BC156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A0BEB64-A6F8-4D09-91EA-17C729EF3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3E23F6-17B2-45A6-A4A9-47E38CCE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B55702-D6C6-4BDE-97DA-4ECA697E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3254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F983172-A4FE-4971-9780-A2DB220FB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A29A99-AADF-4E23-8279-3D3CB202B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6D661F-0B39-4FDF-8834-881E3AA3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58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6A51E-7523-49B3-9EF0-486E82823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E574B6-E754-4FF3-BF1E-B4D820A97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128BA3-BD21-4491-BD09-EFD8AA989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36FBFC-BD0A-4B81-A99E-60A646D8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F47FF0-234E-407A-B7B4-CA144955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FD96D0-4412-48D4-A6B8-72177CAF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20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F55F4-FE9C-4787-8EB8-4D352A03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9089F6D-85A7-4465-A87C-C54A0C41B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ECC5B6-74B4-4B9A-AC17-E3FDCC26F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4ED76-64D5-437D-A276-48AC4B9F3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2B90BE-B934-4969-AA04-9C1FDC92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3FF7C7-94BD-41D2-BA89-3C49975E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028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5DD43-BE83-435F-AD67-16ED9E0B6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CEB165-2BF4-44E0-8AF3-7F5D9D03D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4154C9-7B45-40AA-81BA-FE3887EA0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52A3FA-EC1B-403D-88D5-D75E1292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1A9408-2648-4661-8769-1DE466DC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39557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523552-55A8-4200-8C39-CE9C1C118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74DB7F-2FD6-482F-88B3-13352CCAE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9A6A25-5218-4B02-A3A9-54225840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590FB6-F1E7-4D56-A4E8-1D04039C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7E6256-D0EC-43AA-A6D6-A161EFF9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65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chemeClr val="bg1">
                <a:lumMod val="95000"/>
              </a:schemeClr>
            </a:gs>
            <a:gs pos="100000">
              <a:schemeClr val="bg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7B538F0-5F9C-46DD-B714-54E3883C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FDCBCC-EC74-4408-B0AB-5C4602903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3B4CDA-7CC8-4F2F-AA14-1CD80F172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5D0830-6E37-49F9-B4A0-F3440CADD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40D348-0496-45A4-9C79-710896223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1699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7B538F0-5F9C-46DD-B714-54E3883C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FDCBCC-EC74-4408-B0AB-5C4602903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3B4CDA-7CC8-4F2F-AA14-1CD80F172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3E878-5096-4098-811A-D489D9E995BB}" type="datetimeFigureOut">
              <a:rPr lang="pt-BR" smtClean="0"/>
              <a:t>13/08/2026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5D0830-6E37-49F9-B4A0-F3440CADD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40D348-0496-45A4-9C79-710896223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7A37C-483A-4E64-9B7B-804F815FC7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902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hart" Target="../charts/char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hart" Target="../charts/char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5.xml"/><Relationship Id="rId5" Type="http://schemas.openxmlformats.org/officeDocument/2006/relationships/image" Target="../media/image4.png"/><Relationship Id="rId4" Type="http://schemas.openxmlformats.org/officeDocument/2006/relationships/chart" Target="../charts/char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6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chart" Target="../charts/char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3.xml"/><Relationship Id="rId5" Type="http://schemas.openxmlformats.org/officeDocument/2006/relationships/image" Target="../media/image4.png"/><Relationship Id="rId4" Type="http://schemas.openxmlformats.org/officeDocument/2006/relationships/chart" Target="../charts/chart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chart" Target="../charts/chart24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chart" Target="../charts/chart26.xml"/><Relationship Id="rId4" Type="http://schemas.openxmlformats.org/officeDocument/2006/relationships/chart" Target="../charts/chart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chart" Target="../charts/chart28.xml"/><Relationship Id="rId4" Type="http://schemas.openxmlformats.org/officeDocument/2006/relationships/chart" Target="../charts/chart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chart" Target="../charts/chart2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31.xml"/><Relationship Id="rId5" Type="http://schemas.openxmlformats.org/officeDocument/2006/relationships/image" Target="../media/image4.png"/><Relationship Id="rId4" Type="http://schemas.openxmlformats.org/officeDocument/2006/relationships/chart" Target="../charts/chart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2.xml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021C8E1-11F0-459F-8C87-DCB9B6EC7814}"/>
              </a:ext>
            </a:extLst>
          </p:cNvPr>
          <p:cNvSpPr/>
          <p:nvPr/>
        </p:nvSpPr>
        <p:spPr>
          <a:xfrm>
            <a:off x="3214255" y="4289580"/>
            <a:ext cx="5419382" cy="422031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75000"/>
                  <a:tint val="66000"/>
                  <a:satMod val="160000"/>
                </a:schemeClr>
              </a:gs>
              <a:gs pos="50000">
                <a:schemeClr val="bg2">
                  <a:lumMod val="75000"/>
                  <a:tint val="44500"/>
                  <a:satMod val="160000"/>
                </a:schemeClr>
              </a:gs>
              <a:gs pos="100000">
                <a:schemeClr val="bg2">
                  <a:lumMod val="75000"/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C1D32C22-2BB4-4AA9-AC92-F27F756F9A46}"/>
              </a:ext>
            </a:extLst>
          </p:cNvPr>
          <p:cNvSpPr/>
          <p:nvPr/>
        </p:nvSpPr>
        <p:spPr>
          <a:xfrm>
            <a:off x="9727562" y="551224"/>
            <a:ext cx="2020973" cy="375927"/>
          </a:xfrm>
          <a:prstGeom prst="roundRect">
            <a:avLst>
              <a:gd name="adj" fmla="val 13727"/>
            </a:avLst>
          </a:prstGeom>
          <a:solidFill>
            <a:srgbClr val="0B589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B017911-3FA8-4E15-AE1D-B1FD14D64222}"/>
              </a:ext>
            </a:extLst>
          </p:cNvPr>
          <p:cNvSpPr/>
          <p:nvPr/>
        </p:nvSpPr>
        <p:spPr>
          <a:xfrm>
            <a:off x="9773512" y="588962"/>
            <a:ext cx="1992680" cy="341643"/>
          </a:xfrm>
          <a:prstGeom prst="roundRect">
            <a:avLst>
              <a:gd name="adj" fmla="val 1372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A5950180-9DDC-4E06-9746-C88850FA434F}"/>
              </a:ext>
            </a:extLst>
          </p:cNvPr>
          <p:cNvSpPr txBox="1">
            <a:spLocks/>
          </p:cNvSpPr>
          <p:nvPr/>
        </p:nvSpPr>
        <p:spPr>
          <a:xfrm>
            <a:off x="-1" y="855616"/>
            <a:ext cx="12192001" cy="5580185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3300" b="1" spc="-300" dirty="0">
                <a:solidFill>
                  <a:schemeClr val="tx1">
                    <a:lumMod val="50000"/>
                    <a:lumOff val="50000"/>
                    <a:alpha val="11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11001D-7B27-4D1E-8727-3B5C67488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9297" y="3091934"/>
            <a:ext cx="5985178" cy="1189342"/>
          </a:xfrm>
          <a:effectLst/>
        </p:spPr>
        <p:txBody>
          <a:bodyPr>
            <a:noAutofit/>
          </a:bodyPr>
          <a:lstStyle/>
          <a:p>
            <a:pPr algn="l"/>
            <a:r>
              <a:rPr lang="pt-BR" sz="10300" b="1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WEEKLY</a:t>
            </a:r>
            <a:endParaRPr lang="pt-BR" sz="12400" b="1" dirty="0">
              <a:solidFill>
                <a:srgbClr val="0B58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19E4ED5-6191-4819-BC5E-0686AFC2CEAF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4C060A47-A05B-445F-9298-A5D6A781B1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9146" y="2565415"/>
            <a:ext cx="2132458" cy="2132458"/>
          </a:xfrm>
          <a:prstGeom prst="rect">
            <a:avLst/>
          </a:prstGeom>
          <a:effectLst>
            <a:outerShdw blurRad="457200" dist="38100" dir="2700000" sx="106000" sy="106000" algn="tl" rotWithShape="0">
              <a:prstClr val="black">
                <a:alpha val="40000"/>
              </a:prstClr>
            </a:outerShdw>
            <a:reflection blurRad="6350" stA="50000" endA="300" endPos="55500" dist="101600" dir="5400000" sy="-100000" algn="bl" rotWithShape="0"/>
          </a:effec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9EF44465-2770-491B-BA4E-94ADD8550292}"/>
              </a:ext>
            </a:extLst>
          </p:cNvPr>
          <p:cNvSpPr txBox="1">
            <a:spLocks/>
          </p:cNvSpPr>
          <p:nvPr/>
        </p:nvSpPr>
        <p:spPr>
          <a:xfrm>
            <a:off x="3767590" y="4194938"/>
            <a:ext cx="4780987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OPERACIONAIS - DIGITAL</a:t>
            </a:r>
          </a:p>
        </p:txBody>
      </p:sp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>
            <a:off x="3417784" y="4365535"/>
            <a:ext cx="293131" cy="279819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21D28AC1-0221-48D8-B024-0763281FCC5A}"/>
              </a:ext>
            </a:extLst>
          </p:cNvPr>
          <p:cNvSpPr/>
          <p:nvPr/>
        </p:nvSpPr>
        <p:spPr>
          <a:xfrm>
            <a:off x="-1115466" y="6709718"/>
            <a:ext cx="3855939" cy="3002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B97A203-0963-4EDB-AFF5-18D33C0036C8}"/>
              </a:ext>
            </a:extLst>
          </p:cNvPr>
          <p:cNvSpPr/>
          <p:nvPr/>
        </p:nvSpPr>
        <p:spPr>
          <a:xfrm>
            <a:off x="2310271" y="6709718"/>
            <a:ext cx="3768436" cy="300251"/>
          </a:xfrm>
          <a:prstGeom prst="rect">
            <a:avLst/>
          </a:prstGeom>
          <a:solidFill>
            <a:srgbClr val="D90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5394920" y="6707874"/>
            <a:ext cx="4776717" cy="30025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E8ED96BD-2906-4BD9-86CD-086D77D840E8}"/>
              </a:ext>
            </a:extLst>
          </p:cNvPr>
          <p:cNvSpPr txBox="1">
            <a:spLocks/>
          </p:cNvSpPr>
          <p:nvPr/>
        </p:nvSpPr>
        <p:spPr>
          <a:xfrm>
            <a:off x="0" y="5391500"/>
            <a:ext cx="12192000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600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Excelência não é um ato, é um hábito diário.</a:t>
            </a: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8B24F100-4168-4C22-95ED-00150A20E58B}"/>
              </a:ext>
            </a:extLst>
          </p:cNvPr>
          <p:cNvSpPr txBox="1">
            <a:spLocks/>
          </p:cNvSpPr>
          <p:nvPr/>
        </p:nvSpPr>
        <p:spPr>
          <a:xfrm>
            <a:off x="10010273" y="673769"/>
            <a:ext cx="1744579" cy="228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grpSp>
        <p:nvGrpSpPr>
          <p:cNvPr id="64" name="Google Shape;2286;p50">
            <a:extLst>
              <a:ext uri="{FF2B5EF4-FFF2-40B4-BE49-F238E27FC236}">
                <a16:creationId xmlns:a16="http://schemas.microsoft.com/office/drawing/2014/main" id="{DD2CD91E-4B95-4BA2-97EA-B75F30F1F20D}"/>
              </a:ext>
            </a:extLst>
          </p:cNvPr>
          <p:cNvGrpSpPr/>
          <p:nvPr/>
        </p:nvGrpSpPr>
        <p:grpSpPr>
          <a:xfrm>
            <a:off x="9914641" y="640516"/>
            <a:ext cx="256996" cy="256996"/>
            <a:chOff x="10170398" y="2275581"/>
            <a:chExt cx="1044240" cy="1044240"/>
          </a:xfrm>
          <a:solidFill>
            <a:srgbClr val="0B5892"/>
          </a:solidFill>
        </p:grpSpPr>
        <p:sp>
          <p:nvSpPr>
            <p:cNvPr id="65" name="Google Shape;2287;p50">
              <a:extLst>
                <a:ext uri="{FF2B5EF4-FFF2-40B4-BE49-F238E27FC236}">
                  <a16:creationId xmlns:a16="http://schemas.microsoft.com/office/drawing/2014/main" id="{A45AE1BE-32EF-4AEA-A507-6978FDF05586}"/>
                </a:ext>
              </a:extLst>
            </p:cNvPr>
            <p:cNvSpPr/>
            <p:nvPr/>
          </p:nvSpPr>
          <p:spPr>
            <a:xfrm>
              <a:off x="10170398" y="2275581"/>
              <a:ext cx="1044240" cy="1044240"/>
            </a:xfrm>
            <a:custGeom>
              <a:avLst/>
              <a:gdLst/>
              <a:ahLst/>
              <a:cxnLst/>
              <a:rect l="l" t="t" r="r" b="b"/>
              <a:pathLst>
                <a:path w="1044240" h="1044240" extrusionOk="0">
                  <a:moveTo>
                    <a:pt x="1043243" y="1023511"/>
                  </a:moveTo>
                  <a:lnTo>
                    <a:pt x="890278" y="620562"/>
                  </a:lnTo>
                  <a:cubicBezTo>
                    <a:pt x="889008" y="617215"/>
                    <a:pt x="886603" y="614420"/>
                    <a:pt x="883487" y="612664"/>
                  </a:cubicBezTo>
                  <a:lnTo>
                    <a:pt x="720557" y="520873"/>
                  </a:lnTo>
                  <a:lnTo>
                    <a:pt x="768125" y="445452"/>
                  </a:lnTo>
                  <a:cubicBezTo>
                    <a:pt x="797319" y="399126"/>
                    <a:pt x="812752" y="345590"/>
                    <a:pt x="812752" y="290633"/>
                  </a:cubicBezTo>
                  <a:cubicBezTo>
                    <a:pt x="812752" y="130377"/>
                    <a:pt x="682375" y="0"/>
                    <a:pt x="522119" y="0"/>
                  </a:cubicBezTo>
                  <a:cubicBezTo>
                    <a:pt x="361863" y="0"/>
                    <a:pt x="231486" y="130377"/>
                    <a:pt x="231486" y="290633"/>
                  </a:cubicBezTo>
                  <a:cubicBezTo>
                    <a:pt x="231486" y="345604"/>
                    <a:pt x="246925" y="399142"/>
                    <a:pt x="276135" y="445456"/>
                  </a:cubicBezTo>
                  <a:cubicBezTo>
                    <a:pt x="276917" y="446698"/>
                    <a:pt x="323691" y="520877"/>
                    <a:pt x="323691" y="520877"/>
                  </a:cubicBezTo>
                  <a:lnTo>
                    <a:pt x="160755" y="612664"/>
                  </a:lnTo>
                  <a:cubicBezTo>
                    <a:pt x="157637" y="614420"/>
                    <a:pt x="155232" y="617215"/>
                    <a:pt x="153961" y="620562"/>
                  </a:cubicBezTo>
                  <a:lnTo>
                    <a:pt x="997" y="1023511"/>
                  </a:lnTo>
                  <a:cubicBezTo>
                    <a:pt x="-1290" y="1029532"/>
                    <a:pt x="442" y="1036340"/>
                    <a:pt x="5323" y="1040539"/>
                  </a:cubicBezTo>
                  <a:cubicBezTo>
                    <a:pt x="10209" y="1044741"/>
                    <a:pt x="17195" y="1045432"/>
                    <a:pt x="22805" y="1042269"/>
                  </a:cubicBezTo>
                  <a:lnTo>
                    <a:pt x="268707" y="903732"/>
                  </a:lnTo>
                  <a:lnTo>
                    <a:pt x="514609" y="1042269"/>
                  </a:lnTo>
                  <a:cubicBezTo>
                    <a:pt x="519270" y="1044894"/>
                    <a:pt x="524966" y="1044894"/>
                    <a:pt x="529626" y="1042269"/>
                  </a:cubicBezTo>
                  <a:lnTo>
                    <a:pt x="775528" y="903732"/>
                  </a:lnTo>
                  <a:lnTo>
                    <a:pt x="1021430" y="1042269"/>
                  </a:lnTo>
                  <a:cubicBezTo>
                    <a:pt x="1023776" y="1043590"/>
                    <a:pt x="1026364" y="1044239"/>
                    <a:pt x="1028938" y="1044239"/>
                  </a:cubicBezTo>
                  <a:cubicBezTo>
                    <a:pt x="1032519" y="1044239"/>
                    <a:pt x="1036072" y="1042985"/>
                    <a:pt x="1038915" y="1040541"/>
                  </a:cubicBezTo>
                  <a:cubicBezTo>
                    <a:pt x="1043800" y="1036340"/>
                    <a:pt x="1045529" y="1029532"/>
                    <a:pt x="1043243" y="1023511"/>
                  </a:cubicBezTo>
                  <a:close/>
                  <a:moveTo>
                    <a:pt x="537417" y="792788"/>
                  </a:moveTo>
                  <a:cubicBezTo>
                    <a:pt x="546987" y="789410"/>
                    <a:pt x="555284" y="782904"/>
                    <a:pt x="560915" y="773989"/>
                  </a:cubicBezTo>
                  <a:cubicBezTo>
                    <a:pt x="561692" y="772765"/>
                    <a:pt x="691912" y="566296"/>
                    <a:pt x="691912" y="566296"/>
                  </a:cubicBezTo>
                  <a:lnTo>
                    <a:pt x="758235" y="878360"/>
                  </a:lnTo>
                  <a:lnTo>
                    <a:pt x="537417" y="1002763"/>
                  </a:lnTo>
                  <a:close/>
                  <a:moveTo>
                    <a:pt x="302013" y="429133"/>
                  </a:moveTo>
                  <a:cubicBezTo>
                    <a:pt x="275889" y="387710"/>
                    <a:pt x="262081" y="339818"/>
                    <a:pt x="262081" y="290631"/>
                  </a:cubicBezTo>
                  <a:cubicBezTo>
                    <a:pt x="262081" y="147244"/>
                    <a:pt x="378734" y="30591"/>
                    <a:pt x="522121" y="30591"/>
                  </a:cubicBezTo>
                  <a:cubicBezTo>
                    <a:pt x="665508" y="30591"/>
                    <a:pt x="782161" y="147244"/>
                    <a:pt x="782161" y="290631"/>
                  </a:cubicBezTo>
                  <a:cubicBezTo>
                    <a:pt x="782161" y="339808"/>
                    <a:pt x="768357" y="387704"/>
                    <a:pt x="742249" y="429133"/>
                  </a:cubicBezTo>
                  <a:cubicBezTo>
                    <a:pt x="740208" y="432370"/>
                    <a:pt x="538658" y="751989"/>
                    <a:pt x="535141" y="757510"/>
                  </a:cubicBezTo>
                  <a:cubicBezTo>
                    <a:pt x="535109" y="757557"/>
                    <a:pt x="535080" y="757606"/>
                    <a:pt x="535050" y="757653"/>
                  </a:cubicBezTo>
                  <a:cubicBezTo>
                    <a:pt x="532213" y="762139"/>
                    <a:pt x="527381" y="764821"/>
                    <a:pt x="522121" y="764821"/>
                  </a:cubicBezTo>
                  <a:cubicBezTo>
                    <a:pt x="516857" y="764821"/>
                    <a:pt x="512003" y="762127"/>
                    <a:pt x="509162" y="757661"/>
                  </a:cubicBezTo>
                  <a:cubicBezTo>
                    <a:pt x="507118" y="754420"/>
                    <a:pt x="305166" y="434169"/>
                    <a:pt x="302082" y="429245"/>
                  </a:cubicBezTo>
                  <a:cubicBezTo>
                    <a:pt x="302060" y="429209"/>
                    <a:pt x="302035" y="429172"/>
                    <a:pt x="302013" y="429133"/>
                  </a:cubicBezTo>
                  <a:close/>
                  <a:moveTo>
                    <a:pt x="180596" y="636598"/>
                  </a:moveTo>
                  <a:lnTo>
                    <a:pt x="323191" y="556267"/>
                  </a:lnTo>
                  <a:lnTo>
                    <a:pt x="298350" y="673141"/>
                  </a:lnTo>
                  <a:cubicBezTo>
                    <a:pt x="296594" y="681405"/>
                    <a:pt x="301868" y="689526"/>
                    <a:pt x="310130" y="691284"/>
                  </a:cubicBezTo>
                  <a:cubicBezTo>
                    <a:pt x="311203" y="691513"/>
                    <a:pt x="312274" y="691623"/>
                    <a:pt x="313326" y="691623"/>
                  </a:cubicBezTo>
                  <a:cubicBezTo>
                    <a:pt x="320393" y="691623"/>
                    <a:pt x="326744" y="686693"/>
                    <a:pt x="328272" y="679504"/>
                  </a:cubicBezTo>
                  <a:lnTo>
                    <a:pt x="352332" y="566306"/>
                  </a:lnTo>
                  <a:lnTo>
                    <a:pt x="483313" y="774030"/>
                  </a:lnTo>
                  <a:cubicBezTo>
                    <a:pt x="488964" y="782920"/>
                    <a:pt x="497267" y="789412"/>
                    <a:pt x="506820" y="792785"/>
                  </a:cubicBezTo>
                  <a:lnTo>
                    <a:pt x="506820" y="1002767"/>
                  </a:lnTo>
                  <a:lnTo>
                    <a:pt x="286007" y="878362"/>
                  </a:lnTo>
                  <a:lnTo>
                    <a:pt x="315553" y="739350"/>
                  </a:lnTo>
                  <a:cubicBezTo>
                    <a:pt x="317309" y="731086"/>
                    <a:pt x="312035" y="722964"/>
                    <a:pt x="303773" y="721206"/>
                  </a:cubicBezTo>
                  <a:cubicBezTo>
                    <a:pt x="295501" y="719440"/>
                    <a:pt x="287385" y="724726"/>
                    <a:pt x="285629" y="732986"/>
                  </a:cubicBezTo>
                  <a:lnTo>
                    <a:pt x="255181" y="876235"/>
                  </a:lnTo>
                  <a:lnTo>
                    <a:pt x="44588" y="994882"/>
                  </a:lnTo>
                  <a:close/>
                  <a:moveTo>
                    <a:pt x="789059" y="876237"/>
                  </a:moveTo>
                  <a:lnTo>
                    <a:pt x="721055" y="556265"/>
                  </a:lnTo>
                  <a:lnTo>
                    <a:pt x="863644" y="636598"/>
                  </a:lnTo>
                  <a:lnTo>
                    <a:pt x="999654" y="9948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2288;p50">
              <a:extLst>
                <a:ext uri="{FF2B5EF4-FFF2-40B4-BE49-F238E27FC236}">
                  <a16:creationId xmlns:a16="http://schemas.microsoft.com/office/drawing/2014/main" id="{A6AE6957-2411-41B9-955C-B436C14393C1}"/>
                </a:ext>
              </a:extLst>
            </p:cNvPr>
            <p:cNvSpPr/>
            <p:nvPr/>
          </p:nvSpPr>
          <p:spPr>
            <a:xfrm>
              <a:off x="10524258" y="2397950"/>
              <a:ext cx="336522" cy="336522"/>
            </a:xfrm>
            <a:custGeom>
              <a:avLst/>
              <a:gdLst/>
              <a:ahLst/>
              <a:cxnLst/>
              <a:rect l="l" t="t" r="r" b="b"/>
              <a:pathLst>
                <a:path w="336522" h="336522" extrusionOk="0">
                  <a:moveTo>
                    <a:pt x="336522" y="168261"/>
                  </a:moveTo>
                  <a:cubicBezTo>
                    <a:pt x="336522" y="75483"/>
                    <a:pt x="261039" y="0"/>
                    <a:pt x="168261" y="0"/>
                  </a:cubicBezTo>
                  <a:cubicBezTo>
                    <a:pt x="75483" y="0"/>
                    <a:pt x="0" y="75483"/>
                    <a:pt x="0" y="168261"/>
                  </a:cubicBezTo>
                  <a:cubicBezTo>
                    <a:pt x="0" y="261039"/>
                    <a:pt x="75483" y="336522"/>
                    <a:pt x="168261" y="336522"/>
                  </a:cubicBezTo>
                  <a:cubicBezTo>
                    <a:pt x="261039" y="336522"/>
                    <a:pt x="336522" y="261039"/>
                    <a:pt x="336522" y="168261"/>
                  </a:cubicBezTo>
                  <a:close/>
                  <a:moveTo>
                    <a:pt x="30593" y="168261"/>
                  </a:moveTo>
                  <a:cubicBezTo>
                    <a:pt x="30593" y="92350"/>
                    <a:pt x="92350" y="30593"/>
                    <a:pt x="168261" y="30593"/>
                  </a:cubicBezTo>
                  <a:cubicBezTo>
                    <a:pt x="244172" y="30593"/>
                    <a:pt x="305929" y="92350"/>
                    <a:pt x="305929" y="168261"/>
                  </a:cubicBezTo>
                  <a:cubicBezTo>
                    <a:pt x="305929" y="244172"/>
                    <a:pt x="244172" y="305929"/>
                    <a:pt x="168261" y="305929"/>
                  </a:cubicBezTo>
                  <a:cubicBezTo>
                    <a:pt x="92350" y="305929"/>
                    <a:pt x="30593" y="244172"/>
                    <a:pt x="30593" y="1682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2289;p50">
              <a:extLst>
                <a:ext uri="{FF2B5EF4-FFF2-40B4-BE49-F238E27FC236}">
                  <a16:creationId xmlns:a16="http://schemas.microsoft.com/office/drawing/2014/main" id="{45390312-E95B-4BA5-B6BB-066662AEF39E}"/>
                </a:ext>
              </a:extLst>
            </p:cNvPr>
            <p:cNvSpPr/>
            <p:nvPr/>
          </p:nvSpPr>
          <p:spPr>
            <a:xfrm>
              <a:off x="10585444" y="2459136"/>
              <a:ext cx="214150" cy="214150"/>
            </a:xfrm>
            <a:custGeom>
              <a:avLst/>
              <a:gdLst/>
              <a:ahLst/>
              <a:cxnLst/>
              <a:rect l="l" t="t" r="r" b="b"/>
              <a:pathLst>
                <a:path w="214150" h="214150" extrusionOk="0">
                  <a:moveTo>
                    <a:pt x="214151" y="107075"/>
                  </a:moveTo>
                  <a:cubicBezTo>
                    <a:pt x="214151" y="48035"/>
                    <a:pt x="166116" y="0"/>
                    <a:pt x="107075" y="0"/>
                  </a:cubicBezTo>
                  <a:cubicBezTo>
                    <a:pt x="48035" y="0"/>
                    <a:pt x="0" y="48035"/>
                    <a:pt x="0" y="107075"/>
                  </a:cubicBezTo>
                  <a:cubicBezTo>
                    <a:pt x="0" y="166116"/>
                    <a:pt x="48035" y="214151"/>
                    <a:pt x="107075" y="214151"/>
                  </a:cubicBezTo>
                  <a:cubicBezTo>
                    <a:pt x="166116" y="214151"/>
                    <a:pt x="214151" y="166116"/>
                    <a:pt x="214151" y="107075"/>
                  </a:cubicBezTo>
                  <a:close/>
                  <a:moveTo>
                    <a:pt x="30593" y="107075"/>
                  </a:moveTo>
                  <a:cubicBezTo>
                    <a:pt x="30593" y="64902"/>
                    <a:pt x="64902" y="30593"/>
                    <a:pt x="107075" y="30593"/>
                  </a:cubicBezTo>
                  <a:cubicBezTo>
                    <a:pt x="149249" y="30593"/>
                    <a:pt x="183558" y="64902"/>
                    <a:pt x="183558" y="107075"/>
                  </a:cubicBezTo>
                  <a:cubicBezTo>
                    <a:pt x="183558" y="149249"/>
                    <a:pt x="149249" y="183558"/>
                    <a:pt x="107075" y="183558"/>
                  </a:cubicBezTo>
                  <a:cubicBezTo>
                    <a:pt x="64902" y="183558"/>
                    <a:pt x="30593" y="149249"/>
                    <a:pt x="30593" y="1070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Retângulo 29">
            <a:extLst>
              <a:ext uri="{FF2B5EF4-FFF2-40B4-BE49-F238E27FC236}">
                <a16:creationId xmlns:a16="http://schemas.microsoft.com/office/drawing/2014/main" id="{3FCA72A0-A0E8-49B6-9BC0-420660649D93}"/>
              </a:ext>
            </a:extLst>
          </p:cNvPr>
          <p:cNvSpPr/>
          <p:nvPr/>
        </p:nvSpPr>
        <p:spPr>
          <a:xfrm>
            <a:off x="8605309" y="6707874"/>
            <a:ext cx="3768436" cy="30025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8DB5BD3-B2F4-4E4B-9ADA-090E7D8F53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BB5F44D-6386-431E-B9E4-DE771ED34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3070" y="6120618"/>
            <a:ext cx="900752" cy="36965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07C20C5-9062-451D-BC63-6A1C8C35C2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7872" y="5512556"/>
            <a:ext cx="1604749" cy="160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52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19E4ED5-6191-4819-BC5E-0686AFC2CEAF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EF44465-2770-491B-BA4E-94ADD8550292}"/>
              </a:ext>
            </a:extLst>
          </p:cNvPr>
          <p:cNvSpPr txBox="1">
            <a:spLocks/>
          </p:cNvSpPr>
          <p:nvPr/>
        </p:nvSpPr>
        <p:spPr>
          <a:xfrm>
            <a:off x="879129" y="430994"/>
            <a:ext cx="5030445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OPERACIONAIS  - DIGITAL</a:t>
            </a:r>
          </a:p>
        </p:txBody>
      </p:sp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>
            <a:off x="594374" y="579597"/>
            <a:ext cx="293131" cy="279819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21D28AC1-0221-48D8-B024-0763281FCC5A}"/>
              </a:ext>
            </a:extLst>
          </p:cNvPr>
          <p:cNvSpPr/>
          <p:nvPr/>
        </p:nvSpPr>
        <p:spPr>
          <a:xfrm>
            <a:off x="-641684" y="6707874"/>
            <a:ext cx="4776717" cy="300251"/>
          </a:xfrm>
          <a:prstGeom prst="rect">
            <a:avLst/>
          </a:prstGeom>
          <a:solidFill>
            <a:srgbClr val="9E2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B97A203-0963-4EDB-AFF5-18D33C0036C8}"/>
              </a:ext>
            </a:extLst>
          </p:cNvPr>
          <p:cNvSpPr/>
          <p:nvPr/>
        </p:nvSpPr>
        <p:spPr>
          <a:xfrm>
            <a:off x="4040868" y="6707874"/>
            <a:ext cx="4776717" cy="300251"/>
          </a:xfrm>
          <a:prstGeom prst="rect">
            <a:avLst/>
          </a:prstGeom>
          <a:solidFill>
            <a:srgbClr val="0B58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8828573" y="6707874"/>
            <a:ext cx="4776717" cy="3002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BEDCAAB-5C89-4501-A713-64F17925C9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585" b="94569" l="5911" r="92971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7496" y="1588168"/>
            <a:ext cx="3884696" cy="3884696"/>
          </a:xfrm>
          <a:prstGeom prst="rect">
            <a:avLst/>
          </a:prstGeom>
          <a:effectLst>
            <a:outerShdw blurRad="342900" dist="177800" dir="2880000" sx="104000" sy="104000" algn="ctr" rotWithShape="0">
              <a:srgbClr val="000000">
                <a:alpha val="20000"/>
              </a:srgbClr>
            </a:outerShdw>
          </a:effectLst>
        </p:spPr>
      </p:pic>
      <p:sp>
        <p:nvSpPr>
          <p:cNvPr id="26" name="Título 1">
            <a:extLst>
              <a:ext uri="{FF2B5EF4-FFF2-40B4-BE49-F238E27FC236}">
                <a16:creationId xmlns:a16="http://schemas.microsoft.com/office/drawing/2014/main" id="{8FAB71B1-3E17-40AE-AC37-CA635E91F7B7}"/>
              </a:ext>
            </a:extLst>
          </p:cNvPr>
          <p:cNvSpPr txBox="1">
            <a:spLocks/>
          </p:cNvSpPr>
          <p:nvPr/>
        </p:nvSpPr>
        <p:spPr>
          <a:xfrm>
            <a:off x="946484" y="2279330"/>
            <a:ext cx="6448928" cy="2308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pt-BR" sz="20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Nesta apresentação iremos demonstrar o consolidado mensal das monitorias de qualidade, bem como a aplicação de feedbacks e o desempenho dos agentes ao longo do período. O objetivo é analisar os resultados alcançados, identificar pontos de destaque e oportunidades de melhoria, além de direcionar as ações de desenvolvimento para o próximo ciclo.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6C179313-8ABC-4FD4-A18E-9AA393B9A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08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C1D32C22-2BB4-4AA9-AC92-F27F756F9A46}"/>
              </a:ext>
            </a:extLst>
          </p:cNvPr>
          <p:cNvSpPr/>
          <p:nvPr/>
        </p:nvSpPr>
        <p:spPr>
          <a:xfrm>
            <a:off x="9727562" y="551224"/>
            <a:ext cx="2020973" cy="375927"/>
          </a:xfrm>
          <a:prstGeom prst="roundRect">
            <a:avLst>
              <a:gd name="adj" fmla="val 13727"/>
            </a:avLst>
          </a:prstGeom>
          <a:solidFill>
            <a:srgbClr val="0B589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B017911-3FA8-4E15-AE1D-B1FD14D64222}"/>
              </a:ext>
            </a:extLst>
          </p:cNvPr>
          <p:cNvSpPr/>
          <p:nvPr/>
        </p:nvSpPr>
        <p:spPr>
          <a:xfrm>
            <a:off x="9773512" y="588962"/>
            <a:ext cx="1992680" cy="341643"/>
          </a:xfrm>
          <a:prstGeom prst="roundRect">
            <a:avLst>
              <a:gd name="adj" fmla="val 1372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A5950180-9DDC-4E06-9746-C88850FA434F}"/>
              </a:ext>
            </a:extLst>
          </p:cNvPr>
          <p:cNvSpPr txBox="1">
            <a:spLocks/>
          </p:cNvSpPr>
          <p:nvPr/>
        </p:nvSpPr>
        <p:spPr>
          <a:xfrm>
            <a:off x="-1" y="855616"/>
            <a:ext cx="12192001" cy="5580185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3300" b="1" spc="-300" dirty="0">
                <a:solidFill>
                  <a:schemeClr val="tx1">
                    <a:lumMod val="50000"/>
                    <a:lumOff val="50000"/>
                    <a:alpha val="11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11001D-7B27-4D1E-8727-3B5C67488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4946" y="3126224"/>
            <a:ext cx="7177673" cy="1189342"/>
          </a:xfrm>
          <a:effectLst/>
        </p:spPr>
        <p:txBody>
          <a:bodyPr>
            <a:noAutofit/>
          </a:bodyPr>
          <a:lstStyle/>
          <a:p>
            <a:r>
              <a:rPr lang="pt-BR" sz="10300" b="1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</a:t>
            </a:r>
            <a:endParaRPr lang="pt-BR" sz="12400" b="1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19E4ED5-6191-4819-BC5E-0686AFC2CEAF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021C8E1-11F0-459F-8C87-DCB9B6EC7814}"/>
              </a:ext>
            </a:extLst>
          </p:cNvPr>
          <p:cNvSpPr/>
          <p:nvPr/>
        </p:nvSpPr>
        <p:spPr>
          <a:xfrm>
            <a:off x="3214255" y="4289580"/>
            <a:ext cx="5167746" cy="422031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75000"/>
                  <a:tint val="66000"/>
                  <a:satMod val="160000"/>
                </a:schemeClr>
              </a:gs>
              <a:gs pos="50000">
                <a:schemeClr val="bg2">
                  <a:lumMod val="75000"/>
                  <a:tint val="44500"/>
                  <a:satMod val="160000"/>
                </a:schemeClr>
              </a:gs>
              <a:gs pos="100000">
                <a:schemeClr val="bg2">
                  <a:lumMod val="75000"/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C55A11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EF44465-2770-491B-BA4E-94ADD8550292}"/>
              </a:ext>
            </a:extLst>
          </p:cNvPr>
          <p:cNvSpPr txBox="1">
            <a:spLocks/>
          </p:cNvSpPr>
          <p:nvPr/>
        </p:nvSpPr>
        <p:spPr>
          <a:xfrm>
            <a:off x="3846918" y="4184846"/>
            <a:ext cx="4596894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OPERACIONAIS  - DIGITAL</a:t>
            </a:r>
          </a:p>
        </p:txBody>
      </p:sp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>
            <a:off x="3417784" y="4365535"/>
            <a:ext cx="293131" cy="279819"/>
            <a:chOff x="4126815" y="2760704"/>
            <a:chExt cx="380393" cy="363118"/>
          </a:xfrm>
          <a:solidFill>
            <a:srgbClr val="C55A11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21D28AC1-0221-48D8-B024-0763281FCC5A}"/>
              </a:ext>
            </a:extLst>
          </p:cNvPr>
          <p:cNvSpPr/>
          <p:nvPr/>
        </p:nvSpPr>
        <p:spPr>
          <a:xfrm>
            <a:off x="-641684" y="6707874"/>
            <a:ext cx="13077524" cy="300251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E8ED96BD-2906-4BD9-86CD-086D77D840E8}"/>
              </a:ext>
            </a:extLst>
          </p:cNvPr>
          <p:cNvSpPr txBox="1">
            <a:spLocks/>
          </p:cNvSpPr>
          <p:nvPr/>
        </p:nvSpPr>
        <p:spPr>
          <a:xfrm>
            <a:off x="0" y="5391500"/>
            <a:ext cx="12192000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600" spc="6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Excelência não é um ato, é um hábito diário.</a:t>
            </a: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8B24F100-4168-4C22-95ED-00150A20E58B}"/>
              </a:ext>
            </a:extLst>
          </p:cNvPr>
          <p:cNvSpPr txBox="1">
            <a:spLocks/>
          </p:cNvSpPr>
          <p:nvPr/>
        </p:nvSpPr>
        <p:spPr>
          <a:xfrm>
            <a:off x="10010273" y="673769"/>
            <a:ext cx="1744579" cy="228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grpSp>
        <p:nvGrpSpPr>
          <p:cNvPr id="64" name="Google Shape;2286;p50">
            <a:extLst>
              <a:ext uri="{FF2B5EF4-FFF2-40B4-BE49-F238E27FC236}">
                <a16:creationId xmlns:a16="http://schemas.microsoft.com/office/drawing/2014/main" id="{DD2CD91E-4B95-4BA2-97EA-B75F30F1F20D}"/>
              </a:ext>
            </a:extLst>
          </p:cNvPr>
          <p:cNvGrpSpPr/>
          <p:nvPr/>
        </p:nvGrpSpPr>
        <p:grpSpPr>
          <a:xfrm>
            <a:off x="9914641" y="640516"/>
            <a:ext cx="256996" cy="256996"/>
            <a:chOff x="10170398" y="2275581"/>
            <a:chExt cx="1044240" cy="1044240"/>
          </a:xfrm>
          <a:solidFill>
            <a:srgbClr val="0B5892"/>
          </a:solidFill>
        </p:grpSpPr>
        <p:sp>
          <p:nvSpPr>
            <p:cNvPr id="65" name="Google Shape;2287;p50">
              <a:extLst>
                <a:ext uri="{FF2B5EF4-FFF2-40B4-BE49-F238E27FC236}">
                  <a16:creationId xmlns:a16="http://schemas.microsoft.com/office/drawing/2014/main" id="{A45AE1BE-32EF-4AEA-A507-6978FDF05586}"/>
                </a:ext>
              </a:extLst>
            </p:cNvPr>
            <p:cNvSpPr/>
            <p:nvPr/>
          </p:nvSpPr>
          <p:spPr>
            <a:xfrm>
              <a:off x="10170398" y="2275581"/>
              <a:ext cx="1044240" cy="1044240"/>
            </a:xfrm>
            <a:custGeom>
              <a:avLst/>
              <a:gdLst/>
              <a:ahLst/>
              <a:cxnLst/>
              <a:rect l="l" t="t" r="r" b="b"/>
              <a:pathLst>
                <a:path w="1044240" h="1044240" extrusionOk="0">
                  <a:moveTo>
                    <a:pt x="1043243" y="1023511"/>
                  </a:moveTo>
                  <a:lnTo>
                    <a:pt x="890278" y="620562"/>
                  </a:lnTo>
                  <a:cubicBezTo>
                    <a:pt x="889008" y="617215"/>
                    <a:pt x="886603" y="614420"/>
                    <a:pt x="883487" y="612664"/>
                  </a:cubicBezTo>
                  <a:lnTo>
                    <a:pt x="720557" y="520873"/>
                  </a:lnTo>
                  <a:lnTo>
                    <a:pt x="768125" y="445452"/>
                  </a:lnTo>
                  <a:cubicBezTo>
                    <a:pt x="797319" y="399126"/>
                    <a:pt x="812752" y="345590"/>
                    <a:pt x="812752" y="290633"/>
                  </a:cubicBezTo>
                  <a:cubicBezTo>
                    <a:pt x="812752" y="130377"/>
                    <a:pt x="682375" y="0"/>
                    <a:pt x="522119" y="0"/>
                  </a:cubicBezTo>
                  <a:cubicBezTo>
                    <a:pt x="361863" y="0"/>
                    <a:pt x="231486" y="130377"/>
                    <a:pt x="231486" y="290633"/>
                  </a:cubicBezTo>
                  <a:cubicBezTo>
                    <a:pt x="231486" y="345604"/>
                    <a:pt x="246925" y="399142"/>
                    <a:pt x="276135" y="445456"/>
                  </a:cubicBezTo>
                  <a:cubicBezTo>
                    <a:pt x="276917" y="446698"/>
                    <a:pt x="323691" y="520877"/>
                    <a:pt x="323691" y="520877"/>
                  </a:cubicBezTo>
                  <a:lnTo>
                    <a:pt x="160755" y="612664"/>
                  </a:lnTo>
                  <a:cubicBezTo>
                    <a:pt x="157637" y="614420"/>
                    <a:pt x="155232" y="617215"/>
                    <a:pt x="153961" y="620562"/>
                  </a:cubicBezTo>
                  <a:lnTo>
                    <a:pt x="997" y="1023511"/>
                  </a:lnTo>
                  <a:cubicBezTo>
                    <a:pt x="-1290" y="1029532"/>
                    <a:pt x="442" y="1036340"/>
                    <a:pt x="5323" y="1040539"/>
                  </a:cubicBezTo>
                  <a:cubicBezTo>
                    <a:pt x="10209" y="1044741"/>
                    <a:pt x="17195" y="1045432"/>
                    <a:pt x="22805" y="1042269"/>
                  </a:cubicBezTo>
                  <a:lnTo>
                    <a:pt x="268707" y="903732"/>
                  </a:lnTo>
                  <a:lnTo>
                    <a:pt x="514609" y="1042269"/>
                  </a:lnTo>
                  <a:cubicBezTo>
                    <a:pt x="519270" y="1044894"/>
                    <a:pt x="524966" y="1044894"/>
                    <a:pt x="529626" y="1042269"/>
                  </a:cubicBezTo>
                  <a:lnTo>
                    <a:pt x="775528" y="903732"/>
                  </a:lnTo>
                  <a:lnTo>
                    <a:pt x="1021430" y="1042269"/>
                  </a:lnTo>
                  <a:cubicBezTo>
                    <a:pt x="1023776" y="1043590"/>
                    <a:pt x="1026364" y="1044239"/>
                    <a:pt x="1028938" y="1044239"/>
                  </a:cubicBezTo>
                  <a:cubicBezTo>
                    <a:pt x="1032519" y="1044239"/>
                    <a:pt x="1036072" y="1042985"/>
                    <a:pt x="1038915" y="1040541"/>
                  </a:cubicBezTo>
                  <a:cubicBezTo>
                    <a:pt x="1043800" y="1036340"/>
                    <a:pt x="1045529" y="1029532"/>
                    <a:pt x="1043243" y="1023511"/>
                  </a:cubicBezTo>
                  <a:close/>
                  <a:moveTo>
                    <a:pt x="537417" y="792788"/>
                  </a:moveTo>
                  <a:cubicBezTo>
                    <a:pt x="546987" y="789410"/>
                    <a:pt x="555284" y="782904"/>
                    <a:pt x="560915" y="773989"/>
                  </a:cubicBezTo>
                  <a:cubicBezTo>
                    <a:pt x="561692" y="772765"/>
                    <a:pt x="691912" y="566296"/>
                    <a:pt x="691912" y="566296"/>
                  </a:cubicBezTo>
                  <a:lnTo>
                    <a:pt x="758235" y="878360"/>
                  </a:lnTo>
                  <a:lnTo>
                    <a:pt x="537417" y="1002763"/>
                  </a:lnTo>
                  <a:close/>
                  <a:moveTo>
                    <a:pt x="302013" y="429133"/>
                  </a:moveTo>
                  <a:cubicBezTo>
                    <a:pt x="275889" y="387710"/>
                    <a:pt x="262081" y="339818"/>
                    <a:pt x="262081" y="290631"/>
                  </a:cubicBezTo>
                  <a:cubicBezTo>
                    <a:pt x="262081" y="147244"/>
                    <a:pt x="378734" y="30591"/>
                    <a:pt x="522121" y="30591"/>
                  </a:cubicBezTo>
                  <a:cubicBezTo>
                    <a:pt x="665508" y="30591"/>
                    <a:pt x="782161" y="147244"/>
                    <a:pt x="782161" y="290631"/>
                  </a:cubicBezTo>
                  <a:cubicBezTo>
                    <a:pt x="782161" y="339808"/>
                    <a:pt x="768357" y="387704"/>
                    <a:pt x="742249" y="429133"/>
                  </a:cubicBezTo>
                  <a:cubicBezTo>
                    <a:pt x="740208" y="432370"/>
                    <a:pt x="538658" y="751989"/>
                    <a:pt x="535141" y="757510"/>
                  </a:cubicBezTo>
                  <a:cubicBezTo>
                    <a:pt x="535109" y="757557"/>
                    <a:pt x="535080" y="757606"/>
                    <a:pt x="535050" y="757653"/>
                  </a:cubicBezTo>
                  <a:cubicBezTo>
                    <a:pt x="532213" y="762139"/>
                    <a:pt x="527381" y="764821"/>
                    <a:pt x="522121" y="764821"/>
                  </a:cubicBezTo>
                  <a:cubicBezTo>
                    <a:pt x="516857" y="764821"/>
                    <a:pt x="512003" y="762127"/>
                    <a:pt x="509162" y="757661"/>
                  </a:cubicBezTo>
                  <a:cubicBezTo>
                    <a:pt x="507118" y="754420"/>
                    <a:pt x="305166" y="434169"/>
                    <a:pt x="302082" y="429245"/>
                  </a:cubicBezTo>
                  <a:cubicBezTo>
                    <a:pt x="302060" y="429209"/>
                    <a:pt x="302035" y="429172"/>
                    <a:pt x="302013" y="429133"/>
                  </a:cubicBezTo>
                  <a:close/>
                  <a:moveTo>
                    <a:pt x="180596" y="636598"/>
                  </a:moveTo>
                  <a:lnTo>
                    <a:pt x="323191" y="556267"/>
                  </a:lnTo>
                  <a:lnTo>
                    <a:pt x="298350" y="673141"/>
                  </a:lnTo>
                  <a:cubicBezTo>
                    <a:pt x="296594" y="681405"/>
                    <a:pt x="301868" y="689526"/>
                    <a:pt x="310130" y="691284"/>
                  </a:cubicBezTo>
                  <a:cubicBezTo>
                    <a:pt x="311203" y="691513"/>
                    <a:pt x="312274" y="691623"/>
                    <a:pt x="313326" y="691623"/>
                  </a:cubicBezTo>
                  <a:cubicBezTo>
                    <a:pt x="320393" y="691623"/>
                    <a:pt x="326744" y="686693"/>
                    <a:pt x="328272" y="679504"/>
                  </a:cubicBezTo>
                  <a:lnTo>
                    <a:pt x="352332" y="566306"/>
                  </a:lnTo>
                  <a:lnTo>
                    <a:pt x="483313" y="774030"/>
                  </a:lnTo>
                  <a:cubicBezTo>
                    <a:pt x="488964" y="782920"/>
                    <a:pt x="497267" y="789412"/>
                    <a:pt x="506820" y="792785"/>
                  </a:cubicBezTo>
                  <a:lnTo>
                    <a:pt x="506820" y="1002767"/>
                  </a:lnTo>
                  <a:lnTo>
                    <a:pt x="286007" y="878362"/>
                  </a:lnTo>
                  <a:lnTo>
                    <a:pt x="315553" y="739350"/>
                  </a:lnTo>
                  <a:cubicBezTo>
                    <a:pt x="317309" y="731086"/>
                    <a:pt x="312035" y="722964"/>
                    <a:pt x="303773" y="721206"/>
                  </a:cubicBezTo>
                  <a:cubicBezTo>
                    <a:pt x="295501" y="719440"/>
                    <a:pt x="287385" y="724726"/>
                    <a:pt x="285629" y="732986"/>
                  </a:cubicBezTo>
                  <a:lnTo>
                    <a:pt x="255181" y="876235"/>
                  </a:lnTo>
                  <a:lnTo>
                    <a:pt x="44588" y="994882"/>
                  </a:lnTo>
                  <a:close/>
                  <a:moveTo>
                    <a:pt x="789059" y="876237"/>
                  </a:moveTo>
                  <a:lnTo>
                    <a:pt x="721055" y="556265"/>
                  </a:lnTo>
                  <a:lnTo>
                    <a:pt x="863644" y="636598"/>
                  </a:lnTo>
                  <a:lnTo>
                    <a:pt x="999654" y="9948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2288;p50">
              <a:extLst>
                <a:ext uri="{FF2B5EF4-FFF2-40B4-BE49-F238E27FC236}">
                  <a16:creationId xmlns:a16="http://schemas.microsoft.com/office/drawing/2014/main" id="{A6AE6957-2411-41B9-955C-B436C14393C1}"/>
                </a:ext>
              </a:extLst>
            </p:cNvPr>
            <p:cNvSpPr/>
            <p:nvPr/>
          </p:nvSpPr>
          <p:spPr>
            <a:xfrm>
              <a:off x="10524258" y="2397950"/>
              <a:ext cx="336522" cy="336522"/>
            </a:xfrm>
            <a:custGeom>
              <a:avLst/>
              <a:gdLst/>
              <a:ahLst/>
              <a:cxnLst/>
              <a:rect l="l" t="t" r="r" b="b"/>
              <a:pathLst>
                <a:path w="336522" h="336522" extrusionOk="0">
                  <a:moveTo>
                    <a:pt x="336522" y="168261"/>
                  </a:moveTo>
                  <a:cubicBezTo>
                    <a:pt x="336522" y="75483"/>
                    <a:pt x="261039" y="0"/>
                    <a:pt x="168261" y="0"/>
                  </a:cubicBezTo>
                  <a:cubicBezTo>
                    <a:pt x="75483" y="0"/>
                    <a:pt x="0" y="75483"/>
                    <a:pt x="0" y="168261"/>
                  </a:cubicBezTo>
                  <a:cubicBezTo>
                    <a:pt x="0" y="261039"/>
                    <a:pt x="75483" y="336522"/>
                    <a:pt x="168261" y="336522"/>
                  </a:cubicBezTo>
                  <a:cubicBezTo>
                    <a:pt x="261039" y="336522"/>
                    <a:pt x="336522" y="261039"/>
                    <a:pt x="336522" y="168261"/>
                  </a:cubicBezTo>
                  <a:close/>
                  <a:moveTo>
                    <a:pt x="30593" y="168261"/>
                  </a:moveTo>
                  <a:cubicBezTo>
                    <a:pt x="30593" y="92350"/>
                    <a:pt x="92350" y="30593"/>
                    <a:pt x="168261" y="30593"/>
                  </a:cubicBezTo>
                  <a:cubicBezTo>
                    <a:pt x="244172" y="30593"/>
                    <a:pt x="305929" y="92350"/>
                    <a:pt x="305929" y="168261"/>
                  </a:cubicBezTo>
                  <a:cubicBezTo>
                    <a:pt x="305929" y="244172"/>
                    <a:pt x="244172" y="305929"/>
                    <a:pt x="168261" y="305929"/>
                  </a:cubicBezTo>
                  <a:cubicBezTo>
                    <a:pt x="92350" y="305929"/>
                    <a:pt x="30593" y="244172"/>
                    <a:pt x="30593" y="1682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2289;p50">
              <a:extLst>
                <a:ext uri="{FF2B5EF4-FFF2-40B4-BE49-F238E27FC236}">
                  <a16:creationId xmlns:a16="http://schemas.microsoft.com/office/drawing/2014/main" id="{45390312-E95B-4BA5-B6BB-066662AEF39E}"/>
                </a:ext>
              </a:extLst>
            </p:cNvPr>
            <p:cNvSpPr/>
            <p:nvPr/>
          </p:nvSpPr>
          <p:spPr>
            <a:xfrm>
              <a:off x="10585444" y="2459136"/>
              <a:ext cx="214150" cy="214150"/>
            </a:xfrm>
            <a:custGeom>
              <a:avLst/>
              <a:gdLst/>
              <a:ahLst/>
              <a:cxnLst/>
              <a:rect l="l" t="t" r="r" b="b"/>
              <a:pathLst>
                <a:path w="214150" h="214150" extrusionOk="0">
                  <a:moveTo>
                    <a:pt x="214151" y="107075"/>
                  </a:moveTo>
                  <a:cubicBezTo>
                    <a:pt x="214151" y="48035"/>
                    <a:pt x="166116" y="0"/>
                    <a:pt x="107075" y="0"/>
                  </a:cubicBezTo>
                  <a:cubicBezTo>
                    <a:pt x="48035" y="0"/>
                    <a:pt x="0" y="48035"/>
                    <a:pt x="0" y="107075"/>
                  </a:cubicBezTo>
                  <a:cubicBezTo>
                    <a:pt x="0" y="166116"/>
                    <a:pt x="48035" y="214151"/>
                    <a:pt x="107075" y="214151"/>
                  </a:cubicBezTo>
                  <a:cubicBezTo>
                    <a:pt x="166116" y="214151"/>
                    <a:pt x="214151" y="166116"/>
                    <a:pt x="214151" y="107075"/>
                  </a:cubicBezTo>
                  <a:close/>
                  <a:moveTo>
                    <a:pt x="30593" y="107075"/>
                  </a:moveTo>
                  <a:cubicBezTo>
                    <a:pt x="30593" y="64902"/>
                    <a:pt x="64902" y="30593"/>
                    <a:pt x="107075" y="30593"/>
                  </a:cubicBezTo>
                  <a:cubicBezTo>
                    <a:pt x="149249" y="30593"/>
                    <a:pt x="183558" y="64902"/>
                    <a:pt x="183558" y="107075"/>
                  </a:cubicBezTo>
                  <a:cubicBezTo>
                    <a:pt x="183558" y="149249"/>
                    <a:pt x="149249" y="183558"/>
                    <a:pt x="107075" y="183558"/>
                  </a:cubicBezTo>
                  <a:cubicBezTo>
                    <a:pt x="64902" y="183558"/>
                    <a:pt x="30593" y="149249"/>
                    <a:pt x="30593" y="1070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9" name="Imagem 68">
            <a:extLst>
              <a:ext uri="{FF2B5EF4-FFF2-40B4-BE49-F238E27FC236}">
                <a16:creationId xmlns:a16="http://schemas.microsoft.com/office/drawing/2014/main" id="{4F21BBA1-8BEA-4B8E-94CB-342D66912A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82477" y="2579063"/>
            <a:ext cx="2132458" cy="2132458"/>
          </a:xfrm>
          <a:prstGeom prst="rect">
            <a:avLst/>
          </a:prstGeom>
          <a:effectLst>
            <a:outerShdw blurRad="457200" dist="38100" dir="2700000" sx="106000" sy="106000" algn="tl" rotWithShape="0">
              <a:prstClr val="black">
                <a:alpha val="40000"/>
              </a:prst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431A2722-9457-4950-8A57-82EB30131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7" name="Título 1">
            <a:extLst>
              <a:ext uri="{FF2B5EF4-FFF2-40B4-BE49-F238E27FC236}">
                <a16:creationId xmlns:a16="http://schemas.microsoft.com/office/drawing/2014/main" id="{3416C2D5-89E4-4A8D-B1BF-19E7D87E0B58}"/>
              </a:ext>
            </a:extLst>
          </p:cNvPr>
          <p:cNvSpPr txBox="1">
            <a:spLocks/>
          </p:cNvSpPr>
          <p:nvPr/>
        </p:nvSpPr>
        <p:spPr>
          <a:xfrm>
            <a:off x="3301781" y="3865096"/>
            <a:ext cx="5131558" cy="4480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6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  <a:endParaRPr lang="pt-BR" sz="2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451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75B4443A-AB0F-41A7-8EBD-850DB095055A}"/>
              </a:ext>
            </a:extLst>
          </p:cNvPr>
          <p:cNvSpPr/>
          <p:nvPr/>
        </p:nvSpPr>
        <p:spPr>
          <a:xfrm>
            <a:off x="3253428" y="4466761"/>
            <a:ext cx="4814164" cy="175290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CA314B76-9ED7-405F-8836-ADF96DD6847A}"/>
              </a:ext>
            </a:extLst>
          </p:cNvPr>
          <p:cNvSpPr/>
          <p:nvPr/>
        </p:nvSpPr>
        <p:spPr>
          <a:xfrm>
            <a:off x="3299149" y="4466762"/>
            <a:ext cx="4814164" cy="17529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F9B8545C-EE3B-4A2D-88AF-B393E3C17F99}"/>
              </a:ext>
            </a:extLst>
          </p:cNvPr>
          <p:cNvSpPr/>
          <p:nvPr/>
        </p:nvSpPr>
        <p:spPr>
          <a:xfrm>
            <a:off x="6222257" y="2102518"/>
            <a:ext cx="4814164" cy="173766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0D24A15-7CCF-4245-A75F-347C77ED1F42}"/>
              </a:ext>
            </a:extLst>
          </p:cNvPr>
          <p:cNvSpPr/>
          <p:nvPr/>
        </p:nvSpPr>
        <p:spPr>
          <a:xfrm>
            <a:off x="6245118" y="2113949"/>
            <a:ext cx="4814164" cy="17376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965998" y="2661515"/>
            <a:ext cx="3625927" cy="527350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19E4ED5-6191-4819-BC5E-0686AFC2CEAF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GERAL DO CANAL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6CE0130-151A-4297-A436-4220E143FB10}"/>
              </a:ext>
            </a:extLst>
          </p:cNvPr>
          <p:cNvSpPr/>
          <p:nvPr/>
        </p:nvSpPr>
        <p:spPr>
          <a:xfrm>
            <a:off x="892067" y="2075848"/>
            <a:ext cx="4814164" cy="175290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BB5200E-D583-4DFF-A3A0-F34072602F9F}"/>
              </a:ext>
            </a:extLst>
          </p:cNvPr>
          <p:cNvSpPr/>
          <p:nvPr/>
        </p:nvSpPr>
        <p:spPr>
          <a:xfrm>
            <a:off x="937788" y="2075849"/>
            <a:ext cx="4814164" cy="17529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F7528B4-88F4-468A-8E7C-E472BD29EE3C}"/>
              </a:ext>
            </a:extLst>
          </p:cNvPr>
          <p:cNvSpPr txBox="1"/>
          <p:nvPr/>
        </p:nvSpPr>
        <p:spPr>
          <a:xfrm>
            <a:off x="1269859" y="2342947"/>
            <a:ext cx="3758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 de Monitorias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04A5897-BEF2-4BD8-BE02-EA3E5D4A80D1}"/>
              </a:ext>
            </a:extLst>
          </p:cNvPr>
          <p:cNvSpPr txBox="1"/>
          <p:nvPr/>
        </p:nvSpPr>
        <p:spPr>
          <a:xfrm>
            <a:off x="1254389" y="2493475"/>
            <a:ext cx="18381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183</a:t>
            </a:r>
          </a:p>
        </p:txBody>
      </p:sp>
      <p:sp>
        <p:nvSpPr>
          <p:cNvPr id="32" name="Google Shape;2081;p50">
            <a:extLst>
              <a:ext uri="{FF2B5EF4-FFF2-40B4-BE49-F238E27FC236}">
                <a16:creationId xmlns:a16="http://schemas.microsoft.com/office/drawing/2014/main" id="{BCBB39BF-ABF4-4D46-A5A2-ED525A956FBF}"/>
              </a:ext>
            </a:extLst>
          </p:cNvPr>
          <p:cNvSpPr/>
          <p:nvPr/>
        </p:nvSpPr>
        <p:spPr>
          <a:xfrm>
            <a:off x="5110257" y="2262365"/>
            <a:ext cx="192116" cy="240512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CA63353-40AC-40B2-A5C2-734BB29F6637}"/>
              </a:ext>
            </a:extLst>
          </p:cNvPr>
          <p:cNvSpPr txBox="1"/>
          <p:nvPr/>
        </p:nvSpPr>
        <p:spPr>
          <a:xfrm>
            <a:off x="1257648" y="3413384"/>
            <a:ext cx="3953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A9E22E9-AA98-4B42-8F8D-6BE3DA249752}"/>
              </a:ext>
            </a:extLst>
          </p:cNvPr>
          <p:cNvSpPr txBox="1"/>
          <p:nvPr/>
        </p:nvSpPr>
        <p:spPr>
          <a:xfrm>
            <a:off x="6563002" y="2251507"/>
            <a:ext cx="1811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Do Mês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D33852A-A47C-4576-9C4A-3C972DD40094}"/>
              </a:ext>
            </a:extLst>
          </p:cNvPr>
          <p:cNvSpPr txBox="1"/>
          <p:nvPr/>
        </p:nvSpPr>
        <p:spPr>
          <a:xfrm>
            <a:off x="6479099" y="2516515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85,74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31C7B74-2118-4CDD-B0D0-DE1F77107782}"/>
              </a:ext>
            </a:extLst>
          </p:cNvPr>
          <p:cNvSpPr txBox="1"/>
          <p:nvPr/>
        </p:nvSpPr>
        <p:spPr>
          <a:xfrm>
            <a:off x="6552706" y="3485904"/>
            <a:ext cx="17278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grpSp>
        <p:nvGrpSpPr>
          <p:cNvPr id="41" name="Google Shape;2561;p51">
            <a:extLst>
              <a:ext uri="{FF2B5EF4-FFF2-40B4-BE49-F238E27FC236}">
                <a16:creationId xmlns:a16="http://schemas.microsoft.com/office/drawing/2014/main" id="{6FBEF20F-E903-44C4-881A-70AE6F8AEF33}"/>
              </a:ext>
            </a:extLst>
          </p:cNvPr>
          <p:cNvGrpSpPr/>
          <p:nvPr/>
        </p:nvGrpSpPr>
        <p:grpSpPr>
          <a:xfrm>
            <a:off x="10453746" y="2270765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42" name="Google Shape;2562;p51">
              <a:extLst>
                <a:ext uri="{FF2B5EF4-FFF2-40B4-BE49-F238E27FC236}">
                  <a16:creationId xmlns:a16="http://schemas.microsoft.com/office/drawing/2014/main" id="{864D4EBC-4F20-4F03-B58B-E924ED9A2A8A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563;p51">
              <a:extLst>
                <a:ext uri="{FF2B5EF4-FFF2-40B4-BE49-F238E27FC236}">
                  <a16:creationId xmlns:a16="http://schemas.microsoft.com/office/drawing/2014/main" id="{B6FB790E-6181-494B-8F66-47D168E05014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564;p51">
              <a:extLst>
                <a:ext uri="{FF2B5EF4-FFF2-40B4-BE49-F238E27FC236}">
                  <a16:creationId xmlns:a16="http://schemas.microsoft.com/office/drawing/2014/main" id="{099484A7-C227-4045-819C-75C2F7C47320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F0E6FE5-B17A-42B9-9A44-DCF89B81043E}"/>
              </a:ext>
            </a:extLst>
          </p:cNvPr>
          <p:cNvSpPr txBox="1"/>
          <p:nvPr/>
        </p:nvSpPr>
        <p:spPr>
          <a:xfrm>
            <a:off x="3607088" y="4600952"/>
            <a:ext cx="2149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 de Feedback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C6DA04E-F738-4A7B-BA80-252717B62CAA}"/>
              </a:ext>
            </a:extLst>
          </p:cNvPr>
          <p:cNvSpPr txBox="1"/>
          <p:nvPr/>
        </p:nvSpPr>
        <p:spPr>
          <a:xfrm>
            <a:off x="3607088" y="4750487"/>
            <a:ext cx="25081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180</a:t>
            </a:r>
          </a:p>
        </p:txBody>
      </p:sp>
      <p:grpSp>
        <p:nvGrpSpPr>
          <p:cNvPr id="49" name="Google Shape;3637;p53">
            <a:extLst>
              <a:ext uri="{FF2B5EF4-FFF2-40B4-BE49-F238E27FC236}">
                <a16:creationId xmlns:a16="http://schemas.microsoft.com/office/drawing/2014/main" id="{5F55345F-DD7D-4D97-A22E-8C6A53D2CE13}"/>
              </a:ext>
            </a:extLst>
          </p:cNvPr>
          <p:cNvGrpSpPr/>
          <p:nvPr/>
        </p:nvGrpSpPr>
        <p:grpSpPr>
          <a:xfrm>
            <a:off x="7397766" y="4688931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0" name="Google Shape;3638;p53">
              <a:extLst>
                <a:ext uri="{FF2B5EF4-FFF2-40B4-BE49-F238E27FC236}">
                  <a16:creationId xmlns:a16="http://schemas.microsoft.com/office/drawing/2014/main" id="{6E792E51-DF81-4979-B773-F615C8DC120C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1" name="Google Shape;3639;p53">
              <a:extLst>
                <a:ext uri="{FF2B5EF4-FFF2-40B4-BE49-F238E27FC236}">
                  <a16:creationId xmlns:a16="http://schemas.microsoft.com/office/drawing/2014/main" id="{19FDBECF-6FEE-4821-9285-1F80A438C8D0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2" name="Google Shape;3640;p53">
              <a:extLst>
                <a:ext uri="{FF2B5EF4-FFF2-40B4-BE49-F238E27FC236}">
                  <a16:creationId xmlns:a16="http://schemas.microsoft.com/office/drawing/2014/main" id="{C1914079-D4B5-4231-B503-B0017E60AC85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3" name="Google Shape;3641;p53">
              <a:extLst>
                <a:ext uri="{FF2B5EF4-FFF2-40B4-BE49-F238E27FC236}">
                  <a16:creationId xmlns:a16="http://schemas.microsoft.com/office/drawing/2014/main" id="{E63FD7C3-F576-41E5-8195-379E28F82DC0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4" name="Google Shape;3642;p53">
              <a:extLst>
                <a:ext uri="{FF2B5EF4-FFF2-40B4-BE49-F238E27FC236}">
                  <a16:creationId xmlns:a16="http://schemas.microsoft.com/office/drawing/2014/main" id="{2168DEE8-42A0-4A8E-BBD0-746835BDC4DA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5" name="Google Shape;3643;p53">
              <a:extLst>
                <a:ext uri="{FF2B5EF4-FFF2-40B4-BE49-F238E27FC236}">
                  <a16:creationId xmlns:a16="http://schemas.microsoft.com/office/drawing/2014/main" id="{751A078A-329B-42B3-ACE7-D5D03D0F90EE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6" name="Google Shape;3644;p53">
              <a:extLst>
                <a:ext uri="{FF2B5EF4-FFF2-40B4-BE49-F238E27FC236}">
                  <a16:creationId xmlns:a16="http://schemas.microsoft.com/office/drawing/2014/main" id="{AB869589-4FD0-4DAE-87C3-16B618BA7BFA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7" name="Google Shape;3645;p53">
              <a:extLst>
                <a:ext uri="{FF2B5EF4-FFF2-40B4-BE49-F238E27FC236}">
                  <a16:creationId xmlns:a16="http://schemas.microsoft.com/office/drawing/2014/main" id="{EE5BCDCB-AC0F-4F69-A95C-4B1B865D0205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8" name="Google Shape;3646;p53">
              <a:extLst>
                <a:ext uri="{FF2B5EF4-FFF2-40B4-BE49-F238E27FC236}">
                  <a16:creationId xmlns:a16="http://schemas.microsoft.com/office/drawing/2014/main" id="{3AA8BA00-0C5B-4CCC-9DFF-0B75C4860180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9" name="Google Shape;3647;p53">
              <a:extLst>
                <a:ext uri="{FF2B5EF4-FFF2-40B4-BE49-F238E27FC236}">
                  <a16:creationId xmlns:a16="http://schemas.microsoft.com/office/drawing/2014/main" id="{BAB53E3B-45F1-4AC8-B28D-AED515A90A19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0" name="Google Shape;3648;p53">
              <a:extLst>
                <a:ext uri="{FF2B5EF4-FFF2-40B4-BE49-F238E27FC236}">
                  <a16:creationId xmlns:a16="http://schemas.microsoft.com/office/drawing/2014/main" id="{6A8872E4-8E33-4935-B31D-692F17BC7464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1" name="Google Shape;3649;p53">
              <a:extLst>
                <a:ext uri="{FF2B5EF4-FFF2-40B4-BE49-F238E27FC236}">
                  <a16:creationId xmlns:a16="http://schemas.microsoft.com/office/drawing/2014/main" id="{C986010D-E52D-4E81-80D4-5A480B9E65D6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2" name="Google Shape;3650;p53">
              <a:extLst>
                <a:ext uri="{FF2B5EF4-FFF2-40B4-BE49-F238E27FC236}">
                  <a16:creationId xmlns:a16="http://schemas.microsoft.com/office/drawing/2014/main" id="{6F0AF0E7-F33F-439A-8903-55E54872F203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82527A-B164-4794-830B-92A3A7349125}"/>
              </a:ext>
            </a:extLst>
          </p:cNvPr>
          <p:cNvSpPr txBox="1"/>
          <p:nvPr/>
        </p:nvSpPr>
        <p:spPr>
          <a:xfrm>
            <a:off x="3073684" y="5632998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DE2F8EFF-F33D-4250-8441-37B57FADC64A}"/>
              </a:ext>
            </a:extLst>
          </p:cNvPr>
          <p:cNvSpPr/>
          <p:nvPr/>
        </p:nvSpPr>
        <p:spPr>
          <a:xfrm>
            <a:off x="9488199" y="2677572"/>
            <a:ext cx="983649" cy="329956"/>
          </a:xfrm>
          <a:prstGeom prst="roundRect">
            <a:avLst/>
          </a:prstGeom>
          <a:solidFill>
            <a:srgbClr val="00B0F0">
              <a:alpha val="33000"/>
            </a:srgb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C02844A9-7651-4753-B295-E91FA142E752}"/>
              </a:ext>
            </a:extLst>
          </p:cNvPr>
          <p:cNvSpPr txBox="1"/>
          <p:nvPr/>
        </p:nvSpPr>
        <p:spPr>
          <a:xfrm>
            <a:off x="9828813" y="2765035"/>
            <a:ext cx="586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87,08</a:t>
            </a:r>
          </a:p>
          <a:p>
            <a:pPr algn="ctr"/>
            <a:endParaRPr lang="pt-BR" sz="9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B6AC2246-F4DE-4F0D-9991-D269E36B8956}"/>
              </a:ext>
            </a:extLst>
          </p:cNvPr>
          <p:cNvSpPr txBox="1"/>
          <p:nvPr/>
        </p:nvSpPr>
        <p:spPr>
          <a:xfrm>
            <a:off x="9690453" y="2663248"/>
            <a:ext cx="69393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Mês anterior </a:t>
            </a:r>
          </a:p>
        </p:txBody>
      </p:sp>
      <p:sp>
        <p:nvSpPr>
          <p:cNvPr id="72" name="Google Shape;2252;p50">
            <a:extLst>
              <a:ext uri="{FF2B5EF4-FFF2-40B4-BE49-F238E27FC236}">
                <a16:creationId xmlns:a16="http://schemas.microsoft.com/office/drawing/2014/main" id="{DC8ABE9C-FF66-4A29-BC5A-6ACA7897B022}"/>
              </a:ext>
            </a:extLst>
          </p:cNvPr>
          <p:cNvSpPr/>
          <p:nvPr/>
        </p:nvSpPr>
        <p:spPr>
          <a:xfrm>
            <a:off x="9589990" y="2809931"/>
            <a:ext cx="211300" cy="131628"/>
          </a:xfrm>
          <a:custGeom>
            <a:avLst/>
            <a:gdLst/>
            <a:ahLst/>
            <a:cxnLst/>
            <a:rect l="l" t="t" r="r" b="b"/>
            <a:pathLst>
              <a:path w="10419" h="6490" extrusionOk="0">
                <a:moveTo>
                  <a:pt x="2751" y="2905"/>
                </a:moveTo>
                <a:lnTo>
                  <a:pt x="2751" y="6191"/>
                </a:lnTo>
                <a:lnTo>
                  <a:pt x="1429" y="6191"/>
                </a:lnTo>
                <a:lnTo>
                  <a:pt x="1429" y="2905"/>
                </a:lnTo>
                <a:close/>
                <a:moveTo>
                  <a:pt x="5847" y="2084"/>
                </a:moveTo>
                <a:lnTo>
                  <a:pt x="5847" y="6191"/>
                </a:lnTo>
                <a:lnTo>
                  <a:pt x="4525" y="6191"/>
                </a:lnTo>
                <a:lnTo>
                  <a:pt x="4525" y="2084"/>
                </a:lnTo>
                <a:close/>
                <a:moveTo>
                  <a:pt x="8942" y="298"/>
                </a:moveTo>
                <a:lnTo>
                  <a:pt x="8942" y="6191"/>
                </a:lnTo>
                <a:lnTo>
                  <a:pt x="7609" y="6191"/>
                </a:lnTo>
                <a:lnTo>
                  <a:pt x="7609" y="298"/>
                </a:lnTo>
                <a:close/>
                <a:moveTo>
                  <a:pt x="7466" y="0"/>
                </a:moveTo>
                <a:cubicBezTo>
                  <a:pt x="7383" y="0"/>
                  <a:pt x="7323" y="72"/>
                  <a:pt x="7323" y="155"/>
                </a:cubicBezTo>
                <a:lnTo>
                  <a:pt x="7323" y="6191"/>
                </a:lnTo>
                <a:lnTo>
                  <a:pt x="6156" y="6191"/>
                </a:lnTo>
                <a:lnTo>
                  <a:pt x="6156" y="1941"/>
                </a:lnTo>
                <a:cubicBezTo>
                  <a:pt x="6156" y="1846"/>
                  <a:pt x="6085" y="1786"/>
                  <a:pt x="6013" y="1786"/>
                </a:cubicBezTo>
                <a:lnTo>
                  <a:pt x="4370" y="1786"/>
                </a:lnTo>
                <a:cubicBezTo>
                  <a:pt x="4287" y="1786"/>
                  <a:pt x="4227" y="1858"/>
                  <a:pt x="4227" y="1941"/>
                </a:cubicBezTo>
                <a:lnTo>
                  <a:pt x="4227" y="6191"/>
                </a:lnTo>
                <a:lnTo>
                  <a:pt x="3061" y="6191"/>
                </a:lnTo>
                <a:lnTo>
                  <a:pt x="3061" y="2751"/>
                </a:lnTo>
                <a:cubicBezTo>
                  <a:pt x="3061" y="2667"/>
                  <a:pt x="2989" y="2608"/>
                  <a:pt x="2918" y="2608"/>
                </a:cubicBezTo>
                <a:lnTo>
                  <a:pt x="1275" y="2608"/>
                </a:lnTo>
                <a:cubicBezTo>
                  <a:pt x="1191" y="2608"/>
                  <a:pt x="1132" y="2679"/>
                  <a:pt x="1132" y="2751"/>
                </a:cubicBezTo>
                <a:lnTo>
                  <a:pt x="1132" y="6191"/>
                </a:lnTo>
                <a:lnTo>
                  <a:pt x="144" y="6191"/>
                </a:lnTo>
                <a:cubicBezTo>
                  <a:pt x="60" y="6191"/>
                  <a:pt x="1" y="6263"/>
                  <a:pt x="1" y="6346"/>
                </a:cubicBezTo>
                <a:cubicBezTo>
                  <a:pt x="1" y="6430"/>
                  <a:pt x="72" y="6489"/>
                  <a:pt x="144" y="6489"/>
                </a:cubicBezTo>
                <a:lnTo>
                  <a:pt x="10264" y="6489"/>
                </a:lnTo>
                <a:cubicBezTo>
                  <a:pt x="10359" y="6489"/>
                  <a:pt x="10419" y="6418"/>
                  <a:pt x="10419" y="6346"/>
                </a:cubicBezTo>
                <a:cubicBezTo>
                  <a:pt x="10395" y="6251"/>
                  <a:pt x="10323" y="6191"/>
                  <a:pt x="10240" y="6191"/>
                </a:cubicBezTo>
                <a:lnTo>
                  <a:pt x="9252" y="6191"/>
                </a:lnTo>
                <a:lnTo>
                  <a:pt x="9252" y="155"/>
                </a:lnTo>
                <a:cubicBezTo>
                  <a:pt x="9252" y="60"/>
                  <a:pt x="9180" y="0"/>
                  <a:pt x="910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9143A6E9-6809-466E-8A9A-B26F01387941}"/>
              </a:ext>
            </a:extLst>
          </p:cNvPr>
          <p:cNvSpPr/>
          <p:nvPr/>
        </p:nvSpPr>
        <p:spPr>
          <a:xfrm>
            <a:off x="9490971" y="3140313"/>
            <a:ext cx="983649" cy="3299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5050"/>
              </a:solidFill>
            </a:endParaRP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BACBD4EB-8C45-4F25-8447-C28AE2745340}"/>
              </a:ext>
            </a:extLst>
          </p:cNvPr>
          <p:cNvSpPr txBox="1"/>
          <p:nvPr/>
        </p:nvSpPr>
        <p:spPr>
          <a:xfrm>
            <a:off x="9757848" y="3227833"/>
            <a:ext cx="5900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-1,34</a:t>
            </a:r>
          </a:p>
        </p:txBody>
      </p:sp>
      <p:grpSp>
        <p:nvGrpSpPr>
          <p:cNvPr id="73" name="Google Shape;2139;p50">
            <a:extLst>
              <a:ext uri="{FF2B5EF4-FFF2-40B4-BE49-F238E27FC236}">
                <a16:creationId xmlns:a16="http://schemas.microsoft.com/office/drawing/2014/main" id="{CAE335B8-3CA4-4FF0-847E-A163EBF508F9}"/>
              </a:ext>
            </a:extLst>
          </p:cNvPr>
          <p:cNvGrpSpPr/>
          <p:nvPr/>
        </p:nvGrpSpPr>
        <p:grpSpPr>
          <a:xfrm>
            <a:off x="9577022" y="3218117"/>
            <a:ext cx="207026" cy="206636"/>
            <a:chOff x="1421638" y="4125629"/>
            <a:chExt cx="374709" cy="374010"/>
          </a:xfrm>
          <a:solidFill>
            <a:srgbClr val="00B050"/>
          </a:solidFill>
        </p:grpSpPr>
        <p:sp>
          <p:nvSpPr>
            <p:cNvPr id="74" name="Google Shape;2140;p50">
              <a:extLst>
                <a:ext uri="{FF2B5EF4-FFF2-40B4-BE49-F238E27FC236}">
                  <a16:creationId xmlns:a16="http://schemas.microsoft.com/office/drawing/2014/main" id="{0E956040-C3F6-4F7E-B01D-AA0390AEA9DC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2141;p50">
              <a:extLst>
                <a:ext uri="{FF2B5EF4-FFF2-40B4-BE49-F238E27FC236}">
                  <a16:creationId xmlns:a16="http://schemas.microsoft.com/office/drawing/2014/main" id="{6213F634-69C5-45D1-B0CA-B369B824C994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396FFDF2-17CD-4FD1-A7F0-E53220611038}"/>
              </a:ext>
            </a:extLst>
          </p:cNvPr>
          <p:cNvSpPr txBox="1"/>
          <p:nvPr/>
        </p:nvSpPr>
        <p:spPr>
          <a:xfrm>
            <a:off x="9496489" y="3120595"/>
            <a:ext cx="9698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Queda</a:t>
            </a:r>
          </a:p>
        </p:txBody>
      </p:sp>
      <p:pic>
        <p:nvPicPr>
          <p:cNvPr id="106" name="Imagem 105">
            <a:extLst>
              <a:ext uri="{FF2B5EF4-FFF2-40B4-BE49-F238E27FC236}">
                <a16:creationId xmlns:a16="http://schemas.microsoft.com/office/drawing/2014/main" id="{823B0262-C505-416F-BA33-76986CBE8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1063D71-B18B-A325-C4F0-F08E5EB467C5}"/>
              </a:ext>
            </a:extLst>
          </p:cNvPr>
          <p:cNvSpPr/>
          <p:nvPr/>
        </p:nvSpPr>
        <p:spPr>
          <a:xfrm>
            <a:off x="5670769" y="5100106"/>
            <a:ext cx="983649" cy="329956"/>
          </a:xfrm>
          <a:prstGeom prst="roundRect">
            <a:avLst/>
          </a:prstGeom>
          <a:solidFill>
            <a:srgbClr val="A7E1C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15BFA7E-3163-6113-2526-7D7FE3AE267F}"/>
              </a:ext>
            </a:extLst>
          </p:cNvPr>
          <p:cNvSpPr txBox="1"/>
          <p:nvPr/>
        </p:nvSpPr>
        <p:spPr>
          <a:xfrm>
            <a:off x="5948589" y="5177303"/>
            <a:ext cx="6871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98,36%</a:t>
            </a:r>
          </a:p>
        </p:txBody>
      </p:sp>
      <p:grpSp>
        <p:nvGrpSpPr>
          <p:cNvPr id="28" name="Google Shape;2139;p50">
            <a:extLst>
              <a:ext uri="{FF2B5EF4-FFF2-40B4-BE49-F238E27FC236}">
                <a16:creationId xmlns:a16="http://schemas.microsoft.com/office/drawing/2014/main" id="{11434B59-CC08-A19D-A754-CDA9DAED2D9E}"/>
              </a:ext>
            </a:extLst>
          </p:cNvPr>
          <p:cNvGrpSpPr/>
          <p:nvPr/>
        </p:nvGrpSpPr>
        <p:grpSpPr>
          <a:xfrm>
            <a:off x="5821813" y="5167152"/>
            <a:ext cx="207026" cy="206636"/>
            <a:chOff x="1421638" y="4125629"/>
            <a:chExt cx="374709" cy="374010"/>
          </a:xfrm>
          <a:solidFill>
            <a:srgbClr val="00B050"/>
          </a:solidFill>
        </p:grpSpPr>
        <p:sp>
          <p:nvSpPr>
            <p:cNvPr id="34" name="Google Shape;2140;p50">
              <a:extLst>
                <a:ext uri="{FF2B5EF4-FFF2-40B4-BE49-F238E27FC236}">
                  <a16:creationId xmlns:a16="http://schemas.microsoft.com/office/drawing/2014/main" id="{DBEDEBA2-F551-29B8-3F4D-FCDBBC71E3DE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141;p50">
              <a:extLst>
                <a:ext uri="{FF2B5EF4-FFF2-40B4-BE49-F238E27FC236}">
                  <a16:creationId xmlns:a16="http://schemas.microsoft.com/office/drawing/2014/main" id="{337E642E-B15F-3262-104F-C1FFA31E3918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AD8CA04-40A0-7D0F-3489-01B581BE0BD3}"/>
              </a:ext>
            </a:extLst>
          </p:cNvPr>
          <p:cNvSpPr txBox="1"/>
          <p:nvPr/>
        </p:nvSpPr>
        <p:spPr>
          <a:xfrm>
            <a:off x="5999026" y="5069805"/>
            <a:ext cx="5862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Aplicação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AD381D0-6165-0DAA-B8A6-81534AD4BDEF}"/>
              </a:ext>
            </a:extLst>
          </p:cNvPr>
          <p:cNvSpPr/>
          <p:nvPr/>
        </p:nvSpPr>
        <p:spPr>
          <a:xfrm>
            <a:off x="3585938" y="2960870"/>
            <a:ext cx="1909219" cy="329956"/>
          </a:xfrm>
          <a:prstGeom prst="roundRect">
            <a:avLst/>
          </a:prstGeom>
          <a:solidFill>
            <a:srgbClr val="A7E1C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5143C1-9486-EB90-06D9-ACCD28D45028}"/>
              </a:ext>
            </a:extLst>
          </p:cNvPr>
          <p:cNvSpPr txBox="1"/>
          <p:nvPr/>
        </p:nvSpPr>
        <p:spPr>
          <a:xfrm>
            <a:off x="3573412" y="3010432"/>
            <a:ext cx="21035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monitorias justificadas</a:t>
            </a:r>
          </a:p>
        </p:txBody>
      </p:sp>
      <p:grpSp>
        <p:nvGrpSpPr>
          <p:cNvPr id="4" name="Google Shape;2139;p50">
            <a:extLst>
              <a:ext uri="{FF2B5EF4-FFF2-40B4-BE49-F238E27FC236}">
                <a16:creationId xmlns:a16="http://schemas.microsoft.com/office/drawing/2014/main" id="{040D4061-D41A-3ECC-5B06-04C704585284}"/>
              </a:ext>
            </a:extLst>
          </p:cNvPr>
          <p:cNvGrpSpPr/>
          <p:nvPr/>
        </p:nvGrpSpPr>
        <p:grpSpPr>
          <a:xfrm>
            <a:off x="3695195" y="3012379"/>
            <a:ext cx="207026" cy="206636"/>
            <a:chOff x="1421638" y="4125629"/>
            <a:chExt cx="374709" cy="374010"/>
          </a:xfrm>
          <a:solidFill>
            <a:srgbClr val="00B050"/>
          </a:solidFill>
        </p:grpSpPr>
        <p:sp>
          <p:nvSpPr>
            <p:cNvPr id="5" name="Google Shape;2140;p50">
              <a:extLst>
                <a:ext uri="{FF2B5EF4-FFF2-40B4-BE49-F238E27FC236}">
                  <a16:creationId xmlns:a16="http://schemas.microsoft.com/office/drawing/2014/main" id="{721CBD6A-5DB9-0DDC-3E95-C7307BD3D76E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141;p50">
              <a:extLst>
                <a:ext uri="{FF2B5EF4-FFF2-40B4-BE49-F238E27FC236}">
                  <a16:creationId xmlns:a16="http://schemas.microsoft.com/office/drawing/2014/main" id="{26D8FA20-6F02-4C7B-18A8-AA248FCE2C6A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2E076A41-CFB3-42C7-9EB0-EE1A6C121921}"/>
              </a:ext>
            </a:extLst>
          </p:cNvPr>
          <p:cNvSpPr/>
          <p:nvPr/>
        </p:nvSpPr>
        <p:spPr>
          <a:xfrm>
            <a:off x="5662305" y="5597017"/>
            <a:ext cx="1909219" cy="329956"/>
          </a:xfrm>
          <a:prstGeom prst="roundRect">
            <a:avLst/>
          </a:prstGeom>
          <a:solidFill>
            <a:srgbClr val="A7E1C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9F78F08D-D26D-42AD-9E30-78453DAAEBCD}"/>
              </a:ext>
            </a:extLst>
          </p:cNvPr>
          <p:cNvSpPr txBox="1"/>
          <p:nvPr/>
        </p:nvSpPr>
        <p:spPr>
          <a:xfrm>
            <a:off x="5670769" y="5646579"/>
            <a:ext cx="18692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feedbacks justificadas</a:t>
            </a:r>
          </a:p>
        </p:txBody>
      </p:sp>
    </p:spTree>
    <p:extLst>
      <p:ext uri="{BB962C8B-B14F-4D97-AF65-F5344CB8AC3E}">
        <p14:creationId xmlns:p14="http://schemas.microsoft.com/office/powerpoint/2010/main" val="293094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18521" y="4681854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Gráfico 103">
            <a:extLst>
              <a:ext uri="{FF2B5EF4-FFF2-40B4-BE49-F238E27FC236}">
                <a16:creationId xmlns:a16="http://schemas.microsoft.com/office/drawing/2014/main" id="{7F29A529-8C89-46A4-A733-2C6C8EC952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9052038"/>
              </p:ext>
            </p:extLst>
          </p:nvPr>
        </p:nvGraphicFramePr>
        <p:xfrm>
          <a:off x="1147712" y="2006930"/>
          <a:ext cx="4157940" cy="1757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C6473394-799A-44A9-BA31-CF46E95925AD}"/>
              </a:ext>
            </a:extLst>
          </p:cNvPr>
          <p:cNvSpPr txBox="1"/>
          <p:nvPr/>
        </p:nvSpPr>
        <p:spPr>
          <a:xfrm>
            <a:off x="1294993" y="1638285"/>
            <a:ext cx="375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 de Monitorias </a:t>
            </a:r>
          </a:p>
        </p:txBody>
      </p:sp>
      <p:graphicFrame>
        <p:nvGraphicFramePr>
          <p:cNvPr id="106" name="Tabela 105">
            <a:extLst>
              <a:ext uri="{FF2B5EF4-FFF2-40B4-BE49-F238E27FC236}">
                <a16:creationId xmlns:a16="http://schemas.microsoft.com/office/drawing/2014/main" id="{7DDD1E95-3CD5-466E-99A8-89970A230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889846"/>
              </p:ext>
            </p:extLst>
          </p:nvPr>
        </p:nvGraphicFramePr>
        <p:xfrm>
          <a:off x="1415417" y="4643880"/>
          <a:ext cx="3822477" cy="63516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7415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qualidade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operação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Margem de erro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E66C4CB9-9CD9-49E1-8372-BBBB577F2680}"/>
              </a:ext>
            </a:extLst>
          </p:cNvPr>
          <p:cNvCxnSpPr>
            <a:cxnSpLocks/>
          </p:cNvCxnSpPr>
          <p:nvPr/>
        </p:nvCxnSpPr>
        <p:spPr>
          <a:xfrm>
            <a:off x="6096000" y="1848607"/>
            <a:ext cx="34403" cy="3728788"/>
          </a:xfrm>
          <a:prstGeom prst="line">
            <a:avLst/>
          </a:prstGeom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Gráfico 25">
            <a:extLst>
              <a:ext uri="{FF2B5EF4-FFF2-40B4-BE49-F238E27FC236}">
                <a16:creationId xmlns:a16="http://schemas.microsoft.com/office/drawing/2014/main" id="{CE1C9029-2899-4182-87BA-4652FFBC28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1386279"/>
              </p:ext>
            </p:extLst>
          </p:nvPr>
        </p:nvGraphicFramePr>
        <p:xfrm>
          <a:off x="6858000" y="2022809"/>
          <a:ext cx="4157940" cy="1757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CaixaDeTexto 26">
            <a:extLst>
              <a:ext uri="{FF2B5EF4-FFF2-40B4-BE49-F238E27FC236}">
                <a16:creationId xmlns:a16="http://schemas.microsoft.com/office/drawing/2014/main" id="{6C361242-B178-4979-B54C-68D4AAA5711A}"/>
              </a:ext>
            </a:extLst>
          </p:cNvPr>
          <p:cNvSpPr txBox="1"/>
          <p:nvPr/>
        </p:nvSpPr>
        <p:spPr>
          <a:xfrm>
            <a:off x="6927804" y="1635312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Classificação das Monitorias </a:t>
            </a:r>
          </a:p>
        </p:txBody>
      </p:sp>
      <p:graphicFrame>
        <p:nvGraphicFramePr>
          <p:cNvPr id="28" name="Tabela 27">
            <a:extLst>
              <a:ext uri="{FF2B5EF4-FFF2-40B4-BE49-F238E27FC236}">
                <a16:creationId xmlns:a16="http://schemas.microsoft.com/office/drawing/2014/main" id="{B7DEE6CE-3286-4828-8325-E256C5CEF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542639"/>
              </p:ext>
            </p:extLst>
          </p:nvPr>
        </p:nvGraphicFramePr>
        <p:xfrm>
          <a:off x="7005281" y="4064594"/>
          <a:ext cx="3822477" cy="68776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7415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NCG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Excelência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95986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 (10,33%)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 (35,33%)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(54,35%)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6A7033CE-8E82-41A8-9F6A-4D6F557D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926760"/>
              </p:ext>
            </p:extLst>
          </p:nvPr>
        </p:nvGraphicFramePr>
        <p:xfrm>
          <a:off x="6954107" y="5088122"/>
          <a:ext cx="3822476" cy="97854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5619">
                  <a:extLst>
                    <a:ext uri="{9D8B030D-6E8A-4147-A177-3AD203B41FA5}">
                      <a16:colId xmlns:a16="http://schemas.microsoft.com/office/drawing/2014/main" val="1531427166"/>
                    </a:ext>
                  </a:extLst>
                </a:gridCol>
                <a:gridCol w="95561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95561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95561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Excelência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NCG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Operação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 (65,82%)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 (20,32%)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 (8,86%)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810871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Qualidade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 (45,71%)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 (42,86%)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(11,43%)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21114"/>
                  </a:ext>
                </a:extLst>
              </a:tr>
            </a:tbl>
          </a:graphicData>
        </a:graphic>
      </p:graphicFrame>
      <p:graphicFrame>
        <p:nvGraphicFramePr>
          <p:cNvPr id="31" name="Tabela 30">
            <a:extLst>
              <a:ext uri="{FF2B5EF4-FFF2-40B4-BE49-F238E27FC236}">
                <a16:creationId xmlns:a16="http://schemas.microsoft.com/office/drawing/2014/main" id="{3B97CDBB-6498-41D0-86F7-FBA0E3AAC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200251"/>
              </p:ext>
            </p:extLst>
          </p:nvPr>
        </p:nvGraphicFramePr>
        <p:xfrm>
          <a:off x="1364242" y="3844898"/>
          <a:ext cx="3867956" cy="68280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6698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1961687730"/>
                    </a:ext>
                  </a:extLst>
                </a:gridCol>
              </a:tblGrid>
              <a:tr h="33942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pic>
        <p:nvPicPr>
          <p:cNvPr id="40" name="Imagem 39">
            <a:extLst>
              <a:ext uri="{FF2B5EF4-FFF2-40B4-BE49-F238E27FC236}">
                <a16:creationId xmlns:a16="http://schemas.microsoft.com/office/drawing/2014/main" id="{F146B113-81FE-469D-9982-4F0AA18768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8B4A626-32A5-1198-F8D9-8D4EF278A83A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</p:spTree>
    <p:extLst>
      <p:ext uri="{BB962C8B-B14F-4D97-AF65-F5344CB8AC3E}">
        <p14:creationId xmlns:p14="http://schemas.microsoft.com/office/powerpoint/2010/main" val="147811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18521" y="4681854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DO CANAL 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751BA167-80F5-4834-A5C7-E8ED41135E2E}"/>
              </a:ext>
            </a:extLst>
          </p:cNvPr>
          <p:cNvSpPr txBox="1"/>
          <p:nvPr/>
        </p:nvSpPr>
        <p:spPr>
          <a:xfrm>
            <a:off x="1549613" y="1890202"/>
            <a:ext cx="372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Médias por ciclos </a:t>
            </a:r>
          </a:p>
        </p:txBody>
      </p:sp>
      <p:graphicFrame>
        <p:nvGraphicFramePr>
          <p:cNvPr id="114" name="Gráfico 113">
            <a:extLst>
              <a:ext uri="{FF2B5EF4-FFF2-40B4-BE49-F238E27FC236}">
                <a16:creationId xmlns:a16="http://schemas.microsoft.com/office/drawing/2014/main" id="{7D3C7095-828E-4C06-BD03-D01C402F70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1942755"/>
              </p:ext>
            </p:extLst>
          </p:nvPr>
        </p:nvGraphicFramePr>
        <p:xfrm>
          <a:off x="1330893" y="2445001"/>
          <a:ext cx="4157940" cy="1533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CaixaDeTexto 30">
            <a:extLst>
              <a:ext uri="{FF2B5EF4-FFF2-40B4-BE49-F238E27FC236}">
                <a16:creationId xmlns:a16="http://schemas.microsoft.com/office/drawing/2014/main" id="{8351364F-9B64-4F08-9C15-EDDFE9AC06B3}"/>
              </a:ext>
            </a:extLst>
          </p:cNvPr>
          <p:cNvSpPr txBox="1"/>
          <p:nvPr/>
        </p:nvSpPr>
        <p:spPr>
          <a:xfrm>
            <a:off x="7072510" y="1863435"/>
            <a:ext cx="372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Operação vs. Qualidade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978C618-01F7-4633-A987-CCB8366D669E}"/>
              </a:ext>
            </a:extLst>
          </p:cNvPr>
          <p:cNvCxnSpPr>
            <a:cxnSpLocks/>
          </p:cNvCxnSpPr>
          <p:nvPr/>
        </p:nvCxnSpPr>
        <p:spPr>
          <a:xfrm>
            <a:off x="6225549" y="1890202"/>
            <a:ext cx="0" cy="3804662"/>
          </a:xfrm>
          <a:prstGeom prst="line">
            <a:avLst/>
          </a:prstGeom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CA246E3-A58F-4C82-BA91-182CC17EEF1B}"/>
              </a:ext>
            </a:extLst>
          </p:cNvPr>
          <p:cNvSpPr/>
          <p:nvPr/>
        </p:nvSpPr>
        <p:spPr>
          <a:xfrm>
            <a:off x="1346594" y="4446050"/>
            <a:ext cx="4402601" cy="12488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4" name="Google Shape;2124;p50">
            <a:extLst>
              <a:ext uri="{FF2B5EF4-FFF2-40B4-BE49-F238E27FC236}">
                <a16:creationId xmlns:a16="http://schemas.microsoft.com/office/drawing/2014/main" id="{17C5FCEA-434A-4F2E-BC13-08F9AFE06D99}"/>
              </a:ext>
            </a:extLst>
          </p:cNvPr>
          <p:cNvGrpSpPr/>
          <p:nvPr/>
        </p:nvGrpSpPr>
        <p:grpSpPr>
          <a:xfrm>
            <a:off x="1482244" y="4562393"/>
            <a:ext cx="286337" cy="286644"/>
            <a:chOff x="4673540" y="3680297"/>
            <a:chExt cx="355434" cy="355815"/>
          </a:xfrm>
        </p:grpSpPr>
        <p:sp>
          <p:nvSpPr>
            <p:cNvPr id="35" name="Google Shape;2125;p50">
              <a:extLst>
                <a:ext uri="{FF2B5EF4-FFF2-40B4-BE49-F238E27FC236}">
                  <a16:creationId xmlns:a16="http://schemas.microsoft.com/office/drawing/2014/main" id="{57941490-D7F8-44DD-8C76-50E34A26D7AC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26;p50">
              <a:extLst>
                <a:ext uri="{FF2B5EF4-FFF2-40B4-BE49-F238E27FC236}">
                  <a16:creationId xmlns:a16="http://schemas.microsoft.com/office/drawing/2014/main" id="{FB819ACD-0C88-49C3-AC06-83FEF3198520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27;p50">
              <a:extLst>
                <a:ext uri="{FF2B5EF4-FFF2-40B4-BE49-F238E27FC236}">
                  <a16:creationId xmlns:a16="http://schemas.microsoft.com/office/drawing/2014/main" id="{2335789A-9329-4B97-9ED7-E399CF29441E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" name="Imagem 45">
            <a:extLst>
              <a:ext uri="{FF2B5EF4-FFF2-40B4-BE49-F238E27FC236}">
                <a16:creationId xmlns:a16="http://schemas.microsoft.com/office/drawing/2014/main" id="{15F51C28-2B3A-463F-802A-A2DADF1EC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527BC14-3CE0-A1E2-341B-61173F9F6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485721"/>
              </p:ext>
            </p:extLst>
          </p:nvPr>
        </p:nvGraphicFramePr>
        <p:xfrm>
          <a:off x="6820514" y="4604310"/>
          <a:ext cx="4024890" cy="97854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341630">
                  <a:extLst>
                    <a:ext uri="{9D8B030D-6E8A-4147-A177-3AD203B41FA5}">
                      <a16:colId xmlns:a16="http://schemas.microsoft.com/office/drawing/2014/main" val="1531427166"/>
                    </a:ext>
                  </a:extLst>
                </a:gridCol>
                <a:gridCol w="1341630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341630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Média Final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Diferença da Média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Operação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88,73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810871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Qualidade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83,63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21114"/>
                  </a:ext>
                </a:extLst>
              </a:tr>
            </a:tbl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2EE63C82-B7D5-7C9F-ABD0-C321AE401E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7129094"/>
              </p:ext>
            </p:extLst>
          </p:nvPr>
        </p:nvGraphicFramePr>
        <p:xfrm>
          <a:off x="6869126" y="2261254"/>
          <a:ext cx="4157940" cy="1935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2F14AEC0-15BF-4A44-8A84-15557C3A87AF}"/>
              </a:ext>
            </a:extLst>
          </p:cNvPr>
          <p:cNvSpPr txBox="1"/>
          <p:nvPr/>
        </p:nvSpPr>
        <p:spPr>
          <a:xfrm>
            <a:off x="1831248" y="4485040"/>
            <a:ext cx="3889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/>
              <a:t>Os ciclos apresentaram </a:t>
            </a:r>
            <a:r>
              <a:rPr lang="pt-BR" sz="1200" b="1" dirty="0"/>
              <a:t>oscilações na performance</a:t>
            </a:r>
            <a:r>
              <a:rPr lang="pt-BR" sz="1200" dirty="0"/>
              <a:t>, com médias variando entre </a:t>
            </a:r>
            <a:r>
              <a:rPr lang="pt-BR" sz="1200" b="1" dirty="0"/>
              <a:t>82,47% e 93,06%</a:t>
            </a:r>
            <a:r>
              <a:rPr lang="pt-BR" sz="1200" dirty="0"/>
              <a:t>. O melhor resultado foi observado no </a:t>
            </a:r>
            <a:r>
              <a:rPr lang="pt-BR" sz="1200" b="1" dirty="0"/>
              <a:t>3º ciclo, com 93,06%</a:t>
            </a:r>
            <a:r>
              <a:rPr lang="pt-BR" sz="1200" dirty="0"/>
              <a:t>, enquanto o </a:t>
            </a:r>
            <a:r>
              <a:rPr lang="pt-BR" sz="1200" b="1" dirty="0"/>
              <a:t>2º ciclo apresentou a menor média, com 82,47%</a:t>
            </a:r>
            <a:r>
              <a:rPr lang="pt-BR" sz="1200" dirty="0"/>
              <a:t>. De forma geral, o período demonstra boa recuperação entre os ciclos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4D531C1-A9E4-BDFA-970A-FF8BAA47EB72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</p:spTree>
    <p:extLst>
      <p:ext uri="{BB962C8B-B14F-4D97-AF65-F5344CB8AC3E}">
        <p14:creationId xmlns:p14="http://schemas.microsoft.com/office/powerpoint/2010/main" val="154467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PONTOS OFENSORES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E459499-C8E1-4C45-B0E3-1FB3AEB91E77}"/>
              </a:ext>
            </a:extLst>
          </p:cNvPr>
          <p:cNvSpPr txBox="1"/>
          <p:nvPr/>
        </p:nvSpPr>
        <p:spPr>
          <a:xfrm>
            <a:off x="1400358" y="1656580"/>
            <a:ext cx="9796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Pontos Ofensores 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3CAEE7A4-B566-4532-B7CA-983FB0F8E5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5525084"/>
              </p:ext>
            </p:extLst>
          </p:nvPr>
        </p:nvGraphicFramePr>
        <p:xfrm>
          <a:off x="1400358" y="2104709"/>
          <a:ext cx="9752244" cy="3699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7" name="Imagem 16">
            <a:extLst>
              <a:ext uri="{FF2B5EF4-FFF2-40B4-BE49-F238E27FC236}">
                <a16:creationId xmlns:a16="http://schemas.microsoft.com/office/drawing/2014/main" id="{A4DA803D-02B8-47AB-A367-2EEFB9828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9035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FC24BF-8ACD-8D92-1E5D-DF65C78CF256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F58B52-5CFF-7DBD-040C-DB12BC478249}"/>
              </a:ext>
            </a:extLst>
          </p:cNvPr>
          <p:cNvSpPr txBox="1"/>
          <p:nvPr/>
        </p:nvSpPr>
        <p:spPr>
          <a:xfrm>
            <a:off x="11063568" y="1939754"/>
            <a:ext cx="994913" cy="3597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1,5%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1,5%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3,8%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5,3%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6,1%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6,8%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7,6%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16,7%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20,5%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22,7%</a:t>
            </a:r>
          </a:p>
          <a:p>
            <a:pPr>
              <a:lnSpc>
                <a:spcPct val="200000"/>
              </a:lnSpc>
            </a:pPr>
            <a:endParaRPr lang="pt-BR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1F5FC85-5F09-A298-BB2D-3A305018FABA}"/>
              </a:ext>
            </a:extLst>
          </p:cNvPr>
          <p:cNvSpPr txBox="1">
            <a:spLocks/>
          </p:cNvSpPr>
          <p:nvPr/>
        </p:nvSpPr>
        <p:spPr>
          <a:xfrm>
            <a:off x="8251372" y="5948511"/>
            <a:ext cx="3594148" cy="3777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9E22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000" spc="3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Apontamentos:122</a:t>
            </a:r>
            <a:endParaRPr lang="pt-BR" sz="1600" spc="3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bg1">
                <a:lumMod val="95000"/>
              </a:schemeClr>
            </a:gs>
            <a:gs pos="100000">
              <a:schemeClr val="bg2">
                <a:alpha val="0"/>
                <a:lumMod val="0"/>
                <a:lumOff val="10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30C9AC-AA45-D39F-D480-08B36721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C1F668C3-9B2C-436F-BD58-7E3E588557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5B63B72C-B48B-A0C5-FDF8-1EBA2CBACE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5249CEF6-306E-9B49-A45E-0D003FAFEDC0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0419357E-9060-393E-6515-C864C0A42C72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BF32ED81-2045-B0F3-4309-B5C9CE081BA0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C0434563-921F-19C8-B4A9-F13DAABB521C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D8C942B-606A-50E7-D33F-644ECAE9E6C4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2B5343EA-3849-1F7D-3A10-F60C3C9EAB6B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1B8B559-44EC-3DAD-6F3F-C545FFB8406D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78E860D-11F4-87D2-0BAD-13BA6678E472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1AC18D1-A2A2-D35E-EF3A-A5FDC7B12F84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B8840F8C-E112-257A-03F2-CCC27CA0C6A1}"/>
              </a:ext>
            </a:extLst>
          </p:cNvPr>
          <p:cNvSpPr/>
          <p:nvPr/>
        </p:nvSpPr>
        <p:spPr>
          <a:xfrm>
            <a:off x="1105368" y="1808181"/>
            <a:ext cx="4910336" cy="2137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00E292E3-C419-767D-AAED-308D30874DDD}"/>
              </a:ext>
            </a:extLst>
          </p:cNvPr>
          <p:cNvSpPr txBox="1"/>
          <p:nvPr/>
        </p:nvSpPr>
        <p:spPr>
          <a:xfrm>
            <a:off x="1741715" y="1665862"/>
            <a:ext cx="3287486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Observação Interna: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3571090-7DAD-9387-01DB-07803C85BB3E}"/>
              </a:ext>
            </a:extLst>
          </p:cNvPr>
          <p:cNvSpPr txBox="1"/>
          <p:nvPr/>
        </p:nvSpPr>
        <p:spPr>
          <a:xfrm>
            <a:off x="1431436" y="1336969"/>
            <a:ext cx="60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Análises dos Pontos Ofensores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371966E-EFD4-6A6D-0D94-8A9CA2A6A12E}"/>
              </a:ext>
            </a:extLst>
          </p:cNvPr>
          <p:cNvSpPr/>
          <p:nvPr/>
        </p:nvSpPr>
        <p:spPr>
          <a:xfrm>
            <a:off x="6461881" y="1762711"/>
            <a:ext cx="4910336" cy="2137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1772F783-92E0-FBF6-DCC7-1B2A8E453ECD}"/>
              </a:ext>
            </a:extLst>
          </p:cNvPr>
          <p:cNvSpPr/>
          <p:nvPr/>
        </p:nvSpPr>
        <p:spPr>
          <a:xfrm>
            <a:off x="4006713" y="4375249"/>
            <a:ext cx="4910336" cy="201655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96ECD65-7A77-66DF-3EF5-00E46B510A50}"/>
              </a:ext>
            </a:extLst>
          </p:cNvPr>
          <p:cNvSpPr txBox="1"/>
          <p:nvPr/>
        </p:nvSpPr>
        <p:spPr>
          <a:xfrm>
            <a:off x="7448384" y="1683236"/>
            <a:ext cx="3287486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Tabulação: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270EB6D-C5D6-2806-669E-B626CC72D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0354"/>
            <a:ext cx="12192000" cy="275463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1888610B-A415-90D9-4D4F-FC9AA9FC9C37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DDACC62-FC89-C97F-E8D2-719D30FCB702}"/>
              </a:ext>
            </a:extLst>
          </p:cNvPr>
          <p:cNvSpPr txBox="1"/>
          <p:nvPr/>
        </p:nvSpPr>
        <p:spPr>
          <a:xfrm>
            <a:off x="4818138" y="4246395"/>
            <a:ext cx="3287486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Domínio do Tema :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A1CDBCF-6642-48E1-82DE-6EA2B1C482E5}"/>
              </a:ext>
            </a:extLst>
          </p:cNvPr>
          <p:cNvSpPr txBox="1"/>
          <p:nvPr/>
        </p:nvSpPr>
        <p:spPr>
          <a:xfrm>
            <a:off x="1502067" y="2244533"/>
            <a:ext cx="37667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Falta de registro sobre alinhamentos internos, informações do atendimento, validações realizadas e ausência de necessidade de contato.</a:t>
            </a:r>
          </a:p>
          <a:p>
            <a:pPr marL="171450" indent="-171450" algn="just">
              <a:buFontTx/>
              <a:buChar char="-"/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apontamentos demonstram recorrência de ausência de observações detalhadas e de capturas de tela das ferramentas utilizadas durante a análise.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FC44D5C-1482-46E3-A531-D3C702B19539}"/>
              </a:ext>
            </a:extLst>
          </p:cNvPr>
          <p:cNvSpPr txBox="1"/>
          <p:nvPr/>
        </p:nvSpPr>
        <p:spPr>
          <a:xfrm>
            <a:off x="6969088" y="2192361"/>
            <a:ext cx="37667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pt-B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Negativação </a:t>
            </a:r>
          </a:p>
          <a:p>
            <a:pPr marL="171450" indent="-171450" algn="just">
              <a:buFontTx/>
              <a:buChar char="-"/>
            </a:pPr>
            <a:r>
              <a:rPr lang="pt-B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erros de tabulação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Pagou e não atualizou &gt; Fora do prazo &gt; </a:t>
            </a:r>
            <a:r>
              <a:rPr lang="pt-B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Pefin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Refin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Conceito &gt; Orientação </a:t>
            </a:r>
          </a:p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Nada Consta &gt; Orientação </a:t>
            </a:r>
          </a:p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Regularização &gt; Protesto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D20EE39-A3B2-4381-8F46-B8AA20CD27C6}"/>
              </a:ext>
            </a:extLst>
          </p:cNvPr>
          <p:cNvSpPr txBox="1"/>
          <p:nvPr/>
        </p:nvSpPr>
        <p:spPr>
          <a:xfrm>
            <a:off x="4280785" y="4876682"/>
            <a:ext cx="4362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pt-B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Sondagem e análise das evidências</a:t>
            </a:r>
          </a:p>
          <a:p>
            <a:pPr marL="171450" indent="-171450" algn="just">
              <a:buFontTx/>
              <a:buChar char="-"/>
            </a:pPr>
            <a:r>
              <a:rPr lang="pt-B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Conhecimento dos fluxos do produto</a:t>
            </a:r>
          </a:p>
          <a:p>
            <a:pPr marL="171450" indent="-171450" algn="just">
              <a:buFontTx/>
              <a:buChar char="-"/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casos envolvendo Serasa Limpa Nome, Desenrola Brasil, acordos Gerados/Encerrados e negativação demonstram necessidade de reforçar os fluxos e responsabilidades entre Serasa e empresa credora.</a:t>
            </a:r>
          </a:p>
        </p:txBody>
      </p:sp>
    </p:spTree>
    <p:extLst>
      <p:ext uri="{BB962C8B-B14F-4D97-AF65-F5344CB8AC3E}">
        <p14:creationId xmlns:p14="http://schemas.microsoft.com/office/powerpoint/2010/main" val="389351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ixaDeTexto 32">
            <a:extLst>
              <a:ext uri="{FF2B5EF4-FFF2-40B4-BE49-F238E27FC236}">
                <a16:creationId xmlns:a16="http://schemas.microsoft.com/office/drawing/2014/main" id="{417A71CF-78F9-4EE7-A121-79E5C8E39F2B}"/>
              </a:ext>
            </a:extLst>
          </p:cNvPr>
          <p:cNvSpPr txBox="1"/>
          <p:nvPr/>
        </p:nvSpPr>
        <p:spPr>
          <a:xfrm>
            <a:off x="1418916" y="1774955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Cumprimento do SLA – NC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APLICAÇÃO DE FEEDBACKS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F530EC9-E21D-4CE2-9C84-D2A18F828C6C}"/>
              </a:ext>
            </a:extLst>
          </p:cNvPr>
          <p:cNvCxnSpPr>
            <a:cxnSpLocks/>
          </p:cNvCxnSpPr>
          <p:nvPr/>
        </p:nvCxnSpPr>
        <p:spPr>
          <a:xfrm>
            <a:off x="5981468" y="1848607"/>
            <a:ext cx="34403" cy="3728788"/>
          </a:xfrm>
          <a:prstGeom prst="line">
            <a:avLst/>
          </a:prstGeom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Gráfico 29">
            <a:extLst>
              <a:ext uri="{FF2B5EF4-FFF2-40B4-BE49-F238E27FC236}">
                <a16:creationId xmlns:a16="http://schemas.microsoft.com/office/drawing/2014/main" id="{71DC83F7-0B9A-49E0-8FF4-1656C753BD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3156631"/>
              </p:ext>
            </p:extLst>
          </p:nvPr>
        </p:nvGraphicFramePr>
        <p:xfrm>
          <a:off x="6521594" y="1625248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CaixaDeTexto 30">
            <a:extLst>
              <a:ext uri="{FF2B5EF4-FFF2-40B4-BE49-F238E27FC236}">
                <a16:creationId xmlns:a16="http://schemas.microsoft.com/office/drawing/2014/main" id="{82A0E21E-D797-4B82-AA4B-7C5E92F466F2}"/>
              </a:ext>
            </a:extLst>
          </p:cNvPr>
          <p:cNvSpPr txBox="1"/>
          <p:nvPr/>
        </p:nvSpPr>
        <p:spPr>
          <a:xfrm>
            <a:off x="7034775" y="1697194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Cumprimento do SLA - NCG</a:t>
            </a:r>
          </a:p>
        </p:txBody>
      </p:sp>
      <p:graphicFrame>
        <p:nvGraphicFramePr>
          <p:cNvPr id="32" name="Gráfico 31">
            <a:extLst>
              <a:ext uri="{FF2B5EF4-FFF2-40B4-BE49-F238E27FC236}">
                <a16:creationId xmlns:a16="http://schemas.microsoft.com/office/drawing/2014/main" id="{72CA1D9F-992B-4BC8-97CA-826DA81980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213969"/>
              </p:ext>
            </p:extLst>
          </p:nvPr>
        </p:nvGraphicFramePr>
        <p:xfrm>
          <a:off x="845187" y="1697194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30A12FB-989E-42A9-A3F0-B8234CB2550E}"/>
              </a:ext>
            </a:extLst>
          </p:cNvPr>
          <p:cNvSpPr/>
          <p:nvPr/>
        </p:nvSpPr>
        <p:spPr>
          <a:xfrm>
            <a:off x="1198996" y="4328581"/>
            <a:ext cx="4402601" cy="10360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48B36F2A-D988-4E04-8C57-90B32EEB49F2}"/>
              </a:ext>
            </a:extLst>
          </p:cNvPr>
          <p:cNvSpPr/>
          <p:nvPr/>
        </p:nvSpPr>
        <p:spPr>
          <a:xfrm>
            <a:off x="6732902" y="4328581"/>
            <a:ext cx="4402601" cy="106468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7" name="Google Shape;2124;p50">
            <a:extLst>
              <a:ext uri="{FF2B5EF4-FFF2-40B4-BE49-F238E27FC236}">
                <a16:creationId xmlns:a16="http://schemas.microsoft.com/office/drawing/2014/main" id="{BA21E970-1083-4D19-A248-A58FF28D0D8C}"/>
              </a:ext>
            </a:extLst>
          </p:cNvPr>
          <p:cNvGrpSpPr/>
          <p:nvPr/>
        </p:nvGrpSpPr>
        <p:grpSpPr>
          <a:xfrm>
            <a:off x="1334646" y="4444924"/>
            <a:ext cx="286337" cy="286644"/>
            <a:chOff x="4673540" y="3680297"/>
            <a:chExt cx="355434" cy="355815"/>
          </a:xfrm>
          <a:solidFill>
            <a:srgbClr val="9E2289"/>
          </a:solidFill>
        </p:grpSpPr>
        <p:sp>
          <p:nvSpPr>
            <p:cNvPr id="40" name="Google Shape;2125;p50">
              <a:extLst>
                <a:ext uri="{FF2B5EF4-FFF2-40B4-BE49-F238E27FC236}">
                  <a16:creationId xmlns:a16="http://schemas.microsoft.com/office/drawing/2014/main" id="{C0E45B05-9ECE-4D6F-B19D-CFD6B90F52E8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126;p50">
              <a:extLst>
                <a:ext uri="{FF2B5EF4-FFF2-40B4-BE49-F238E27FC236}">
                  <a16:creationId xmlns:a16="http://schemas.microsoft.com/office/drawing/2014/main" id="{F5684C49-3999-483A-99DE-E39763B2DEAA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127;p50">
              <a:extLst>
                <a:ext uri="{FF2B5EF4-FFF2-40B4-BE49-F238E27FC236}">
                  <a16:creationId xmlns:a16="http://schemas.microsoft.com/office/drawing/2014/main" id="{1EAA21D1-CDF8-45B7-B1CB-5AA4B6475E59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2124;p50">
            <a:extLst>
              <a:ext uri="{FF2B5EF4-FFF2-40B4-BE49-F238E27FC236}">
                <a16:creationId xmlns:a16="http://schemas.microsoft.com/office/drawing/2014/main" id="{D0FAFFC4-532D-4944-8A3C-56F7C4162B0A}"/>
              </a:ext>
            </a:extLst>
          </p:cNvPr>
          <p:cNvGrpSpPr/>
          <p:nvPr/>
        </p:nvGrpSpPr>
        <p:grpSpPr>
          <a:xfrm>
            <a:off x="6841356" y="4431352"/>
            <a:ext cx="286337" cy="286644"/>
            <a:chOff x="4673540" y="3680297"/>
            <a:chExt cx="355434" cy="355815"/>
          </a:xfrm>
        </p:grpSpPr>
        <p:sp>
          <p:nvSpPr>
            <p:cNvPr id="44" name="Google Shape;2125;p50">
              <a:extLst>
                <a:ext uri="{FF2B5EF4-FFF2-40B4-BE49-F238E27FC236}">
                  <a16:creationId xmlns:a16="http://schemas.microsoft.com/office/drawing/2014/main" id="{A214FCD6-1CC8-458A-A1FF-6BC1E84BCDD5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26;p50">
              <a:extLst>
                <a:ext uri="{FF2B5EF4-FFF2-40B4-BE49-F238E27FC236}">
                  <a16:creationId xmlns:a16="http://schemas.microsoft.com/office/drawing/2014/main" id="{FBC3B93A-416F-4BE1-9B72-00921D37499F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27;p50">
              <a:extLst>
                <a:ext uri="{FF2B5EF4-FFF2-40B4-BE49-F238E27FC236}">
                  <a16:creationId xmlns:a16="http://schemas.microsoft.com/office/drawing/2014/main" id="{35BE008B-FDBB-4300-A39B-CDA792EE33F4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8" name="Imagem 47">
            <a:extLst>
              <a:ext uri="{FF2B5EF4-FFF2-40B4-BE49-F238E27FC236}">
                <a16:creationId xmlns:a16="http://schemas.microsoft.com/office/drawing/2014/main" id="{FF2F60F7-7953-4BA8-BCA4-B2A9E86F24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51" name="CaixaDeTexto 50">
            <a:extLst>
              <a:ext uri="{FF2B5EF4-FFF2-40B4-BE49-F238E27FC236}">
                <a16:creationId xmlns:a16="http://schemas.microsoft.com/office/drawing/2014/main" id="{02DC0965-FC75-4C2B-A850-B3568B8C6D3C}"/>
              </a:ext>
            </a:extLst>
          </p:cNvPr>
          <p:cNvSpPr txBox="1"/>
          <p:nvPr/>
        </p:nvSpPr>
        <p:spPr>
          <a:xfrm>
            <a:off x="7178398" y="4535711"/>
            <a:ext cx="3832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total, 78,95% estão No Prazo e 21,05% estão Fora do Prazo.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E1C0796-73FF-78E1-03D7-C9AD42EA522A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A457C36-4A48-4C0B-A1F5-FAC308F14D41}"/>
              </a:ext>
            </a:extLst>
          </p:cNvPr>
          <p:cNvSpPr txBox="1"/>
          <p:nvPr/>
        </p:nvSpPr>
        <p:spPr>
          <a:xfrm>
            <a:off x="1694917" y="4520838"/>
            <a:ext cx="3832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consolidado, 72,31% dos registros foram realizados no prazo, enquanto 26,16% ficaram fora do prazo e 1,52% Justificados. 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AA2F1264-4990-4E73-8884-3725EAC2C869}"/>
              </a:ext>
            </a:extLst>
          </p:cNvPr>
          <p:cNvSpPr txBox="1"/>
          <p:nvPr/>
        </p:nvSpPr>
        <p:spPr>
          <a:xfrm>
            <a:off x="4493468" y="2559490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100,00%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6EC5A96-22B6-4B4D-BCBC-32CBCFEE15E4}"/>
              </a:ext>
            </a:extLst>
          </p:cNvPr>
          <p:cNvSpPr txBox="1"/>
          <p:nvPr/>
        </p:nvSpPr>
        <p:spPr>
          <a:xfrm>
            <a:off x="1722899" y="2199075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48,00%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CC2112C-9950-4927-A96A-F82D88797885}"/>
              </a:ext>
            </a:extLst>
          </p:cNvPr>
          <p:cNvSpPr txBox="1"/>
          <p:nvPr/>
        </p:nvSpPr>
        <p:spPr>
          <a:xfrm>
            <a:off x="1441246" y="2029365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52,00%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7671B6CE-9C4F-4B2F-873D-D554C3E947DC}"/>
              </a:ext>
            </a:extLst>
          </p:cNvPr>
          <p:cNvSpPr txBox="1"/>
          <p:nvPr/>
        </p:nvSpPr>
        <p:spPr>
          <a:xfrm>
            <a:off x="3033395" y="2707607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5,56%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245EE4F0-F899-402F-941D-DBA8DEA6AC9D}"/>
              </a:ext>
            </a:extLst>
          </p:cNvPr>
          <p:cNvSpPr txBox="1"/>
          <p:nvPr/>
        </p:nvSpPr>
        <p:spPr>
          <a:xfrm>
            <a:off x="2760469" y="2905154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5,56%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568A1E61-F95B-43AA-B3B1-DB1A4F79B090}"/>
              </a:ext>
            </a:extLst>
          </p:cNvPr>
          <p:cNvSpPr txBox="1"/>
          <p:nvPr/>
        </p:nvSpPr>
        <p:spPr>
          <a:xfrm>
            <a:off x="2471995" y="2076894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88,89%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3980A30-545C-42E1-88A8-04121E0D7353}"/>
              </a:ext>
            </a:extLst>
          </p:cNvPr>
          <p:cNvSpPr txBox="1"/>
          <p:nvPr/>
        </p:nvSpPr>
        <p:spPr>
          <a:xfrm>
            <a:off x="3909083" y="2728008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26,67%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1E49406-CEF3-4DD8-BADF-0617D019716D}"/>
              </a:ext>
            </a:extLst>
          </p:cNvPr>
          <p:cNvSpPr txBox="1"/>
          <p:nvPr/>
        </p:nvSpPr>
        <p:spPr>
          <a:xfrm>
            <a:off x="3478943" y="2381768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73,33%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3BB26A9-53A2-4BC5-BE60-5AA29AA55FD4}"/>
              </a:ext>
            </a:extLst>
          </p:cNvPr>
          <p:cNvSpPr txBox="1"/>
          <p:nvPr/>
        </p:nvSpPr>
        <p:spPr>
          <a:xfrm>
            <a:off x="7201553" y="2572123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83,33%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D93B0F77-2F83-4024-A8DF-1F72B9F8674F}"/>
              </a:ext>
            </a:extLst>
          </p:cNvPr>
          <p:cNvSpPr txBox="1"/>
          <p:nvPr/>
        </p:nvSpPr>
        <p:spPr>
          <a:xfrm>
            <a:off x="7585688" y="2854742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16,67%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0E13C673-6814-41CB-9A29-127A614365B0}"/>
              </a:ext>
            </a:extLst>
          </p:cNvPr>
          <p:cNvSpPr txBox="1"/>
          <p:nvPr/>
        </p:nvSpPr>
        <p:spPr>
          <a:xfrm>
            <a:off x="8207523" y="2540751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75,00%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9FB52F1E-2B68-43BA-A2D6-D4C142BBF5E8}"/>
              </a:ext>
            </a:extLst>
          </p:cNvPr>
          <p:cNvSpPr txBox="1"/>
          <p:nvPr/>
        </p:nvSpPr>
        <p:spPr>
          <a:xfrm>
            <a:off x="8578029" y="2853085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25,00%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E5DDE9FE-6D18-474E-BEBB-85F7BCFE9E11}"/>
              </a:ext>
            </a:extLst>
          </p:cNvPr>
          <p:cNvSpPr txBox="1"/>
          <p:nvPr/>
        </p:nvSpPr>
        <p:spPr>
          <a:xfrm>
            <a:off x="9289925" y="2854830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100,00%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D6DE3280-4CD0-4402-910B-29FC5978E35D}"/>
              </a:ext>
            </a:extLst>
          </p:cNvPr>
          <p:cNvSpPr txBox="1"/>
          <p:nvPr/>
        </p:nvSpPr>
        <p:spPr>
          <a:xfrm>
            <a:off x="10282266" y="2805126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50,00%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262C89F-A7AF-4BEA-9123-018832BDC42B}"/>
              </a:ext>
            </a:extLst>
          </p:cNvPr>
          <p:cNvSpPr txBox="1"/>
          <p:nvPr/>
        </p:nvSpPr>
        <p:spPr>
          <a:xfrm>
            <a:off x="10607128" y="2629577"/>
            <a:ext cx="6203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50,00%</a:t>
            </a:r>
          </a:p>
        </p:txBody>
      </p:sp>
    </p:spTree>
    <p:extLst>
      <p:ext uri="{BB962C8B-B14F-4D97-AF65-F5344CB8AC3E}">
        <p14:creationId xmlns:p14="http://schemas.microsoft.com/office/powerpoint/2010/main" val="3399462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Gráfico 25">
            <a:extLst>
              <a:ext uri="{FF2B5EF4-FFF2-40B4-BE49-F238E27FC236}">
                <a16:creationId xmlns:a16="http://schemas.microsoft.com/office/drawing/2014/main" id="{CB343202-015A-4FBE-B942-B99305F6E3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816550"/>
              </p:ext>
            </p:extLst>
          </p:nvPr>
        </p:nvGraphicFramePr>
        <p:xfrm>
          <a:off x="643466" y="1549889"/>
          <a:ext cx="5787167" cy="325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ECBC702-8A0A-4D6D-9F12-E545E8615BE2}"/>
              </a:ext>
            </a:extLst>
          </p:cNvPr>
          <p:cNvSpPr/>
          <p:nvPr/>
        </p:nvSpPr>
        <p:spPr>
          <a:xfrm>
            <a:off x="7138142" y="1626082"/>
            <a:ext cx="4128654" cy="183914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9" name="Google Shape;1944;p50">
            <a:extLst>
              <a:ext uri="{FF2B5EF4-FFF2-40B4-BE49-F238E27FC236}">
                <a16:creationId xmlns:a16="http://schemas.microsoft.com/office/drawing/2014/main" id="{AE3E5632-39EC-498B-8446-16F7B46F0CF4}"/>
              </a:ext>
            </a:extLst>
          </p:cNvPr>
          <p:cNvGrpSpPr/>
          <p:nvPr/>
        </p:nvGrpSpPr>
        <p:grpSpPr>
          <a:xfrm>
            <a:off x="7308880" y="1717741"/>
            <a:ext cx="476316" cy="468384"/>
            <a:chOff x="860940" y="2746477"/>
            <a:chExt cx="371883" cy="365691"/>
          </a:xfrm>
          <a:solidFill>
            <a:srgbClr val="9E2289"/>
          </a:solidFill>
        </p:grpSpPr>
        <p:sp>
          <p:nvSpPr>
            <p:cNvPr id="50" name="Google Shape;1945;p50">
              <a:extLst>
                <a:ext uri="{FF2B5EF4-FFF2-40B4-BE49-F238E27FC236}">
                  <a16:creationId xmlns:a16="http://schemas.microsoft.com/office/drawing/2014/main" id="{F8E576BE-2CD1-4B21-BB2A-FA3D538B5E35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946;p50">
              <a:extLst>
                <a:ext uri="{FF2B5EF4-FFF2-40B4-BE49-F238E27FC236}">
                  <a16:creationId xmlns:a16="http://schemas.microsoft.com/office/drawing/2014/main" id="{9F68CAA6-59B8-4F64-8643-1935A15F9675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947;p50">
              <a:extLst>
                <a:ext uri="{FF2B5EF4-FFF2-40B4-BE49-F238E27FC236}">
                  <a16:creationId xmlns:a16="http://schemas.microsoft.com/office/drawing/2014/main" id="{EA4A187D-2E3F-46AA-BEA6-749B97B58F53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948;p50">
              <a:extLst>
                <a:ext uri="{FF2B5EF4-FFF2-40B4-BE49-F238E27FC236}">
                  <a16:creationId xmlns:a16="http://schemas.microsoft.com/office/drawing/2014/main" id="{85D06B3A-A8F7-4804-B970-45AE95668DED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949;p50">
              <a:extLst>
                <a:ext uri="{FF2B5EF4-FFF2-40B4-BE49-F238E27FC236}">
                  <a16:creationId xmlns:a16="http://schemas.microsoft.com/office/drawing/2014/main" id="{0E034A1A-361D-430B-BD52-6D0AB6ACB680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151331E-ED22-483C-9A5F-F39D02811185}"/>
              </a:ext>
            </a:extLst>
          </p:cNvPr>
          <p:cNvSpPr txBox="1"/>
          <p:nvPr/>
        </p:nvSpPr>
        <p:spPr>
          <a:xfrm>
            <a:off x="7826628" y="1751439"/>
            <a:ext cx="1498347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Promotores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D7D8EBC-45F0-466E-AA24-76F7AF55B24C}"/>
              </a:ext>
            </a:extLst>
          </p:cNvPr>
          <p:cNvSpPr txBox="1"/>
          <p:nvPr/>
        </p:nvSpPr>
        <p:spPr>
          <a:xfrm>
            <a:off x="7785196" y="2105561"/>
            <a:ext cx="25208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Daiara</a:t>
            </a:r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Silva Dos Santos</a:t>
            </a:r>
          </a:p>
          <a:p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Jucieli</a:t>
            </a:r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Staviski</a:t>
            </a: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Sabrina Piccoli Arais</a:t>
            </a:r>
          </a:p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Claudia Goncalves</a:t>
            </a:r>
          </a:p>
          <a:p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Gabryela</a:t>
            </a:r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Melchioreto</a:t>
            </a: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BC700C3C-D613-4864-AB92-6017CB7A1E70}"/>
              </a:ext>
            </a:extLst>
          </p:cNvPr>
          <p:cNvSpPr/>
          <p:nvPr/>
        </p:nvSpPr>
        <p:spPr>
          <a:xfrm>
            <a:off x="7138142" y="3846408"/>
            <a:ext cx="4128654" cy="20998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66" name="Google Shape;1944;p50">
            <a:extLst>
              <a:ext uri="{FF2B5EF4-FFF2-40B4-BE49-F238E27FC236}">
                <a16:creationId xmlns:a16="http://schemas.microsoft.com/office/drawing/2014/main" id="{D992BF29-30A3-4BE4-B7C7-5CC12855C680}"/>
              </a:ext>
            </a:extLst>
          </p:cNvPr>
          <p:cNvGrpSpPr/>
          <p:nvPr/>
        </p:nvGrpSpPr>
        <p:grpSpPr>
          <a:xfrm rot="10417960">
            <a:off x="7308880" y="3995073"/>
            <a:ext cx="476316" cy="468384"/>
            <a:chOff x="860940" y="2746477"/>
            <a:chExt cx="371883" cy="365691"/>
          </a:xfrm>
          <a:solidFill>
            <a:srgbClr val="9E2289"/>
          </a:solidFill>
        </p:grpSpPr>
        <p:sp>
          <p:nvSpPr>
            <p:cNvPr id="67" name="Google Shape;1945;p50">
              <a:extLst>
                <a:ext uri="{FF2B5EF4-FFF2-40B4-BE49-F238E27FC236}">
                  <a16:creationId xmlns:a16="http://schemas.microsoft.com/office/drawing/2014/main" id="{D17A3269-EA0E-4DCD-A7FA-DB45599C4B11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946;p50">
              <a:extLst>
                <a:ext uri="{FF2B5EF4-FFF2-40B4-BE49-F238E27FC236}">
                  <a16:creationId xmlns:a16="http://schemas.microsoft.com/office/drawing/2014/main" id="{619D078A-CF76-4D11-B528-09456D759EBC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947;p50">
              <a:extLst>
                <a:ext uri="{FF2B5EF4-FFF2-40B4-BE49-F238E27FC236}">
                  <a16:creationId xmlns:a16="http://schemas.microsoft.com/office/drawing/2014/main" id="{B4EF2116-4816-47AF-A2F4-BF0E390808D8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948;p50">
              <a:extLst>
                <a:ext uri="{FF2B5EF4-FFF2-40B4-BE49-F238E27FC236}">
                  <a16:creationId xmlns:a16="http://schemas.microsoft.com/office/drawing/2014/main" id="{AF85CE36-5327-4CFD-9945-648968C30A0B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949;p50">
              <a:extLst>
                <a:ext uri="{FF2B5EF4-FFF2-40B4-BE49-F238E27FC236}">
                  <a16:creationId xmlns:a16="http://schemas.microsoft.com/office/drawing/2014/main" id="{220B1891-A6FD-457A-A82D-A2CA406B1689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solidFill>
                <a:srgbClr val="C55A1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F549BB60-0BF1-41F3-853E-103F8C42AD2E}"/>
              </a:ext>
            </a:extLst>
          </p:cNvPr>
          <p:cNvSpPr txBox="1"/>
          <p:nvPr/>
        </p:nvSpPr>
        <p:spPr>
          <a:xfrm>
            <a:off x="7826628" y="4028771"/>
            <a:ext cx="1498347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6E0F3539-E83A-49C9-A0E1-B7C22DEA1CB9}"/>
              </a:ext>
            </a:extLst>
          </p:cNvPr>
          <p:cNvSpPr txBox="1"/>
          <p:nvPr/>
        </p:nvSpPr>
        <p:spPr>
          <a:xfrm>
            <a:off x="7453716" y="4451489"/>
            <a:ext cx="30178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Fabiane Silva Ferraz Da </a:t>
            </a:r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Conceicao</a:t>
            </a: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 Hugo dos Santos</a:t>
            </a:r>
          </a:p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Mylla Nunes Carvalho</a:t>
            </a:r>
          </a:p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André Felipe </a:t>
            </a:r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Feuser</a:t>
            </a: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Bruno Vargas </a:t>
            </a:r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Argemi</a:t>
            </a: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19F7444E-86B2-4DF8-9BE5-F4C6CFF6FB01}"/>
              </a:ext>
            </a:extLst>
          </p:cNvPr>
          <p:cNvSpPr/>
          <p:nvPr/>
        </p:nvSpPr>
        <p:spPr>
          <a:xfrm>
            <a:off x="742950" y="4840194"/>
            <a:ext cx="5353050" cy="144373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chemeClr val="tx1">
                <a:lumMod val="65000"/>
                <a:lumOff val="3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76" name="Google Shape;1944;p50">
            <a:extLst>
              <a:ext uri="{FF2B5EF4-FFF2-40B4-BE49-F238E27FC236}">
                <a16:creationId xmlns:a16="http://schemas.microsoft.com/office/drawing/2014/main" id="{23D4F9B8-B03B-4AD5-8AC1-B8C7EEE8B6CA}"/>
              </a:ext>
            </a:extLst>
          </p:cNvPr>
          <p:cNvGrpSpPr/>
          <p:nvPr/>
        </p:nvGrpSpPr>
        <p:grpSpPr>
          <a:xfrm rot="10417960">
            <a:off x="913355" y="4932021"/>
            <a:ext cx="473619" cy="462234"/>
            <a:chOff x="860940" y="2746477"/>
            <a:chExt cx="371883" cy="365691"/>
          </a:xfrm>
          <a:solidFill>
            <a:srgbClr val="595959"/>
          </a:solidFill>
        </p:grpSpPr>
        <p:sp>
          <p:nvSpPr>
            <p:cNvPr id="77" name="Google Shape;1945;p50">
              <a:extLst>
                <a:ext uri="{FF2B5EF4-FFF2-40B4-BE49-F238E27FC236}">
                  <a16:creationId xmlns:a16="http://schemas.microsoft.com/office/drawing/2014/main" id="{71446081-35DF-4E60-A1F2-EEBC3EA75609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Google Shape;1946;p50">
              <a:extLst>
                <a:ext uri="{FF2B5EF4-FFF2-40B4-BE49-F238E27FC236}">
                  <a16:creationId xmlns:a16="http://schemas.microsoft.com/office/drawing/2014/main" id="{B9B62BB4-7A78-4DC4-AD93-62C842D5F6AD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9" name="Google Shape;1947;p50">
              <a:extLst>
                <a:ext uri="{FF2B5EF4-FFF2-40B4-BE49-F238E27FC236}">
                  <a16:creationId xmlns:a16="http://schemas.microsoft.com/office/drawing/2014/main" id="{88EC2143-2ECD-4B77-AE77-51D362C72CD8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0" name="Google Shape;1948;p50">
              <a:extLst>
                <a:ext uri="{FF2B5EF4-FFF2-40B4-BE49-F238E27FC236}">
                  <a16:creationId xmlns:a16="http://schemas.microsoft.com/office/drawing/2014/main" id="{FA2F7CC1-E87A-4627-92E3-73CD74E11E82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1" name="Google Shape;1949;p50">
              <a:extLst>
                <a:ext uri="{FF2B5EF4-FFF2-40B4-BE49-F238E27FC236}">
                  <a16:creationId xmlns:a16="http://schemas.microsoft.com/office/drawing/2014/main" id="{70A0C0B0-8C76-4E89-8B6A-4D2C03C94300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A3FBEEA3-F03C-4393-A61C-516C388CADB5}"/>
              </a:ext>
            </a:extLst>
          </p:cNvPr>
          <p:cNvSpPr txBox="1"/>
          <p:nvPr/>
        </p:nvSpPr>
        <p:spPr>
          <a:xfrm>
            <a:off x="1431436" y="4965551"/>
            <a:ext cx="172170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 - </a:t>
            </a:r>
            <a:r>
              <a:rPr lang="pt-BR" sz="1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</a:t>
            </a:r>
            <a:endParaRPr lang="pt-BR" sz="1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C0884E51-525A-4C8A-8832-D714925FCECD}"/>
              </a:ext>
            </a:extLst>
          </p:cNvPr>
          <p:cNvSpPr txBox="1"/>
          <p:nvPr/>
        </p:nvSpPr>
        <p:spPr>
          <a:xfrm>
            <a:off x="1398191" y="5263731"/>
            <a:ext cx="30871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Rafael Vitor R. De Araujo</a:t>
            </a:r>
          </a:p>
          <a:p>
            <a:r>
              <a:rPr lang="pt-BR" sz="12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Lorraine Cristina Pontes</a:t>
            </a:r>
          </a:p>
          <a:p>
            <a:r>
              <a:rPr lang="pt-BR" sz="12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Andressa Santos Matos</a:t>
            </a:r>
          </a:p>
          <a:p>
            <a:r>
              <a:rPr lang="pt-BR" sz="12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 Hugo dos Santos</a:t>
            </a:r>
          </a:p>
          <a:p>
            <a:r>
              <a:rPr lang="pt-BR" sz="12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Geisiane</a:t>
            </a:r>
            <a:r>
              <a:rPr lang="pt-BR" sz="12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Silva Santos</a:t>
            </a:r>
          </a:p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AE6BBBF5-08C1-4EB7-AF8C-F16715F37E28}"/>
              </a:ext>
            </a:extLst>
          </p:cNvPr>
          <p:cNvSpPr txBox="1"/>
          <p:nvPr/>
        </p:nvSpPr>
        <p:spPr>
          <a:xfrm>
            <a:off x="1431436" y="1336969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Comparativo dos Ofensores (Jun. </a:t>
            </a:r>
            <a:r>
              <a:rPr lang="pt-BR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Jul)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id="57" name="Imagem 56">
            <a:extLst>
              <a:ext uri="{FF2B5EF4-FFF2-40B4-BE49-F238E27FC236}">
                <a16:creationId xmlns:a16="http://schemas.microsoft.com/office/drawing/2014/main" id="{B61F8625-86E4-4C7A-A50A-065A00400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3953"/>
            <a:ext cx="12192000" cy="27546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F395B7C-AF2C-4668-F2E5-35B4B2660DD8}"/>
              </a:ext>
            </a:extLst>
          </p:cNvPr>
          <p:cNvSpPr txBox="1"/>
          <p:nvPr/>
        </p:nvSpPr>
        <p:spPr>
          <a:xfrm>
            <a:off x="10243940" y="2113240"/>
            <a:ext cx="7696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  <a:p>
            <a:r>
              <a:rPr lang="pt-BR" sz="140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  <a:p>
            <a:r>
              <a:rPr lang="pt-BR" sz="140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  <a:p>
            <a:r>
              <a:rPr lang="pt-BR" sz="140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99,17</a:t>
            </a:r>
          </a:p>
          <a:p>
            <a:r>
              <a:rPr lang="pt-BR" sz="140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99,13</a:t>
            </a: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B2990D-BC6F-26B8-2CD9-9E4A58CE393A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4B1F9FE-D548-B47F-13FD-53833AB76460}"/>
              </a:ext>
            </a:extLst>
          </p:cNvPr>
          <p:cNvSpPr txBox="1"/>
          <p:nvPr/>
        </p:nvSpPr>
        <p:spPr>
          <a:xfrm>
            <a:off x="10412423" y="4463878"/>
            <a:ext cx="7696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31,33</a:t>
            </a:r>
          </a:p>
          <a:p>
            <a:r>
              <a:rPr lang="pt-BR" sz="140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33,33</a:t>
            </a:r>
          </a:p>
          <a:p>
            <a:r>
              <a:rPr lang="pt-BR" sz="140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</a:t>
            </a:r>
          </a:p>
          <a:p>
            <a:r>
              <a:rPr lang="pt-BR" sz="140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71,5</a:t>
            </a:r>
          </a:p>
          <a:p>
            <a:r>
              <a:rPr lang="pt-BR" sz="140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71,75</a:t>
            </a: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667B456-C563-48F6-896F-194583001F4B}"/>
              </a:ext>
            </a:extLst>
          </p:cNvPr>
          <p:cNvSpPr txBox="1"/>
          <p:nvPr/>
        </p:nvSpPr>
        <p:spPr>
          <a:xfrm>
            <a:off x="3747096" y="5247746"/>
            <a:ext cx="622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71,75</a:t>
            </a:r>
          </a:p>
          <a:p>
            <a:r>
              <a:rPr lang="pt-BR" sz="12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71,43</a:t>
            </a:r>
          </a:p>
          <a:p>
            <a:r>
              <a:rPr lang="pt-BR" sz="12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68</a:t>
            </a:r>
          </a:p>
          <a:p>
            <a:r>
              <a:rPr lang="pt-BR" sz="12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65,5</a:t>
            </a:r>
          </a:p>
          <a:p>
            <a:r>
              <a:rPr lang="pt-BR" sz="12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</a:p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05593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0"/>
                <a:lumOff val="100000"/>
                <a:alpha val="56000"/>
              </a:schemeClr>
            </a:gs>
            <a:gs pos="100000">
              <a:schemeClr val="bg2">
                <a:lumMod val="59000"/>
                <a:lumOff val="41000"/>
                <a:alpha val="99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784FC-9909-8B9C-8C91-126D86F92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C054657D-421E-AB4D-087C-E127AA5FC4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7EA5E6FE-54D4-6520-6F29-D47E9E7DE0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88458945-2F81-EBC3-CA5E-F9144B25BA63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85008324-78CD-B1D4-B3CC-EC882ACC744C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780651AF-09D0-AE19-7952-708EFB4B9127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00E6915D-62B4-6AC3-E393-867B81FFB1BD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2C8F5A76-7D9B-E06B-1C0D-9B35B0EE0E36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4C748098-072B-57C3-AFEF-111626826185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C29E03C-C770-1312-EFA8-90E36C19D7D0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324B0165-F499-B464-0054-5A113BD08D40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6EF9449-8688-4D98-07C8-AC4A25CA1CC5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62D3B431-5A13-52A5-F6DE-10F77F634D99}"/>
              </a:ext>
            </a:extLst>
          </p:cNvPr>
          <p:cNvSpPr/>
          <p:nvPr/>
        </p:nvSpPr>
        <p:spPr>
          <a:xfrm>
            <a:off x="1887050" y="1808181"/>
            <a:ext cx="4310912" cy="2137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66" name="Google Shape;1944;p50">
            <a:extLst>
              <a:ext uri="{FF2B5EF4-FFF2-40B4-BE49-F238E27FC236}">
                <a16:creationId xmlns:a16="http://schemas.microsoft.com/office/drawing/2014/main" id="{6E1878EA-CEE7-33BC-8E25-20DC76C0D0D1}"/>
              </a:ext>
            </a:extLst>
          </p:cNvPr>
          <p:cNvGrpSpPr/>
          <p:nvPr/>
        </p:nvGrpSpPr>
        <p:grpSpPr>
          <a:xfrm rot="10417960">
            <a:off x="2057787" y="1993078"/>
            <a:ext cx="476316" cy="468384"/>
            <a:chOff x="860940" y="2746477"/>
            <a:chExt cx="371883" cy="365691"/>
          </a:xfrm>
          <a:solidFill>
            <a:srgbClr val="C55A11"/>
          </a:solidFill>
        </p:grpSpPr>
        <p:sp>
          <p:nvSpPr>
            <p:cNvPr id="67" name="Google Shape;1945;p50">
              <a:extLst>
                <a:ext uri="{FF2B5EF4-FFF2-40B4-BE49-F238E27FC236}">
                  <a16:creationId xmlns:a16="http://schemas.microsoft.com/office/drawing/2014/main" id="{8B01C523-743D-4846-BC8E-46E6911266CE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946;p50">
              <a:extLst>
                <a:ext uri="{FF2B5EF4-FFF2-40B4-BE49-F238E27FC236}">
                  <a16:creationId xmlns:a16="http://schemas.microsoft.com/office/drawing/2014/main" id="{32711DB3-20F8-9014-3C09-3BB7E3B01DD8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947;p50">
              <a:extLst>
                <a:ext uri="{FF2B5EF4-FFF2-40B4-BE49-F238E27FC236}">
                  <a16:creationId xmlns:a16="http://schemas.microsoft.com/office/drawing/2014/main" id="{B53A57AA-4A50-920B-F1E5-444C60EB5616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948;p50">
              <a:extLst>
                <a:ext uri="{FF2B5EF4-FFF2-40B4-BE49-F238E27FC236}">
                  <a16:creationId xmlns:a16="http://schemas.microsoft.com/office/drawing/2014/main" id="{50B9AAB0-5F7A-3E37-7667-A4B50F4C4064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949;p50">
              <a:extLst>
                <a:ext uri="{FF2B5EF4-FFF2-40B4-BE49-F238E27FC236}">
                  <a16:creationId xmlns:a16="http://schemas.microsoft.com/office/drawing/2014/main" id="{F43F72A0-271B-BA3E-26AA-294759850974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DE4BE43D-E71B-E6A6-32C6-8D547B2DB1DB}"/>
              </a:ext>
            </a:extLst>
          </p:cNvPr>
          <p:cNvSpPr txBox="1"/>
          <p:nvPr/>
        </p:nvSpPr>
        <p:spPr>
          <a:xfrm>
            <a:off x="2583675" y="2002759"/>
            <a:ext cx="1498347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F31D34B-B15C-A0C5-ABC7-09441271666C}"/>
              </a:ext>
            </a:extLst>
          </p:cNvPr>
          <p:cNvSpPr txBox="1"/>
          <p:nvPr/>
        </p:nvSpPr>
        <p:spPr>
          <a:xfrm>
            <a:off x="1431436" y="1336969"/>
            <a:ext cx="60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Análises do Perfil dos Ofensores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1F4374-2BF6-DC08-BF35-21A06B1EE652}"/>
              </a:ext>
            </a:extLst>
          </p:cNvPr>
          <p:cNvSpPr txBox="1"/>
          <p:nvPr/>
        </p:nvSpPr>
        <p:spPr>
          <a:xfrm>
            <a:off x="1887051" y="2301177"/>
            <a:ext cx="438212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Fabiane Silva Ferraz Da </a:t>
            </a:r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Conceicao</a:t>
            </a: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/>
              <a:t>Operadora apresenta </a:t>
            </a:r>
            <a:r>
              <a:rPr lang="pt-BR" sz="1200" b="1" dirty="0"/>
              <a:t>insegurança nas tratativas</a:t>
            </a:r>
            <a:r>
              <a:rPr lang="pt-BR" sz="1200" dirty="0"/>
              <a:t> e está em fase de readaptação após a mudança para o turno matutino. No período, ficou como </a:t>
            </a:r>
            <a:r>
              <a:rPr lang="pt-BR" sz="1200" b="1" dirty="0"/>
              <a:t>ofensora de qualidade</a:t>
            </a:r>
            <a:r>
              <a:rPr lang="pt-BR" sz="1200" dirty="0"/>
              <a:t>, com </a:t>
            </a:r>
            <a:r>
              <a:rPr lang="pt-BR" sz="1200" b="1" dirty="0"/>
              <a:t>4 ocorrências</a:t>
            </a:r>
            <a:r>
              <a:rPr lang="pt-BR" sz="1200" dirty="0"/>
              <a:t>, principalmente relacionadas a </a:t>
            </a:r>
            <a:r>
              <a:rPr lang="pt-BR" sz="1200" b="1" dirty="0"/>
              <a:t>procedimentos incorretos, uso inadequado de flag e ausência de macro</a:t>
            </a:r>
            <a:r>
              <a:rPr lang="pt-BR" sz="1200" dirty="0"/>
              <a:t>, reforçando a necessidade de acompanhamento e maior domínio dos fluxos.</a:t>
            </a: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CF23C8F-F8F3-9D79-72A2-782B09481343}"/>
              </a:ext>
            </a:extLst>
          </p:cNvPr>
          <p:cNvSpPr/>
          <p:nvPr/>
        </p:nvSpPr>
        <p:spPr>
          <a:xfrm>
            <a:off x="6717537" y="1745058"/>
            <a:ext cx="4717447" cy="2137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0" name="Google Shape;1944;p50">
            <a:extLst>
              <a:ext uri="{FF2B5EF4-FFF2-40B4-BE49-F238E27FC236}">
                <a16:creationId xmlns:a16="http://schemas.microsoft.com/office/drawing/2014/main" id="{CD2EA645-619F-EE0D-123A-2B87429EF9D9}"/>
              </a:ext>
            </a:extLst>
          </p:cNvPr>
          <p:cNvGrpSpPr/>
          <p:nvPr/>
        </p:nvGrpSpPr>
        <p:grpSpPr>
          <a:xfrm rot="10417960">
            <a:off x="6821643" y="1940518"/>
            <a:ext cx="476316" cy="468384"/>
            <a:chOff x="860940" y="2746477"/>
            <a:chExt cx="371883" cy="365691"/>
          </a:xfrm>
          <a:solidFill>
            <a:srgbClr val="C55A11"/>
          </a:solidFill>
        </p:grpSpPr>
        <p:sp>
          <p:nvSpPr>
            <p:cNvPr id="11" name="Google Shape;1945;p50">
              <a:extLst>
                <a:ext uri="{FF2B5EF4-FFF2-40B4-BE49-F238E27FC236}">
                  <a16:creationId xmlns:a16="http://schemas.microsoft.com/office/drawing/2014/main" id="{BD9AEED8-2BEA-FF42-D4AB-6869695D7EB1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46;p50">
              <a:extLst>
                <a:ext uri="{FF2B5EF4-FFF2-40B4-BE49-F238E27FC236}">
                  <a16:creationId xmlns:a16="http://schemas.microsoft.com/office/drawing/2014/main" id="{D8FB7B13-BE25-FF4F-96CC-93B75C7C72E7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47;p50">
              <a:extLst>
                <a:ext uri="{FF2B5EF4-FFF2-40B4-BE49-F238E27FC236}">
                  <a16:creationId xmlns:a16="http://schemas.microsoft.com/office/drawing/2014/main" id="{29ABEF82-D457-2193-C7B7-AF1643E0FA15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48;p50">
              <a:extLst>
                <a:ext uri="{FF2B5EF4-FFF2-40B4-BE49-F238E27FC236}">
                  <a16:creationId xmlns:a16="http://schemas.microsoft.com/office/drawing/2014/main" id="{79DF49FA-B17F-85B2-39FD-21DB3E5D57DD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49;p50">
              <a:extLst>
                <a:ext uri="{FF2B5EF4-FFF2-40B4-BE49-F238E27FC236}">
                  <a16:creationId xmlns:a16="http://schemas.microsoft.com/office/drawing/2014/main" id="{BD219A4B-95A8-6AF4-7D57-1D97F6A9E3E9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78ECF1-E73E-285A-9DC1-1B5D0AF0721A}"/>
              </a:ext>
            </a:extLst>
          </p:cNvPr>
          <p:cNvSpPr txBox="1"/>
          <p:nvPr/>
        </p:nvSpPr>
        <p:spPr>
          <a:xfrm>
            <a:off x="7193994" y="1975847"/>
            <a:ext cx="1498347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FEF986F-85A2-F0DE-5ABC-81A0978B7901}"/>
              </a:ext>
            </a:extLst>
          </p:cNvPr>
          <p:cNvSpPr txBox="1"/>
          <p:nvPr/>
        </p:nvSpPr>
        <p:spPr>
          <a:xfrm>
            <a:off x="7007341" y="2305011"/>
            <a:ext cx="35738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Bruno Vargas </a:t>
            </a:r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Argemi</a:t>
            </a:r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4432CE6-3DA1-CFD3-48C5-15C3DC9857BD}"/>
              </a:ext>
            </a:extLst>
          </p:cNvPr>
          <p:cNvSpPr/>
          <p:nvPr/>
        </p:nvSpPr>
        <p:spPr>
          <a:xfrm>
            <a:off x="1870087" y="4221850"/>
            <a:ext cx="4382119" cy="20906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Google Shape;1944;p50">
            <a:extLst>
              <a:ext uri="{FF2B5EF4-FFF2-40B4-BE49-F238E27FC236}">
                <a16:creationId xmlns:a16="http://schemas.microsoft.com/office/drawing/2014/main" id="{BF44BF48-722D-51F6-BB8F-A4C5DB72146A}"/>
              </a:ext>
            </a:extLst>
          </p:cNvPr>
          <p:cNvGrpSpPr/>
          <p:nvPr/>
        </p:nvGrpSpPr>
        <p:grpSpPr>
          <a:xfrm rot="10417960">
            <a:off x="2040825" y="4359935"/>
            <a:ext cx="476316" cy="468384"/>
            <a:chOff x="860940" y="2746477"/>
            <a:chExt cx="371883" cy="365691"/>
          </a:xfrm>
          <a:solidFill>
            <a:srgbClr val="C55A11"/>
          </a:solidFill>
        </p:grpSpPr>
        <p:sp>
          <p:nvSpPr>
            <p:cNvPr id="34" name="Google Shape;1945;p50">
              <a:extLst>
                <a:ext uri="{FF2B5EF4-FFF2-40B4-BE49-F238E27FC236}">
                  <a16:creationId xmlns:a16="http://schemas.microsoft.com/office/drawing/2014/main" id="{7F3C77E2-3A10-D440-6015-CCD359C6D2B1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946;p50">
              <a:extLst>
                <a:ext uri="{FF2B5EF4-FFF2-40B4-BE49-F238E27FC236}">
                  <a16:creationId xmlns:a16="http://schemas.microsoft.com/office/drawing/2014/main" id="{B1803773-A505-C2E2-7F61-4412926D1F64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947;p50">
              <a:extLst>
                <a:ext uri="{FF2B5EF4-FFF2-40B4-BE49-F238E27FC236}">
                  <a16:creationId xmlns:a16="http://schemas.microsoft.com/office/drawing/2014/main" id="{5452FDE9-BBE1-F258-5D43-81FA51833185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948;p50">
              <a:extLst>
                <a:ext uri="{FF2B5EF4-FFF2-40B4-BE49-F238E27FC236}">
                  <a16:creationId xmlns:a16="http://schemas.microsoft.com/office/drawing/2014/main" id="{E39834B9-E85F-A3D3-9D57-EAA69C4364F0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949;p50">
              <a:extLst>
                <a:ext uri="{FF2B5EF4-FFF2-40B4-BE49-F238E27FC236}">
                  <a16:creationId xmlns:a16="http://schemas.microsoft.com/office/drawing/2014/main" id="{5A9F3B6C-508A-832D-BF0F-6A429AC59B71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1B52CBB-55DA-DEF6-98C2-E9DD35444273}"/>
              </a:ext>
            </a:extLst>
          </p:cNvPr>
          <p:cNvSpPr txBox="1"/>
          <p:nvPr/>
        </p:nvSpPr>
        <p:spPr>
          <a:xfrm>
            <a:off x="2566713" y="4369616"/>
            <a:ext cx="1498347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79DD953B-FAAB-0575-BACA-BB70A6BF25D4}"/>
              </a:ext>
            </a:extLst>
          </p:cNvPr>
          <p:cNvSpPr txBox="1"/>
          <p:nvPr/>
        </p:nvSpPr>
        <p:spPr>
          <a:xfrm>
            <a:off x="1870087" y="4707908"/>
            <a:ext cx="455921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Mylla Nunes Carvalho</a:t>
            </a: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/>
              <a:t>Operadora experiente, com </a:t>
            </a:r>
            <a:r>
              <a:rPr lang="pt-BR" sz="1200" b="1" dirty="0"/>
              <a:t>bom desempenho recorrente em NPS e Qualidade</a:t>
            </a:r>
            <a:r>
              <a:rPr lang="pt-BR" sz="1200" dirty="0"/>
              <a:t>. No período, os indicadores foram impactados pelo </a:t>
            </a:r>
            <a:r>
              <a:rPr lang="pt-BR" sz="1200" b="1" dirty="0"/>
              <a:t>afastamento superior a 15 dias</a:t>
            </a:r>
            <a:r>
              <a:rPr lang="pt-BR" sz="1200" dirty="0"/>
              <a:t>. Ficou como </a:t>
            </a:r>
            <a:r>
              <a:rPr lang="pt-BR" sz="1200" b="1" dirty="0"/>
              <a:t>ofensora de qualidade</a:t>
            </a:r>
            <a:r>
              <a:rPr lang="pt-BR" sz="1200" dirty="0"/>
              <a:t>, com </a:t>
            </a:r>
            <a:r>
              <a:rPr lang="pt-BR" sz="1200" b="1" dirty="0"/>
              <a:t>4 ocorrências</a:t>
            </a:r>
            <a:r>
              <a:rPr lang="pt-BR" sz="1200" dirty="0"/>
              <a:t>, principalmente relacionadas a </a:t>
            </a:r>
            <a:r>
              <a:rPr lang="pt-BR" sz="1200" b="1" dirty="0"/>
              <a:t>procedimento incorreto e uso inadequado de macro</a:t>
            </a:r>
            <a:r>
              <a:rPr lang="pt-BR" sz="1200" dirty="0"/>
              <a:t>, indicando necessidade de atenção pontual na aplicação dos fluxos.</a:t>
            </a: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5435D39C-476D-CDDE-0634-71E33F40104C}"/>
              </a:ext>
            </a:extLst>
          </p:cNvPr>
          <p:cNvSpPr/>
          <p:nvPr/>
        </p:nvSpPr>
        <p:spPr>
          <a:xfrm>
            <a:off x="6524066" y="4137739"/>
            <a:ext cx="4382119" cy="2137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C55A1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7" name="Google Shape;1944;p50">
            <a:extLst>
              <a:ext uri="{FF2B5EF4-FFF2-40B4-BE49-F238E27FC236}">
                <a16:creationId xmlns:a16="http://schemas.microsoft.com/office/drawing/2014/main" id="{B8737845-09A1-C702-8561-582EE15AD2FD}"/>
              </a:ext>
            </a:extLst>
          </p:cNvPr>
          <p:cNvGrpSpPr/>
          <p:nvPr/>
        </p:nvGrpSpPr>
        <p:grpSpPr>
          <a:xfrm rot="10417960">
            <a:off x="6629343" y="4367822"/>
            <a:ext cx="476316" cy="468384"/>
            <a:chOff x="860940" y="2746477"/>
            <a:chExt cx="371883" cy="365691"/>
          </a:xfrm>
          <a:solidFill>
            <a:srgbClr val="C55A11"/>
          </a:solidFill>
        </p:grpSpPr>
        <p:sp>
          <p:nvSpPr>
            <p:cNvPr id="48" name="Google Shape;1945;p50">
              <a:extLst>
                <a:ext uri="{FF2B5EF4-FFF2-40B4-BE49-F238E27FC236}">
                  <a16:creationId xmlns:a16="http://schemas.microsoft.com/office/drawing/2014/main" id="{7E501F98-BF96-A8FE-9F45-40E26061DF2F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946;p50">
              <a:extLst>
                <a:ext uri="{FF2B5EF4-FFF2-40B4-BE49-F238E27FC236}">
                  <a16:creationId xmlns:a16="http://schemas.microsoft.com/office/drawing/2014/main" id="{1666AB11-C891-71E4-785B-ED7DD36A35DC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947;p50">
              <a:extLst>
                <a:ext uri="{FF2B5EF4-FFF2-40B4-BE49-F238E27FC236}">
                  <a16:creationId xmlns:a16="http://schemas.microsoft.com/office/drawing/2014/main" id="{808CD977-170C-9B04-C1F7-1F06EAD5A92D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948;p50">
              <a:extLst>
                <a:ext uri="{FF2B5EF4-FFF2-40B4-BE49-F238E27FC236}">
                  <a16:creationId xmlns:a16="http://schemas.microsoft.com/office/drawing/2014/main" id="{7D02A7E1-5122-FB5E-8FB3-FD2592820D62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949;p50">
              <a:extLst>
                <a:ext uri="{FF2B5EF4-FFF2-40B4-BE49-F238E27FC236}">
                  <a16:creationId xmlns:a16="http://schemas.microsoft.com/office/drawing/2014/main" id="{47FAAA61-BFF4-CE48-530A-34DFECD54B05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5363C5C2-0D60-E784-CCC5-C828F3E1EEDB}"/>
              </a:ext>
            </a:extLst>
          </p:cNvPr>
          <p:cNvSpPr txBox="1"/>
          <p:nvPr/>
        </p:nvSpPr>
        <p:spPr>
          <a:xfrm>
            <a:off x="7224926" y="4378062"/>
            <a:ext cx="1498347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EB191AEB-AD3C-BA41-AA3B-651E8AEE71B6}"/>
              </a:ext>
            </a:extLst>
          </p:cNvPr>
          <p:cNvSpPr txBox="1"/>
          <p:nvPr/>
        </p:nvSpPr>
        <p:spPr>
          <a:xfrm>
            <a:off x="6797138" y="4716685"/>
            <a:ext cx="498776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André Felipe </a:t>
            </a:r>
            <a:r>
              <a:rPr lang="pt-BR" sz="1400" dirty="0" err="1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Feuser</a:t>
            </a: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/>
              <a:t>Operador com </a:t>
            </a:r>
            <a:r>
              <a:rPr lang="pt-BR" sz="1200" b="1" dirty="0"/>
              <a:t>3 meses de atuação</a:t>
            </a:r>
            <a:r>
              <a:rPr lang="pt-BR" sz="1200" dirty="0"/>
              <a:t>, atencioso e com bom domínio das ferramentas, porém ainda apresenta </a:t>
            </a:r>
            <a:r>
              <a:rPr lang="pt-BR" sz="1200" b="1" dirty="0"/>
              <a:t>insegurança e dificuldade em macros e produtos</a:t>
            </a:r>
            <a:r>
              <a:rPr lang="pt-BR" sz="1200" dirty="0"/>
              <a:t>. No período, registrou </a:t>
            </a:r>
            <a:r>
              <a:rPr lang="pt-BR" sz="1200" b="1" dirty="0"/>
              <a:t>2 ocorrências relacionadas a procedimento incorreto</a:t>
            </a:r>
            <a:r>
              <a:rPr lang="pt-BR" sz="1200" dirty="0"/>
              <a:t>. Por ser detalhista, em alguns momentos se perde na condução da tratativa, sendo necessário reforço de conhecimento e maior segurança na aplicação dos fluxos.</a:t>
            </a: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400" dirty="0">
              <a:solidFill>
                <a:srgbClr val="C55A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1786D8-C179-E1EA-9CB1-A76FB4DF5D8B}"/>
              </a:ext>
            </a:extLst>
          </p:cNvPr>
          <p:cNvSpPr txBox="1"/>
          <p:nvPr/>
        </p:nvSpPr>
        <p:spPr>
          <a:xfrm>
            <a:off x="6726499" y="2568985"/>
            <a:ext cx="45307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dirty="0"/>
              <a:t>Operador com </a:t>
            </a:r>
            <a:r>
              <a:rPr lang="pt-BR" sz="1100" b="1" dirty="0"/>
              <a:t>menos de 3 meses de atuação</a:t>
            </a:r>
            <a:r>
              <a:rPr lang="pt-BR" sz="1100" dirty="0"/>
              <a:t>, apresenta </a:t>
            </a:r>
            <a:r>
              <a:rPr lang="pt-BR" sz="1100" b="1" dirty="0"/>
              <a:t>forte domínio das ferramentas, alta produtividade e boa absorção das orientações</a:t>
            </a:r>
            <a:r>
              <a:rPr lang="pt-BR" sz="1100" dirty="0"/>
              <a:t>. No período, registrou </a:t>
            </a:r>
            <a:r>
              <a:rPr lang="pt-BR" sz="1100" b="1" dirty="0"/>
              <a:t>2 ocorrências</a:t>
            </a:r>
            <a:r>
              <a:rPr lang="pt-BR" sz="1100" dirty="0"/>
              <a:t>, relacionadas a </a:t>
            </a:r>
            <a:r>
              <a:rPr lang="pt-BR" sz="1100" b="1" dirty="0"/>
              <a:t>procedimento incorreto e uso de macro externa</a:t>
            </a:r>
            <a:r>
              <a:rPr lang="pt-BR" sz="1100" dirty="0"/>
              <a:t>. Apesar das oportunidades pontuais em alguns produtos, demonstra </a:t>
            </a:r>
            <a:r>
              <a:rPr lang="pt-BR" sz="1100" b="1" dirty="0"/>
              <a:t>boa evolução e desempenho</a:t>
            </a:r>
            <a:r>
              <a:rPr lang="pt-BR" sz="1100" dirty="0"/>
              <a:t>, destacando-se por ter sido </a:t>
            </a:r>
            <a:r>
              <a:rPr lang="pt-BR" sz="1100" b="1" dirty="0"/>
              <a:t>Embaixador da Excelência por dois meses consecutivos</a:t>
            </a:r>
            <a:r>
              <a:rPr lang="pt-BR" sz="1100" dirty="0"/>
              <a:t>.</a:t>
            </a:r>
            <a:endParaRPr lang="pt-BR" sz="11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F5F5919C-DF7C-7EBA-92D1-19C559F36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7" name="Título 1">
            <a:extLst>
              <a:ext uri="{FF2B5EF4-FFF2-40B4-BE49-F238E27FC236}">
                <a16:creationId xmlns:a16="http://schemas.microsoft.com/office/drawing/2014/main" id="{CE807657-1A20-FDD6-28B6-12237F84C640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C24812-D257-2C5D-913C-06D683534A39}"/>
              </a:ext>
            </a:extLst>
          </p:cNvPr>
          <p:cNvSpPr txBox="1"/>
          <p:nvPr/>
        </p:nvSpPr>
        <p:spPr>
          <a:xfrm>
            <a:off x="4256909" y="1700941"/>
            <a:ext cx="2014988" cy="43088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atual: 65,00	</a:t>
            </a:r>
          </a:p>
          <a:p>
            <a:pPr algn="ctr"/>
            <a:endParaRPr lang="pt-BR" sz="11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E6417B-0A13-D125-E8F4-85E637CF5CA9}"/>
              </a:ext>
            </a:extLst>
          </p:cNvPr>
          <p:cNvSpPr txBox="1"/>
          <p:nvPr/>
        </p:nvSpPr>
        <p:spPr>
          <a:xfrm>
            <a:off x="8876037" y="1665033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atual: 100,00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52563F1-4513-C44B-BC03-8B73D24EB06C}"/>
              </a:ext>
            </a:extLst>
          </p:cNvPr>
          <p:cNvSpPr txBox="1"/>
          <p:nvPr/>
        </p:nvSpPr>
        <p:spPr>
          <a:xfrm>
            <a:off x="4228780" y="4074362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atual: 86,00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5DA8337-6CEE-085E-FDD7-910C039A474E}"/>
              </a:ext>
            </a:extLst>
          </p:cNvPr>
          <p:cNvSpPr txBox="1"/>
          <p:nvPr/>
        </p:nvSpPr>
        <p:spPr>
          <a:xfrm>
            <a:off x="8876037" y="4044233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atual: 95,33</a:t>
            </a:r>
          </a:p>
        </p:txBody>
      </p:sp>
    </p:spTree>
    <p:extLst>
      <p:ext uri="{BB962C8B-B14F-4D97-AF65-F5344CB8AC3E}">
        <p14:creationId xmlns:p14="http://schemas.microsoft.com/office/powerpoint/2010/main" val="3647440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C1D32C22-2BB4-4AA9-AC92-F27F756F9A46}"/>
              </a:ext>
            </a:extLst>
          </p:cNvPr>
          <p:cNvSpPr/>
          <p:nvPr/>
        </p:nvSpPr>
        <p:spPr>
          <a:xfrm>
            <a:off x="9727562" y="551224"/>
            <a:ext cx="2020973" cy="375927"/>
          </a:xfrm>
          <a:prstGeom prst="roundRect">
            <a:avLst>
              <a:gd name="adj" fmla="val 13727"/>
            </a:avLst>
          </a:prstGeom>
          <a:solidFill>
            <a:srgbClr val="0B589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B017911-3FA8-4E15-AE1D-B1FD14D64222}"/>
              </a:ext>
            </a:extLst>
          </p:cNvPr>
          <p:cNvSpPr/>
          <p:nvPr/>
        </p:nvSpPr>
        <p:spPr>
          <a:xfrm>
            <a:off x="9773512" y="588962"/>
            <a:ext cx="1992680" cy="341643"/>
          </a:xfrm>
          <a:prstGeom prst="roundRect">
            <a:avLst>
              <a:gd name="adj" fmla="val 1372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A5950180-9DDC-4E06-9746-C88850FA434F}"/>
              </a:ext>
            </a:extLst>
          </p:cNvPr>
          <p:cNvSpPr txBox="1">
            <a:spLocks/>
          </p:cNvSpPr>
          <p:nvPr/>
        </p:nvSpPr>
        <p:spPr>
          <a:xfrm>
            <a:off x="-1" y="855616"/>
            <a:ext cx="12192001" cy="5580185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3300" b="1" spc="-300" dirty="0">
                <a:solidFill>
                  <a:schemeClr val="tx1">
                    <a:lumMod val="50000"/>
                    <a:lumOff val="50000"/>
                    <a:alpha val="11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11001D-7B27-4D1E-8727-3B5C67488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9296" y="3091934"/>
            <a:ext cx="6110931" cy="1189342"/>
          </a:xfrm>
          <a:effectLst/>
        </p:spPr>
        <p:txBody>
          <a:bodyPr>
            <a:noAutofit/>
          </a:bodyPr>
          <a:lstStyle/>
          <a:p>
            <a:r>
              <a:rPr lang="pt-BR" sz="103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  <a:endParaRPr lang="pt-BR" sz="12400" b="1" dirty="0">
              <a:solidFill>
                <a:srgbClr val="D905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19E4ED5-6191-4819-BC5E-0686AFC2CEAF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021C8E1-11F0-459F-8C87-DCB9B6EC7814}"/>
              </a:ext>
            </a:extLst>
          </p:cNvPr>
          <p:cNvSpPr/>
          <p:nvPr/>
        </p:nvSpPr>
        <p:spPr>
          <a:xfrm>
            <a:off x="3214255" y="4289580"/>
            <a:ext cx="5167746" cy="422031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75000"/>
                  <a:tint val="66000"/>
                  <a:satMod val="160000"/>
                </a:schemeClr>
              </a:gs>
              <a:gs pos="50000">
                <a:schemeClr val="bg2">
                  <a:lumMod val="75000"/>
                  <a:tint val="44500"/>
                  <a:satMod val="160000"/>
                </a:schemeClr>
              </a:gs>
              <a:gs pos="100000">
                <a:schemeClr val="bg2">
                  <a:lumMod val="75000"/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EF44465-2770-491B-BA4E-94ADD8550292}"/>
              </a:ext>
            </a:extLst>
          </p:cNvPr>
          <p:cNvSpPr txBox="1">
            <a:spLocks/>
          </p:cNvSpPr>
          <p:nvPr/>
        </p:nvSpPr>
        <p:spPr>
          <a:xfrm>
            <a:off x="3846918" y="4184846"/>
            <a:ext cx="452151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OPERACIONAIS  - DIGITAL</a:t>
            </a:r>
          </a:p>
        </p:txBody>
      </p:sp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>
            <a:off x="3417784" y="4365535"/>
            <a:ext cx="293131" cy="279819"/>
            <a:chOff x="4126815" y="2760704"/>
            <a:chExt cx="380393" cy="363118"/>
          </a:xfrm>
          <a:solidFill>
            <a:srgbClr val="D905C5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Retângulo 27">
            <a:extLst>
              <a:ext uri="{FF2B5EF4-FFF2-40B4-BE49-F238E27FC236}">
                <a16:creationId xmlns:a16="http://schemas.microsoft.com/office/drawing/2014/main" id="{1B97A203-0963-4EDB-AFF5-18D33C0036C8}"/>
              </a:ext>
            </a:extLst>
          </p:cNvPr>
          <p:cNvSpPr/>
          <p:nvPr/>
        </p:nvSpPr>
        <p:spPr>
          <a:xfrm>
            <a:off x="-91440" y="6707874"/>
            <a:ext cx="12283440" cy="300251"/>
          </a:xfrm>
          <a:prstGeom prst="rect">
            <a:avLst/>
          </a:prstGeom>
          <a:solidFill>
            <a:srgbClr val="D905C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E8ED96BD-2906-4BD9-86CD-086D77D840E8}"/>
              </a:ext>
            </a:extLst>
          </p:cNvPr>
          <p:cNvSpPr txBox="1">
            <a:spLocks/>
          </p:cNvSpPr>
          <p:nvPr/>
        </p:nvSpPr>
        <p:spPr>
          <a:xfrm>
            <a:off x="0" y="5391500"/>
            <a:ext cx="12192000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600" spc="6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Excelência não é um ato, é um hábito diário.</a:t>
            </a: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8B24F100-4168-4C22-95ED-00150A20E58B}"/>
              </a:ext>
            </a:extLst>
          </p:cNvPr>
          <p:cNvSpPr txBox="1">
            <a:spLocks/>
          </p:cNvSpPr>
          <p:nvPr/>
        </p:nvSpPr>
        <p:spPr>
          <a:xfrm>
            <a:off x="10010273" y="673769"/>
            <a:ext cx="1744579" cy="228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grpSp>
        <p:nvGrpSpPr>
          <p:cNvPr id="64" name="Google Shape;2286;p50">
            <a:extLst>
              <a:ext uri="{FF2B5EF4-FFF2-40B4-BE49-F238E27FC236}">
                <a16:creationId xmlns:a16="http://schemas.microsoft.com/office/drawing/2014/main" id="{DD2CD91E-4B95-4BA2-97EA-B75F30F1F20D}"/>
              </a:ext>
            </a:extLst>
          </p:cNvPr>
          <p:cNvGrpSpPr/>
          <p:nvPr/>
        </p:nvGrpSpPr>
        <p:grpSpPr>
          <a:xfrm>
            <a:off x="9914641" y="640516"/>
            <a:ext cx="256996" cy="256996"/>
            <a:chOff x="10170398" y="2275581"/>
            <a:chExt cx="1044240" cy="1044240"/>
          </a:xfrm>
          <a:solidFill>
            <a:srgbClr val="0B5892"/>
          </a:solidFill>
        </p:grpSpPr>
        <p:sp>
          <p:nvSpPr>
            <p:cNvPr id="65" name="Google Shape;2287;p50">
              <a:extLst>
                <a:ext uri="{FF2B5EF4-FFF2-40B4-BE49-F238E27FC236}">
                  <a16:creationId xmlns:a16="http://schemas.microsoft.com/office/drawing/2014/main" id="{A45AE1BE-32EF-4AEA-A507-6978FDF05586}"/>
                </a:ext>
              </a:extLst>
            </p:cNvPr>
            <p:cNvSpPr/>
            <p:nvPr/>
          </p:nvSpPr>
          <p:spPr>
            <a:xfrm>
              <a:off x="10170398" y="2275581"/>
              <a:ext cx="1044240" cy="1044240"/>
            </a:xfrm>
            <a:custGeom>
              <a:avLst/>
              <a:gdLst/>
              <a:ahLst/>
              <a:cxnLst/>
              <a:rect l="l" t="t" r="r" b="b"/>
              <a:pathLst>
                <a:path w="1044240" h="1044240" extrusionOk="0">
                  <a:moveTo>
                    <a:pt x="1043243" y="1023511"/>
                  </a:moveTo>
                  <a:lnTo>
                    <a:pt x="890278" y="620562"/>
                  </a:lnTo>
                  <a:cubicBezTo>
                    <a:pt x="889008" y="617215"/>
                    <a:pt x="886603" y="614420"/>
                    <a:pt x="883487" y="612664"/>
                  </a:cubicBezTo>
                  <a:lnTo>
                    <a:pt x="720557" y="520873"/>
                  </a:lnTo>
                  <a:lnTo>
                    <a:pt x="768125" y="445452"/>
                  </a:lnTo>
                  <a:cubicBezTo>
                    <a:pt x="797319" y="399126"/>
                    <a:pt x="812752" y="345590"/>
                    <a:pt x="812752" y="290633"/>
                  </a:cubicBezTo>
                  <a:cubicBezTo>
                    <a:pt x="812752" y="130377"/>
                    <a:pt x="682375" y="0"/>
                    <a:pt x="522119" y="0"/>
                  </a:cubicBezTo>
                  <a:cubicBezTo>
                    <a:pt x="361863" y="0"/>
                    <a:pt x="231486" y="130377"/>
                    <a:pt x="231486" y="290633"/>
                  </a:cubicBezTo>
                  <a:cubicBezTo>
                    <a:pt x="231486" y="345604"/>
                    <a:pt x="246925" y="399142"/>
                    <a:pt x="276135" y="445456"/>
                  </a:cubicBezTo>
                  <a:cubicBezTo>
                    <a:pt x="276917" y="446698"/>
                    <a:pt x="323691" y="520877"/>
                    <a:pt x="323691" y="520877"/>
                  </a:cubicBezTo>
                  <a:lnTo>
                    <a:pt x="160755" y="612664"/>
                  </a:lnTo>
                  <a:cubicBezTo>
                    <a:pt x="157637" y="614420"/>
                    <a:pt x="155232" y="617215"/>
                    <a:pt x="153961" y="620562"/>
                  </a:cubicBezTo>
                  <a:lnTo>
                    <a:pt x="997" y="1023511"/>
                  </a:lnTo>
                  <a:cubicBezTo>
                    <a:pt x="-1290" y="1029532"/>
                    <a:pt x="442" y="1036340"/>
                    <a:pt x="5323" y="1040539"/>
                  </a:cubicBezTo>
                  <a:cubicBezTo>
                    <a:pt x="10209" y="1044741"/>
                    <a:pt x="17195" y="1045432"/>
                    <a:pt x="22805" y="1042269"/>
                  </a:cubicBezTo>
                  <a:lnTo>
                    <a:pt x="268707" y="903732"/>
                  </a:lnTo>
                  <a:lnTo>
                    <a:pt x="514609" y="1042269"/>
                  </a:lnTo>
                  <a:cubicBezTo>
                    <a:pt x="519270" y="1044894"/>
                    <a:pt x="524966" y="1044894"/>
                    <a:pt x="529626" y="1042269"/>
                  </a:cubicBezTo>
                  <a:lnTo>
                    <a:pt x="775528" y="903732"/>
                  </a:lnTo>
                  <a:lnTo>
                    <a:pt x="1021430" y="1042269"/>
                  </a:lnTo>
                  <a:cubicBezTo>
                    <a:pt x="1023776" y="1043590"/>
                    <a:pt x="1026364" y="1044239"/>
                    <a:pt x="1028938" y="1044239"/>
                  </a:cubicBezTo>
                  <a:cubicBezTo>
                    <a:pt x="1032519" y="1044239"/>
                    <a:pt x="1036072" y="1042985"/>
                    <a:pt x="1038915" y="1040541"/>
                  </a:cubicBezTo>
                  <a:cubicBezTo>
                    <a:pt x="1043800" y="1036340"/>
                    <a:pt x="1045529" y="1029532"/>
                    <a:pt x="1043243" y="1023511"/>
                  </a:cubicBezTo>
                  <a:close/>
                  <a:moveTo>
                    <a:pt x="537417" y="792788"/>
                  </a:moveTo>
                  <a:cubicBezTo>
                    <a:pt x="546987" y="789410"/>
                    <a:pt x="555284" y="782904"/>
                    <a:pt x="560915" y="773989"/>
                  </a:cubicBezTo>
                  <a:cubicBezTo>
                    <a:pt x="561692" y="772765"/>
                    <a:pt x="691912" y="566296"/>
                    <a:pt x="691912" y="566296"/>
                  </a:cubicBezTo>
                  <a:lnTo>
                    <a:pt x="758235" y="878360"/>
                  </a:lnTo>
                  <a:lnTo>
                    <a:pt x="537417" y="1002763"/>
                  </a:lnTo>
                  <a:close/>
                  <a:moveTo>
                    <a:pt x="302013" y="429133"/>
                  </a:moveTo>
                  <a:cubicBezTo>
                    <a:pt x="275889" y="387710"/>
                    <a:pt x="262081" y="339818"/>
                    <a:pt x="262081" y="290631"/>
                  </a:cubicBezTo>
                  <a:cubicBezTo>
                    <a:pt x="262081" y="147244"/>
                    <a:pt x="378734" y="30591"/>
                    <a:pt x="522121" y="30591"/>
                  </a:cubicBezTo>
                  <a:cubicBezTo>
                    <a:pt x="665508" y="30591"/>
                    <a:pt x="782161" y="147244"/>
                    <a:pt x="782161" y="290631"/>
                  </a:cubicBezTo>
                  <a:cubicBezTo>
                    <a:pt x="782161" y="339808"/>
                    <a:pt x="768357" y="387704"/>
                    <a:pt x="742249" y="429133"/>
                  </a:cubicBezTo>
                  <a:cubicBezTo>
                    <a:pt x="740208" y="432370"/>
                    <a:pt x="538658" y="751989"/>
                    <a:pt x="535141" y="757510"/>
                  </a:cubicBezTo>
                  <a:cubicBezTo>
                    <a:pt x="535109" y="757557"/>
                    <a:pt x="535080" y="757606"/>
                    <a:pt x="535050" y="757653"/>
                  </a:cubicBezTo>
                  <a:cubicBezTo>
                    <a:pt x="532213" y="762139"/>
                    <a:pt x="527381" y="764821"/>
                    <a:pt x="522121" y="764821"/>
                  </a:cubicBezTo>
                  <a:cubicBezTo>
                    <a:pt x="516857" y="764821"/>
                    <a:pt x="512003" y="762127"/>
                    <a:pt x="509162" y="757661"/>
                  </a:cubicBezTo>
                  <a:cubicBezTo>
                    <a:pt x="507118" y="754420"/>
                    <a:pt x="305166" y="434169"/>
                    <a:pt x="302082" y="429245"/>
                  </a:cubicBezTo>
                  <a:cubicBezTo>
                    <a:pt x="302060" y="429209"/>
                    <a:pt x="302035" y="429172"/>
                    <a:pt x="302013" y="429133"/>
                  </a:cubicBezTo>
                  <a:close/>
                  <a:moveTo>
                    <a:pt x="180596" y="636598"/>
                  </a:moveTo>
                  <a:lnTo>
                    <a:pt x="323191" y="556267"/>
                  </a:lnTo>
                  <a:lnTo>
                    <a:pt x="298350" y="673141"/>
                  </a:lnTo>
                  <a:cubicBezTo>
                    <a:pt x="296594" y="681405"/>
                    <a:pt x="301868" y="689526"/>
                    <a:pt x="310130" y="691284"/>
                  </a:cubicBezTo>
                  <a:cubicBezTo>
                    <a:pt x="311203" y="691513"/>
                    <a:pt x="312274" y="691623"/>
                    <a:pt x="313326" y="691623"/>
                  </a:cubicBezTo>
                  <a:cubicBezTo>
                    <a:pt x="320393" y="691623"/>
                    <a:pt x="326744" y="686693"/>
                    <a:pt x="328272" y="679504"/>
                  </a:cubicBezTo>
                  <a:lnTo>
                    <a:pt x="352332" y="566306"/>
                  </a:lnTo>
                  <a:lnTo>
                    <a:pt x="483313" y="774030"/>
                  </a:lnTo>
                  <a:cubicBezTo>
                    <a:pt x="488964" y="782920"/>
                    <a:pt x="497267" y="789412"/>
                    <a:pt x="506820" y="792785"/>
                  </a:cubicBezTo>
                  <a:lnTo>
                    <a:pt x="506820" y="1002767"/>
                  </a:lnTo>
                  <a:lnTo>
                    <a:pt x="286007" y="878362"/>
                  </a:lnTo>
                  <a:lnTo>
                    <a:pt x="315553" y="739350"/>
                  </a:lnTo>
                  <a:cubicBezTo>
                    <a:pt x="317309" y="731086"/>
                    <a:pt x="312035" y="722964"/>
                    <a:pt x="303773" y="721206"/>
                  </a:cubicBezTo>
                  <a:cubicBezTo>
                    <a:pt x="295501" y="719440"/>
                    <a:pt x="287385" y="724726"/>
                    <a:pt x="285629" y="732986"/>
                  </a:cubicBezTo>
                  <a:lnTo>
                    <a:pt x="255181" y="876235"/>
                  </a:lnTo>
                  <a:lnTo>
                    <a:pt x="44588" y="994882"/>
                  </a:lnTo>
                  <a:close/>
                  <a:moveTo>
                    <a:pt x="789059" y="876237"/>
                  </a:moveTo>
                  <a:lnTo>
                    <a:pt x="721055" y="556265"/>
                  </a:lnTo>
                  <a:lnTo>
                    <a:pt x="863644" y="636598"/>
                  </a:lnTo>
                  <a:lnTo>
                    <a:pt x="999654" y="9948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2288;p50">
              <a:extLst>
                <a:ext uri="{FF2B5EF4-FFF2-40B4-BE49-F238E27FC236}">
                  <a16:creationId xmlns:a16="http://schemas.microsoft.com/office/drawing/2014/main" id="{A6AE6957-2411-41B9-955C-B436C14393C1}"/>
                </a:ext>
              </a:extLst>
            </p:cNvPr>
            <p:cNvSpPr/>
            <p:nvPr/>
          </p:nvSpPr>
          <p:spPr>
            <a:xfrm>
              <a:off x="10524258" y="2397950"/>
              <a:ext cx="336522" cy="336522"/>
            </a:xfrm>
            <a:custGeom>
              <a:avLst/>
              <a:gdLst/>
              <a:ahLst/>
              <a:cxnLst/>
              <a:rect l="l" t="t" r="r" b="b"/>
              <a:pathLst>
                <a:path w="336522" h="336522" extrusionOk="0">
                  <a:moveTo>
                    <a:pt x="336522" y="168261"/>
                  </a:moveTo>
                  <a:cubicBezTo>
                    <a:pt x="336522" y="75483"/>
                    <a:pt x="261039" y="0"/>
                    <a:pt x="168261" y="0"/>
                  </a:cubicBezTo>
                  <a:cubicBezTo>
                    <a:pt x="75483" y="0"/>
                    <a:pt x="0" y="75483"/>
                    <a:pt x="0" y="168261"/>
                  </a:cubicBezTo>
                  <a:cubicBezTo>
                    <a:pt x="0" y="261039"/>
                    <a:pt x="75483" y="336522"/>
                    <a:pt x="168261" y="336522"/>
                  </a:cubicBezTo>
                  <a:cubicBezTo>
                    <a:pt x="261039" y="336522"/>
                    <a:pt x="336522" y="261039"/>
                    <a:pt x="336522" y="168261"/>
                  </a:cubicBezTo>
                  <a:close/>
                  <a:moveTo>
                    <a:pt x="30593" y="168261"/>
                  </a:moveTo>
                  <a:cubicBezTo>
                    <a:pt x="30593" y="92350"/>
                    <a:pt x="92350" y="30593"/>
                    <a:pt x="168261" y="30593"/>
                  </a:cubicBezTo>
                  <a:cubicBezTo>
                    <a:pt x="244172" y="30593"/>
                    <a:pt x="305929" y="92350"/>
                    <a:pt x="305929" y="168261"/>
                  </a:cubicBezTo>
                  <a:cubicBezTo>
                    <a:pt x="305929" y="244172"/>
                    <a:pt x="244172" y="305929"/>
                    <a:pt x="168261" y="305929"/>
                  </a:cubicBezTo>
                  <a:cubicBezTo>
                    <a:pt x="92350" y="305929"/>
                    <a:pt x="30593" y="244172"/>
                    <a:pt x="30593" y="1682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2289;p50">
              <a:extLst>
                <a:ext uri="{FF2B5EF4-FFF2-40B4-BE49-F238E27FC236}">
                  <a16:creationId xmlns:a16="http://schemas.microsoft.com/office/drawing/2014/main" id="{45390312-E95B-4BA5-B6BB-066662AEF39E}"/>
                </a:ext>
              </a:extLst>
            </p:cNvPr>
            <p:cNvSpPr/>
            <p:nvPr/>
          </p:nvSpPr>
          <p:spPr>
            <a:xfrm>
              <a:off x="10585444" y="2459136"/>
              <a:ext cx="214150" cy="214150"/>
            </a:xfrm>
            <a:custGeom>
              <a:avLst/>
              <a:gdLst/>
              <a:ahLst/>
              <a:cxnLst/>
              <a:rect l="l" t="t" r="r" b="b"/>
              <a:pathLst>
                <a:path w="214150" h="214150" extrusionOk="0">
                  <a:moveTo>
                    <a:pt x="214151" y="107075"/>
                  </a:moveTo>
                  <a:cubicBezTo>
                    <a:pt x="214151" y="48035"/>
                    <a:pt x="166116" y="0"/>
                    <a:pt x="107075" y="0"/>
                  </a:cubicBezTo>
                  <a:cubicBezTo>
                    <a:pt x="48035" y="0"/>
                    <a:pt x="0" y="48035"/>
                    <a:pt x="0" y="107075"/>
                  </a:cubicBezTo>
                  <a:cubicBezTo>
                    <a:pt x="0" y="166116"/>
                    <a:pt x="48035" y="214151"/>
                    <a:pt x="107075" y="214151"/>
                  </a:cubicBezTo>
                  <a:cubicBezTo>
                    <a:pt x="166116" y="214151"/>
                    <a:pt x="214151" y="166116"/>
                    <a:pt x="214151" y="107075"/>
                  </a:cubicBezTo>
                  <a:close/>
                  <a:moveTo>
                    <a:pt x="30593" y="107075"/>
                  </a:moveTo>
                  <a:cubicBezTo>
                    <a:pt x="30593" y="64902"/>
                    <a:pt x="64902" y="30593"/>
                    <a:pt x="107075" y="30593"/>
                  </a:cubicBezTo>
                  <a:cubicBezTo>
                    <a:pt x="149249" y="30593"/>
                    <a:pt x="183558" y="64902"/>
                    <a:pt x="183558" y="107075"/>
                  </a:cubicBezTo>
                  <a:cubicBezTo>
                    <a:pt x="183558" y="149249"/>
                    <a:pt x="149249" y="183558"/>
                    <a:pt x="107075" y="183558"/>
                  </a:cubicBezTo>
                  <a:cubicBezTo>
                    <a:pt x="64902" y="183558"/>
                    <a:pt x="30593" y="149249"/>
                    <a:pt x="30593" y="1070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E0C82688-81D7-49E5-87F0-B6585C567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2668" y="2469881"/>
            <a:ext cx="2132458" cy="2132458"/>
          </a:xfrm>
          <a:prstGeom prst="rect">
            <a:avLst/>
          </a:prstGeom>
          <a:effectLst>
            <a:outerShdw blurRad="457200" dist="38100" dir="2700000" sx="106000" sy="106000" algn="tl" rotWithShape="0">
              <a:prstClr val="black">
                <a:alpha val="40000"/>
              </a:prst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6E792D69-8593-4FA2-B1CC-08694CCAD4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20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75B4443A-AB0F-41A7-8EBD-850DB095055A}"/>
              </a:ext>
            </a:extLst>
          </p:cNvPr>
          <p:cNvSpPr/>
          <p:nvPr/>
        </p:nvSpPr>
        <p:spPr>
          <a:xfrm>
            <a:off x="3261766" y="3967038"/>
            <a:ext cx="4814164" cy="175290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CA314B76-9ED7-405F-8836-ADF96DD6847A}"/>
              </a:ext>
            </a:extLst>
          </p:cNvPr>
          <p:cNvSpPr/>
          <p:nvPr/>
        </p:nvSpPr>
        <p:spPr>
          <a:xfrm>
            <a:off x="3178556" y="4101229"/>
            <a:ext cx="4814164" cy="17529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F9B8545C-EE3B-4A2D-88AF-B393E3C17F99}"/>
              </a:ext>
            </a:extLst>
          </p:cNvPr>
          <p:cNvSpPr/>
          <p:nvPr/>
        </p:nvSpPr>
        <p:spPr>
          <a:xfrm>
            <a:off x="6251820" y="1962694"/>
            <a:ext cx="4814164" cy="173766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0D24A15-7CCF-4245-A75F-347C77ED1F42}"/>
              </a:ext>
            </a:extLst>
          </p:cNvPr>
          <p:cNvSpPr/>
          <p:nvPr/>
        </p:nvSpPr>
        <p:spPr>
          <a:xfrm>
            <a:off x="6274681" y="1974125"/>
            <a:ext cx="4814164" cy="17376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995561" y="2521691"/>
            <a:ext cx="3625927" cy="527350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D90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GERAL DO CANAL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6CE0130-151A-4297-A436-4220E143FB10}"/>
              </a:ext>
            </a:extLst>
          </p:cNvPr>
          <p:cNvSpPr/>
          <p:nvPr/>
        </p:nvSpPr>
        <p:spPr>
          <a:xfrm>
            <a:off x="921630" y="1936024"/>
            <a:ext cx="4814164" cy="175290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BB5200E-D583-4DFF-A3A0-F34072602F9F}"/>
              </a:ext>
            </a:extLst>
          </p:cNvPr>
          <p:cNvSpPr/>
          <p:nvPr/>
        </p:nvSpPr>
        <p:spPr>
          <a:xfrm>
            <a:off x="967351" y="1936025"/>
            <a:ext cx="4814164" cy="17529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F7528B4-88F4-468A-8E7C-E472BD29EE3C}"/>
              </a:ext>
            </a:extLst>
          </p:cNvPr>
          <p:cNvSpPr txBox="1"/>
          <p:nvPr/>
        </p:nvSpPr>
        <p:spPr>
          <a:xfrm>
            <a:off x="1299422" y="2203123"/>
            <a:ext cx="3758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 de Monitorias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04A5897-BEF2-4BD8-BE02-EA3E5D4A80D1}"/>
              </a:ext>
            </a:extLst>
          </p:cNvPr>
          <p:cNvSpPr txBox="1"/>
          <p:nvPr/>
        </p:nvSpPr>
        <p:spPr>
          <a:xfrm>
            <a:off x="1283952" y="2353651"/>
            <a:ext cx="18381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269</a:t>
            </a:r>
          </a:p>
        </p:txBody>
      </p:sp>
      <p:sp>
        <p:nvSpPr>
          <p:cNvPr id="32" name="Google Shape;2081;p50">
            <a:extLst>
              <a:ext uri="{FF2B5EF4-FFF2-40B4-BE49-F238E27FC236}">
                <a16:creationId xmlns:a16="http://schemas.microsoft.com/office/drawing/2014/main" id="{BCBB39BF-ABF4-4D46-A5A2-ED525A956FBF}"/>
              </a:ext>
            </a:extLst>
          </p:cNvPr>
          <p:cNvSpPr/>
          <p:nvPr/>
        </p:nvSpPr>
        <p:spPr>
          <a:xfrm>
            <a:off x="5139820" y="2122541"/>
            <a:ext cx="192116" cy="240512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CA63353-40AC-40B2-A5C2-734BB29F6637}"/>
              </a:ext>
            </a:extLst>
          </p:cNvPr>
          <p:cNvSpPr txBox="1"/>
          <p:nvPr/>
        </p:nvSpPr>
        <p:spPr>
          <a:xfrm>
            <a:off x="1287211" y="3273560"/>
            <a:ext cx="3953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A9E22E9-AA98-4B42-8F8D-6BE3DA249752}"/>
              </a:ext>
            </a:extLst>
          </p:cNvPr>
          <p:cNvSpPr txBox="1"/>
          <p:nvPr/>
        </p:nvSpPr>
        <p:spPr>
          <a:xfrm>
            <a:off x="6592565" y="2111683"/>
            <a:ext cx="1811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Do Mês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D33852A-A47C-4576-9C4A-3C972DD40094}"/>
              </a:ext>
            </a:extLst>
          </p:cNvPr>
          <p:cNvSpPr txBox="1"/>
          <p:nvPr/>
        </p:nvSpPr>
        <p:spPr>
          <a:xfrm>
            <a:off x="6508662" y="2376691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83,21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31C7B74-2118-4CDD-B0D0-DE1F77107782}"/>
              </a:ext>
            </a:extLst>
          </p:cNvPr>
          <p:cNvSpPr txBox="1"/>
          <p:nvPr/>
        </p:nvSpPr>
        <p:spPr>
          <a:xfrm>
            <a:off x="6582269" y="3346080"/>
            <a:ext cx="17278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grpSp>
        <p:nvGrpSpPr>
          <p:cNvPr id="41" name="Google Shape;2561;p51">
            <a:extLst>
              <a:ext uri="{FF2B5EF4-FFF2-40B4-BE49-F238E27FC236}">
                <a16:creationId xmlns:a16="http://schemas.microsoft.com/office/drawing/2014/main" id="{6FBEF20F-E903-44C4-881A-70AE6F8AEF33}"/>
              </a:ext>
            </a:extLst>
          </p:cNvPr>
          <p:cNvGrpSpPr/>
          <p:nvPr/>
        </p:nvGrpSpPr>
        <p:grpSpPr>
          <a:xfrm>
            <a:off x="10483309" y="2130941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42" name="Google Shape;2562;p51">
              <a:extLst>
                <a:ext uri="{FF2B5EF4-FFF2-40B4-BE49-F238E27FC236}">
                  <a16:creationId xmlns:a16="http://schemas.microsoft.com/office/drawing/2014/main" id="{864D4EBC-4F20-4F03-B58B-E924ED9A2A8A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563;p51">
              <a:extLst>
                <a:ext uri="{FF2B5EF4-FFF2-40B4-BE49-F238E27FC236}">
                  <a16:creationId xmlns:a16="http://schemas.microsoft.com/office/drawing/2014/main" id="{B6FB790E-6181-494B-8F66-47D168E05014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564;p51">
              <a:extLst>
                <a:ext uri="{FF2B5EF4-FFF2-40B4-BE49-F238E27FC236}">
                  <a16:creationId xmlns:a16="http://schemas.microsoft.com/office/drawing/2014/main" id="{099484A7-C227-4045-819C-75C2F7C47320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F0E6FE5-B17A-42B9-9A44-DCF89B81043E}"/>
              </a:ext>
            </a:extLst>
          </p:cNvPr>
          <p:cNvSpPr txBox="1"/>
          <p:nvPr/>
        </p:nvSpPr>
        <p:spPr>
          <a:xfrm>
            <a:off x="3615426" y="4101229"/>
            <a:ext cx="2149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 de Feedback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C6DA04E-F738-4A7B-BA80-252717B62CAA}"/>
              </a:ext>
            </a:extLst>
          </p:cNvPr>
          <p:cNvSpPr txBox="1"/>
          <p:nvPr/>
        </p:nvSpPr>
        <p:spPr>
          <a:xfrm>
            <a:off x="3617031" y="4285690"/>
            <a:ext cx="25081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266</a:t>
            </a:r>
          </a:p>
        </p:txBody>
      </p:sp>
      <p:grpSp>
        <p:nvGrpSpPr>
          <p:cNvPr id="49" name="Google Shape;3637;p53">
            <a:extLst>
              <a:ext uri="{FF2B5EF4-FFF2-40B4-BE49-F238E27FC236}">
                <a16:creationId xmlns:a16="http://schemas.microsoft.com/office/drawing/2014/main" id="{5F55345F-DD7D-4D97-A22E-8C6A53D2CE13}"/>
              </a:ext>
            </a:extLst>
          </p:cNvPr>
          <p:cNvGrpSpPr/>
          <p:nvPr/>
        </p:nvGrpSpPr>
        <p:grpSpPr>
          <a:xfrm>
            <a:off x="7406104" y="4189208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0" name="Google Shape;3638;p53">
              <a:extLst>
                <a:ext uri="{FF2B5EF4-FFF2-40B4-BE49-F238E27FC236}">
                  <a16:creationId xmlns:a16="http://schemas.microsoft.com/office/drawing/2014/main" id="{6E792E51-DF81-4979-B773-F615C8DC120C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1" name="Google Shape;3639;p53">
              <a:extLst>
                <a:ext uri="{FF2B5EF4-FFF2-40B4-BE49-F238E27FC236}">
                  <a16:creationId xmlns:a16="http://schemas.microsoft.com/office/drawing/2014/main" id="{19FDBECF-6FEE-4821-9285-1F80A438C8D0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2" name="Google Shape;3640;p53">
              <a:extLst>
                <a:ext uri="{FF2B5EF4-FFF2-40B4-BE49-F238E27FC236}">
                  <a16:creationId xmlns:a16="http://schemas.microsoft.com/office/drawing/2014/main" id="{C1914079-D4B5-4231-B503-B0017E60AC85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3" name="Google Shape;3641;p53">
              <a:extLst>
                <a:ext uri="{FF2B5EF4-FFF2-40B4-BE49-F238E27FC236}">
                  <a16:creationId xmlns:a16="http://schemas.microsoft.com/office/drawing/2014/main" id="{E63FD7C3-F576-41E5-8195-379E28F82DC0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4" name="Google Shape;3642;p53">
              <a:extLst>
                <a:ext uri="{FF2B5EF4-FFF2-40B4-BE49-F238E27FC236}">
                  <a16:creationId xmlns:a16="http://schemas.microsoft.com/office/drawing/2014/main" id="{2168DEE8-42A0-4A8E-BBD0-746835BDC4DA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5" name="Google Shape;3643;p53">
              <a:extLst>
                <a:ext uri="{FF2B5EF4-FFF2-40B4-BE49-F238E27FC236}">
                  <a16:creationId xmlns:a16="http://schemas.microsoft.com/office/drawing/2014/main" id="{751A078A-329B-42B3-ACE7-D5D03D0F90EE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6" name="Google Shape;3644;p53">
              <a:extLst>
                <a:ext uri="{FF2B5EF4-FFF2-40B4-BE49-F238E27FC236}">
                  <a16:creationId xmlns:a16="http://schemas.microsoft.com/office/drawing/2014/main" id="{AB869589-4FD0-4DAE-87C3-16B618BA7BFA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7" name="Google Shape;3645;p53">
              <a:extLst>
                <a:ext uri="{FF2B5EF4-FFF2-40B4-BE49-F238E27FC236}">
                  <a16:creationId xmlns:a16="http://schemas.microsoft.com/office/drawing/2014/main" id="{EE5BCDCB-AC0F-4F69-A95C-4B1B865D0205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8" name="Google Shape;3646;p53">
              <a:extLst>
                <a:ext uri="{FF2B5EF4-FFF2-40B4-BE49-F238E27FC236}">
                  <a16:creationId xmlns:a16="http://schemas.microsoft.com/office/drawing/2014/main" id="{3AA8BA00-0C5B-4CCC-9DFF-0B75C4860180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59" name="Google Shape;3647;p53">
              <a:extLst>
                <a:ext uri="{FF2B5EF4-FFF2-40B4-BE49-F238E27FC236}">
                  <a16:creationId xmlns:a16="http://schemas.microsoft.com/office/drawing/2014/main" id="{BAB53E3B-45F1-4AC8-B28D-AED515A90A19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0" name="Google Shape;3648;p53">
              <a:extLst>
                <a:ext uri="{FF2B5EF4-FFF2-40B4-BE49-F238E27FC236}">
                  <a16:creationId xmlns:a16="http://schemas.microsoft.com/office/drawing/2014/main" id="{6A8872E4-8E33-4935-B31D-692F17BC7464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1" name="Google Shape;3649;p53">
              <a:extLst>
                <a:ext uri="{FF2B5EF4-FFF2-40B4-BE49-F238E27FC236}">
                  <a16:creationId xmlns:a16="http://schemas.microsoft.com/office/drawing/2014/main" id="{C986010D-E52D-4E81-80D4-5A480B9E65D6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2" name="Google Shape;3650;p53">
              <a:extLst>
                <a:ext uri="{FF2B5EF4-FFF2-40B4-BE49-F238E27FC236}">
                  <a16:creationId xmlns:a16="http://schemas.microsoft.com/office/drawing/2014/main" id="{6F0AF0E7-F33F-439A-8903-55E54872F203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82527A-B164-4794-830B-92A3A7349125}"/>
              </a:ext>
            </a:extLst>
          </p:cNvPr>
          <p:cNvSpPr txBox="1"/>
          <p:nvPr/>
        </p:nvSpPr>
        <p:spPr>
          <a:xfrm>
            <a:off x="3102308" y="5218874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DE2F8EFF-F33D-4250-8441-37B57FADC64A}"/>
              </a:ext>
            </a:extLst>
          </p:cNvPr>
          <p:cNvSpPr/>
          <p:nvPr/>
        </p:nvSpPr>
        <p:spPr>
          <a:xfrm>
            <a:off x="9517762" y="2537748"/>
            <a:ext cx="983649" cy="329956"/>
          </a:xfrm>
          <a:prstGeom prst="roundRect">
            <a:avLst/>
          </a:prstGeom>
          <a:solidFill>
            <a:srgbClr val="00B0F0">
              <a:alpha val="33000"/>
            </a:srgb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C02844A9-7651-4753-B295-E91FA142E752}"/>
              </a:ext>
            </a:extLst>
          </p:cNvPr>
          <p:cNvSpPr txBox="1"/>
          <p:nvPr/>
        </p:nvSpPr>
        <p:spPr>
          <a:xfrm>
            <a:off x="9858376" y="2625211"/>
            <a:ext cx="5862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83,27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B6AC2246-F4DE-4F0D-9991-D269E36B8956}"/>
              </a:ext>
            </a:extLst>
          </p:cNvPr>
          <p:cNvSpPr txBox="1"/>
          <p:nvPr/>
        </p:nvSpPr>
        <p:spPr>
          <a:xfrm>
            <a:off x="9720016" y="2523424"/>
            <a:ext cx="69393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Mês anterior </a:t>
            </a:r>
          </a:p>
        </p:txBody>
      </p:sp>
      <p:sp>
        <p:nvSpPr>
          <p:cNvPr id="72" name="Google Shape;2252;p50">
            <a:extLst>
              <a:ext uri="{FF2B5EF4-FFF2-40B4-BE49-F238E27FC236}">
                <a16:creationId xmlns:a16="http://schemas.microsoft.com/office/drawing/2014/main" id="{DC8ABE9C-FF66-4A29-BC5A-6ACA7897B022}"/>
              </a:ext>
            </a:extLst>
          </p:cNvPr>
          <p:cNvSpPr/>
          <p:nvPr/>
        </p:nvSpPr>
        <p:spPr>
          <a:xfrm>
            <a:off x="9619553" y="2670107"/>
            <a:ext cx="211300" cy="131628"/>
          </a:xfrm>
          <a:custGeom>
            <a:avLst/>
            <a:gdLst/>
            <a:ahLst/>
            <a:cxnLst/>
            <a:rect l="l" t="t" r="r" b="b"/>
            <a:pathLst>
              <a:path w="10419" h="6490" extrusionOk="0">
                <a:moveTo>
                  <a:pt x="2751" y="2905"/>
                </a:moveTo>
                <a:lnTo>
                  <a:pt x="2751" y="6191"/>
                </a:lnTo>
                <a:lnTo>
                  <a:pt x="1429" y="6191"/>
                </a:lnTo>
                <a:lnTo>
                  <a:pt x="1429" y="2905"/>
                </a:lnTo>
                <a:close/>
                <a:moveTo>
                  <a:pt x="5847" y="2084"/>
                </a:moveTo>
                <a:lnTo>
                  <a:pt x="5847" y="6191"/>
                </a:lnTo>
                <a:lnTo>
                  <a:pt x="4525" y="6191"/>
                </a:lnTo>
                <a:lnTo>
                  <a:pt x="4525" y="2084"/>
                </a:lnTo>
                <a:close/>
                <a:moveTo>
                  <a:pt x="8942" y="298"/>
                </a:moveTo>
                <a:lnTo>
                  <a:pt x="8942" y="6191"/>
                </a:lnTo>
                <a:lnTo>
                  <a:pt x="7609" y="6191"/>
                </a:lnTo>
                <a:lnTo>
                  <a:pt x="7609" y="298"/>
                </a:lnTo>
                <a:close/>
                <a:moveTo>
                  <a:pt x="7466" y="0"/>
                </a:moveTo>
                <a:cubicBezTo>
                  <a:pt x="7383" y="0"/>
                  <a:pt x="7323" y="72"/>
                  <a:pt x="7323" y="155"/>
                </a:cubicBezTo>
                <a:lnTo>
                  <a:pt x="7323" y="6191"/>
                </a:lnTo>
                <a:lnTo>
                  <a:pt x="6156" y="6191"/>
                </a:lnTo>
                <a:lnTo>
                  <a:pt x="6156" y="1941"/>
                </a:lnTo>
                <a:cubicBezTo>
                  <a:pt x="6156" y="1846"/>
                  <a:pt x="6085" y="1786"/>
                  <a:pt x="6013" y="1786"/>
                </a:cubicBezTo>
                <a:lnTo>
                  <a:pt x="4370" y="1786"/>
                </a:lnTo>
                <a:cubicBezTo>
                  <a:pt x="4287" y="1786"/>
                  <a:pt x="4227" y="1858"/>
                  <a:pt x="4227" y="1941"/>
                </a:cubicBezTo>
                <a:lnTo>
                  <a:pt x="4227" y="6191"/>
                </a:lnTo>
                <a:lnTo>
                  <a:pt x="3061" y="6191"/>
                </a:lnTo>
                <a:lnTo>
                  <a:pt x="3061" y="2751"/>
                </a:lnTo>
                <a:cubicBezTo>
                  <a:pt x="3061" y="2667"/>
                  <a:pt x="2989" y="2608"/>
                  <a:pt x="2918" y="2608"/>
                </a:cubicBezTo>
                <a:lnTo>
                  <a:pt x="1275" y="2608"/>
                </a:lnTo>
                <a:cubicBezTo>
                  <a:pt x="1191" y="2608"/>
                  <a:pt x="1132" y="2679"/>
                  <a:pt x="1132" y="2751"/>
                </a:cubicBezTo>
                <a:lnTo>
                  <a:pt x="1132" y="6191"/>
                </a:lnTo>
                <a:lnTo>
                  <a:pt x="144" y="6191"/>
                </a:lnTo>
                <a:cubicBezTo>
                  <a:pt x="60" y="6191"/>
                  <a:pt x="1" y="6263"/>
                  <a:pt x="1" y="6346"/>
                </a:cubicBezTo>
                <a:cubicBezTo>
                  <a:pt x="1" y="6430"/>
                  <a:pt x="72" y="6489"/>
                  <a:pt x="144" y="6489"/>
                </a:cubicBezTo>
                <a:lnTo>
                  <a:pt x="10264" y="6489"/>
                </a:lnTo>
                <a:cubicBezTo>
                  <a:pt x="10359" y="6489"/>
                  <a:pt x="10419" y="6418"/>
                  <a:pt x="10419" y="6346"/>
                </a:cubicBezTo>
                <a:cubicBezTo>
                  <a:pt x="10395" y="6251"/>
                  <a:pt x="10323" y="6191"/>
                  <a:pt x="10240" y="6191"/>
                </a:cubicBezTo>
                <a:lnTo>
                  <a:pt x="9252" y="6191"/>
                </a:lnTo>
                <a:lnTo>
                  <a:pt x="9252" y="155"/>
                </a:lnTo>
                <a:cubicBezTo>
                  <a:pt x="9252" y="60"/>
                  <a:pt x="9180" y="0"/>
                  <a:pt x="910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9143A6E9-6809-466E-8A9A-B26F01387941}"/>
              </a:ext>
            </a:extLst>
          </p:cNvPr>
          <p:cNvSpPr/>
          <p:nvPr/>
        </p:nvSpPr>
        <p:spPr>
          <a:xfrm>
            <a:off x="9520534" y="3000489"/>
            <a:ext cx="983649" cy="3299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BACBD4EB-8C45-4F25-8447-C28AE2745340}"/>
              </a:ext>
            </a:extLst>
          </p:cNvPr>
          <p:cNvSpPr txBox="1"/>
          <p:nvPr/>
        </p:nvSpPr>
        <p:spPr>
          <a:xfrm>
            <a:off x="9733360" y="3088444"/>
            <a:ext cx="745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- 0,06</a:t>
            </a:r>
          </a:p>
        </p:txBody>
      </p:sp>
      <p:grpSp>
        <p:nvGrpSpPr>
          <p:cNvPr id="73" name="Google Shape;2139;p50">
            <a:extLst>
              <a:ext uri="{FF2B5EF4-FFF2-40B4-BE49-F238E27FC236}">
                <a16:creationId xmlns:a16="http://schemas.microsoft.com/office/drawing/2014/main" id="{CAE335B8-3CA4-4FF0-847E-A163EBF508F9}"/>
              </a:ext>
            </a:extLst>
          </p:cNvPr>
          <p:cNvGrpSpPr/>
          <p:nvPr/>
        </p:nvGrpSpPr>
        <p:grpSpPr>
          <a:xfrm>
            <a:off x="9606585" y="3078293"/>
            <a:ext cx="207026" cy="206636"/>
            <a:chOff x="1421638" y="4125629"/>
            <a:chExt cx="374709" cy="374010"/>
          </a:xfrm>
          <a:solidFill>
            <a:srgbClr val="FF0000"/>
          </a:solidFill>
        </p:grpSpPr>
        <p:sp>
          <p:nvSpPr>
            <p:cNvPr id="74" name="Google Shape;2140;p50">
              <a:extLst>
                <a:ext uri="{FF2B5EF4-FFF2-40B4-BE49-F238E27FC236}">
                  <a16:creationId xmlns:a16="http://schemas.microsoft.com/office/drawing/2014/main" id="{0E956040-C3F6-4F7E-B01D-AA0390AEA9DC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141;p50">
              <a:extLst>
                <a:ext uri="{FF2B5EF4-FFF2-40B4-BE49-F238E27FC236}">
                  <a16:creationId xmlns:a16="http://schemas.microsoft.com/office/drawing/2014/main" id="{6213F634-69C5-45D1-B0CA-B369B824C994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396FFDF2-17CD-4FD1-A7F0-E53220611038}"/>
              </a:ext>
            </a:extLst>
          </p:cNvPr>
          <p:cNvSpPr txBox="1"/>
          <p:nvPr/>
        </p:nvSpPr>
        <p:spPr>
          <a:xfrm>
            <a:off x="9526052" y="2980771"/>
            <a:ext cx="9698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Queda</a:t>
            </a: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2EEE25DB-99F5-4C8F-86C1-D827EA728EF2}"/>
              </a:ext>
            </a:extLst>
          </p:cNvPr>
          <p:cNvSpPr/>
          <p:nvPr/>
        </p:nvSpPr>
        <p:spPr>
          <a:xfrm>
            <a:off x="5633386" y="4234894"/>
            <a:ext cx="983649" cy="329956"/>
          </a:xfrm>
          <a:prstGeom prst="roundRect">
            <a:avLst/>
          </a:prstGeom>
          <a:solidFill>
            <a:srgbClr val="A7E1C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5CD1DE65-5668-42EC-8C03-D363DB0A175C}"/>
              </a:ext>
            </a:extLst>
          </p:cNvPr>
          <p:cNvSpPr txBox="1"/>
          <p:nvPr/>
        </p:nvSpPr>
        <p:spPr>
          <a:xfrm>
            <a:off x="5911206" y="4312091"/>
            <a:ext cx="6871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98,88 %</a:t>
            </a:r>
          </a:p>
        </p:txBody>
      </p:sp>
      <p:grpSp>
        <p:nvGrpSpPr>
          <p:cNvPr id="92" name="Google Shape;2139;p50">
            <a:extLst>
              <a:ext uri="{FF2B5EF4-FFF2-40B4-BE49-F238E27FC236}">
                <a16:creationId xmlns:a16="http://schemas.microsoft.com/office/drawing/2014/main" id="{5BFCF830-72A2-40BF-B938-0F06C6710D0B}"/>
              </a:ext>
            </a:extLst>
          </p:cNvPr>
          <p:cNvGrpSpPr/>
          <p:nvPr/>
        </p:nvGrpSpPr>
        <p:grpSpPr>
          <a:xfrm>
            <a:off x="5784430" y="4301940"/>
            <a:ext cx="207026" cy="206636"/>
            <a:chOff x="1421638" y="4125629"/>
            <a:chExt cx="374709" cy="374010"/>
          </a:xfrm>
          <a:solidFill>
            <a:srgbClr val="00B050"/>
          </a:solidFill>
        </p:grpSpPr>
        <p:sp>
          <p:nvSpPr>
            <p:cNvPr id="93" name="Google Shape;2140;p50">
              <a:extLst>
                <a:ext uri="{FF2B5EF4-FFF2-40B4-BE49-F238E27FC236}">
                  <a16:creationId xmlns:a16="http://schemas.microsoft.com/office/drawing/2014/main" id="{1F72AE8B-F832-47E2-9940-D5751A0FD10A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141;p50">
              <a:extLst>
                <a:ext uri="{FF2B5EF4-FFF2-40B4-BE49-F238E27FC236}">
                  <a16:creationId xmlns:a16="http://schemas.microsoft.com/office/drawing/2014/main" id="{8A69BAD6-A7A3-49EB-847B-57F4FCFD09E1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5FAD3610-97DE-4BC5-9329-57B2739CA52D}"/>
              </a:ext>
            </a:extLst>
          </p:cNvPr>
          <p:cNvSpPr txBox="1"/>
          <p:nvPr/>
        </p:nvSpPr>
        <p:spPr>
          <a:xfrm>
            <a:off x="5958292" y="4204418"/>
            <a:ext cx="5862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Aplicação</a:t>
            </a:r>
          </a:p>
        </p:txBody>
      </p:sp>
      <p:pic>
        <p:nvPicPr>
          <p:cNvPr id="98" name="Imagem 97">
            <a:extLst>
              <a:ext uri="{FF2B5EF4-FFF2-40B4-BE49-F238E27FC236}">
                <a16:creationId xmlns:a16="http://schemas.microsoft.com/office/drawing/2014/main" id="{A0FA6AE1-1D5B-4E3B-8DB0-77E9160CD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CB4A92A-FCF0-EAB1-C768-CA1D430EC0FA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7C7BC8A-11AE-A70B-7205-45286D00A6A8}"/>
              </a:ext>
            </a:extLst>
          </p:cNvPr>
          <p:cNvSpPr/>
          <p:nvPr/>
        </p:nvSpPr>
        <p:spPr>
          <a:xfrm>
            <a:off x="3565156" y="2607579"/>
            <a:ext cx="1909219" cy="329956"/>
          </a:xfrm>
          <a:prstGeom prst="roundRect">
            <a:avLst/>
          </a:prstGeom>
          <a:solidFill>
            <a:srgbClr val="A7E1C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7CFAB7-A45C-10BC-98DD-23DF0ACD071E}"/>
              </a:ext>
            </a:extLst>
          </p:cNvPr>
          <p:cNvSpPr txBox="1"/>
          <p:nvPr/>
        </p:nvSpPr>
        <p:spPr>
          <a:xfrm>
            <a:off x="3552630" y="2657141"/>
            <a:ext cx="21035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 monitorias justificadas</a:t>
            </a:r>
          </a:p>
        </p:txBody>
      </p:sp>
      <p:grpSp>
        <p:nvGrpSpPr>
          <p:cNvPr id="5" name="Google Shape;2139;p50">
            <a:extLst>
              <a:ext uri="{FF2B5EF4-FFF2-40B4-BE49-F238E27FC236}">
                <a16:creationId xmlns:a16="http://schemas.microsoft.com/office/drawing/2014/main" id="{A198DC77-020B-F46E-599F-F34143249D1B}"/>
              </a:ext>
            </a:extLst>
          </p:cNvPr>
          <p:cNvGrpSpPr/>
          <p:nvPr/>
        </p:nvGrpSpPr>
        <p:grpSpPr>
          <a:xfrm>
            <a:off x="3638045" y="2653892"/>
            <a:ext cx="207026" cy="206636"/>
            <a:chOff x="1421638" y="4125629"/>
            <a:chExt cx="374709" cy="374010"/>
          </a:xfrm>
          <a:solidFill>
            <a:srgbClr val="00B050"/>
          </a:solidFill>
        </p:grpSpPr>
        <p:sp>
          <p:nvSpPr>
            <p:cNvPr id="6" name="Google Shape;2140;p50">
              <a:extLst>
                <a:ext uri="{FF2B5EF4-FFF2-40B4-BE49-F238E27FC236}">
                  <a16:creationId xmlns:a16="http://schemas.microsoft.com/office/drawing/2014/main" id="{9414B8DA-3EAF-AB28-53BB-058F11C5A100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141;p50">
              <a:extLst>
                <a:ext uri="{FF2B5EF4-FFF2-40B4-BE49-F238E27FC236}">
                  <a16:creationId xmlns:a16="http://schemas.microsoft.com/office/drawing/2014/main" id="{BDBD77BC-68D9-DCD9-E7A6-39517D1CAB3F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45050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18521" y="4740055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D90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Gráfico 103">
            <a:extLst>
              <a:ext uri="{FF2B5EF4-FFF2-40B4-BE49-F238E27FC236}">
                <a16:creationId xmlns:a16="http://schemas.microsoft.com/office/drawing/2014/main" id="{7F29A529-8C89-46A4-A733-2C6C8EC952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1035079"/>
              </p:ext>
            </p:extLst>
          </p:nvPr>
        </p:nvGraphicFramePr>
        <p:xfrm>
          <a:off x="1147712" y="2006930"/>
          <a:ext cx="4157940" cy="1757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C6473394-799A-44A9-BA31-CF46E95925AD}"/>
              </a:ext>
            </a:extLst>
          </p:cNvPr>
          <p:cNvSpPr txBox="1"/>
          <p:nvPr/>
        </p:nvSpPr>
        <p:spPr>
          <a:xfrm>
            <a:off x="1294992" y="1638285"/>
            <a:ext cx="3926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Volume de Monitorias </a:t>
            </a:r>
          </a:p>
        </p:txBody>
      </p:sp>
      <p:graphicFrame>
        <p:nvGraphicFramePr>
          <p:cNvPr id="106" name="Tabela 105">
            <a:extLst>
              <a:ext uri="{FF2B5EF4-FFF2-40B4-BE49-F238E27FC236}">
                <a16:creationId xmlns:a16="http://schemas.microsoft.com/office/drawing/2014/main" id="{7DDD1E95-3CD5-466E-99A8-89970A230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26193"/>
              </p:ext>
            </p:extLst>
          </p:nvPr>
        </p:nvGraphicFramePr>
        <p:xfrm>
          <a:off x="1446587" y="4740055"/>
          <a:ext cx="3822477" cy="63516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7415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qualidade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operação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Margem de erro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E66C4CB9-9CD9-49E1-8372-BBBB577F2680}"/>
              </a:ext>
            </a:extLst>
          </p:cNvPr>
          <p:cNvCxnSpPr>
            <a:cxnSpLocks/>
          </p:cNvCxnSpPr>
          <p:nvPr/>
        </p:nvCxnSpPr>
        <p:spPr>
          <a:xfrm>
            <a:off x="6096000" y="1848607"/>
            <a:ext cx="34403" cy="3728788"/>
          </a:xfrm>
          <a:prstGeom prst="line">
            <a:avLst/>
          </a:prstGeom>
          <a:ln>
            <a:solidFill>
              <a:srgbClr val="D905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Gráfico 25">
            <a:extLst>
              <a:ext uri="{FF2B5EF4-FFF2-40B4-BE49-F238E27FC236}">
                <a16:creationId xmlns:a16="http://schemas.microsoft.com/office/drawing/2014/main" id="{CE1C9029-2899-4182-87BA-4652FFBC28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6272098"/>
              </p:ext>
            </p:extLst>
          </p:nvPr>
        </p:nvGraphicFramePr>
        <p:xfrm>
          <a:off x="6858000" y="2022809"/>
          <a:ext cx="4157940" cy="1757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CaixaDeTexto 26">
            <a:extLst>
              <a:ext uri="{FF2B5EF4-FFF2-40B4-BE49-F238E27FC236}">
                <a16:creationId xmlns:a16="http://schemas.microsoft.com/office/drawing/2014/main" id="{6C361242-B178-4979-B54C-68D4AAA5711A}"/>
              </a:ext>
            </a:extLst>
          </p:cNvPr>
          <p:cNvSpPr txBox="1"/>
          <p:nvPr/>
        </p:nvSpPr>
        <p:spPr>
          <a:xfrm>
            <a:off x="6927804" y="1635312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Classificação das Monitorias </a:t>
            </a:r>
          </a:p>
        </p:txBody>
      </p:sp>
      <p:graphicFrame>
        <p:nvGraphicFramePr>
          <p:cNvPr id="28" name="Tabela 27">
            <a:extLst>
              <a:ext uri="{FF2B5EF4-FFF2-40B4-BE49-F238E27FC236}">
                <a16:creationId xmlns:a16="http://schemas.microsoft.com/office/drawing/2014/main" id="{B7DEE6CE-3286-4828-8325-E256C5CEF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32020"/>
              </p:ext>
            </p:extLst>
          </p:nvPr>
        </p:nvGraphicFramePr>
        <p:xfrm>
          <a:off x="7005281" y="4064594"/>
          <a:ext cx="3822477" cy="68776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7415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NCG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Excelência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95986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 (10,41%)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 (52,04%)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 (37,55%)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6A7033CE-8E82-41A8-9F6A-4D6F557D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45786"/>
              </p:ext>
            </p:extLst>
          </p:nvPr>
        </p:nvGraphicFramePr>
        <p:xfrm>
          <a:off x="6954107" y="5088122"/>
          <a:ext cx="3822476" cy="97854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5619">
                  <a:extLst>
                    <a:ext uri="{9D8B030D-6E8A-4147-A177-3AD203B41FA5}">
                      <a16:colId xmlns:a16="http://schemas.microsoft.com/office/drawing/2014/main" val="1531427166"/>
                    </a:ext>
                  </a:extLst>
                </a:gridCol>
                <a:gridCol w="95561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95561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95561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Excelência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NCG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Operação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 (47,41%)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 (48,15%)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(4,44%)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810871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Qualidade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 (27,61%)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 (55,97%)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 (16,42%)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21114"/>
                  </a:ext>
                </a:extLst>
              </a:tr>
            </a:tbl>
          </a:graphicData>
        </a:graphic>
      </p:graphicFrame>
      <p:graphicFrame>
        <p:nvGraphicFramePr>
          <p:cNvPr id="37" name="Tabela 36">
            <a:extLst>
              <a:ext uri="{FF2B5EF4-FFF2-40B4-BE49-F238E27FC236}">
                <a16:creationId xmlns:a16="http://schemas.microsoft.com/office/drawing/2014/main" id="{67FBAD19-39D3-440B-BCC4-1C36E910E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747762"/>
              </p:ext>
            </p:extLst>
          </p:nvPr>
        </p:nvGraphicFramePr>
        <p:xfrm>
          <a:off x="1430643" y="3834928"/>
          <a:ext cx="3867956" cy="63516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6698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1961687730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sp>
        <p:nvSpPr>
          <p:cNvPr id="40" name="Título 1">
            <a:extLst>
              <a:ext uri="{FF2B5EF4-FFF2-40B4-BE49-F238E27FC236}">
                <a16:creationId xmlns:a16="http://schemas.microsoft.com/office/drawing/2014/main" id="{192DAFB0-C347-4C89-BE63-64C9EBAD4F9C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D3F8ED17-8617-4AA3-B14F-952E5497DD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25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18521" y="4681854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D90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DO CANAL 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751BA167-80F5-4834-A5C7-E8ED41135E2E}"/>
              </a:ext>
            </a:extLst>
          </p:cNvPr>
          <p:cNvSpPr txBox="1"/>
          <p:nvPr/>
        </p:nvSpPr>
        <p:spPr>
          <a:xfrm>
            <a:off x="1549613" y="1890202"/>
            <a:ext cx="372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Médias por ciclos </a:t>
            </a:r>
          </a:p>
        </p:txBody>
      </p:sp>
      <p:graphicFrame>
        <p:nvGraphicFramePr>
          <p:cNvPr id="114" name="Gráfico 113">
            <a:extLst>
              <a:ext uri="{FF2B5EF4-FFF2-40B4-BE49-F238E27FC236}">
                <a16:creationId xmlns:a16="http://schemas.microsoft.com/office/drawing/2014/main" id="{7D3C7095-828E-4C06-BD03-D01C402F70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7770686"/>
              </p:ext>
            </p:extLst>
          </p:nvPr>
        </p:nvGraphicFramePr>
        <p:xfrm>
          <a:off x="1330893" y="2445001"/>
          <a:ext cx="4157940" cy="1533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5" name="Gráfico 114">
            <a:extLst>
              <a:ext uri="{FF2B5EF4-FFF2-40B4-BE49-F238E27FC236}">
                <a16:creationId xmlns:a16="http://schemas.microsoft.com/office/drawing/2014/main" id="{E2098B98-DBDA-4BD6-9D64-5C4C6FDA77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6619485"/>
              </p:ext>
            </p:extLst>
          </p:nvPr>
        </p:nvGraphicFramePr>
        <p:xfrm>
          <a:off x="6737570" y="2495204"/>
          <a:ext cx="4157940" cy="1681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CaixaDeTexto 30">
            <a:extLst>
              <a:ext uri="{FF2B5EF4-FFF2-40B4-BE49-F238E27FC236}">
                <a16:creationId xmlns:a16="http://schemas.microsoft.com/office/drawing/2014/main" id="{8351364F-9B64-4F08-9C15-EDDFE9AC06B3}"/>
              </a:ext>
            </a:extLst>
          </p:cNvPr>
          <p:cNvSpPr txBox="1"/>
          <p:nvPr/>
        </p:nvSpPr>
        <p:spPr>
          <a:xfrm>
            <a:off x="7072510" y="1863435"/>
            <a:ext cx="372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Operação vs. Qualidade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978C618-01F7-4633-A987-CCB8366D669E}"/>
              </a:ext>
            </a:extLst>
          </p:cNvPr>
          <p:cNvCxnSpPr>
            <a:cxnSpLocks/>
          </p:cNvCxnSpPr>
          <p:nvPr/>
        </p:nvCxnSpPr>
        <p:spPr>
          <a:xfrm>
            <a:off x="6225549" y="1890202"/>
            <a:ext cx="0" cy="3804662"/>
          </a:xfrm>
          <a:prstGeom prst="line">
            <a:avLst/>
          </a:prstGeom>
          <a:ln>
            <a:solidFill>
              <a:srgbClr val="D905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CA246E3-A58F-4C82-BA91-182CC17EEF1B}"/>
              </a:ext>
            </a:extLst>
          </p:cNvPr>
          <p:cNvSpPr/>
          <p:nvPr/>
        </p:nvSpPr>
        <p:spPr>
          <a:xfrm>
            <a:off x="1346594" y="4446050"/>
            <a:ext cx="4402601" cy="12488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4" name="Google Shape;2124;p50">
            <a:extLst>
              <a:ext uri="{FF2B5EF4-FFF2-40B4-BE49-F238E27FC236}">
                <a16:creationId xmlns:a16="http://schemas.microsoft.com/office/drawing/2014/main" id="{17C5FCEA-434A-4F2E-BC13-08F9AFE06D99}"/>
              </a:ext>
            </a:extLst>
          </p:cNvPr>
          <p:cNvGrpSpPr/>
          <p:nvPr/>
        </p:nvGrpSpPr>
        <p:grpSpPr>
          <a:xfrm>
            <a:off x="1482244" y="4562393"/>
            <a:ext cx="286337" cy="286644"/>
            <a:chOff x="4673540" y="3680297"/>
            <a:chExt cx="355434" cy="355815"/>
          </a:xfrm>
        </p:grpSpPr>
        <p:sp>
          <p:nvSpPr>
            <p:cNvPr id="35" name="Google Shape;2125;p50">
              <a:extLst>
                <a:ext uri="{FF2B5EF4-FFF2-40B4-BE49-F238E27FC236}">
                  <a16:creationId xmlns:a16="http://schemas.microsoft.com/office/drawing/2014/main" id="{57941490-D7F8-44DD-8C76-50E34A26D7AC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D905C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26;p50">
              <a:extLst>
                <a:ext uri="{FF2B5EF4-FFF2-40B4-BE49-F238E27FC236}">
                  <a16:creationId xmlns:a16="http://schemas.microsoft.com/office/drawing/2014/main" id="{FB819ACD-0C88-49C3-AC06-83FEF3198520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D905C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27;p50">
              <a:extLst>
                <a:ext uri="{FF2B5EF4-FFF2-40B4-BE49-F238E27FC236}">
                  <a16:creationId xmlns:a16="http://schemas.microsoft.com/office/drawing/2014/main" id="{2335789A-9329-4B97-9ED7-E399CF29441E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D905C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7" name="Imagem 46">
            <a:extLst>
              <a:ext uri="{FF2B5EF4-FFF2-40B4-BE49-F238E27FC236}">
                <a16:creationId xmlns:a16="http://schemas.microsoft.com/office/drawing/2014/main" id="{0AD67B63-F7CB-4763-A923-7A384DAB7C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D5663CB4-FA2A-8AFA-EE5B-A14720B1F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568517"/>
              </p:ext>
            </p:extLst>
          </p:nvPr>
        </p:nvGraphicFramePr>
        <p:xfrm>
          <a:off x="6820515" y="4604310"/>
          <a:ext cx="4402599" cy="97854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67533">
                  <a:extLst>
                    <a:ext uri="{9D8B030D-6E8A-4147-A177-3AD203B41FA5}">
                      <a16:colId xmlns:a16="http://schemas.microsoft.com/office/drawing/2014/main" val="1531427166"/>
                    </a:ext>
                  </a:extLst>
                </a:gridCol>
                <a:gridCol w="1467533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467533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Média Final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Diferença da Média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05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Operação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90,46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14,55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810871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Qualidade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75,90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21114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44631F61-DC05-38A6-82FF-98F716E7CE7D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615B23D-696D-4001-84D3-73F1E6740663}"/>
              </a:ext>
            </a:extLst>
          </p:cNvPr>
          <p:cNvSpPr txBox="1"/>
          <p:nvPr/>
        </p:nvSpPr>
        <p:spPr>
          <a:xfrm>
            <a:off x="1768556" y="4767019"/>
            <a:ext cx="4327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/>
              <a:t>Os ciclos apresentaram </a:t>
            </a:r>
            <a:r>
              <a:rPr lang="pt-BR" sz="1200" b="1" dirty="0"/>
              <a:t>estabilidade na performance</a:t>
            </a:r>
            <a:r>
              <a:rPr lang="pt-BR" sz="1200" dirty="0"/>
              <a:t>, com médias entre </a:t>
            </a:r>
            <a:r>
              <a:rPr lang="pt-BR" sz="1200" b="1" dirty="0"/>
              <a:t>80,47% e 84,60%</a:t>
            </a:r>
            <a:r>
              <a:rPr lang="pt-BR" sz="1200" dirty="0"/>
              <a:t>. O melhor resultado ocorreu no </a:t>
            </a:r>
            <a:r>
              <a:rPr lang="pt-BR" sz="1200" b="1" dirty="0"/>
              <a:t>2º ciclo (84,60%)</a:t>
            </a:r>
            <a:r>
              <a:rPr lang="pt-BR" sz="1200" dirty="0"/>
              <a:t>, mantendo desempenho semelhante nos ciclos seguintes e encerrando o </a:t>
            </a:r>
            <a:r>
              <a:rPr lang="pt-BR" sz="1200" b="1" dirty="0"/>
              <a:t>4º ciclo com 83,10%</a:t>
            </a:r>
            <a:r>
              <a:rPr lang="pt-BR" sz="1200" dirty="0"/>
              <a:t>..</a:t>
            </a:r>
            <a:endParaRPr lang="pt-BR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398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D90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PONTOS OFENSORES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E459499-C8E1-4C45-B0E3-1FB3AEB91E77}"/>
              </a:ext>
            </a:extLst>
          </p:cNvPr>
          <p:cNvSpPr txBox="1"/>
          <p:nvPr/>
        </p:nvSpPr>
        <p:spPr>
          <a:xfrm>
            <a:off x="3657247" y="1656580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Pontos Ofensores </a:t>
            </a:r>
          </a:p>
        </p:txBody>
      </p:sp>
      <p:graphicFrame>
        <p:nvGraphicFramePr>
          <p:cNvPr id="30" name="Gráfico 29">
            <a:extLst>
              <a:ext uri="{FF2B5EF4-FFF2-40B4-BE49-F238E27FC236}">
                <a16:creationId xmlns:a16="http://schemas.microsoft.com/office/drawing/2014/main" id="{CB312C1C-45D2-4D9E-96D8-07EE7E0860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25770"/>
              </p:ext>
            </p:extLst>
          </p:nvPr>
        </p:nvGraphicFramePr>
        <p:xfrm>
          <a:off x="1198997" y="2158036"/>
          <a:ext cx="10147789" cy="3699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7" name="Imagem 16">
            <a:extLst>
              <a:ext uri="{FF2B5EF4-FFF2-40B4-BE49-F238E27FC236}">
                <a16:creationId xmlns:a16="http://schemas.microsoft.com/office/drawing/2014/main" id="{4643DAFF-E243-46BA-A9F5-960E1B0B9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56BD36D-659D-15C2-E180-5D99B2BC2E9C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FD23FF-8519-E8D8-3D17-46CE49188B74}"/>
              </a:ext>
            </a:extLst>
          </p:cNvPr>
          <p:cNvSpPr txBox="1"/>
          <p:nvPr/>
        </p:nvSpPr>
        <p:spPr>
          <a:xfrm>
            <a:off x="11080094" y="1898170"/>
            <a:ext cx="994913" cy="3273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2,69%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3,59%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4,04%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4,48%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4,48%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4,93%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5,38%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14,35%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15,25%</a:t>
            </a:r>
          </a:p>
          <a:p>
            <a:pPr>
              <a:lnSpc>
                <a:spcPct val="200000"/>
              </a:lnSpc>
            </a:pPr>
            <a:r>
              <a:rPr lang="pt-B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28,25%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E1AF968-CDCA-3A8D-CC01-65EBE143F8E0}"/>
              </a:ext>
            </a:extLst>
          </p:cNvPr>
          <p:cNvSpPr txBox="1">
            <a:spLocks/>
          </p:cNvSpPr>
          <p:nvPr/>
        </p:nvSpPr>
        <p:spPr>
          <a:xfrm>
            <a:off x="8251372" y="5948511"/>
            <a:ext cx="3594148" cy="3777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9E228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000" spc="3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Apontamentos:224</a:t>
            </a:r>
            <a:endParaRPr lang="pt-BR" sz="1600" spc="300" dirty="0">
              <a:solidFill>
                <a:srgbClr val="D905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155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bg1">
                <a:lumMod val="95000"/>
              </a:schemeClr>
            </a:gs>
            <a:gs pos="100000">
              <a:schemeClr val="bg2">
                <a:alpha val="0"/>
                <a:lumMod val="0"/>
                <a:lumOff val="10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C027B6-AD37-C4D1-4CF7-D6240AB7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D60739DD-5ADF-9B82-DF34-E7523C4C704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A7DA7BAA-0F69-B355-321D-CAE721B6A2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395F603C-133A-0E0E-21CC-B7B285966A39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8C6762D5-8DED-D513-D8C5-9FBFB5AA08EC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339175B9-3655-71B6-7029-1FA9478E114B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DC2EB636-467D-854A-0D76-D609BCFAF86D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202F8190-68A2-A5ED-F41A-9C6C4B9D32F0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BCEA9E56-F95F-CC40-428F-B8F4946A88B5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D90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685C11EE-BC76-5EAD-559C-B6507E0A8524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351104E9-A69D-9F7A-A611-BB6868341BE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920B603E-A3E7-6F79-4655-5611C09A3D2E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15435ACE-D26C-4E1D-CFCE-123EE1A39271}"/>
              </a:ext>
            </a:extLst>
          </p:cNvPr>
          <p:cNvSpPr/>
          <p:nvPr/>
        </p:nvSpPr>
        <p:spPr>
          <a:xfrm>
            <a:off x="1105368" y="1808181"/>
            <a:ext cx="4910336" cy="20919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E1B0F915-0C1A-BDC0-98AF-6F272DDECD9A}"/>
              </a:ext>
            </a:extLst>
          </p:cNvPr>
          <p:cNvSpPr txBox="1"/>
          <p:nvPr/>
        </p:nvSpPr>
        <p:spPr>
          <a:xfrm>
            <a:off x="1741715" y="1665862"/>
            <a:ext cx="3287486" cy="307777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Tabulação: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C1311BC-E0C2-FDDF-0294-0DBAF35FE381}"/>
              </a:ext>
            </a:extLst>
          </p:cNvPr>
          <p:cNvSpPr txBox="1"/>
          <p:nvPr/>
        </p:nvSpPr>
        <p:spPr>
          <a:xfrm>
            <a:off x="1431436" y="1336969"/>
            <a:ext cx="60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Análises dos Pontos Ofensores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1EAA5E0-FBDB-9D81-F258-72591D03F9AC}"/>
              </a:ext>
            </a:extLst>
          </p:cNvPr>
          <p:cNvSpPr/>
          <p:nvPr/>
        </p:nvSpPr>
        <p:spPr>
          <a:xfrm>
            <a:off x="6461881" y="1762711"/>
            <a:ext cx="4910336" cy="2137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12CA0582-8AB1-EB4A-3A49-462A689B3F52}"/>
              </a:ext>
            </a:extLst>
          </p:cNvPr>
          <p:cNvSpPr/>
          <p:nvPr/>
        </p:nvSpPr>
        <p:spPr>
          <a:xfrm>
            <a:off x="3191434" y="4381168"/>
            <a:ext cx="5979498" cy="2137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52DADEE-5FBC-5FF1-C969-BDD9634887AB}"/>
              </a:ext>
            </a:extLst>
          </p:cNvPr>
          <p:cNvSpPr txBox="1"/>
          <p:nvPr/>
        </p:nvSpPr>
        <p:spPr>
          <a:xfrm>
            <a:off x="7377793" y="1575491"/>
            <a:ext cx="3287486" cy="307777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Domínio do Tema: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3F75DE3-462A-9641-7DE5-1F691E0D6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0354"/>
            <a:ext cx="12192000" cy="275463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FDB827C-75E3-05D0-F104-DEFC4A0DED4D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655CD6F-865D-E719-58B4-8C28FD901FC4}"/>
              </a:ext>
            </a:extLst>
          </p:cNvPr>
          <p:cNvSpPr txBox="1"/>
          <p:nvPr/>
        </p:nvSpPr>
        <p:spPr>
          <a:xfrm>
            <a:off x="4537440" y="4264542"/>
            <a:ext cx="3287486" cy="307777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Atenção e Interesse: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B042C7-D8ED-F578-466D-51CA63834959}"/>
              </a:ext>
            </a:extLst>
          </p:cNvPr>
          <p:cNvSpPr txBox="1"/>
          <p:nvPr/>
        </p:nvSpPr>
        <p:spPr>
          <a:xfrm>
            <a:off x="1366068" y="2251421"/>
            <a:ext cx="4304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Negativação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padrão mais recorrente é a utilização de tabulações genéricas, especialmente: Negativação &gt; Conceito &gt; Orientação, mesmo quando o atendimento apresenta informações suficientes para uma classificação mais específica.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6C01A37-6472-10B4-E2CA-CB6F5EE91D41}"/>
              </a:ext>
            </a:extLst>
          </p:cNvPr>
          <p:cNvSpPr txBox="1"/>
          <p:nvPr/>
        </p:nvSpPr>
        <p:spPr>
          <a:xfrm>
            <a:off x="6709648" y="2032976"/>
            <a:ext cx="46237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Ponto mais recorrente: </a:t>
            </a:r>
            <a:r>
              <a:rPr lang="pt-BR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Nubank</a:t>
            </a:r>
            <a:endParaRPr lang="pt-BR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apontamentos mostram uma necessidade clara de reforço do fluxo específico do </a:t>
            </a:r>
            <a:r>
              <a:rPr lang="pt-B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Nubank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Fluxo de prazos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 recorrência de oportunidades relacionadas à explicação de prazos </a:t>
            </a:r>
            <a:r>
              <a:rPr lang="pt-B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Nubank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Minhas Contas, Pagamento via </a:t>
            </a:r>
            <a:r>
              <a:rPr lang="pt-B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Pix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atualização do </a:t>
            </a:r>
            <a:r>
              <a:rPr lang="pt-B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Registrato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9E5EB3F-9FF5-D929-5D1B-3ECBF28CCD01}"/>
              </a:ext>
            </a:extLst>
          </p:cNvPr>
          <p:cNvSpPr txBox="1"/>
          <p:nvPr/>
        </p:nvSpPr>
        <p:spPr>
          <a:xfrm>
            <a:off x="3429033" y="4658950"/>
            <a:ext cx="56336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Sondagem e entendimento da necessidade</a:t>
            </a:r>
          </a:p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entender completamente o cenário antes de orientar ou encerrar o atendimento.</a:t>
            </a:r>
          </a:p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oportunidades: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 pagamentos de negativação, sempre questionar a data do pagamento.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Quando o consumidor afirma que ainda visualiza uma pendência, identificar empresa, valor, vencimento e data do pagamento..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Responder todas as dúvidas apresentadas, inclusive quando surgem no início do atendimento.</a:t>
            </a:r>
          </a:p>
        </p:txBody>
      </p:sp>
    </p:spTree>
    <p:extLst>
      <p:ext uri="{BB962C8B-B14F-4D97-AF65-F5344CB8AC3E}">
        <p14:creationId xmlns:p14="http://schemas.microsoft.com/office/powerpoint/2010/main" val="2312244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D90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APLICAÇÃO DE FEEDBACKS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F530EC9-E21D-4CE2-9C84-D2A18F828C6C}"/>
              </a:ext>
            </a:extLst>
          </p:cNvPr>
          <p:cNvCxnSpPr>
            <a:cxnSpLocks/>
          </p:cNvCxnSpPr>
          <p:nvPr/>
        </p:nvCxnSpPr>
        <p:spPr>
          <a:xfrm>
            <a:off x="5929215" y="1848607"/>
            <a:ext cx="34403" cy="3728788"/>
          </a:xfrm>
          <a:prstGeom prst="line">
            <a:avLst/>
          </a:prstGeom>
          <a:ln>
            <a:solidFill>
              <a:srgbClr val="D905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Gráfico 29">
            <a:extLst>
              <a:ext uri="{FF2B5EF4-FFF2-40B4-BE49-F238E27FC236}">
                <a16:creationId xmlns:a16="http://schemas.microsoft.com/office/drawing/2014/main" id="{71DC83F7-0B9A-49E0-8FF4-1656C753BD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0912813"/>
              </p:ext>
            </p:extLst>
          </p:nvPr>
        </p:nvGraphicFramePr>
        <p:xfrm>
          <a:off x="6521594" y="1625248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CaixaDeTexto 30">
            <a:extLst>
              <a:ext uri="{FF2B5EF4-FFF2-40B4-BE49-F238E27FC236}">
                <a16:creationId xmlns:a16="http://schemas.microsoft.com/office/drawing/2014/main" id="{82A0E21E-D797-4B82-AA4B-7C5E92F466F2}"/>
              </a:ext>
            </a:extLst>
          </p:cNvPr>
          <p:cNvSpPr txBox="1"/>
          <p:nvPr/>
        </p:nvSpPr>
        <p:spPr>
          <a:xfrm>
            <a:off x="7034775" y="1697194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Cumprimento do SLA - NCG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17A71CF-78F9-4EE7-A121-79E5C8E39F2B}"/>
              </a:ext>
            </a:extLst>
          </p:cNvPr>
          <p:cNvSpPr txBox="1"/>
          <p:nvPr/>
        </p:nvSpPr>
        <p:spPr>
          <a:xfrm>
            <a:off x="1418916" y="1774955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Cumprimento do SLA – NC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30A12FB-989E-42A9-A3F0-B8234CB2550E}"/>
              </a:ext>
            </a:extLst>
          </p:cNvPr>
          <p:cNvSpPr/>
          <p:nvPr/>
        </p:nvSpPr>
        <p:spPr>
          <a:xfrm>
            <a:off x="1198996" y="4328581"/>
            <a:ext cx="4402601" cy="12488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48B36F2A-D988-4E04-8C57-90B32EEB49F2}"/>
              </a:ext>
            </a:extLst>
          </p:cNvPr>
          <p:cNvSpPr/>
          <p:nvPr/>
        </p:nvSpPr>
        <p:spPr>
          <a:xfrm>
            <a:off x="6732902" y="4328581"/>
            <a:ext cx="4782158" cy="106468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7" name="Google Shape;2124;p50">
            <a:extLst>
              <a:ext uri="{FF2B5EF4-FFF2-40B4-BE49-F238E27FC236}">
                <a16:creationId xmlns:a16="http://schemas.microsoft.com/office/drawing/2014/main" id="{BA21E970-1083-4D19-A248-A58FF28D0D8C}"/>
              </a:ext>
            </a:extLst>
          </p:cNvPr>
          <p:cNvGrpSpPr/>
          <p:nvPr/>
        </p:nvGrpSpPr>
        <p:grpSpPr>
          <a:xfrm>
            <a:off x="1334646" y="4444924"/>
            <a:ext cx="286337" cy="286644"/>
            <a:chOff x="4673540" y="3680297"/>
            <a:chExt cx="355434" cy="355815"/>
          </a:xfrm>
        </p:grpSpPr>
        <p:sp>
          <p:nvSpPr>
            <p:cNvPr id="40" name="Google Shape;2125;p50">
              <a:extLst>
                <a:ext uri="{FF2B5EF4-FFF2-40B4-BE49-F238E27FC236}">
                  <a16:creationId xmlns:a16="http://schemas.microsoft.com/office/drawing/2014/main" id="{C0E45B05-9ECE-4D6F-B19D-CFD6B90F52E8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D905C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126;p50">
              <a:extLst>
                <a:ext uri="{FF2B5EF4-FFF2-40B4-BE49-F238E27FC236}">
                  <a16:creationId xmlns:a16="http://schemas.microsoft.com/office/drawing/2014/main" id="{F5684C49-3999-483A-99DE-E39763B2DEAA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D905C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127;p50">
              <a:extLst>
                <a:ext uri="{FF2B5EF4-FFF2-40B4-BE49-F238E27FC236}">
                  <a16:creationId xmlns:a16="http://schemas.microsoft.com/office/drawing/2014/main" id="{1EAA21D1-CDF8-45B7-B1CB-5AA4B6475E59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D905C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2124;p50">
            <a:extLst>
              <a:ext uri="{FF2B5EF4-FFF2-40B4-BE49-F238E27FC236}">
                <a16:creationId xmlns:a16="http://schemas.microsoft.com/office/drawing/2014/main" id="{D0FAFFC4-532D-4944-8A3C-56F7C4162B0A}"/>
              </a:ext>
            </a:extLst>
          </p:cNvPr>
          <p:cNvGrpSpPr/>
          <p:nvPr/>
        </p:nvGrpSpPr>
        <p:grpSpPr>
          <a:xfrm>
            <a:off x="6841356" y="4431352"/>
            <a:ext cx="286337" cy="286644"/>
            <a:chOff x="4673540" y="3680297"/>
            <a:chExt cx="355434" cy="355815"/>
          </a:xfrm>
        </p:grpSpPr>
        <p:sp>
          <p:nvSpPr>
            <p:cNvPr id="44" name="Google Shape;2125;p50">
              <a:extLst>
                <a:ext uri="{FF2B5EF4-FFF2-40B4-BE49-F238E27FC236}">
                  <a16:creationId xmlns:a16="http://schemas.microsoft.com/office/drawing/2014/main" id="{A214FCD6-1CC8-458A-A1FF-6BC1E84BCDD5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D905C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26;p50">
              <a:extLst>
                <a:ext uri="{FF2B5EF4-FFF2-40B4-BE49-F238E27FC236}">
                  <a16:creationId xmlns:a16="http://schemas.microsoft.com/office/drawing/2014/main" id="{FBC3B93A-416F-4BE1-9B72-00921D37499F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D905C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27;p50">
              <a:extLst>
                <a:ext uri="{FF2B5EF4-FFF2-40B4-BE49-F238E27FC236}">
                  <a16:creationId xmlns:a16="http://schemas.microsoft.com/office/drawing/2014/main" id="{35BE008B-FDBB-4300-A39B-CDA792EE33F4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D905C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4" name="Imagem 63">
            <a:extLst>
              <a:ext uri="{FF2B5EF4-FFF2-40B4-BE49-F238E27FC236}">
                <a16:creationId xmlns:a16="http://schemas.microsoft.com/office/drawing/2014/main" id="{48A2E552-2E5D-41C4-8497-76788203B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FDA96F-166D-5EF7-AE7F-917CD42840DC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2316B32-1A56-4B4B-9587-221A940E06A9}"/>
              </a:ext>
            </a:extLst>
          </p:cNvPr>
          <p:cNvSpPr txBox="1"/>
          <p:nvPr/>
        </p:nvSpPr>
        <p:spPr>
          <a:xfrm>
            <a:off x="1687982" y="4527630"/>
            <a:ext cx="3832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 registraram 94,29% estão No Prazo, 5,00% estão Fora do Prazo e 0,71% estão Justificados.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B9408EBF-BC98-4665-936A-F06B527A27CD}"/>
              </a:ext>
            </a:extLst>
          </p:cNvPr>
          <p:cNvSpPr txBox="1"/>
          <p:nvPr/>
        </p:nvSpPr>
        <p:spPr>
          <a:xfrm>
            <a:off x="7289884" y="4485483"/>
            <a:ext cx="3832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consolidado, 76,79% dos casos estão No Prazo, enquanto 23,21% estão Fora do Prazo.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D4370A9-CF97-8899-D1D9-5E30F85CEE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5418068"/>
              </p:ext>
            </p:extLst>
          </p:nvPr>
        </p:nvGraphicFramePr>
        <p:xfrm>
          <a:off x="695509" y="1772801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6" name="CaixaDeTexto 35">
            <a:extLst>
              <a:ext uri="{FF2B5EF4-FFF2-40B4-BE49-F238E27FC236}">
                <a16:creationId xmlns:a16="http://schemas.microsoft.com/office/drawing/2014/main" id="{F90A64EA-01D2-4BE6-9C2E-B3A76F65A3A4}"/>
              </a:ext>
            </a:extLst>
          </p:cNvPr>
          <p:cNvSpPr txBox="1"/>
          <p:nvPr/>
        </p:nvSpPr>
        <p:spPr>
          <a:xfrm>
            <a:off x="1400358" y="2474359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BEE7039-82A0-4703-996F-979EBB80B60F}"/>
              </a:ext>
            </a:extLst>
          </p:cNvPr>
          <p:cNvSpPr txBox="1"/>
          <p:nvPr/>
        </p:nvSpPr>
        <p:spPr>
          <a:xfrm>
            <a:off x="2646512" y="3001858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6,67%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D238CD4B-BED3-4AC7-A08E-19D36FE4616D}"/>
              </a:ext>
            </a:extLst>
          </p:cNvPr>
          <p:cNvSpPr txBox="1"/>
          <p:nvPr/>
        </p:nvSpPr>
        <p:spPr>
          <a:xfrm>
            <a:off x="2372193" y="2413054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93,33%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31DC67F2-E334-40E2-917C-4717194FAC40}"/>
              </a:ext>
            </a:extLst>
          </p:cNvPr>
          <p:cNvSpPr txBox="1"/>
          <p:nvPr/>
        </p:nvSpPr>
        <p:spPr>
          <a:xfrm>
            <a:off x="3737752" y="2836347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11,90%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07193FA2-C286-47F9-B849-A88486DEE827}"/>
              </a:ext>
            </a:extLst>
          </p:cNvPr>
          <p:cNvSpPr txBox="1"/>
          <p:nvPr/>
        </p:nvSpPr>
        <p:spPr>
          <a:xfrm>
            <a:off x="3373059" y="2277757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85,71%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24B76DC1-55B4-42FC-9E46-0285C81AFEAA}"/>
              </a:ext>
            </a:extLst>
          </p:cNvPr>
          <p:cNvSpPr txBox="1"/>
          <p:nvPr/>
        </p:nvSpPr>
        <p:spPr>
          <a:xfrm>
            <a:off x="4674267" y="2227977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914A16F1-B25C-453F-A131-61CA1CDC3F1B}"/>
              </a:ext>
            </a:extLst>
          </p:cNvPr>
          <p:cNvSpPr txBox="1"/>
          <p:nvPr/>
        </p:nvSpPr>
        <p:spPr>
          <a:xfrm>
            <a:off x="7073615" y="2543724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37,50%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60D22EF5-2108-43B1-A045-5489A9992AA7}"/>
              </a:ext>
            </a:extLst>
          </p:cNvPr>
          <p:cNvSpPr txBox="1"/>
          <p:nvPr/>
        </p:nvSpPr>
        <p:spPr>
          <a:xfrm>
            <a:off x="7347934" y="2343669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62,50%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087EA334-52E2-4C89-94F3-9DA257DF9F98}"/>
              </a:ext>
            </a:extLst>
          </p:cNvPr>
          <p:cNvSpPr txBox="1"/>
          <p:nvPr/>
        </p:nvSpPr>
        <p:spPr>
          <a:xfrm>
            <a:off x="8174274" y="2302728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83,33%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4DDDDA5C-280D-47E7-B7BB-D410771BA745}"/>
              </a:ext>
            </a:extLst>
          </p:cNvPr>
          <p:cNvSpPr txBox="1"/>
          <p:nvPr/>
        </p:nvSpPr>
        <p:spPr>
          <a:xfrm>
            <a:off x="8499328" y="2749634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16,67%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A2EFE5D-A3DA-47E4-B222-642BD9C86FE0}"/>
              </a:ext>
            </a:extLst>
          </p:cNvPr>
          <p:cNvSpPr txBox="1"/>
          <p:nvPr/>
        </p:nvSpPr>
        <p:spPr>
          <a:xfrm>
            <a:off x="9204629" y="2232638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100,00%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095FD799-9AD6-47D5-8AA3-9412A90D520B}"/>
              </a:ext>
            </a:extLst>
          </p:cNvPr>
          <p:cNvSpPr txBox="1"/>
          <p:nvPr/>
        </p:nvSpPr>
        <p:spPr>
          <a:xfrm>
            <a:off x="10205495" y="2061791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100,00%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057AA48B-32C2-44B6-B49A-8275AB82A4B2}"/>
              </a:ext>
            </a:extLst>
          </p:cNvPr>
          <p:cNvSpPr txBox="1"/>
          <p:nvPr/>
        </p:nvSpPr>
        <p:spPr>
          <a:xfrm>
            <a:off x="3848074" y="3054041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2,38%</a:t>
            </a:r>
          </a:p>
        </p:txBody>
      </p:sp>
    </p:spTree>
    <p:extLst>
      <p:ext uri="{BB962C8B-B14F-4D97-AF65-F5344CB8AC3E}">
        <p14:creationId xmlns:p14="http://schemas.microsoft.com/office/powerpoint/2010/main" val="581246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bg1">
                <a:lumMod val="95000"/>
                <a:alpha val="61000"/>
              </a:schemeClr>
            </a:gs>
            <a:gs pos="100000">
              <a:schemeClr val="bg2">
                <a:alpha val="3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9190022" y="4582876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-2033211" y="-1958818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D90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ECBC702-8A0A-4D6D-9F12-E545E8615BE2}"/>
              </a:ext>
            </a:extLst>
          </p:cNvPr>
          <p:cNvSpPr/>
          <p:nvPr/>
        </p:nvSpPr>
        <p:spPr>
          <a:xfrm>
            <a:off x="7138142" y="1634051"/>
            <a:ext cx="4128654" cy="179494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05C5"/>
              </a:solidFill>
            </a:endParaRPr>
          </a:p>
        </p:txBody>
      </p:sp>
      <p:grpSp>
        <p:nvGrpSpPr>
          <p:cNvPr id="49" name="Google Shape;1944;p50">
            <a:extLst>
              <a:ext uri="{FF2B5EF4-FFF2-40B4-BE49-F238E27FC236}">
                <a16:creationId xmlns:a16="http://schemas.microsoft.com/office/drawing/2014/main" id="{AE3E5632-39EC-498B-8446-16F7B46F0CF4}"/>
              </a:ext>
            </a:extLst>
          </p:cNvPr>
          <p:cNvGrpSpPr/>
          <p:nvPr/>
        </p:nvGrpSpPr>
        <p:grpSpPr>
          <a:xfrm>
            <a:off x="7308880" y="1717741"/>
            <a:ext cx="476316" cy="468384"/>
            <a:chOff x="860940" y="2746477"/>
            <a:chExt cx="371883" cy="365691"/>
          </a:xfrm>
          <a:solidFill>
            <a:srgbClr val="D905C5"/>
          </a:solidFill>
        </p:grpSpPr>
        <p:sp>
          <p:nvSpPr>
            <p:cNvPr id="50" name="Google Shape;1945;p50">
              <a:extLst>
                <a:ext uri="{FF2B5EF4-FFF2-40B4-BE49-F238E27FC236}">
                  <a16:creationId xmlns:a16="http://schemas.microsoft.com/office/drawing/2014/main" id="{F8E576BE-2CD1-4B21-BB2A-FA3D538B5E35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946;p50">
              <a:extLst>
                <a:ext uri="{FF2B5EF4-FFF2-40B4-BE49-F238E27FC236}">
                  <a16:creationId xmlns:a16="http://schemas.microsoft.com/office/drawing/2014/main" id="{9F68CAA6-59B8-4F64-8643-1935A15F9675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947;p50">
              <a:extLst>
                <a:ext uri="{FF2B5EF4-FFF2-40B4-BE49-F238E27FC236}">
                  <a16:creationId xmlns:a16="http://schemas.microsoft.com/office/drawing/2014/main" id="{EA4A187D-2E3F-46AA-BEA6-749B97B58F53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948;p50">
              <a:extLst>
                <a:ext uri="{FF2B5EF4-FFF2-40B4-BE49-F238E27FC236}">
                  <a16:creationId xmlns:a16="http://schemas.microsoft.com/office/drawing/2014/main" id="{85D06B3A-A8F7-4804-B970-45AE95668DED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949;p50">
              <a:extLst>
                <a:ext uri="{FF2B5EF4-FFF2-40B4-BE49-F238E27FC236}">
                  <a16:creationId xmlns:a16="http://schemas.microsoft.com/office/drawing/2014/main" id="{0E034A1A-361D-430B-BD52-6D0AB6ACB680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151331E-ED22-483C-9A5F-F39D02811185}"/>
              </a:ext>
            </a:extLst>
          </p:cNvPr>
          <p:cNvSpPr txBox="1"/>
          <p:nvPr/>
        </p:nvSpPr>
        <p:spPr>
          <a:xfrm>
            <a:off x="7826628" y="1751439"/>
            <a:ext cx="1498347" cy="307777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Promotores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BC700C3C-D613-4864-AB92-6017CB7A1E70}"/>
              </a:ext>
            </a:extLst>
          </p:cNvPr>
          <p:cNvSpPr/>
          <p:nvPr/>
        </p:nvSpPr>
        <p:spPr>
          <a:xfrm>
            <a:off x="7138142" y="3903415"/>
            <a:ext cx="4128654" cy="18442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66" name="Google Shape;1944;p50">
            <a:extLst>
              <a:ext uri="{FF2B5EF4-FFF2-40B4-BE49-F238E27FC236}">
                <a16:creationId xmlns:a16="http://schemas.microsoft.com/office/drawing/2014/main" id="{D992BF29-30A3-4BE4-B7C7-5CC12855C680}"/>
              </a:ext>
            </a:extLst>
          </p:cNvPr>
          <p:cNvGrpSpPr/>
          <p:nvPr/>
        </p:nvGrpSpPr>
        <p:grpSpPr>
          <a:xfrm rot="10417960">
            <a:off x="7308880" y="3995073"/>
            <a:ext cx="476316" cy="468384"/>
            <a:chOff x="860940" y="2746477"/>
            <a:chExt cx="371883" cy="365691"/>
          </a:xfrm>
          <a:solidFill>
            <a:srgbClr val="D905C5"/>
          </a:solidFill>
        </p:grpSpPr>
        <p:sp>
          <p:nvSpPr>
            <p:cNvPr id="67" name="Google Shape;1945;p50">
              <a:extLst>
                <a:ext uri="{FF2B5EF4-FFF2-40B4-BE49-F238E27FC236}">
                  <a16:creationId xmlns:a16="http://schemas.microsoft.com/office/drawing/2014/main" id="{D17A3269-EA0E-4DCD-A7FA-DB45599C4B11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946;p50">
              <a:extLst>
                <a:ext uri="{FF2B5EF4-FFF2-40B4-BE49-F238E27FC236}">
                  <a16:creationId xmlns:a16="http://schemas.microsoft.com/office/drawing/2014/main" id="{619D078A-CF76-4D11-B528-09456D759EBC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947;p50">
              <a:extLst>
                <a:ext uri="{FF2B5EF4-FFF2-40B4-BE49-F238E27FC236}">
                  <a16:creationId xmlns:a16="http://schemas.microsoft.com/office/drawing/2014/main" id="{B4EF2116-4816-47AF-A2F4-BF0E390808D8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948;p50">
              <a:extLst>
                <a:ext uri="{FF2B5EF4-FFF2-40B4-BE49-F238E27FC236}">
                  <a16:creationId xmlns:a16="http://schemas.microsoft.com/office/drawing/2014/main" id="{AF85CE36-5327-4CFD-9945-648968C30A0B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949;p50">
              <a:extLst>
                <a:ext uri="{FF2B5EF4-FFF2-40B4-BE49-F238E27FC236}">
                  <a16:creationId xmlns:a16="http://schemas.microsoft.com/office/drawing/2014/main" id="{220B1891-A6FD-457A-A82D-A2CA406B1689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F549BB60-0BF1-41F3-853E-103F8C42AD2E}"/>
              </a:ext>
            </a:extLst>
          </p:cNvPr>
          <p:cNvSpPr txBox="1"/>
          <p:nvPr/>
        </p:nvSpPr>
        <p:spPr>
          <a:xfrm>
            <a:off x="7826628" y="4028771"/>
            <a:ext cx="1498347" cy="307777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6E0F3539-E83A-49C9-A0E1-B7C22DEA1CB9}"/>
              </a:ext>
            </a:extLst>
          </p:cNvPr>
          <p:cNvSpPr txBox="1"/>
          <p:nvPr/>
        </p:nvSpPr>
        <p:spPr>
          <a:xfrm>
            <a:off x="7781320" y="4332809"/>
            <a:ext cx="26678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Luiz Fernando Junges</a:t>
            </a:r>
          </a:p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Arno Sandri Junior</a:t>
            </a:r>
          </a:p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Daniel Varela Mendes</a:t>
            </a:r>
          </a:p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 Gama Lima</a:t>
            </a:r>
          </a:p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Gustavo Eduardo de Lima</a:t>
            </a: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19F7444E-86B2-4DF8-9BE5-F4C6CFF6FB01}"/>
              </a:ext>
            </a:extLst>
          </p:cNvPr>
          <p:cNvSpPr/>
          <p:nvPr/>
        </p:nvSpPr>
        <p:spPr>
          <a:xfrm>
            <a:off x="1069794" y="4831833"/>
            <a:ext cx="5125266" cy="14884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chemeClr val="tx1">
                <a:lumMod val="65000"/>
                <a:lumOff val="3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76" name="Google Shape;1944;p50">
            <a:extLst>
              <a:ext uri="{FF2B5EF4-FFF2-40B4-BE49-F238E27FC236}">
                <a16:creationId xmlns:a16="http://schemas.microsoft.com/office/drawing/2014/main" id="{23D4F9B8-B03B-4AD5-8AC1-B8C7EEE8B6CA}"/>
              </a:ext>
            </a:extLst>
          </p:cNvPr>
          <p:cNvGrpSpPr/>
          <p:nvPr/>
        </p:nvGrpSpPr>
        <p:grpSpPr>
          <a:xfrm rot="10417960">
            <a:off x="1232109" y="4866528"/>
            <a:ext cx="473619" cy="462234"/>
            <a:chOff x="860940" y="2746477"/>
            <a:chExt cx="371883" cy="365691"/>
          </a:xfrm>
          <a:solidFill>
            <a:srgbClr val="595959"/>
          </a:solidFill>
        </p:grpSpPr>
        <p:sp>
          <p:nvSpPr>
            <p:cNvPr id="77" name="Google Shape;1945;p50">
              <a:extLst>
                <a:ext uri="{FF2B5EF4-FFF2-40B4-BE49-F238E27FC236}">
                  <a16:creationId xmlns:a16="http://schemas.microsoft.com/office/drawing/2014/main" id="{71446081-35DF-4E60-A1F2-EEBC3EA75609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Google Shape;1946;p50">
              <a:extLst>
                <a:ext uri="{FF2B5EF4-FFF2-40B4-BE49-F238E27FC236}">
                  <a16:creationId xmlns:a16="http://schemas.microsoft.com/office/drawing/2014/main" id="{B9B62BB4-7A78-4DC4-AD93-62C842D5F6AD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9" name="Google Shape;1947;p50">
              <a:extLst>
                <a:ext uri="{FF2B5EF4-FFF2-40B4-BE49-F238E27FC236}">
                  <a16:creationId xmlns:a16="http://schemas.microsoft.com/office/drawing/2014/main" id="{88EC2143-2ECD-4B77-AE77-51D362C72CD8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0" name="Google Shape;1948;p50">
              <a:extLst>
                <a:ext uri="{FF2B5EF4-FFF2-40B4-BE49-F238E27FC236}">
                  <a16:creationId xmlns:a16="http://schemas.microsoft.com/office/drawing/2014/main" id="{FA2F7CC1-E87A-4627-92E3-73CD74E11E82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1" name="Google Shape;1949;p50">
              <a:extLst>
                <a:ext uri="{FF2B5EF4-FFF2-40B4-BE49-F238E27FC236}">
                  <a16:creationId xmlns:a16="http://schemas.microsoft.com/office/drawing/2014/main" id="{70A0C0B0-8C76-4E89-8B6A-4D2C03C94300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A3FBEEA3-F03C-4393-A61C-516C388CADB5}"/>
              </a:ext>
            </a:extLst>
          </p:cNvPr>
          <p:cNvSpPr txBox="1"/>
          <p:nvPr/>
        </p:nvSpPr>
        <p:spPr>
          <a:xfrm>
            <a:off x="1754917" y="4930653"/>
            <a:ext cx="172170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 - </a:t>
            </a:r>
            <a:r>
              <a:rPr lang="pt-BR" sz="10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</a:t>
            </a:r>
            <a:endParaRPr lang="pt-BR" sz="1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C0884E51-525A-4C8A-8832-D714925FCECD}"/>
              </a:ext>
            </a:extLst>
          </p:cNvPr>
          <p:cNvSpPr txBox="1"/>
          <p:nvPr/>
        </p:nvSpPr>
        <p:spPr>
          <a:xfrm>
            <a:off x="1735311" y="5193704"/>
            <a:ext cx="2484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Jose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Erismar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Estrela</a:t>
            </a:r>
          </a:p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Adila Daniele Da Costa</a:t>
            </a:r>
          </a:p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Bianca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Junsek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Roloff</a:t>
            </a:r>
          </a:p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 Gama Lima</a:t>
            </a:r>
          </a:p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Nayara Oliveira Barros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0AAAB71B-5B11-41AC-AD12-2B03BA4882A5}"/>
              </a:ext>
            </a:extLst>
          </p:cNvPr>
          <p:cNvSpPr txBox="1"/>
          <p:nvPr/>
        </p:nvSpPr>
        <p:spPr>
          <a:xfrm>
            <a:off x="10372573" y="4303359"/>
            <a:ext cx="8256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47,63</a:t>
            </a:r>
          </a:p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53,6</a:t>
            </a:r>
          </a:p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58,88</a:t>
            </a:r>
          </a:p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60,75</a:t>
            </a:r>
          </a:p>
          <a:p>
            <a:endParaRPr lang="pt-BR" sz="1400" dirty="0">
              <a:solidFill>
                <a:srgbClr val="D905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3DBC294C-3EFC-4096-B5EC-DF30F9EADF3E}"/>
              </a:ext>
            </a:extLst>
          </p:cNvPr>
          <p:cNvSpPr txBox="1"/>
          <p:nvPr/>
        </p:nvSpPr>
        <p:spPr>
          <a:xfrm>
            <a:off x="10363882" y="2110982"/>
            <a:ext cx="8256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</a:p>
          <a:p>
            <a:r>
              <a:rPr lang="pt-BR" sz="140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98,38</a:t>
            </a:r>
          </a:p>
          <a:p>
            <a:r>
              <a:rPr lang="pt-BR" sz="140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97,75</a:t>
            </a:r>
          </a:p>
          <a:p>
            <a:r>
              <a:rPr lang="pt-BR" sz="140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97,63</a:t>
            </a:r>
          </a:p>
          <a:p>
            <a:r>
              <a:rPr lang="pt-BR" sz="140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97,4</a:t>
            </a:r>
            <a:endParaRPr lang="pt-BR" sz="1400" dirty="0">
              <a:solidFill>
                <a:srgbClr val="D905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Imagem 56">
            <a:extLst>
              <a:ext uri="{FF2B5EF4-FFF2-40B4-BE49-F238E27FC236}">
                <a16:creationId xmlns:a16="http://schemas.microsoft.com/office/drawing/2014/main" id="{BC82D0DB-499A-405E-A1A3-D8001D979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F041A69-0E5C-F8CC-AEB3-F82B976C5BCB}"/>
              </a:ext>
            </a:extLst>
          </p:cNvPr>
          <p:cNvSpPr txBox="1"/>
          <p:nvPr/>
        </p:nvSpPr>
        <p:spPr>
          <a:xfrm>
            <a:off x="1833755" y="1338954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Comparativo dos Ofensores (Jun. </a:t>
            </a:r>
            <a:r>
              <a:rPr lang="pt-BR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Jul.)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D9CA79F-0E89-4495-2358-8BECEB148A5A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FC89D6E-ECAC-424A-8AB2-365214B95E93}"/>
              </a:ext>
            </a:extLst>
          </p:cNvPr>
          <p:cNvSpPr txBox="1"/>
          <p:nvPr/>
        </p:nvSpPr>
        <p:spPr>
          <a:xfrm>
            <a:off x="4044044" y="5208953"/>
            <a:ext cx="24846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57,5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67,63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69,13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70,5</a:t>
            </a:r>
          </a:p>
          <a:p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76,43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9F4A8EE-9664-4348-9C70-0D66BDC54418}"/>
              </a:ext>
            </a:extLst>
          </p:cNvPr>
          <p:cNvSpPr txBox="1"/>
          <p:nvPr/>
        </p:nvSpPr>
        <p:spPr>
          <a:xfrm>
            <a:off x="7781320" y="2112631"/>
            <a:ext cx="26678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Deivid Canabaro Amaraes</a:t>
            </a:r>
          </a:p>
          <a:p>
            <a:r>
              <a:rPr lang="pt-BR" sz="140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Ivanildo Barbosa Dos Santos</a:t>
            </a:r>
          </a:p>
          <a:p>
            <a:r>
              <a:rPr lang="pt-BR" sz="140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Guilherme Dos Santos Oliveira</a:t>
            </a:r>
          </a:p>
          <a:p>
            <a:r>
              <a:rPr lang="pt-BR" sz="140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Giullia Karina Makowski</a:t>
            </a:r>
          </a:p>
          <a:p>
            <a:r>
              <a:rPr lang="pt-BR" sz="140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Willian Rebelo De Franca</a:t>
            </a:r>
            <a:endParaRPr lang="pt-BR" sz="1400" dirty="0" err="1">
              <a:solidFill>
                <a:srgbClr val="D905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C5881450-30A4-C7DF-E13E-F9F4E4280E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2474357"/>
              </p:ext>
            </p:extLst>
          </p:nvPr>
        </p:nvGraphicFramePr>
        <p:xfrm>
          <a:off x="643466" y="1549889"/>
          <a:ext cx="5787167" cy="325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322181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0"/>
                <a:lumOff val="100000"/>
                <a:alpha val="56000"/>
              </a:schemeClr>
            </a:gs>
            <a:gs pos="100000">
              <a:schemeClr val="bg2">
                <a:lumMod val="59000"/>
                <a:lumOff val="41000"/>
                <a:alpha val="99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F051E-21D7-DA20-78C2-8FB3E8CEC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BB150F61-C3C8-1916-27E3-1970627B20D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5319FE4C-800D-3D39-9A4F-C86E4F6077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2D976229-D596-AB2F-86A1-BC6572755FDC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E7FF1A83-3631-4348-F493-D396F7D1BA3C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B54BC4FE-4BB5-B64A-1AFE-0534AD9C5A7C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2B86C788-F827-FB9F-157C-3A2F06A4D6E5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CDC72B18-376E-24D8-221D-7B4F13BCF5B4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90E9D51D-342F-EB3A-841D-101A0CD49B68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D90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9E14D5DE-D744-D781-DFDA-EBB039564F43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D1D5FB5E-805F-048B-CA80-483565805461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6DFD8C2-00A0-D7F6-7ACF-CF261A3999B1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D11FFECB-7BE1-21D5-37EA-8AD8EDDD9C5B}"/>
              </a:ext>
            </a:extLst>
          </p:cNvPr>
          <p:cNvSpPr/>
          <p:nvPr/>
        </p:nvSpPr>
        <p:spPr>
          <a:xfrm>
            <a:off x="1887050" y="1808181"/>
            <a:ext cx="4310912" cy="2137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66" name="Google Shape;1944;p50">
            <a:extLst>
              <a:ext uri="{FF2B5EF4-FFF2-40B4-BE49-F238E27FC236}">
                <a16:creationId xmlns:a16="http://schemas.microsoft.com/office/drawing/2014/main" id="{398952AD-EEEF-1A0F-3CE1-F168ECF671CA}"/>
              </a:ext>
            </a:extLst>
          </p:cNvPr>
          <p:cNvGrpSpPr/>
          <p:nvPr/>
        </p:nvGrpSpPr>
        <p:grpSpPr>
          <a:xfrm rot="10417960">
            <a:off x="2057787" y="1993078"/>
            <a:ext cx="476316" cy="468384"/>
            <a:chOff x="860940" y="2746477"/>
            <a:chExt cx="371883" cy="365691"/>
          </a:xfrm>
          <a:solidFill>
            <a:srgbClr val="D905C5"/>
          </a:solidFill>
        </p:grpSpPr>
        <p:sp>
          <p:nvSpPr>
            <p:cNvPr id="67" name="Google Shape;1945;p50">
              <a:extLst>
                <a:ext uri="{FF2B5EF4-FFF2-40B4-BE49-F238E27FC236}">
                  <a16:creationId xmlns:a16="http://schemas.microsoft.com/office/drawing/2014/main" id="{07F1272D-DDFF-C07F-C636-04FCBB7FB05E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946;p50">
              <a:extLst>
                <a:ext uri="{FF2B5EF4-FFF2-40B4-BE49-F238E27FC236}">
                  <a16:creationId xmlns:a16="http://schemas.microsoft.com/office/drawing/2014/main" id="{EC275FF9-7135-69EA-BEB4-4CF931DBEBB0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947;p50">
              <a:extLst>
                <a:ext uri="{FF2B5EF4-FFF2-40B4-BE49-F238E27FC236}">
                  <a16:creationId xmlns:a16="http://schemas.microsoft.com/office/drawing/2014/main" id="{3B68E1DA-5D7D-97E5-506C-003C6C288BEC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948;p50">
              <a:extLst>
                <a:ext uri="{FF2B5EF4-FFF2-40B4-BE49-F238E27FC236}">
                  <a16:creationId xmlns:a16="http://schemas.microsoft.com/office/drawing/2014/main" id="{04BB9C3C-8870-E8BD-29BE-0975FB450573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949;p50">
              <a:extLst>
                <a:ext uri="{FF2B5EF4-FFF2-40B4-BE49-F238E27FC236}">
                  <a16:creationId xmlns:a16="http://schemas.microsoft.com/office/drawing/2014/main" id="{778FD0FA-FC53-9534-D6D8-9BDBF02345E6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480B8786-97EE-B585-A9E8-4DDB67F3F9A1}"/>
              </a:ext>
            </a:extLst>
          </p:cNvPr>
          <p:cNvSpPr txBox="1"/>
          <p:nvPr/>
        </p:nvSpPr>
        <p:spPr>
          <a:xfrm>
            <a:off x="2583675" y="2002759"/>
            <a:ext cx="1498347" cy="307777"/>
          </a:xfrm>
          <a:prstGeom prst="rect">
            <a:avLst/>
          </a:prstGeom>
          <a:solidFill>
            <a:srgbClr val="FF99CC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6985B70-25CD-1C6F-485E-4ECA62788AC8}"/>
              </a:ext>
            </a:extLst>
          </p:cNvPr>
          <p:cNvSpPr txBox="1"/>
          <p:nvPr/>
        </p:nvSpPr>
        <p:spPr>
          <a:xfrm>
            <a:off x="1431436" y="1336969"/>
            <a:ext cx="60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Análises do Perfil dos Ofensores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9647D3-040B-1940-18B5-465168657DB2}"/>
              </a:ext>
            </a:extLst>
          </p:cNvPr>
          <p:cNvSpPr txBox="1"/>
          <p:nvPr/>
        </p:nvSpPr>
        <p:spPr>
          <a:xfrm>
            <a:off x="2441857" y="2301177"/>
            <a:ext cx="3573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Alex Gama Lima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A812D3A-97D1-549D-6B5F-ADC7C045C6B3}"/>
              </a:ext>
            </a:extLst>
          </p:cNvPr>
          <p:cNvSpPr/>
          <p:nvPr/>
        </p:nvSpPr>
        <p:spPr>
          <a:xfrm>
            <a:off x="6500422" y="1616596"/>
            <a:ext cx="4771226" cy="2137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0" name="Google Shape;1944;p50">
            <a:extLst>
              <a:ext uri="{FF2B5EF4-FFF2-40B4-BE49-F238E27FC236}">
                <a16:creationId xmlns:a16="http://schemas.microsoft.com/office/drawing/2014/main" id="{D966E02A-3E62-20CE-6C0C-F42F6283E705}"/>
              </a:ext>
            </a:extLst>
          </p:cNvPr>
          <p:cNvGrpSpPr/>
          <p:nvPr/>
        </p:nvGrpSpPr>
        <p:grpSpPr>
          <a:xfrm rot="10417960">
            <a:off x="6668106" y="1966166"/>
            <a:ext cx="476316" cy="468384"/>
            <a:chOff x="860940" y="2746477"/>
            <a:chExt cx="371883" cy="365691"/>
          </a:xfrm>
          <a:solidFill>
            <a:srgbClr val="D905C5"/>
          </a:solidFill>
        </p:grpSpPr>
        <p:sp>
          <p:nvSpPr>
            <p:cNvPr id="11" name="Google Shape;1945;p50">
              <a:extLst>
                <a:ext uri="{FF2B5EF4-FFF2-40B4-BE49-F238E27FC236}">
                  <a16:creationId xmlns:a16="http://schemas.microsoft.com/office/drawing/2014/main" id="{721EE79B-C470-B303-505D-81A215DA0368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46;p50">
              <a:extLst>
                <a:ext uri="{FF2B5EF4-FFF2-40B4-BE49-F238E27FC236}">
                  <a16:creationId xmlns:a16="http://schemas.microsoft.com/office/drawing/2014/main" id="{9D15B461-C02C-07DE-643E-B4DD6A38D88E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947;p50">
              <a:extLst>
                <a:ext uri="{FF2B5EF4-FFF2-40B4-BE49-F238E27FC236}">
                  <a16:creationId xmlns:a16="http://schemas.microsoft.com/office/drawing/2014/main" id="{815144D2-A0E4-DBAF-5D56-30140800B754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948;p50">
              <a:extLst>
                <a:ext uri="{FF2B5EF4-FFF2-40B4-BE49-F238E27FC236}">
                  <a16:creationId xmlns:a16="http://schemas.microsoft.com/office/drawing/2014/main" id="{BDEFF520-4A90-E384-8EBE-58DBC310E6E7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949;p50">
              <a:extLst>
                <a:ext uri="{FF2B5EF4-FFF2-40B4-BE49-F238E27FC236}">
                  <a16:creationId xmlns:a16="http://schemas.microsoft.com/office/drawing/2014/main" id="{2D7573F5-A790-283C-38BB-CA19F1A2105C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FC18897-8D85-2333-C611-4FCBFA605214}"/>
              </a:ext>
            </a:extLst>
          </p:cNvPr>
          <p:cNvSpPr txBox="1"/>
          <p:nvPr/>
        </p:nvSpPr>
        <p:spPr>
          <a:xfrm>
            <a:off x="7193994" y="1975847"/>
            <a:ext cx="1498347" cy="307777"/>
          </a:xfrm>
          <a:prstGeom prst="rect">
            <a:avLst/>
          </a:prstGeom>
          <a:solidFill>
            <a:srgbClr val="FF99CC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BF1D755-6A1A-BAFE-1069-BC5E0450591E}"/>
              </a:ext>
            </a:extLst>
          </p:cNvPr>
          <p:cNvSpPr txBox="1"/>
          <p:nvPr/>
        </p:nvSpPr>
        <p:spPr>
          <a:xfrm>
            <a:off x="7007339" y="2282860"/>
            <a:ext cx="486325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Daniel Varela Mendes</a:t>
            </a:r>
          </a:p>
          <a:p>
            <a:r>
              <a:rPr lang="pt-BR" sz="1200" dirty="0"/>
              <a:t>O agente apresenta oportunidades relacionadas à </a:t>
            </a:r>
            <a:r>
              <a:rPr lang="pt-BR" sz="1200" b="1" dirty="0"/>
              <a:t>aderência aos procedimentos e direcionamento correto das tratativas</a:t>
            </a:r>
            <a:r>
              <a:rPr lang="pt-BR" sz="1200" dirty="0"/>
              <a:t>. No período, foram identificadas </a:t>
            </a:r>
            <a:r>
              <a:rPr lang="pt-BR" sz="1200" b="1" dirty="0"/>
              <a:t>4 </a:t>
            </a:r>
            <a:r>
              <a:rPr lang="pt-BR" sz="1200" b="1" dirty="0" err="1"/>
              <a:t>NCGs</a:t>
            </a:r>
            <a:r>
              <a:rPr lang="pt-BR" sz="1200" dirty="0"/>
              <a:t>, envolvendo </a:t>
            </a:r>
            <a:r>
              <a:rPr lang="pt-BR" sz="1200" b="1" dirty="0"/>
              <a:t>falha na identificação positiva, ausência de atribuição à área responsável e orientações incorretas sobre negativação e Extrato Serasa</a:t>
            </a:r>
            <a:r>
              <a:rPr lang="pt-BR" sz="1200" dirty="0"/>
              <a:t>, reforçando a necessidade de maior atenção aos fluxos estabelecidos.</a:t>
            </a:r>
            <a:endParaRPr lang="pt-BR" sz="1200" dirty="0">
              <a:solidFill>
                <a:srgbClr val="D905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9315A68-F5C2-0AC7-C928-2B267B694D79}"/>
              </a:ext>
            </a:extLst>
          </p:cNvPr>
          <p:cNvSpPr/>
          <p:nvPr/>
        </p:nvSpPr>
        <p:spPr>
          <a:xfrm>
            <a:off x="1870087" y="4052838"/>
            <a:ext cx="4382119" cy="22596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3" name="Google Shape;1944;p50">
            <a:extLst>
              <a:ext uri="{FF2B5EF4-FFF2-40B4-BE49-F238E27FC236}">
                <a16:creationId xmlns:a16="http://schemas.microsoft.com/office/drawing/2014/main" id="{CA531213-37AC-5895-4638-7E6E813F3957}"/>
              </a:ext>
            </a:extLst>
          </p:cNvPr>
          <p:cNvGrpSpPr/>
          <p:nvPr/>
        </p:nvGrpSpPr>
        <p:grpSpPr>
          <a:xfrm rot="10417960">
            <a:off x="2040825" y="4359935"/>
            <a:ext cx="476316" cy="468384"/>
            <a:chOff x="860940" y="2746477"/>
            <a:chExt cx="371883" cy="365691"/>
          </a:xfrm>
          <a:solidFill>
            <a:srgbClr val="D905C5"/>
          </a:solidFill>
        </p:grpSpPr>
        <p:sp>
          <p:nvSpPr>
            <p:cNvPr id="34" name="Google Shape;1945;p50">
              <a:extLst>
                <a:ext uri="{FF2B5EF4-FFF2-40B4-BE49-F238E27FC236}">
                  <a16:creationId xmlns:a16="http://schemas.microsoft.com/office/drawing/2014/main" id="{313D2A55-B94F-9975-6136-B94B74405295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946;p50">
              <a:extLst>
                <a:ext uri="{FF2B5EF4-FFF2-40B4-BE49-F238E27FC236}">
                  <a16:creationId xmlns:a16="http://schemas.microsoft.com/office/drawing/2014/main" id="{B646C18A-DCEE-570A-B896-03264F10C35B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947;p50">
              <a:extLst>
                <a:ext uri="{FF2B5EF4-FFF2-40B4-BE49-F238E27FC236}">
                  <a16:creationId xmlns:a16="http://schemas.microsoft.com/office/drawing/2014/main" id="{E1BDE9D8-E2F4-7401-C778-C06EFF1A796B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948;p50">
              <a:extLst>
                <a:ext uri="{FF2B5EF4-FFF2-40B4-BE49-F238E27FC236}">
                  <a16:creationId xmlns:a16="http://schemas.microsoft.com/office/drawing/2014/main" id="{030E0F54-268D-59F0-9579-035AB35365A0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949;p50">
              <a:extLst>
                <a:ext uri="{FF2B5EF4-FFF2-40B4-BE49-F238E27FC236}">
                  <a16:creationId xmlns:a16="http://schemas.microsoft.com/office/drawing/2014/main" id="{A04C12FE-4A8B-E68B-BCB8-E6D709FAB125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DD1E03B-5D70-2377-733C-CF6BA951EF3A}"/>
              </a:ext>
            </a:extLst>
          </p:cNvPr>
          <p:cNvSpPr txBox="1"/>
          <p:nvPr/>
        </p:nvSpPr>
        <p:spPr>
          <a:xfrm>
            <a:off x="2566713" y="4369616"/>
            <a:ext cx="1498347" cy="307777"/>
          </a:xfrm>
          <a:prstGeom prst="rect">
            <a:avLst/>
          </a:prstGeom>
          <a:solidFill>
            <a:srgbClr val="FF99CC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8E7EEF4-A4FA-FD36-97F8-11EF12FF1AAE}"/>
              </a:ext>
            </a:extLst>
          </p:cNvPr>
          <p:cNvSpPr txBox="1"/>
          <p:nvPr/>
        </p:nvSpPr>
        <p:spPr>
          <a:xfrm>
            <a:off x="1929146" y="4718082"/>
            <a:ext cx="44447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Luiz Fernando Junges</a:t>
            </a:r>
            <a:b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1200" dirty="0"/>
              <a:t> agente apresenta oportunidades relacionadas à </a:t>
            </a:r>
            <a:r>
              <a:rPr lang="pt-BR" sz="1200" b="1" dirty="0"/>
              <a:t>aderência aos procedimentos e registros obrigatórios</a:t>
            </a:r>
            <a:r>
              <a:rPr lang="pt-BR" sz="1200" dirty="0"/>
              <a:t>. No período, foram identificadas </a:t>
            </a:r>
            <a:r>
              <a:rPr lang="pt-BR" sz="1200" b="1" dirty="0"/>
              <a:t>6 </a:t>
            </a:r>
            <a:r>
              <a:rPr lang="pt-BR" sz="1200" b="1" dirty="0" err="1"/>
              <a:t>NCGs</a:t>
            </a:r>
            <a:r>
              <a:rPr lang="pt-BR" sz="1200" dirty="0"/>
              <a:t>, envolvendo </a:t>
            </a:r>
            <a:r>
              <a:rPr lang="pt-BR" sz="1200" b="1" dirty="0"/>
              <a:t>ausência de solicitação e aplicação da macro de NPS, falta de registro do RISK e procedimentos incorretos em atualização de parcela e repasse de contatos externos</a:t>
            </a:r>
            <a:r>
              <a:rPr lang="pt-BR" sz="1200" dirty="0"/>
              <a:t>, reforçando a necessidade de maior atenção aos fluxos estabelecidos.</a:t>
            </a:r>
            <a:b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400" dirty="0">
              <a:solidFill>
                <a:srgbClr val="D905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1400" dirty="0">
              <a:solidFill>
                <a:srgbClr val="D905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A4DA974E-A59C-EB02-AB51-639C0E12B628}"/>
              </a:ext>
            </a:extLst>
          </p:cNvPr>
          <p:cNvSpPr/>
          <p:nvPr/>
        </p:nvSpPr>
        <p:spPr>
          <a:xfrm>
            <a:off x="6524066" y="4184551"/>
            <a:ext cx="4905934" cy="241282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7" name="Google Shape;1944;p50">
            <a:extLst>
              <a:ext uri="{FF2B5EF4-FFF2-40B4-BE49-F238E27FC236}">
                <a16:creationId xmlns:a16="http://schemas.microsoft.com/office/drawing/2014/main" id="{AFFA6C77-A18C-6B60-1718-D697015E9F73}"/>
              </a:ext>
            </a:extLst>
          </p:cNvPr>
          <p:cNvGrpSpPr/>
          <p:nvPr/>
        </p:nvGrpSpPr>
        <p:grpSpPr>
          <a:xfrm rot="10417960">
            <a:off x="6629343" y="4367822"/>
            <a:ext cx="476316" cy="468384"/>
            <a:chOff x="860940" y="2746477"/>
            <a:chExt cx="371883" cy="365691"/>
          </a:xfrm>
          <a:solidFill>
            <a:srgbClr val="D905C5"/>
          </a:solidFill>
        </p:grpSpPr>
        <p:sp>
          <p:nvSpPr>
            <p:cNvPr id="48" name="Google Shape;1945;p50">
              <a:extLst>
                <a:ext uri="{FF2B5EF4-FFF2-40B4-BE49-F238E27FC236}">
                  <a16:creationId xmlns:a16="http://schemas.microsoft.com/office/drawing/2014/main" id="{CC65B3DA-078D-3162-A8DC-5D08C74F449F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946;p50">
              <a:extLst>
                <a:ext uri="{FF2B5EF4-FFF2-40B4-BE49-F238E27FC236}">
                  <a16:creationId xmlns:a16="http://schemas.microsoft.com/office/drawing/2014/main" id="{F348A8AB-53C5-4CBC-87E5-05CB780FB1EC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947;p50">
              <a:extLst>
                <a:ext uri="{FF2B5EF4-FFF2-40B4-BE49-F238E27FC236}">
                  <a16:creationId xmlns:a16="http://schemas.microsoft.com/office/drawing/2014/main" id="{6BE9D12B-FB30-5990-7ADC-A8C20FA916E7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948;p50">
              <a:extLst>
                <a:ext uri="{FF2B5EF4-FFF2-40B4-BE49-F238E27FC236}">
                  <a16:creationId xmlns:a16="http://schemas.microsoft.com/office/drawing/2014/main" id="{FEA4D9C6-EA4D-4E8D-FD1D-7926BB7B7E35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949;p50">
              <a:extLst>
                <a:ext uri="{FF2B5EF4-FFF2-40B4-BE49-F238E27FC236}">
                  <a16:creationId xmlns:a16="http://schemas.microsoft.com/office/drawing/2014/main" id="{E23E7B0B-54B2-A8FD-019B-51EDE9A1E66A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6F35E158-C3C8-73B5-21CF-7779F1544596}"/>
              </a:ext>
            </a:extLst>
          </p:cNvPr>
          <p:cNvSpPr txBox="1"/>
          <p:nvPr/>
        </p:nvSpPr>
        <p:spPr>
          <a:xfrm>
            <a:off x="7224926" y="4378062"/>
            <a:ext cx="1498347" cy="307777"/>
          </a:xfrm>
          <a:prstGeom prst="rect">
            <a:avLst/>
          </a:prstGeom>
          <a:solidFill>
            <a:srgbClr val="FF99CC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E2A11DF-FB9E-CDE4-D920-4586AA6F83A8}"/>
              </a:ext>
            </a:extLst>
          </p:cNvPr>
          <p:cNvSpPr txBox="1"/>
          <p:nvPr/>
        </p:nvSpPr>
        <p:spPr>
          <a:xfrm>
            <a:off x="1865386" y="2584048"/>
            <a:ext cx="43109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100" dirty="0"/>
              <a:t>O agente demonstra </a:t>
            </a:r>
            <a:r>
              <a:rPr lang="pt-BR" sz="1100" b="1" dirty="0"/>
              <a:t>boa base de conhecimento dos processos</a:t>
            </a:r>
            <a:r>
              <a:rPr lang="pt-BR" sz="1100" dirty="0"/>
              <a:t>, porém apresenta oportunidades relacionadas à </a:t>
            </a:r>
            <a:r>
              <a:rPr lang="pt-BR" sz="1100" b="1" dirty="0"/>
              <a:t>padronização da comunicação, objetividade e registros obrigatórios</a:t>
            </a:r>
            <a:r>
              <a:rPr lang="pt-BR" sz="1100" dirty="0"/>
              <a:t>. No período, foram identificadas </a:t>
            </a:r>
            <a:r>
              <a:rPr lang="pt-BR" sz="1100" b="1" dirty="0"/>
              <a:t>2 </a:t>
            </a:r>
            <a:r>
              <a:rPr lang="pt-BR" sz="1100" b="1" dirty="0" err="1"/>
              <a:t>NCGs</a:t>
            </a:r>
            <a:r>
              <a:rPr lang="pt-BR" sz="1100" dirty="0"/>
              <a:t>, relacionadas à </a:t>
            </a:r>
            <a:r>
              <a:rPr lang="pt-BR" sz="1100" b="1" dirty="0"/>
              <a:t>tratativa incorreta de negativação</a:t>
            </a:r>
            <a:r>
              <a:rPr lang="pt-BR" sz="1100" dirty="0"/>
              <a:t> e à </a:t>
            </a:r>
            <a:r>
              <a:rPr lang="pt-BR" sz="1100" b="1" dirty="0"/>
              <a:t>ausência do print do RISK</a:t>
            </a:r>
            <a:r>
              <a:rPr lang="pt-BR" sz="1100" dirty="0"/>
              <a:t>, reforçando a necessidade de maior atenção ao cumprimento integral dos procedimentos.</a:t>
            </a:r>
            <a:endParaRPr lang="pt-BR" sz="11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8EA8F38A-0C78-9D75-3865-2C2175F5D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B0D35D0-DFC6-B706-F493-9C80567E9327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7091558-A7D9-3148-EF74-11E424AC485B}"/>
              </a:ext>
            </a:extLst>
          </p:cNvPr>
          <p:cNvSpPr txBox="1"/>
          <p:nvPr/>
        </p:nvSpPr>
        <p:spPr>
          <a:xfrm>
            <a:off x="4256909" y="1700941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atual: 86,50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4798847-9551-45ED-1B6C-609610F2BB0D}"/>
              </a:ext>
            </a:extLst>
          </p:cNvPr>
          <p:cNvSpPr txBox="1"/>
          <p:nvPr/>
        </p:nvSpPr>
        <p:spPr>
          <a:xfrm>
            <a:off x="8876037" y="1665033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atual:70,25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189DFA5-BBB7-0DC9-0E9F-77EB5025963D}"/>
              </a:ext>
            </a:extLst>
          </p:cNvPr>
          <p:cNvSpPr txBox="1"/>
          <p:nvPr/>
        </p:nvSpPr>
        <p:spPr>
          <a:xfrm>
            <a:off x="4256909" y="4061053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atual: 88,00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494BC0E-0377-2576-2099-6A28068D23AB}"/>
              </a:ext>
            </a:extLst>
          </p:cNvPr>
          <p:cNvSpPr txBox="1"/>
          <p:nvPr/>
        </p:nvSpPr>
        <p:spPr>
          <a:xfrm>
            <a:off x="8876037" y="4044233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atual: 87,00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876E554D-7A1D-489B-829A-51B4C4089097}"/>
              </a:ext>
            </a:extLst>
          </p:cNvPr>
          <p:cNvSpPr txBox="1"/>
          <p:nvPr/>
        </p:nvSpPr>
        <p:spPr>
          <a:xfrm>
            <a:off x="6973045" y="4690025"/>
            <a:ext cx="472881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Gustavo Eduardo de Lima</a:t>
            </a:r>
          </a:p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pt-BR" sz="1200" dirty="0"/>
              <a:t> agente apresenta oportunidades relacionadas ao </a:t>
            </a:r>
            <a:r>
              <a:rPr lang="pt-BR" sz="1200" b="1" dirty="0"/>
              <a:t>cumprimento dos procedimentos e registros obrigatórios</a:t>
            </a:r>
            <a:r>
              <a:rPr lang="pt-BR" sz="1200" dirty="0"/>
              <a:t>. No período, foram identificadas </a:t>
            </a:r>
            <a:r>
              <a:rPr lang="pt-BR" sz="1200" b="1" dirty="0"/>
              <a:t>3 </a:t>
            </a:r>
            <a:r>
              <a:rPr lang="pt-BR" sz="1200" b="1" dirty="0" err="1"/>
              <a:t>NCGs</a:t>
            </a:r>
            <a:r>
              <a:rPr lang="pt-BR" sz="1200" dirty="0"/>
              <a:t>, envolvendo </a:t>
            </a:r>
            <a:r>
              <a:rPr lang="pt-BR" sz="1200" b="1" dirty="0"/>
              <a:t>orientação incorreta sobre acordo, ausência de print do RISK e não aplicação da macro de NPS</a:t>
            </a:r>
            <a:r>
              <a:rPr lang="pt-BR" sz="1200" dirty="0"/>
              <a:t>, reforçando a necessidade de maior atenção e aderência aos fluxos estabelecidos.</a:t>
            </a:r>
            <a:br>
              <a:rPr lang="pt-BR" sz="12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2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400" dirty="0">
              <a:solidFill>
                <a:srgbClr val="D905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75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0"/>
                <a:lumOff val="100000"/>
                <a:alpha val="56000"/>
              </a:schemeClr>
            </a:gs>
            <a:gs pos="100000">
              <a:schemeClr val="bg2">
                <a:lumMod val="59000"/>
                <a:lumOff val="41000"/>
                <a:alpha val="99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64A44-F458-FEC6-12B1-99CD2192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1DDBAB57-FCBE-1C2F-5506-3BCCA2EAA9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EDF74F90-6A17-F240-9228-2350FD5B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784F15B0-50CB-6FC1-3F26-E304168BAC72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63BA4B96-2243-5A15-2424-4F09E692670A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EB20600B-9858-57C2-E990-5B153EFB15BD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B9E2C55-0F6E-B91F-3E71-20D20BC7CACB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62DD4A4F-AA6D-9257-4C21-C91ACB4C2D49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58955CB6-5589-AB39-308C-DAA96E8FF6E0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D90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F247D3F6-AD3F-62A1-A6DB-41BE218935B2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9EF4EFC0-D89A-DCB1-8732-CDB6C0957098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D66DC7E-6420-56A0-AB8D-1BA2F8AB0599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A7BD1927-FD87-2516-46E5-4818C191B569}"/>
              </a:ext>
            </a:extLst>
          </p:cNvPr>
          <p:cNvSpPr/>
          <p:nvPr/>
        </p:nvSpPr>
        <p:spPr>
          <a:xfrm>
            <a:off x="1887050" y="1808181"/>
            <a:ext cx="4310912" cy="21374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D905C5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66" name="Google Shape;1944;p50">
            <a:extLst>
              <a:ext uri="{FF2B5EF4-FFF2-40B4-BE49-F238E27FC236}">
                <a16:creationId xmlns:a16="http://schemas.microsoft.com/office/drawing/2014/main" id="{5A09A109-A005-AA89-7BC7-C8DB6D763468}"/>
              </a:ext>
            </a:extLst>
          </p:cNvPr>
          <p:cNvGrpSpPr/>
          <p:nvPr/>
        </p:nvGrpSpPr>
        <p:grpSpPr>
          <a:xfrm rot="10417960">
            <a:off x="2057787" y="1993078"/>
            <a:ext cx="476316" cy="468384"/>
            <a:chOff x="860940" y="2746477"/>
            <a:chExt cx="371883" cy="365691"/>
          </a:xfrm>
          <a:solidFill>
            <a:srgbClr val="D905C5"/>
          </a:solidFill>
        </p:grpSpPr>
        <p:sp>
          <p:nvSpPr>
            <p:cNvPr id="67" name="Google Shape;1945;p50">
              <a:extLst>
                <a:ext uri="{FF2B5EF4-FFF2-40B4-BE49-F238E27FC236}">
                  <a16:creationId xmlns:a16="http://schemas.microsoft.com/office/drawing/2014/main" id="{E04DE283-E3F0-21DF-CF0C-B3C09BCF62F5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946;p50">
              <a:extLst>
                <a:ext uri="{FF2B5EF4-FFF2-40B4-BE49-F238E27FC236}">
                  <a16:creationId xmlns:a16="http://schemas.microsoft.com/office/drawing/2014/main" id="{C63B1DCF-6153-F614-73D6-116792D23BB0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947;p50">
              <a:extLst>
                <a:ext uri="{FF2B5EF4-FFF2-40B4-BE49-F238E27FC236}">
                  <a16:creationId xmlns:a16="http://schemas.microsoft.com/office/drawing/2014/main" id="{D9ED2EFE-DCD7-B9D6-C6CE-2AE2ECB267E8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948;p50">
              <a:extLst>
                <a:ext uri="{FF2B5EF4-FFF2-40B4-BE49-F238E27FC236}">
                  <a16:creationId xmlns:a16="http://schemas.microsoft.com/office/drawing/2014/main" id="{7931EF11-69B2-9A58-65F9-A3CAF720B093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949;p50">
              <a:extLst>
                <a:ext uri="{FF2B5EF4-FFF2-40B4-BE49-F238E27FC236}">
                  <a16:creationId xmlns:a16="http://schemas.microsoft.com/office/drawing/2014/main" id="{0085C2F0-6443-EED8-4CCC-CB714E740617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696C05A0-D995-DD97-D122-64CD000E8C7E}"/>
              </a:ext>
            </a:extLst>
          </p:cNvPr>
          <p:cNvSpPr txBox="1"/>
          <p:nvPr/>
        </p:nvSpPr>
        <p:spPr>
          <a:xfrm>
            <a:off x="2583675" y="2002759"/>
            <a:ext cx="1498347" cy="307777"/>
          </a:xfrm>
          <a:prstGeom prst="rect">
            <a:avLst/>
          </a:prstGeom>
          <a:solidFill>
            <a:srgbClr val="FF99CC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Ofensores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97E5170-1696-268E-A670-27FF2DFE8A64}"/>
              </a:ext>
            </a:extLst>
          </p:cNvPr>
          <p:cNvSpPr txBox="1"/>
          <p:nvPr/>
        </p:nvSpPr>
        <p:spPr>
          <a:xfrm>
            <a:off x="1049903" y="1324458"/>
            <a:ext cx="60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Análises do Perfil dos Ofensores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D90679F-DF15-643A-782D-1F4691DE5CEF}"/>
              </a:ext>
            </a:extLst>
          </p:cNvPr>
          <p:cNvSpPr txBox="1"/>
          <p:nvPr/>
        </p:nvSpPr>
        <p:spPr>
          <a:xfrm>
            <a:off x="1887050" y="2445458"/>
            <a:ext cx="438484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Arno Sandri Junior</a:t>
            </a:r>
            <a:b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/>
              <a:t>O colaborador atuou </a:t>
            </a:r>
            <a:r>
              <a:rPr lang="pt-BR" sz="1200" b="1" dirty="0"/>
              <a:t>temporariamente como contingência no canal</a:t>
            </a:r>
            <a:r>
              <a:rPr lang="pt-BR" sz="1200" dirty="0"/>
              <a:t>, período em que apresentou </a:t>
            </a:r>
            <a:r>
              <a:rPr lang="pt-BR" sz="1200" b="1" dirty="0"/>
              <a:t>1 NCG relacionada a procedimento incorreto</a:t>
            </a:r>
            <a:r>
              <a:rPr lang="pt-BR" sz="1200" dirty="0"/>
              <a:t>, referente à atualização de parcela com comprovante de Pix. Atualmente, </a:t>
            </a:r>
            <a:r>
              <a:rPr lang="pt-BR" sz="1200" b="1" dirty="0"/>
              <a:t>já retornou à sua ilha de origem</a:t>
            </a:r>
            <a:r>
              <a:rPr lang="pt-BR" sz="1200" dirty="0"/>
              <a:t>, caracterizando um apontamento pontual durante sua atuação no canal.</a:t>
            </a:r>
            <a:br>
              <a:rPr lang="pt-BR" sz="12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4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400" dirty="0">
              <a:solidFill>
                <a:srgbClr val="D905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E703E832-3193-4710-D4EB-8D021B80E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F338AE9-C179-1521-A256-4E8C69B3C47B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600" spc="600" dirty="0">
                <a:solidFill>
                  <a:srgbClr val="D905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F0FD32B-E084-FFDE-A3B5-F6DC0B9434BC}"/>
              </a:ext>
            </a:extLst>
          </p:cNvPr>
          <p:cNvSpPr txBox="1"/>
          <p:nvPr/>
        </p:nvSpPr>
        <p:spPr>
          <a:xfrm>
            <a:off x="4256909" y="1700941"/>
            <a:ext cx="2014988" cy="43088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atual: 90,67</a:t>
            </a:r>
          </a:p>
          <a:p>
            <a:pPr algn="ctr"/>
            <a:r>
              <a:rPr lang="pt-BR" sz="11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</p:spTree>
    <p:extLst>
      <p:ext uri="{BB962C8B-B14F-4D97-AF65-F5344CB8AC3E}">
        <p14:creationId xmlns:p14="http://schemas.microsoft.com/office/powerpoint/2010/main" val="811382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C1D32C22-2BB4-4AA9-AC92-F27F756F9A46}"/>
              </a:ext>
            </a:extLst>
          </p:cNvPr>
          <p:cNvSpPr/>
          <p:nvPr/>
        </p:nvSpPr>
        <p:spPr>
          <a:xfrm>
            <a:off x="9727562" y="551224"/>
            <a:ext cx="2020973" cy="375927"/>
          </a:xfrm>
          <a:prstGeom prst="roundRect">
            <a:avLst>
              <a:gd name="adj" fmla="val 13727"/>
            </a:avLst>
          </a:prstGeom>
          <a:solidFill>
            <a:srgbClr val="0B589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B017911-3FA8-4E15-AE1D-B1FD14D64222}"/>
              </a:ext>
            </a:extLst>
          </p:cNvPr>
          <p:cNvSpPr/>
          <p:nvPr/>
        </p:nvSpPr>
        <p:spPr>
          <a:xfrm>
            <a:off x="9773512" y="588962"/>
            <a:ext cx="1992680" cy="341643"/>
          </a:xfrm>
          <a:prstGeom prst="roundRect">
            <a:avLst>
              <a:gd name="adj" fmla="val 1372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A5950180-9DDC-4E06-9746-C88850FA434F}"/>
              </a:ext>
            </a:extLst>
          </p:cNvPr>
          <p:cNvSpPr txBox="1">
            <a:spLocks/>
          </p:cNvSpPr>
          <p:nvPr/>
        </p:nvSpPr>
        <p:spPr>
          <a:xfrm>
            <a:off x="-1" y="855616"/>
            <a:ext cx="12192001" cy="5580185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3300" b="1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  <a:alpha val="11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B589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11001D-7B27-4D1E-8727-3B5C67488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7224" y="3091934"/>
            <a:ext cx="5172501" cy="1189342"/>
          </a:xfrm>
          <a:effectLst/>
        </p:spPr>
        <p:txBody>
          <a:bodyPr>
            <a:noAutofit/>
          </a:bodyPr>
          <a:lstStyle/>
          <a:p>
            <a:r>
              <a:rPr lang="pt-BR" sz="103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endParaRPr lang="pt-BR" sz="124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19E4ED5-6191-4819-BC5E-0686AFC2CEAF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021C8E1-11F0-459F-8C87-DCB9B6EC7814}"/>
              </a:ext>
            </a:extLst>
          </p:cNvPr>
          <p:cNvSpPr/>
          <p:nvPr/>
        </p:nvSpPr>
        <p:spPr>
          <a:xfrm>
            <a:off x="3214255" y="4289580"/>
            <a:ext cx="5167746" cy="422031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75000"/>
                  <a:tint val="66000"/>
                  <a:satMod val="160000"/>
                </a:schemeClr>
              </a:gs>
              <a:gs pos="50000">
                <a:schemeClr val="bg2">
                  <a:lumMod val="75000"/>
                  <a:tint val="44500"/>
                  <a:satMod val="160000"/>
                </a:schemeClr>
              </a:gs>
              <a:gs pos="100000">
                <a:schemeClr val="bg2">
                  <a:lumMod val="75000"/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EF44465-2770-491B-BA4E-94ADD8550292}"/>
              </a:ext>
            </a:extLst>
          </p:cNvPr>
          <p:cNvSpPr txBox="1">
            <a:spLocks/>
          </p:cNvSpPr>
          <p:nvPr/>
        </p:nvSpPr>
        <p:spPr>
          <a:xfrm>
            <a:off x="3708183" y="4214299"/>
            <a:ext cx="468201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RESULTADOS OPERACIONAIS  - DIGITAL</a:t>
            </a:r>
          </a:p>
        </p:txBody>
      </p:sp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>
            <a:off x="3378137" y="4364143"/>
            <a:ext cx="293131" cy="279819"/>
            <a:chOff x="4126815" y="2760704"/>
            <a:chExt cx="380393" cy="363118"/>
          </a:xfrm>
          <a:solidFill>
            <a:srgbClr val="00B050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503922" y="6707874"/>
            <a:ext cx="13708160" cy="30025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E8ED96BD-2906-4BD9-86CD-086D77D840E8}"/>
              </a:ext>
            </a:extLst>
          </p:cNvPr>
          <p:cNvSpPr txBox="1">
            <a:spLocks/>
          </p:cNvSpPr>
          <p:nvPr/>
        </p:nvSpPr>
        <p:spPr>
          <a:xfrm>
            <a:off x="0" y="5391500"/>
            <a:ext cx="12192000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Excelência não é um ato, é um hábito diário.</a:t>
            </a: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8B24F100-4168-4C22-95ED-00150A20E58B}"/>
              </a:ext>
            </a:extLst>
          </p:cNvPr>
          <p:cNvSpPr txBox="1">
            <a:spLocks/>
          </p:cNvSpPr>
          <p:nvPr/>
        </p:nvSpPr>
        <p:spPr>
          <a:xfrm>
            <a:off x="10010273" y="673769"/>
            <a:ext cx="1744579" cy="228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</a:t>
            </a:r>
            <a:r>
              <a:rPr lang="pt-BR" sz="14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ULHO</a:t>
            </a:r>
            <a:endParaRPr kumimoji="0" lang="pt-BR" sz="1400" b="0" i="0" u="none" strike="noStrike" kern="1200" cap="none" spc="300" normalizeH="0" baseline="0" noProof="0" dirty="0">
              <a:ln>
                <a:noFill/>
              </a:ln>
              <a:solidFill>
                <a:srgbClr val="0B589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64" name="Google Shape;2286;p50">
            <a:extLst>
              <a:ext uri="{FF2B5EF4-FFF2-40B4-BE49-F238E27FC236}">
                <a16:creationId xmlns:a16="http://schemas.microsoft.com/office/drawing/2014/main" id="{DD2CD91E-4B95-4BA2-97EA-B75F30F1F20D}"/>
              </a:ext>
            </a:extLst>
          </p:cNvPr>
          <p:cNvGrpSpPr/>
          <p:nvPr/>
        </p:nvGrpSpPr>
        <p:grpSpPr>
          <a:xfrm>
            <a:off x="9914641" y="640516"/>
            <a:ext cx="256996" cy="256996"/>
            <a:chOff x="10170398" y="2275581"/>
            <a:chExt cx="1044240" cy="1044240"/>
          </a:xfrm>
          <a:solidFill>
            <a:srgbClr val="0B5892"/>
          </a:solidFill>
        </p:grpSpPr>
        <p:sp>
          <p:nvSpPr>
            <p:cNvPr id="65" name="Google Shape;2287;p50">
              <a:extLst>
                <a:ext uri="{FF2B5EF4-FFF2-40B4-BE49-F238E27FC236}">
                  <a16:creationId xmlns:a16="http://schemas.microsoft.com/office/drawing/2014/main" id="{A45AE1BE-32EF-4AEA-A507-6978FDF05586}"/>
                </a:ext>
              </a:extLst>
            </p:cNvPr>
            <p:cNvSpPr/>
            <p:nvPr/>
          </p:nvSpPr>
          <p:spPr>
            <a:xfrm>
              <a:off x="10170398" y="2275581"/>
              <a:ext cx="1044240" cy="1044240"/>
            </a:xfrm>
            <a:custGeom>
              <a:avLst/>
              <a:gdLst/>
              <a:ahLst/>
              <a:cxnLst/>
              <a:rect l="l" t="t" r="r" b="b"/>
              <a:pathLst>
                <a:path w="1044240" h="1044240" extrusionOk="0">
                  <a:moveTo>
                    <a:pt x="1043243" y="1023511"/>
                  </a:moveTo>
                  <a:lnTo>
                    <a:pt x="890278" y="620562"/>
                  </a:lnTo>
                  <a:cubicBezTo>
                    <a:pt x="889008" y="617215"/>
                    <a:pt x="886603" y="614420"/>
                    <a:pt x="883487" y="612664"/>
                  </a:cubicBezTo>
                  <a:lnTo>
                    <a:pt x="720557" y="520873"/>
                  </a:lnTo>
                  <a:lnTo>
                    <a:pt x="768125" y="445452"/>
                  </a:lnTo>
                  <a:cubicBezTo>
                    <a:pt x="797319" y="399126"/>
                    <a:pt x="812752" y="345590"/>
                    <a:pt x="812752" y="290633"/>
                  </a:cubicBezTo>
                  <a:cubicBezTo>
                    <a:pt x="812752" y="130377"/>
                    <a:pt x="682375" y="0"/>
                    <a:pt x="522119" y="0"/>
                  </a:cubicBezTo>
                  <a:cubicBezTo>
                    <a:pt x="361863" y="0"/>
                    <a:pt x="231486" y="130377"/>
                    <a:pt x="231486" y="290633"/>
                  </a:cubicBezTo>
                  <a:cubicBezTo>
                    <a:pt x="231486" y="345604"/>
                    <a:pt x="246925" y="399142"/>
                    <a:pt x="276135" y="445456"/>
                  </a:cubicBezTo>
                  <a:cubicBezTo>
                    <a:pt x="276917" y="446698"/>
                    <a:pt x="323691" y="520877"/>
                    <a:pt x="323691" y="520877"/>
                  </a:cubicBezTo>
                  <a:lnTo>
                    <a:pt x="160755" y="612664"/>
                  </a:lnTo>
                  <a:cubicBezTo>
                    <a:pt x="157637" y="614420"/>
                    <a:pt x="155232" y="617215"/>
                    <a:pt x="153961" y="620562"/>
                  </a:cubicBezTo>
                  <a:lnTo>
                    <a:pt x="997" y="1023511"/>
                  </a:lnTo>
                  <a:cubicBezTo>
                    <a:pt x="-1290" y="1029532"/>
                    <a:pt x="442" y="1036340"/>
                    <a:pt x="5323" y="1040539"/>
                  </a:cubicBezTo>
                  <a:cubicBezTo>
                    <a:pt x="10209" y="1044741"/>
                    <a:pt x="17195" y="1045432"/>
                    <a:pt x="22805" y="1042269"/>
                  </a:cubicBezTo>
                  <a:lnTo>
                    <a:pt x="268707" y="903732"/>
                  </a:lnTo>
                  <a:lnTo>
                    <a:pt x="514609" y="1042269"/>
                  </a:lnTo>
                  <a:cubicBezTo>
                    <a:pt x="519270" y="1044894"/>
                    <a:pt x="524966" y="1044894"/>
                    <a:pt x="529626" y="1042269"/>
                  </a:cubicBezTo>
                  <a:lnTo>
                    <a:pt x="775528" y="903732"/>
                  </a:lnTo>
                  <a:lnTo>
                    <a:pt x="1021430" y="1042269"/>
                  </a:lnTo>
                  <a:cubicBezTo>
                    <a:pt x="1023776" y="1043590"/>
                    <a:pt x="1026364" y="1044239"/>
                    <a:pt x="1028938" y="1044239"/>
                  </a:cubicBezTo>
                  <a:cubicBezTo>
                    <a:pt x="1032519" y="1044239"/>
                    <a:pt x="1036072" y="1042985"/>
                    <a:pt x="1038915" y="1040541"/>
                  </a:cubicBezTo>
                  <a:cubicBezTo>
                    <a:pt x="1043800" y="1036340"/>
                    <a:pt x="1045529" y="1029532"/>
                    <a:pt x="1043243" y="1023511"/>
                  </a:cubicBezTo>
                  <a:close/>
                  <a:moveTo>
                    <a:pt x="537417" y="792788"/>
                  </a:moveTo>
                  <a:cubicBezTo>
                    <a:pt x="546987" y="789410"/>
                    <a:pt x="555284" y="782904"/>
                    <a:pt x="560915" y="773989"/>
                  </a:cubicBezTo>
                  <a:cubicBezTo>
                    <a:pt x="561692" y="772765"/>
                    <a:pt x="691912" y="566296"/>
                    <a:pt x="691912" y="566296"/>
                  </a:cubicBezTo>
                  <a:lnTo>
                    <a:pt x="758235" y="878360"/>
                  </a:lnTo>
                  <a:lnTo>
                    <a:pt x="537417" y="1002763"/>
                  </a:lnTo>
                  <a:close/>
                  <a:moveTo>
                    <a:pt x="302013" y="429133"/>
                  </a:moveTo>
                  <a:cubicBezTo>
                    <a:pt x="275889" y="387710"/>
                    <a:pt x="262081" y="339818"/>
                    <a:pt x="262081" y="290631"/>
                  </a:cubicBezTo>
                  <a:cubicBezTo>
                    <a:pt x="262081" y="147244"/>
                    <a:pt x="378734" y="30591"/>
                    <a:pt x="522121" y="30591"/>
                  </a:cubicBezTo>
                  <a:cubicBezTo>
                    <a:pt x="665508" y="30591"/>
                    <a:pt x="782161" y="147244"/>
                    <a:pt x="782161" y="290631"/>
                  </a:cubicBezTo>
                  <a:cubicBezTo>
                    <a:pt x="782161" y="339808"/>
                    <a:pt x="768357" y="387704"/>
                    <a:pt x="742249" y="429133"/>
                  </a:cubicBezTo>
                  <a:cubicBezTo>
                    <a:pt x="740208" y="432370"/>
                    <a:pt x="538658" y="751989"/>
                    <a:pt x="535141" y="757510"/>
                  </a:cubicBezTo>
                  <a:cubicBezTo>
                    <a:pt x="535109" y="757557"/>
                    <a:pt x="535080" y="757606"/>
                    <a:pt x="535050" y="757653"/>
                  </a:cubicBezTo>
                  <a:cubicBezTo>
                    <a:pt x="532213" y="762139"/>
                    <a:pt x="527381" y="764821"/>
                    <a:pt x="522121" y="764821"/>
                  </a:cubicBezTo>
                  <a:cubicBezTo>
                    <a:pt x="516857" y="764821"/>
                    <a:pt x="512003" y="762127"/>
                    <a:pt x="509162" y="757661"/>
                  </a:cubicBezTo>
                  <a:cubicBezTo>
                    <a:pt x="507118" y="754420"/>
                    <a:pt x="305166" y="434169"/>
                    <a:pt x="302082" y="429245"/>
                  </a:cubicBezTo>
                  <a:cubicBezTo>
                    <a:pt x="302060" y="429209"/>
                    <a:pt x="302035" y="429172"/>
                    <a:pt x="302013" y="429133"/>
                  </a:cubicBezTo>
                  <a:close/>
                  <a:moveTo>
                    <a:pt x="180596" y="636598"/>
                  </a:moveTo>
                  <a:lnTo>
                    <a:pt x="323191" y="556267"/>
                  </a:lnTo>
                  <a:lnTo>
                    <a:pt x="298350" y="673141"/>
                  </a:lnTo>
                  <a:cubicBezTo>
                    <a:pt x="296594" y="681405"/>
                    <a:pt x="301868" y="689526"/>
                    <a:pt x="310130" y="691284"/>
                  </a:cubicBezTo>
                  <a:cubicBezTo>
                    <a:pt x="311203" y="691513"/>
                    <a:pt x="312274" y="691623"/>
                    <a:pt x="313326" y="691623"/>
                  </a:cubicBezTo>
                  <a:cubicBezTo>
                    <a:pt x="320393" y="691623"/>
                    <a:pt x="326744" y="686693"/>
                    <a:pt x="328272" y="679504"/>
                  </a:cubicBezTo>
                  <a:lnTo>
                    <a:pt x="352332" y="566306"/>
                  </a:lnTo>
                  <a:lnTo>
                    <a:pt x="483313" y="774030"/>
                  </a:lnTo>
                  <a:cubicBezTo>
                    <a:pt x="488964" y="782920"/>
                    <a:pt x="497267" y="789412"/>
                    <a:pt x="506820" y="792785"/>
                  </a:cubicBezTo>
                  <a:lnTo>
                    <a:pt x="506820" y="1002767"/>
                  </a:lnTo>
                  <a:lnTo>
                    <a:pt x="286007" y="878362"/>
                  </a:lnTo>
                  <a:lnTo>
                    <a:pt x="315553" y="739350"/>
                  </a:lnTo>
                  <a:cubicBezTo>
                    <a:pt x="317309" y="731086"/>
                    <a:pt x="312035" y="722964"/>
                    <a:pt x="303773" y="721206"/>
                  </a:cubicBezTo>
                  <a:cubicBezTo>
                    <a:pt x="295501" y="719440"/>
                    <a:pt x="287385" y="724726"/>
                    <a:pt x="285629" y="732986"/>
                  </a:cubicBezTo>
                  <a:lnTo>
                    <a:pt x="255181" y="876235"/>
                  </a:lnTo>
                  <a:lnTo>
                    <a:pt x="44588" y="994882"/>
                  </a:lnTo>
                  <a:close/>
                  <a:moveTo>
                    <a:pt x="789059" y="876237"/>
                  </a:moveTo>
                  <a:lnTo>
                    <a:pt x="721055" y="556265"/>
                  </a:lnTo>
                  <a:lnTo>
                    <a:pt x="863644" y="636598"/>
                  </a:lnTo>
                  <a:lnTo>
                    <a:pt x="999654" y="9948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2288;p50">
              <a:extLst>
                <a:ext uri="{FF2B5EF4-FFF2-40B4-BE49-F238E27FC236}">
                  <a16:creationId xmlns:a16="http://schemas.microsoft.com/office/drawing/2014/main" id="{A6AE6957-2411-41B9-955C-B436C14393C1}"/>
                </a:ext>
              </a:extLst>
            </p:cNvPr>
            <p:cNvSpPr/>
            <p:nvPr/>
          </p:nvSpPr>
          <p:spPr>
            <a:xfrm>
              <a:off x="10524258" y="2397950"/>
              <a:ext cx="336522" cy="336522"/>
            </a:xfrm>
            <a:custGeom>
              <a:avLst/>
              <a:gdLst/>
              <a:ahLst/>
              <a:cxnLst/>
              <a:rect l="l" t="t" r="r" b="b"/>
              <a:pathLst>
                <a:path w="336522" h="336522" extrusionOk="0">
                  <a:moveTo>
                    <a:pt x="336522" y="168261"/>
                  </a:moveTo>
                  <a:cubicBezTo>
                    <a:pt x="336522" y="75483"/>
                    <a:pt x="261039" y="0"/>
                    <a:pt x="168261" y="0"/>
                  </a:cubicBezTo>
                  <a:cubicBezTo>
                    <a:pt x="75483" y="0"/>
                    <a:pt x="0" y="75483"/>
                    <a:pt x="0" y="168261"/>
                  </a:cubicBezTo>
                  <a:cubicBezTo>
                    <a:pt x="0" y="261039"/>
                    <a:pt x="75483" y="336522"/>
                    <a:pt x="168261" y="336522"/>
                  </a:cubicBezTo>
                  <a:cubicBezTo>
                    <a:pt x="261039" y="336522"/>
                    <a:pt x="336522" y="261039"/>
                    <a:pt x="336522" y="168261"/>
                  </a:cubicBezTo>
                  <a:close/>
                  <a:moveTo>
                    <a:pt x="30593" y="168261"/>
                  </a:moveTo>
                  <a:cubicBezTo>
                    <a:pt x="30593" y="92350"/>
                    <a:pt x="92350" y="30593"/>
                    <a:pt x="168261" y="30593"/>
                  </a:cubicBezTo>
                  <a:cubicBezTo>
                    <a:pt x="244172" y="30593"/>
                    <a:pt x="305929" y="92350"/>
                    <a:pt x="305929" y="168261"/>
                  </a:cubicBezTo>
                  <a:cubicBezTo>
                    <a:pt x="305929" y="244172"/>
                    <a:pt x="244172" y="305929"/>
                    <a:pt x="168261" y="305929"/>
                  </a:cubicBezTo>
                  <a:cubicBezTo>
                    <a:pt x="92350" y="305929"/>
                    <a:pt x="30593" y="244172"/>
                    <a:pt x="30593" y="1682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2289;p50">
              <a:extLst>
                <a:ext uri="{FF2B5EF4-FFF2-40B4-BE49-F238E27FC236}">
                  <a16:creationId xmlns:a16="http://schemas.microsoft.com/office/drawing/2014/main" id="{45390312-E95B-4BA5-B6BB-066662AEF39E}"/>
                </a:ext>
              </a:extLst>
            </p:cNvPr>
            <p:cNvSpPr/>
            <p:nvPr/>
          </p:nvSpPr>
          <p:spPr>
            <a:xfrm>
              <a:off x="10585444" y="2459136"/>
              <a:ext cx="214150" cy="214150"/>
            </a:xfrm>
            <a:custGeom>
              <a:avLst/>
              <a:gdLst/>
              <a:ahLst/>
              <a:cxnLst/>
              <a:rect l="l" t="t" r="r" b="b"/>
              <a:pathLst>
                <a:path w="214150" h="214150" extrusionOk="0">
                  <a:moveTo>
                    <a:pt x="214151" y="107075"/>
                  </a:moveTo>
                  <a:cubicBezTo>
                    <a:pt x="214151" y="48035"/>
                    <a:pt x="166116" y="0"/>
                    <a:pt x="107075" y="0"/>
                  </a:cubicBezTo>
                  <a:cubicBezTo>
                    <a:pt x="48035" y="0"/>
                    <a:pt x="0" y="48035"/>
                    <a:pt x="0" y="107075"/>
                  </a:cubicBezTo>
                  <a:cubicBezTo>
                    <a:pt x="0" y="166116"/>
                    <a:pt x="48035" y="214151"/>
                    <a:pt x="107075" y="214151"/>
                  </a:cubicBezTo>
                  <a:cubicBezTo>
                    <a:pt x="166116" y="214151"/>
                    <a:pt x="214151" y="166116"/>
                    <a:pt x="214151" y="107075"/>
                  </a:cubicBezTo>
                  <a:close/>
                  <a:moveTo>
                    <a:pt x="30593" y="107075"/>
                  </a:moveTo>
                  <a:cubicBezTo>
                    <a:pt x="30593" y="64902"/>
                    <a:pt x="64902" y="30593"/>
                    <a:pt x="107075" y="30593"/>
                  </a:cubicBezTo>
                  <a:cubicBezTo>
                    <a:pt x="149249" y="30593"/>
                    <a:pt x="183558" y="64902"/>
                    <a:pt x="183558" y="107075"/>
                  </a:cubicBezTo>
                  <a:cubicBezTo>
                    <a:pt x="183558" y="149249"/>
                    <a:pt x="149249" y="183558"/>
                    <a:pt x="107075" y="183558"/>
                  </a:cubicBezTo>
                  <a:cubicBezTo>
                    <a:pt x="64902" y="183558"/>
                    <a:pt x="30593" y="149249"/>
                    <a:pt x="30593" y="1070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" name="Imagem 26">
            <a:extLst>
              <a:ext uri="{FF2B5EF4-FFF2-40B4-BE49-F238E27FC236}">
                <a16:creationId xmlns:a16="http://schemas.microsoft.com/office/drawing/2014/main" id="{9CAA8198-4547-4A10-BE16-89B365535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30" name="Título 1">
            <a:extLst>
              <a:ext uri="{FF2B5EF4-FFF2-40B4-BE49-F238E27FC236}">
                <a16:creationId xmlns:a16="http://schemas.microsoft.com/office/drawing/2014/main" id="{B5F01839-255A-433E-AC3A-3912E0BB8220}"/>
              </a:ext>
            </a:extLst>
          </p:cNvPr>
          <p:cNvSpPr txBox="1">
            <a:spLocks/>
          </p:cNvSpPr>
          <p:nvPr/>
        </p:nvSpPr>
        <p:spPr>
          <a:xfrm>
            <a:off x="3248168" y="3864620"/>
            <a:ext cx="5131558" cy="4480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Reclame Aqui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F3CF74EE-56DC-40E5-881F-8C2EA2525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9146" y="2565415"/>
            <a:ext cx="2132458" cy="2132458"/>
          </a:xfrm>
          <a:prstGeom prst="rect">
            <a:avLst/>
          </a:prstGeom>
          <a:effectLst>
            <a:outerShdw blurRad="457200" dist="38100" dir="2700000" sx="106000" sy="106000" algn="tl" rotWithShape="0">
              <a:prstClr val="black">
                <a:alpha val="40000"/>
              </a:prst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E26455F3-5365-4171-858C-4514E8FB90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7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75B4443A-AB0F-41A7-8EBD-850DB095055A}"/>
              </a:ext>
            </a:extLst>
          </p:cNvPr>
          <p:cNvSpPr/>
          <p:nvPr/>
        </p:nvSpPr>
        <p:spPr>
          <a:xfrm>
            <a:off x="3301909" y="3962265"/>
            <a:ext cx="4814164" cy="175290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CA314B76-9ED7-405F-8836-ADF96DD6847A}"/>
              </a:ext>
            </a:extLst>
          </p:cNvPr>
          <p:cNvSpPr/>
          <p:nvPr/>
        </p:nvSpPr>
        <p:spPr>
          <a:xfrm>
            <a:off x="3347630" y="3962266"/>
            <a:ext cx="4814164" cy="17529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F9B8545C-EE3B-4A2D-88AF-B393E3C17F99}"/>
              </a:ext>
            </a:extLst>
          </p:cNvPr>
          <p:cNvSpPr/>
          <p:nvPr/>
        </p:nvSpPr>
        <p:spPr>
          <a:xfrm>
            <a:off x="6262837" y="1941943"/>
            <a:ext cx="4814164" cy="173766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0D24A15-7CCF-4245-A75F-347C77ED1F42}"/>
              </a:ext>
            </a:extLst>
          </p:cNvPr>
          <p:cNvSpPr/>
          <p:nvPr/>
        </p:nvSpPr>
        <p:spPr>
          <a:xfrm>
            <a:off x="6285698" y="1953374"/>
            <a:ext cx="4814164" cy="17376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1006578" y="2500940"/>
            <a:ext cx="3625927" cy="527350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B589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19E4ED5-6191-4819-BC5E-0686AFC2CEAF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RECLAME AQUI</a:t>
            </a:r>
          </a:p>
        </p:txBody>
      </p:sp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VISÃO GERAL DO CANAL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6CE0130-151A-4297-A436-4220E143FB10}"/>
              </a:ext>
            </a:extLst>
          </p:cNvPr>
          <p:cNvSpPr/>
          <p:nvPr/>
        </p:nvSpPr>
        <p:spPr>
          <a:xfrm>
            <a:off x="932647" y="1915273"/>
            <a:ext cx="4814164" cy="175290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BB5200E-D583-4DFF-A3A0-F34072602F9F}"/>
              </a:ext>
            </a:extLst>
          </p:cNvPr>
          <p:cNvSpPr/>
          <p:nvPr/>
        </p:nvSpPr>
        <p:spPr>
          <a:xfrm>
            <a:off x="1006578" y="1908237"/>
            <a:ext cx="4814164" cy="17529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F7528B4-88F4-468A-8E7C-E472BD29EE3C}"/>
              </a:ext>
            </a:extLst>
          </p:cNvPr>
          <p:cNvSpPr txBox="1"/>
          <p:nvPr/>
        </p:nvSpPr>
        <p:spPr>
          <a:xfrm>
            <a:off x="1310439" y="2182372"/>
            <a:ext cx="3758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Volume de Monitorias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04A5897-BEF2-4BD8-BE02-EA3E5D4A80D1}"/>
              </a:ext>
            </a:extLst>
          </p:cNvPr>
          <p:cNvSpPr txBox="1"/>
          <p:nvPr/>
        </p:nvSpPr>
        <p:spPr>
          <a:xfrm>
            <a:off x="1294969" y="2332900"/>
            <a:ext cx="18381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600" b="1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68</a:t>
            </a:r>
          </a:p>
        </p:txBody>
      </p:sp>
      <p:sp>
        <p:nvSpPr>
          <p:cNvPr id="32" name="Google Shape;2081;p50">
            <a:extLst>
              <a:ext uri="{FF2B5EF4-FFF2-40B4-BE49-F238E27FC236}">
                <a16:creationId xmlns:a16="http://schemas.microsoft.com/office/drawing/2014/main" id="{BCBB39BF-ABF4-4D46-A5A2-ED525A956FBF}"/>
              </a:ext>
            </a:extLst>
          </p:cNvPr>
          <p:cNvSpPr/>
          <p:nvPr/>
        </p:nvSpPr>
        <p:spPr>
          <a:xfrm>
            <a:off x="5150837" y="2101790"/>
            <a:ext cx="192116" cy="240512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CA63353-40AC-40B2-A5C2-734BB29F6637}"/>
              </a:ext>
            </a:extLst>
          </p:cNvPr>
          <p:cNvSpPr txBox="1"/>
          <p:nvPr/>
        </p:nvSpPr>
        <p:spPr>
          <a:xfrm>
            <a:off x="1298228" y="3252809"/>
            <a:ext cx="3953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A9E22E9-AA98-4B42-8F8D-6BE3DA249752}"/>
              </a:ext>
            </a:extLst>
          </p:cNvPr>
          <p:cNvSpPr txBox="1"/>
          <p:nvPr/>
        </p:nvSpPr>
        <p:spPr>
          <a:xfrm>
            <a:off x="6603582" y="2090932"/>
            <a:ext cx="1811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Média Do Mês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D33852A-A47C-4576-9C4A-3C972DD40094}"/>
              </a:ext>
            </a:extLst>
          </p:cNvPr>
          <p:cNvSpPr txBox="1"/>
          <p:nvPr/>
        </p:nvSpPr>
        <p:spPr>
          <a:xfrm>
            <a:off x="6519679" y="2355940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86,88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31C7B74-2118-4CDD-B0D0-DE1F77107782}"/>
              </a:ext>
            </a:extLst>
          </p:cNvPr>
          <p:cNvSpPr txBox="1"/>
          <p:nvPr/>
        </p:nvSpPr>
        <p:spPr>
          <a:xfrm>
            <a:off x="6593286" y="3325329"/>
            <a:ext cx="17278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(Qualidade + Operação)</a:t>
            </a:r>
          </a:p>
        </p:txBody>
      </p:sp>
      <p:grpSp>
        <p:nvGrpSpPr>
          <p:cNvPr id="41" name="Google Shape;2561;p51">
            <a:extLst>
              <a:ext uri="{FF2B5EF4-FFF2-40B4-BE49-F238E27FC236}">
                <a16:creationId xmlns:a16="http://schemas.microsoft.com/office/drawing/2014/main" id="{6FBEF20F-E903-44C4-881A-70AE6F8AEF33}"/>
              </a:ext>
            </a:extLst>
          </p:cNvPr>
          <p:cNvGrpSpPr/>
          <p:nvPr/>
        </p:nvGrpSpPr>
        <p:grpSpPr>
          <a:xfrm>
            <a:off x="10494326" y="2110190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42" name="Google Shape;2562;p51">
              <a:extLst>
                <a:ext uri="{FF2B5EF4-FFF2-40B4-BE49-F238E27FC236}">
                  <a16:creationId xmlns:a16="http://schemas.microsoft.com/office/drawing/2014/main" id="{864D4EBC-4F20-4F03-B58B-E924ED9A2A8A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Google Shape;2563;p51">
              <a:extLst>
                <a:ext uri="{FF2B5EF4-FFF2-40B4-BE49-F238E27FC236}">
                  <a16:creationId xmlns:a16="http://schemas.microsoft.com/office/drawing/2014/main" id="{B6FB790E-6181-494B-8F66-47D168E05014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Google Shape;2564;p51">
              <a:extLst>
                <a:ext uri="{FF2B5EF4-FFF2-40B4-BE49-F238E27FC236}">
                  <a16:creationId xmlns:a16="http://schemas.microsoft.com/office/drawing/2014/main" id="{099484A7-C227-4045-819C-75C2F7C47320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F0E6FE5-B17A-42B9-9A44-DCF89B81043E}"/>
              </a:ext>
            </a:extLst>
          </p:cNvPr>
          <p:cNvSpPr txBox="1"/>
          <p:nvPr/>
        </p:nvSpPr>
        <p:spPr>
          <a:xfrm>
            <a:off x="3655569" y="4096456"/>
            <a:ext cx="2149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Volume de Feedback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C6DA04E-F738-4A7B-BA80-252717B62CAA}"/>
              </a:ext>
            </a:extLst>
          </p:cNvPr>
          <p:cNvSpPr txBox="1"/>
          <p:nvPr/>
        </p:nvSpPr>
        <p:spPr>
          <a:xfrm>
            <a:off x="3657174" y="4280917"/>
            <a:ext cx="25081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66</a:t>
            </a:r>
            <a:endParaRPr kumimoji="0" lang="pt-BR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49" name="Google Shape;3637;p53">
            <a:extLst>
              <a:ext uri="{FF2B5EF4-FFF2-40B4-BE49-F238E27FC236}">
                <a16:creationId xmlns:a16="http://schemas.microsoft.com/office/drawing/2014/main" id="{5F55345F-DD7D-4D97-A22E-8C6A53D2CE13}"/>
              </a:ext>
            </a:extLst>
          </p:cNvPr>
          <p:cNvGrpSpPr/>
          <p:nvPr/>
        </p:nvGrpSpPr>
        <p:grpSpPr>
          <a:xfrm>
            <a:off x="7446247" y="4184435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0" name="Google Shape;3638;p53">
              <a:extLst>
                <a:ext uri="{FF2B5EF4-FFF2-40B4-BE49-F238E27FC236}">
                  <a16:creationId xmlns:a16="http://schemas.microsoft.com/office/drawing/2014/main" id="{6E792E51-DF81-4979-B773-F615C8DC120C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Google Shape;3639;p53">
              <a:extLst>
                <a:ext uri="{FF2B5EF4-FFF2-40B4-BE49-F238E27FC236}">
                  <a16:creationId xmlns:a16="http://schemas.microsoft.com/office/drawing/2014/main" id="{19FDBECF-6FEE-4821-9285-1F80A438C8D0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Google Shape;3640;p53">
              <a:extLst>
                <a:ext uri="{FF2B5EF4-FFF2-40B4-BE49-F238E27FC236}">
                  <a16:creationId xmlns:a16="http://schemas.microsoft.com/office/drawing/2014/main" id="{C1914079-D4B5-4231-B503-B0017E60AC85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Google Shape;3641;p53">
              <a:extLst>
                <a:ext uri="{FF2B5EF4-FFF2-40B4-BE49-F238E27FC236}">
                  <a16:creationId xmlns:a16="http://schemas.microsoft.com/office/drawing/2014/main" id="{E63FD7C3-F576-41E5-8195-379E28F82DC0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Google Shape;3642;p53">
              <a:extLst>
                <a:ext uri="{FF2B5EF4-FFF2-40B4-BE49-F238E27FC236}">
                  <a16:creationId xmlns:a16="http://schemas.microsoft.com/office/drawing/2014/main" id="{2168DEE8-42A0-4A8E-BBD0-746835BDC4DA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Google Shape;3643;p53">
              <a:extLst>
                <a:ext uri="{FF2B5EF4-FFF2-40B4-BE49-F238E27FC236}">
                  <a16:creationId xmlns:a16="http://schemas.microsoft.com/office/drawing/2014/main" id="{751A078A-329B-42B3-ACE7-D5D03D0F90EE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Google Shape;3644;p53">
              <a:extLst>
                <a:ext uri="{FF2B5EF4-FFF2-40B4-BE49-F238E27FC236}">
                  <a16:creationId xmlns:a16="http://schemas.microsoft.com/office/drawing/2014/main" id="{AB869589-4FD0-4DAE-87C3-16B618BA7BFA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Google Shape;3645;p53">
              <a:extLst>
                <a:ext uri="{FF2B5EF4-FFF2-40B4-BE49-F238E27FC236}">
                  <a16:creationId xmlns:a16="http://schemas.microsoft.com/office/drawing/2014/main" id="{EE5BCDCB-AC0F-4F69-A95C-4B1B865D0205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Google Shape;3646;p53">
              <a:extLst>
                <a:ext uri="{FF2B5EF4-FFF2-40B4-BE49-F238E27FC236}">
                  <a16:creationId xmlns:a16="http://schemas.microsoft.com/office/drawing/2014/main" id="{3AA8BA00-0C5B-4CCC-9DFF-0B75C4860180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Google Shape;3647;p53">
              <a:extLst>
                <a:ext uri="{FF2B5EF4-FFF2-40B4-BE49-F238E27FC236}">
                  <a16:creationId xmlns:a16="http://schemas.microsoft.com/office/drawing/2014/main" id="{BAB53E3B-45F1-4AC8-B28D-AED515A90A19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Google Shape;3648;p53">
              <a:extLst>
                <a:ext uri="{FF2B5EF4-FFF2-40B4-BE49-F238E27FC236}">
                  <a16:creationId xmlns:a16="http://schemas.microsoft.com/office/drawing/2014/main" id="{6A8872E4-8E33-4935-B31D-692F17BC7464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Google Shape;3649;p53">
              <a:extLst>
                <a:ext uri="{FF2B5EF4-FFF2-40B4-BE49-F238E27FC236}">
                  <a16:creationId xmlns:a16="http://schemas.microsoft.com/office/drawing/2014/main" id="{C986010D-E52D-4E81-80D4-5A480B9E65D6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Google Shape;3650;p53">
              <a:extLst>
                <a:ext uri="{FF2B5EF4-FFF2-40B4-BE49-F238E27FC236}">
                  <a16:creationId xmlns:a16="http://schemas.microsoft.com/office/drawing/2014/main" id="{6F0AF0E7-F33F-439A-8903-55E54872F203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82527A-B164-4794-830B-92A3A7349125}"/>
              </a:ext>
            </a:extLst>
          </p:cNvPr>
          <p:cNvSpPr txBox="1"/>
          <p:nvPr/>
        </p:nvSpPr>
        <p:spPr>
          <a:xfrm>
            <a:off x="3142451" y="521410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DE2F8EFF-F33D-4250-8441-37B57FADC64A}"/>
              </a:ext>
            </a:extLst>
          </p:cNvPr>
          <p:cNvSpPr/>
          <p:nvPr/>
        </p:nvSpPr>
        <p:spPr>
          <a:xfrm>
            <a:off x="9528779" y="2516997"/>
            <a:ext cx="983649" cy="329956"/>
          </a:xfrm>
          <a:prstGeom prst="roundRect">
            <a:avLst/>
          </a:prstGeom>
          <a:solidFill>
            <a:srgbClr val="00B0F0">
              <a:alpha val="33000"/>
            </a:srgb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C02844A9-7651-4753-B295-E91FA142E752}"/>
              </a:ext>
            </a:extLst>
          </p:cNvPr>
          <p:cNvSpPr txBox="1"/>
          <p:nvPr/>
        </p:nvSpPr>
        <p:spPr>
          <a:xfrm>
            <a:off x="9869393" y="2604460"/>
            <a:ext cx="5862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92,34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B6AC2246-F4DE-4F0D-9991-D269E36B8956}"/>
              </a:ext>
            </a:extLst>
          </p:cNvPr>
          <p:cNvSpPr txBox="1"/>
          <p:nvPr/>
        </p:nvSpPr>
        <p:spPr>
          <a:xfrm>
            <a:off x="9731033" y="2502673"/>
            <a:ext cx="69393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Mês anterior </a:t>
            </a:r>
          </a:p>
        </p:txBody>
      </p:sp>
      <p:sp>
        <p:nvSpPr>
          <p:cNvPr id="72" name="Google Shape;2252;p50">
            <a:extLst>
              <a:ext uri="{FF2B5EF4-FFF2-40B4-BE49-F238E27FC236}">
                <a16:creationId xmlns:a16="http://schemas.microsoft.com/office/drawing/2014/main" id="{DC8ABE9C-FF66-4A29-BC5A-6ACA7897B022}"/>
              </a:ext>
            </a:extLst>
          </p:cNvPr>
          <p:cNvSpPr/>
          <p:nvPr/>
        </p:nvSpPr>
        <p:spPr>
          <a:xfrm>
            <a:off x="9630570" y="2649356"/>
            <a:ext cx="211300" cy="131628"/>
          </a:xfrm>
          <a:custGeom>
            <a:avLst/>
            <a:gdLst/>
            <a:ahLst/>
            <a:cxnLst/>
            <a:rect l="l" t="t" r="r" b="b"/>
            <a:pathLst>
              <a:path w="10419" h="6490" extrusionOk="0">
                <a:moveTo>
                  <a:pt x="2751" y="2905"/>
                </a:moveTo>
                <a:lnTo>
                  <a:pt x="2751" y="6191"/>
                </a:lnTo>
                <a:lnTo>
                  <a:pt x="1429" y="6191"/>
                </a:lnTo>
                <a:lnTo>
                  <a:pt x="1429" y="2905"/>
                </a:lnTo>
                <a:close/>
                <a:moveTo>
                  <a:pt x="5847" y="2084"/>
                </a:moveTo>
                <a:lnTo>
                  <a:pt x="5847" y="6191"/>
                </a:lnTo>
                <a:lnTo>
                  <a:pt x="4525" y="6191"/>
                </a:lnTo>
                <a:lnTo>
                  <a:pt x="4525" y="2084"/>
                </a:lnTo>
                <a:close/>
                <a:moveTo>
                  <a:pt x="8942" y="298"/>
                </a:moveTo>
                <a:lnTo>
                  <a:pt x="8942" y="6191"/>
                </a:lnTo>
                <a:lnTo>
                  <a:pt x="7609" y="6191"/>
                </a:lnTo>
                <a:lnTo>
                  <a:pt x="7609" y="298"/>
                </a:lnTo>
                <a:close/>
                <a:moveTo>
                  <a:pt x="7466" y="0"/>
                </a:moveTo>
                <a:cubicBezTo>
                  <a:pt x="7383" y="0"/>
                  <a:pt x="7323" y="72"/>
                  <a:pt x="7323" y="155"/>
                </a:cubicBezTo>
                <a:lnTo>
                  <a:pt x="7323" y="6191"/>
                </a:lnTo>
                <a:lnTo>
                  <a:pt x="6156" y="6191"/>
                </a:lnTo>
                <a:lnTo>
                  <a:pt x="6156" y="1941"/>
                </a:lnTo>
                <a:cubicBezTo>
                  <a:pt x="6156" y="1846"/>
                  <a:pt x="6085" y="1786"/>
                  <a:pt x="6013" y="1786"/>
                </a:cubicBezTo>
                <a:lnTo>
                  <a:pt x="4370" y="1786"/>
                </a:lnTo>
                <a:cubicBezTo>
                  <a:pt x="4287" y="1786"/>
                  <a:pt x="4227" y="1858"/>
                  <a:pt x="4227" y="1941"/>
                </a:cubicBezTo>
                <a:lnTo>
                  <a:pt x="4227" y="6191"/>
                </a:lnTo>
                <a:lnTo>
                  <a:pt x="3061" y="6191"/>
                </a:lnTo>
                <a:lnTo>
                  <a:pt x="3061" y="2751"/>
                </a:lnTo>
                <a:cubicBezTo>
                  <a:pt x="3061" y="2667"/>
                  <a:pt x="2989" y="2608"/>
                  <a:pt x="2918" y="2608"/>
                </a:cubicBezTo>
                <a:lnTo>
                  <a:pt x="1275" y="2608"/>
                </a:lnTo>
                <a:cubicBezTo>
                  <a:pt x="1191" y="2608"/>
                  <a:pt x="1132" y="2679"/>
                  <a:pt x="1132" y="2751"/>
                </a:cubicBezTo>
                <a:lnTo>
                  <a:pt x="1132" y="6191"/>
                </a:lnTo>
                <a:lnTo>
                  <a:pt x="144" y="6191"/>
                </a:lnTo>
                <a:cubicBezTo>
                  <a:pt x="60" y="6191"/>
                  <a:pt x="1" y="6263"/>
                  <a:pt x="1" y="6346"/>
                </a:cubicBezTo>
                <a:cubicBezTo>
                  <a:pt x="1" y="6430"/>
                  <a:pt x="72" y="6489"/>
                  <a:pt x="144" y="6489"/>
                </a:cubicBezTo>
                <a:lnTo>
                  <a:pt x="10264" y="6489"/>
                </a:lnTo>
                <a:cubicBezTo>
                  <a:pt x="10359" y="6489"/>
                  <a:pt x="10419" y="6418"/>
                  <a:pt x="10419" y="6346"/>
                </a:cubicBezTo>
                <a:cubicBezTo>
                  <a:pt x="10395" y="6251"/>
                  <a:pt x="10323" y="6191"/>
                  <a:pt x="10240" y="6191"/>
                </a:cubicBezTo>
                <a:lnTo>
                  <a:pt x="9252" y="6191"/>
                </a:lnTo>
                <a:lnTo>
                  <a:pt x="9252" y="155"/>
                </a:lnTo>
                <a:cubicBezTo>
                  <a:pt x="9252" y="60"/>
                  <a:pt x="9180" y="0"/>
                  <a:pt x="910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9143A6E9-6809-466E-8A9A-B26F01387941}"/>
              </a:ext>
            </a:extLst>
          </p:cNvPr>
          <p:cNvSpPr/>
          <p:nvPr/>
        </p:nvSpPr>
        <p:spPr>
          <a:xfrm>
            <a:off x="9531551" y="2979738"/>
            <a:ext cx="983649" cy="3299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BACBD4EB-8C45-4F25-8447-C28AE2745340}"/>
              </a:ext>
            </a:extLst>
          </p:cNvPr>
          <p:cNvSpPr txBox="1"/>
          <p:nvPr/>
        </p:nvSpPr>
        <p:spPr>
          <a:xfrm>
            <a:off x="9744377" y="3067693"/>
            <a:ext cx="745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-5,46</a:t>
            </a:r>
          </a:p>
        </p:txBody>
      </p:sp>
      <p:grpSp>
        <p:nvGrpSpPr>
          <p:cNvPr id="73" name="Google Shape;2139;p50">
            <a:extLst>
              <a:ext uri="{FF2B5EF4-FFF2-40B4-BE49-F238E27FC236}">
                <a16:creationId xmlns:a16="http://schemas.microsoft.com/office/drawing/2014/main" id="{CAE335B8-3CA4-4FF0-847E-A163EBF508F9}"/>
              </a:ext>
            </a:extLst>
          </p:cNvPr>
          <p:cNvGrpSpPr/>
          <p:nvPr/>
        </p:nvGrpSpPr>
        <p:grpSpPr>
          <a:xfrm>
            <a:off x="9617602" y="3057542"/>
            <a:ext cx="207026" cy="206636"/>
            <a:chOff x="1421638" y="4125629"/>
            <a:chExt cx="374709" cy="374010"/>
          </a:xfrm>
          <a:solidFill>
            <a:srgbClr val="FF0000"/>
          </a:solidFill>
        </p:grpSpPr>
        <p:sp>
          <p:nvSpPr>
            <p:cNvPr id="74" name="Google Shape;2140;p50">
              <a:extLst>
                <a:ext uri="{FF2B5EF4-FFF2-40B4-BE49-F238E27FC236}">
                  <a16:creationId xmlns:a16="http://schemas.microsoft.com/office/drawing/2014/main" id="{0E956040-C3F6-4F7E-B01D-AA0390AEA9DC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Google Shape;2141;p50">
              <a:extLst>
                <a:ext uri="{FF2B5EF4-FFF2-40B4-BE49-F238E27FC236}">
                  <a16:creationId xmlns:a16="http://schemas.microsoft.com/office/drawing/2014/main" id="{6213F634-69C5-45D1-B0CA-B369B824C994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396FFDF2-17CD-4FD1-A7F0-E53220611038}"/>
              </a:ext>
            </a:extLst>
          </p:cNvPr>
          <p:cNvSpPr txBox="1"/>
          <p:nvPr/>
        </p:nvSpPr>
        <p:spPr>
          <a:xfrm>
            <a:off x="9537069" y="2960020"/>
            <a:ext cx="9698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Queda</a:t>
            </a:r>
            <a:endParaRPr kumimoji="0" lang="pt-BR" sz="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2EEE25DB-99F5-4C8F-86C1-D827EA728EF2}"/>
              </a:ext>
            </a:extLst>
          </p:cNvPr>
          <p:cNvSpPr/>
          <p:nvPr/>
        </p:nvSpPr>
        <p:spPr>
          <a:xfrm>
            <a:off x="6301172" y="4270619"/>
            <a:ext cx="983649" cy="329956"/>
          </a:xfrm>
          <a:prstGeom prst="roundRect">
            <a:avLst/>
          </a:prstGeom>
          <a:solidFill>
            <a:srgbClr val="A7E1C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5CD1DE65-5668-42EC-8C03-D363DB0A175C}"/>
              </a:ext>
            </a:extLst>
          </p:cNvPr>
          <p:cNvSpPr txBox="1"/>
          <p:nvPr/>
        </p:nvSpPr>
        <p:spPr>
          <a:xfrm>
            <a:off x="6578992" y="4347816"/>
            <a:ext cx="6871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92" name="Google Shape;2139;p50">
            <a:extLst>
              <a:ext uri="{FF2B5EF4-FFF2-40B4-BE49-F238E27FC236}">
                <a16:creationId xmlns:a16="http://schemas.microsoft.com/office/drawing/2014/main" id="{5BFCF830-72A2-40BF-B938-0F06C6710D0B}"/>
              </a:ext>
            </a:extLst>
          </p:cNvPr>
          <p:cNvGrpSpPr/>
          <p:nvPr/>
        </p:nvGrpSpPr>
        <p:grpSpPr>
          <a:xfrm>
            <a:off x="6452216" y="4337665"/>
            <a:ext cx="207026" cy="206636"/>
            <a:chOff x="1421638" y="4125629"/>
            <a:chExt cx="374709" cy="374010"/>
          </a:xfrm>
          <a:solidFill>
            <a:srgbClr val="00B050"/>
          </a:solidFill>
        </p:grpSpPr>
        <p:sp>
          <p:nvSpPr>
            <p:cNvPr id="93" name="Google Shape;2140;p50">
              <a:extLst>
                <a:ext uri="{FF2B5EF4-FFF2-40B4-BE49-F238E27FC236}">
                  <a16:creationId xmlns:a16="http://schemas.microsoft.com/office/drawing/2014/main" id="{1F72AE8B-F832-47E2-9940-D5751A0FD10A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Google Shape;2141;p50">
              <a:extLst>
                <a:ext uri="{FF2B5EF4-FFF2-40B4-BE49-F238E27FC236}">
                  <a16:creationId xmlns:a16="http://schemas.microsoft.com/office/drawing/2014/main" id="{8A69BAD6-A7A3-49EB-847B-57F4FCFD09E1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5FAD3610-97DE-4BC5-9329-57B2739CA52D}"/>
              </a:ext>
            </a:extLst>
          </p:cNvPr>
          <p:cNvSpPr txBox="1"/>
          <p:nvPr/>
        </p:nvSpPr>
        <p:spPr>
          <a:xfrm>
            <a:off x="6626078" y="4240143"/>
            <a:ext cx="5862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Aplicação</a:t>
            </a:r>
          </a:p>
        </p:txBody>
      </p:sp>
      <p:pic>
        <p:nvPicPr>
          <p:cNvPr id="103" name="Imagem 102">
            <a:extLst>
              <a:ext uri="{FF2B5EF4-FFF2-40B4-BE49-F238E27FC236}">
                <a16:creationId xmlns:a16="http://schemas.microsoft.com/office/drawing/2014/main" id="{340E386D-CEBE-465A-A7DD-870028909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4BC249C8-6D99-41AA-9DF4-C7346BE7300F}"/>
              </a:ext>
            </a:extLst>
          </p:cNvPr>
          <p:cNvSpPr/>
          <p:nvPr/>
        </p:nvSpPr>
        <p:spPr>
          <a:xfrm>
            <a:off x="3585938" y="2960870"/>
            <a:ext cx="1909219" cy="329956"/>
          </a:xfrm>
          <a:prstGeom prst="roundRect">
            <a:avLst/>
          </a:prstGeom>
          <a:solidFill>
            <a:srgbClr val="A7E1C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D033A8CB-AE58-4046-AB8D-1237B9790F9F}"/>
              </a:ext>
            </a:extLst>
          </p:cNvPr>
          <p:cNvSpPr txBox="1"/>
          <p:nvPr/>
        </p:nvSpPr>
        <p:spPr>
          <a:xfrm>
            <a:off x="3573412" y="3010432"/>
            <a:ext cx="21035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monitorias justificadas</a:t>
            </a:r>
          </a:p>
        </p:txBody>
      </p:sp>
      <p:grpSp>
        <p:nvGrpSpPr>
          <p:cNvPr id="78" name="Google Shape;2139;p50">
            <a:extLst>
              <a:ext uri="{FF2B5EF4-FFF2-40B4-BE49-F238E27FC236}">
                <a16:creationId xmlns:a16="http://schemas.microsoft.com/office/drawing/2014/main" id="{15116786-50FA-4934-AD52-141856F4EB6F}"/>
              </a:ext>
            </a:extLst>
          </p:cNvPr>
          <p:cNvGrpSpPr/>
          <p:nvPr/>
        </p:nvGrpSpPr>
        <p:grpSpPr>
          <a:xfrm>
            <a:off x="3695195" y="3012379"/>
            <a:ext cx="207026" cy="206636"/>
            <a:chOff x="1421638" y="4125629"/>
            <a:chExt cx="374709" cy="374010"/>
          </a:xfrm>
          <a:solidFill>
            <a:srgbClr val="00B050"/>
          </a:solidFill>
        </p:grpSpPr>
        <p:sp>
          <p:nvSpPr>
            <p:cNvPr id="79" name="Google Shape;2140;p50">
              <a:extLst>
                <a:ext uri="{FF2B5EF4-FFF2-40B4-BE49-F238E27FC236}">
                  <a16:creationId xmlns:a16="http://schemas.microsoft.com/office/drawing/2014/main" id="{4A015BB4-EAB5-404A-AB62-2BA5A6A080F1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2141;p50">
              <a:extLst>
                <a:ext uri="{FF2B5EF4-FFF2-40B4-BE49-F238E27FC236}">
                  <a16:creationId xmlns:a16="http://schemas.microsoft.com/office/drawing/2014/main" id="{7C2C079B-8A2D-4488-9079-449FE511D757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C66EE9B-5C66-A635-0D21-790B567AAEC1}"/>
              </a:ext>
            </a:extLst>
          </p:cNvPr>
          <p:cNvSpPr/>
          <p:nvPr/>
        </p:nvSpPr>
        <p:spPr>
          <a:xfrm>
            <a:off x="5799872" y="5039953"/>
            <a:ext cx="1909219" cy="329956"/>
          </a:xfrm>
          <a:prstGeom prst="roundRect">
            <a:avLst/>
          </a:prstGeom>
          <a:solidFill>
            <a:srgbClr val="A7E1C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2" name="Google Shape;2139;p50">
            <a:extLst>
              <a:ext uri="{FF2B5EF4-FFF2-40B4-BE49-F238E27FC236}">
                <a16:creationId xmlns:a16="http://schemas.microsoft.com/office/drawing/2014/main" id="{D79A4844-954E-7DA5-F2D8-BFCC5C6F062D}"/>
              </a:ext>
            </a:extLst>
          </p:cNvPr>
          <p:cNvGrpSpPr/>
          <p:nvPr/>
        </p:nvGrpSpPr>
        <p:grpSpPr>
          <a:xfrm>
            <a:off x="5909129" y="5091462"/>
            <a:ext cx="207026" cy="206636"/>
            <a:chOff x="1421638" y="4125629"/>
            <a:chExt cx="374709" cy="374010"/>
          </a:xfrm>
          <a:solidFill>
            <a:srgbClr val="00B050"/>
          </a:solidFill>
        </p:grpSpPr>
        <p:sp>
          <p:nvSpPr>
            <p:cNvPr id="13" name="Google Shape;2140;p50">
              <a:extLst>
                <a:ext uri="{FF2B5EF4-FFF2-40B4-BE49-F238E27FC236}">
                  <a16:creationId xmlns:a16="http://schemas.microsoft.com/office/drawing/2014/main" id="{1D811D47-135D-C030-A24A-DEC2699E5222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2141;p50">
              <a:extLst>
                <a:ext uri="{FF2B5EF4-FFF2-40B4-BE49-F238E27FC236}">
                  <a16:creationId xmlns:a16="http://schemas.microsoft.com/office/drawing/2014/main" id="{2A19A837-5DF9-DFFD-E7F1-14EE94F6245F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CBD0DF4-C6DE-25D3-E6EC-C2966AC0CA52}"/>
              </a:ext>
            </a:extLst>
          </p:cNvPr>
          <p:cNvSpPr txBox="1"/>
          <p:nvPr/>
        </p:nvSpPr>
        <p:spPr>
          <a:xfrm>
            <a:off x="6065085" y="5102993"/>
            <a:ext cx="16056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feedbacks justificados</a:t>
            </a:r>
          </a:p>
        </p:txBody>
      </p:sp>
    </p:spTree>
    <p:extLst>
      <p:ext uri="{BB962C8B-B14F-4D97-AF65-F5344CB8AC3E}">
        <p14:creationId xmlns:p14="http://schemas.microsoft.com/office/powerpoint/2010/main" val="2210426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18521" y="4681854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VISÃO POR CICLOS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Gráfico 103">
            <a:extLst>
              <a:ext uri="{FF2B5EF4-FFF2-40B4-BE49-F238E27FC236}">
                <a16:creationId xmlns:a16="http://schemas.microsoft.com/office/drawing/2014/main" id="{7F29A529-8C89-46A4-A733-2C6C8EC952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5015339"/>
              </p:ext>
            </p:extLst>
          </p:nvPr>
        </p:nvGraphicFramePr>
        <p:xfrm>
          <a:off x="1147712" y="2006930"/>
          <a:ext cx="4157940" cy="1757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C6473394-799A-44A9-BA31-CF46E95925AD}"/>
              </a:ext>
            </a:extLst>
          </p:cNvPr>
          <p:cNvSpPr txBox="1"/>
          <p:nvPr/>
        </p:nvSpPr>
        <p:spPr>
          <a:xfrm>
            <a:off x="1294993" y="1638285"/>
            <a:ext cx="375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Volume de Monitorias </a:t>
            </a:r>
          </a:p>
        </p:txBody>
      </p:sp>
      <p:graphicFrame>
        <p:nvGraphicFramePr>
          <p:cNvPr id="106" name="Tabela 105">
            <a:extLst>
              <a:ext uri="{FF2B5EF4-FFF2-40B4-BE49-F238E27FC236}">
                <a16:creationId xmlns:a16="http://schemas.microsoft.com/office/drawing/2014/main" id="{7DDD1E95-3CD5-466E-99A8-89970A230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879703"/>
              </p:ext>
            </p:extLst>
          </p:nvPr>
        </p:nvGraphicFramePr>
        <p:xfrm>
          <a:off x="1430643" y="4742118"/>
          <a:ext cx="3875010" cy="63516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91670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291670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1291670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qualidade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supervisão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Margem de erro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E66C4CB9-9CD9-49E1-8372-BBBB577F2680}"/>
              </a:ext>
            </a:extLst>
          </p:cNvPr>
          <p:cNvCxnSpPr>
            <a:cxnSpLocks/>
          </p:cNvCxnSpPr>
          <p:nvPr/>
        </p:nvCxnSpPr>
        <p:spPr>
          <a:xfrm>
            <a:off x="6096000" y="1848607"/>
            <a:ext cx="34403" cy="37287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Gráfico 25">
            <a:extLst>
              <a:ext uri="{FF2B5EF4-FFF2-40B4-BE49-F238E27FC236}">
                <a16:creationId xmlns:a16="http://schemas.microsoft.com/office/drawing/2014/main" id="{CE1C9029-2899-4182-87BA-4652FFBC28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1278633"/>
              </p:ext>
            </p:extLst>
          </p:nvPr>
        </p:nvGraphicFramePr>
        <p:xfrm>
          <a:off x="6858000" y="2022809"/>
          <a:ext cx="4157940" cy="1757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7" name="CaixaDeTexto 26">
            <a:extLst>
              <a:ext uri="{FF2B5EF4-FFF2-40B4-BE49-F238E27FC236}">
                <a16:creationId xmlns:a16="http://schemas.microsoft.com/office/drawing/2014/main" id="{6C361242-B178-4979-B54C-68D4AAA5711A}"/>
              </a:ext>
            </a:extLst>
          </p:cNvPr>
          <p:cNvSpPr txBox="1"/>
          <p:nvPr/>
        </p:nvSpPr>
        <p:spPr>
          <a:xfrm>
            <a:off x="6927804" y="1635312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Classificação das Monitorias </a:t>
            </a:r>
          </a:p>
        </p:txBody>
      </p:sp>
      <p:graphicFrame>
        <p:nvGraphicFramePr>
          <p:cNvPr id="28" name="Tabela 27">
            <a:extLst>
              <a:ext uri="{FF2B5EF4-FFF2-40B4-BE49-F238E27FC236}">
                <a16:creationId xmlns:a16="http://schemas.microsoft.com/office/drawing/2014/main" id="{B7DEE6CE-3286-4828-8325-E256C5CEF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007865"/>
              </p:ext>
            </p:extLst>
          </p:nvPr>
        </p:nvGraphicFramePr>
        <p:xfrm>
          <a:off x="7005281" y="4064594"/>
          <a:ext cx="3822477" cy="68776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7415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NCG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Excelência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95986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(11,76%)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(13,24%)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 (75%)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6A7033CE-8E82-41A8-9F6A-4D6F557D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33878"/>
              </p:ext>
            </p:extLst>
          </p:nvPr>
        </p:nvGraphicFramePr>
        <p:xfrm>
          <a:off x="6954107" y="5088122"/>
          <a:ext cx="3822476" cy="97854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5619">
                  <a:extLst>
                    <a:ext uri="{9D8B030D-6E8A-4147-A177-3AD203B41FA5}">
                      <a16:colId xmlns:a16="http://schemas.microsoft.com/office/drawing/2014/main" val="1531427166"/>
                    </a:ext>
                  </a:extLst>
                </a:gridCol>
                <a:gridCol w="95561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95561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95561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Excelência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NCG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Operação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 (74,19%)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(19,36%)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(6,45%)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810871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Qualidade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 (75,68%)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(8,11%)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(16,22%)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21114"/>
                  </a:ext>
                </a:extLst>
              </a:tr>
            </a:tbl>
          </a:graphicData>
        </a:graphic>
      </p:graphicFrame>
      <p:pic>
        <p:nvPicPr>
          <p:cNvPr id="31" name="Imagem 30">
            <a:extLst>
              <a:ext uri="{FF2B5EF4-FFF2-40B4-BE49-F238E27FC236}">
                <a16:creationId xmlns:a16="http://schemas.microsoft.com/office/drawing/2014/main" id="{936DF459-A481-4909-B847-906691B7E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E3F7753-E6FA-6CFB-2137-134C7C5E5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72307"/>
              </p:ext>
            </p:extLst>
          </p:nvPr>
        </p:nvGraphicFramePr>
        <p:xfrm>
          <a:off x="1430643" y="3834928"/>
          <a:ext cx="3867956" cy="63516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6698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1961687730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sp>
        <p:nvSpPr>
          <p:cNvPr id="5" name="Título 1">
            <a:extLst>
              <a:ext uri="{FF2B5EF4-FFF2-40B4-BE49-F238E27FC236}">
                <a16:creationId xmlns:a16="http://schemas.microsoft.com/office/drawing/2014/main" id="{0EF53F4E-7C85-0060-9BF7-77E3BD718114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RECLAME AQUI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BB11239F-7DA4-4F6C-9686-4F51B4915DC1}"/>
              </a:ext>
            </a:extLst>
          </p:cNvPr>
          <p:cNvSpPr/>
          <p:nvPr/>
        </p:nvSpPr>
        <p:spPr>
          <a:xfrm>
            <a:off x="1294993" y="5564775"/>
            <a:ext cx="4402601" cy="93155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Google Shape;2124;p50">
            <a:extLst>
              <a:ext uri="{FF2B5EF4-FFF2-40B4-BE49-F238E27FC236}">
                <a16:creationId xmlns:a16="http://schemas.microsoft.com/office/drawing/2014/main" id="{8C65C4B0-4342-4CA0-9DEB-C5F29D39F62F}"/>
              </a:ext>
            </a:extLst>
          </p:cNvPr>
          <p:cNvGrpSpPr/>
          <p:nvPr/>
        </p:nvGrpSpPr>
        <p:grpSpPr>
          <a:xfrm>
            <a:off x="1430643" y="5589055"/>
            <a:ext cx="286337" cy="286644"/>
            <a:chOff x="4673540" y="3680297"/>
            <a:chExt cx="355434" cy="355815"/>
          </a:xfrm>
        </p:grpSpPr>
        <p:sp>
          <p:nvSpPr>
            <p:cNvPr id="34" name="Google Shape;2125;p50">
              <a:extLst>
                <a:ext uri="{FF2B5EF4-FFF2-40B4-BE49-F238E27FC236}">
                  <a16:creationId xmlns:a16="http://schemas.microsoft.com/office/drawing/2014/main" id="{9997BB21-D558-477E-A282-6CF498264404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Google Shape;2126;p50">
              <a:extLst>
                <a:ext uri="{FF2B5EF4-FFF2-40B4-BE49-F238E27FC236}">
                  <a16:creationId xmlns:a16="http://schemas.microsoft.com/office/drawing/2014/main" id="{72F7301A-1878-4D34-92D9-3189984F9EA9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Google Shape;2127;p50">
              <a:extLst>
                <a:ext uri="{FF2B5EF4-FFF2-40B4-BE49-F238E27FC236}">
                  <a16:creationId xmlns:a16="http://schemas.microsoft.com/office/drawing/2014/main" id="{8635936C-ED6B-4BA0-954A-29E13BFE494A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844A085-A187-48CA-AC46-9833C33B1434}"/>
              </a:ext>
            </a:extLst>
          </p:cNvPr>
          <p:cNvSpPr txBox="1"/>
          <p:nvPr/>
        </p:nvSpPr>
        <p:spPr>
          <a:xfrm>
            <a:off x="1716957" y="5462139"/>
            <a:ext cx="43446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sz="1200" dirty="0"/>
              <a:t>Os ciclos apresentaram </a:t>
            </a:r>
            <a:r>
              <a:rPr lang="pt-BR" sz="1200" b="1" dirty="0"/>
              <a:t>evolução no volume de monitorias</a:t>
            </a:r>
            <a:r>
              <a:rPr lang="pt-BR" sz="1200" dirty="0"/>
              <a:t>, com maior equilíbrio entre Qualidade e Operação nos </a:t>
            </a:r>
            <a:r>
              <a:rPr lang="pt-BR" sz="1200" b="1" dirty="0"/>
              <a:t>3º e 4º ciclos</a:t>
            </a:r>
            <a:r>
              <a:rPr lang="pt-BR" sz="1200" dirty="0"/>
              <a:t>. No consolidado, foram realizadas </a:t>
            </a:r>
            <a:r>
              <a:rPr lang="pt-BR" sz="1200" b="1" dirty="0"/>
              <a:t>37 monitorias pela Qualidade e 31 pela </a:t>
            </a:r>
            <a:r>
              <a:rPr lang="pt-BR" sz="1200" b="1" dirty="0" err="1"/>
              <a:t>Supervisão</a:t>
            </a:r>
            <a:r>
              <a:rPr lang="pt-BR" sz="1200" dirty="0" err="1"/>
              <a:t>.O</a:t>
            </a:r>
            <a:r>
              <a:rPr lang="pt-BR" sz="1200" dirty="0"/>
              <a:t> principal impacto ocorreu nos </a:t>
            </a:r>
            <a:r>
              <a:rPr lang="pt-BR" sz="1200" b="1" dirty="0"/>
              <a:t>1º e 2º ciclos</a:t>
            </a:r>
            <a:r>
              <a:rPr lang="pt-BR" sz="1200" dirty="0"/>
              <a:t>, devido à realização parcial das monitorias pela operação.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167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18521" y="4681854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MÉDIA DO CANAL 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751BA167-80F5-4834-A5C7-E8ED41135E2E}"/>
              </a:ext>
            </a:extLst>
          </p:cNvPr>
          <p:cNvSpPr txBox="1"/>
          <p:nvPr/>
        </p:nvSpPr>
        <p:spPr>
          <a:xfrm>
            <a:off x="1549613" y="1890202"/>
            <a:ext cx="372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Médias por ciclos </a:t>
            </a:r>
          </a:p>
        </p:txBody>
      </p:sp>
      <p:graphicFrame>
        <p:nvGraphicFramePr>
          <p:cNvPr id="114" name="Gráfico 113">
            <a:extLst>
              <a:ext uri="{FF2B5EF4-FFF2-40B4-BE49-F238E27FC236}">
                <a16:creationId xmlns:a16="http://schemas.microsoft.com/office/drawing/2014/main" id="{7D3C7095-828E-4C06-BD03-D01C402F70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1705631"/>
              </p:ext>
            </p:extLst>
          </p:nvPr>
        </p:nvGraphicFramePr>
        <p:xfrm>
          <a:off x="1330893" y="2445001"/>
          <a:ext cx="4157940" cy="1533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5" name="Gráfico 114">
            <a:extLst>
              <a:ext uri="{FF2B5EF4-FFF2-40B4-BE49-F238E27FC236}">
                <a16:creationId xmlns:a16="http://schemas.microsoft.com/office/drawing/2014/main" id="{E2098B98-DBDA-4BD6-9D64-5C4C6FDA77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2568239"/>
              </p:ext>
            </p:extLst>
          </p:nvPr>
        </p:nvGraphicFramePr>
        <p:xfrm>
          <a:off x="6737570" y="2267512"/>
          <a:ext cx="4157940" cy="1908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CaixaDeTexto 30">
            <a:extLst>
              <a:ext uri="{FF2B5EF4-FFF2-40B4-BE49-F238E27FC236}">
                <a16:creationId xmlns:a16="http://schemas.microsoft.com/office/drawing/2014/main" id="{8351364F-9B64-4F08-9C15-EDDFE9AC06B3}"/>
              </a:ext>
            </a:extLst>
          </p:cNvPr>
          <p:cNvSpPr txBox="1"/>
          <p:nvPr/>
        </p:nvSpPr>
        <p:spPr>
          <a:xfrm>
            <a:off x="7072510" y="1863435"/>
            <a:ext cx="372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Operação vs. Qualidade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978C618-01F7-4633-A987-CCB8366D669E}"/>
              </a:ext>
            </a:extLst>
          </p:cNvPr>
          <p:cNvCxnSpPr>
            <a:cxnSpLocks/>
          </p:cNvCxnSpPr>
          <p:nvPr/>
        </p:nvCxnSpPr>
        <p:spPr>
          <a:xfrm>
            <a:off x="6225549" y="1890202"/>
            <a:ext cx="0" cy="380466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CA246E3-A58F-4C82-BA91-182CC17EEF1B}"/>
              </a:ext>
            </a:extLst>
          </p:cNvPr>
          <p:cNvSpPr/>
          <p:nvPr/>
        </p:nvSpPr>
        <p:spPr>
          <a:xfrm>
            <a:off x="1346594" y="4446049"/>
            <a:ext cx="4402601" cy="16955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4" name="Google Shape;2124;p50">
            <a:extLst>
              <a:ext uri="{FF2B5EF4-FFF2-40B4-BE49-F238E27FC236}">
                <a16:creationId xmlns:a16="http://schemas.microsoft.com/office/drawing/2014/main" id="{17C5FCEA-434A-4F2E-BC13-08F9AFE06D99}"/>
              </a:ext>
            </a:extLst>
          </p:cNvPr>
          <p:cNvGrpSpPr/>
          <p:nvPr/>
        </p:nvGrpSpPr>
        <p:grpSpPr>
          <a:xfrm>
            <a:off x="1482244" y="4562393"/>
            <a:ext cx="286337" cy="286644"/>
            <a:chOff x="4673540" y="3680297"/>
            <a:chExt cx="355434" cy="355815"/>
          </a:xfrm>
          <a:solidFill>
            <a:srgbClr val="00B050"/>
          </a:solidFill>
        </p:grpSpPr>
        <p:sp>
          <p:nvSpPr>
            <p:cNvPr id="35" name="Google Shape;2125;p50">
              <a:extLst>
                <a:ext uri="{FF2B5EF4-FFF2-40B4-BE49-F238E27FC236}">
                  <a16:creationId xmlns:a16="http://schemas.microsoft.com/office/drawing/2014/main" id="{57941490-D7F8-44DD-8C76-50E34A26D7AC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grpFill/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Google Shape;2126;p50">
              <a:extLst>
                <a:ext uri="{FF2B5EF4-FFF2-40B4-BE49-F238E27FC236}">
                  <a16:creationId xmlns:a16="http://schemas.microsoft.com/office/drawing/2014/main" id="{FB819ACD-0C88-49C3-AC06-83FEF3198520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grpFill/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Google Shape;2127;p50">
              <a:extLst>
                <a:ext uri="{FF2B5EF4-FFF2-40B4-BE49-F238E27FC236}">
                  <a16:creationId xmlns:a16="http://schemas.microsoft.com/office/drawing/2014/main" id="{2335789A-9329-4B97-9ED7-E399CF29441E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grpFill/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6" name="Imagem 45">
            <a:extLst>
              <a:ext uri="{FF2B5EF4-FFF2-40B4-BE49-F238E27FC236}">
                <a16:creationId xmlns:a16="http://schemas.microsoft.com/office/drawing/2014/main" id="{36C2CBE4-6A41-4107-948B-498529598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11BBEA-67CA-9E71-E7E7-340588F8FA6D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RECLAME AQUI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F600FBD-A1C1-C1B4-CEC5-734031ED45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13711"/>
              </p:ext>
            </p:extLst>
          </p:nvPr>
        </p:nvGraphicFramePr>
        <p:xfrm>
          <a:off x="7030772" y="4598850"/>
          <a:ext cx="3803976" cy="97854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67992">
                  <a:extLst>
                    <a:ext uri="{9D8B030D-6E8A-4147-A177-3AD203B41FA5}">
                      <a16:colId xmlns:a16="http://schemas.microsoft.com/office/drawing/2014/main" val="1531427166"/>
                    </a:ext>
                  </a:extLst>
                </a:gridCol>
                <a:gridCol w="1267992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267992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Média Final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Margem de Erro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Operação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91,42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8,34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810871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Qualidade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83,08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21114"/>
                  </a:ext>
                </a:extLst>
              </a:tr>
            </a:tbl>
          </a:graphicData>
        </a:graphic>
      </p:graphicFrame>
      <p:sp>
        <p:nvSpPr>
          <p:cNvPr id="27" name="CaixaDeTexto 26">
            <a:extLst>
              <a:ext uri="{FF2B5EF4-FFF2-40B4-BE49-F238E27FC236}">
                <a16:creationId xmlns:a16="http://schemas.microsoft.com/office/drawing/2014/main" id="{3471E2C1-E871-4B04-A4D5-5503CF9D0ECE}"/>
              </a:ext>
            </a:extLst>
          </p:cNvPr>
          <p:cNvSpPr txBox="1"/>
          <p:nvPr/>
        </p:nvSpPr>
        <p:spPr>
          <a:xfrm>
            <a:off x="1772876" y="4619269"/>
            <a:ext cx="4193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sz="1200" dirty="0"/>
              <a:t>Os ciclos apresentaram </a:t>
            </a:r>
            <a:r>
              <a:rPr lang="pt-BR" sz="1200" b="1" dirty="0"/>
              <a:t>oscilações na performance, impactadas principalmente pela ocorrência de notas zero</a:t>
            </a:r>
            <a:r>
              <a:rPr lang="pt-BR" sz="1200" dirty="0"/>
              <a:t>. Após o melhor resultado no </a:t>
            </a:r>
            <a:r>
              <a:rPr lang="pt-BR" sz="1200" b="1" dirty="0"/>
              <a:t>2º ciclo (97,48%)</a:t>
            </a:r>
            <a:r>
              <a:rPr lang="pt-BR" sz="1200" dirty="0"/>
              <a:t>, houve queda no </a:t>
            </a:r>
            <a:r>
              <a:rPr lang="pt-BR" sz="1200" b="1" dirty="0"/>
              <a:t>3º ciclo (81,89%)</a:t>
            </a:r>
            <a:r>
              <a:rPr lang="pt-BR" sz="1200" dirty="0"/>
              <a:t>, seguida de leve recuperação no </a:t>
            </a:r>
            <a:r>
              <a:rPr lang="pt-BR" sz="1200" b="1" dirty="0"/>
              <a:t>4º ciclo (84,35%)</a:t>
            </a:r>
            <a:r>
              <a:rPr lang="pt-BR" sz="1200" dirty="0"/>
              <a:t>.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373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PONTOS OFENSORES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E459499-C8E1-4C45-B0E3-1FB3AEB91E77}"/>
              </a:ext>
            </a:extLst>
          </p:cNvPr>
          <p:cNvSpPr txBox="1"/>
          <p:nvPr/>
        </p:nvSpPr>
        <p:spPr>
          <a:xfrm>
            <a:off x="2090526" y="1656580"/>
            <a:ext cx="8899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Pontos Ofensores </a:t>
            </a:r>
          </a:p>
        </p:txBody>
      </p:sp>
      <p:graphicFrame>
        <p:nvGraphicFramePr>
          <p:cNvPr id="37" name="Gráfico 36">
            <a:extLst>
              <a:ext uri="{FF2B5EF4-FFF2-40B4-BE49-F238E27FC236}">
                <a16:creationId xmlns:a16="http://schemas.microsoft.com/office/drawing/2014/main" id="{FF23FD38-007D-4F79-919D-26FFBFCC25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3701850"/>
              </p:ext>
            </p:extLst>
          </p:nvPr>
        </p:nvGraphicFramePr>
        <p:xfrm>
          <a:off x="1366068" y="2113794"/>
          <a:ext cx="10147789" cy="3699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7" name="Imagem 16">
            <a:extLst>
              <a:ext uri="{FF2B5EF4-FFF2-40B4-BE49-F238E27FC236}">
                <a16:creationId xmlns:a16="http://schemas.microsoft.com/office/drawing/2014/main" id="{E9D25BA6-8511-4D82-971E-D19E05650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827F2B-2369-F3DF-131A-F546815C4593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RECLAME AQUI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A9197F-8A12-837F-01F7-BA29E01A6465}"/>
              </a:ext>
            </a:extLst>
          </p:cNvPr>
          <p:cNvSpPr txBox="1"/>
          <p:nvPr/>
        </p:nvSpPr>
        <p:spPr>
          <a:xfrm>
            <a:off x="11398153" y="1276940"/>
            <a:ext cx="994913" cy="3920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4,5%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4,5%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4,5%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4,5%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4,5%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13,6%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13,6%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18,2%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31,8%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701DEFD-921A-71F8-08B4-17EDF53B9356}"/>
              </a:ext>
            </a:extLst>
          </p:cNvPr>
          <p:cNvSpPr txBox="1">
            <a:spLocks/>
          </p:cNvSpPr>
          <p:nvPr/>
        </p:nvSpPr>
        <p:spPr>
          <a:xfrm>
            <a:off x="8251372" y="5948511"/>
            <a:ext cx="3594148" cy="3777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9E2289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pt-BR" sz="1000" b="0" i="0" u="none" strike="noStrike" kern="1200" cap="none" spc="3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Total Apontamentos:22</a:t>
            </a:r>
            <a:endParaRPr kumimoji="0" lang="pt-BR" sz="1600" b="0" i="0" u="none" strike="noStrike" kern="1200" cap="none" spc="30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0521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258E9-F956-3C97-5C05-65EF4013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96A7A71-4CEA-2ED8-54F6-18B84514D337}"/>
              </a:ext>
            </a:extLst>
          </p:cNvPr>
          <p:cNvSpPr/>
          <p:nvPr/>
        </p:nvSpPr>
        <p:spPr>
          <a:xfrm>
            <a:off x="3691452" y="4366224"/>
            <a:ext cx="5154836" cy="21070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6BD7C4B-0D98-5DEF-D3DA-5B935470007D}"/>
              </a:ext>
            </a:extLst>
          </p:cNvPr>
          <p:cNvSpPr/>
          <p:nvPr/>
        </p:nvSpPr>
        <p:spPr>
          <a:xfrm>
            <a:off x="6520598" y="1775631"/>
            <a:ext cx="4847987" cy="21070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5B0B1B5-CA83-3BA3-ABBF-BD75AA5153E9}"/>
              </a:ext>
            </a:extLst>
          </p:cNvPr>
          <p:cNvSpPr/>
          <p:nvPr/>
        </p:nvSpPr>
        <p:spPr>
          <a:xfrm>
            <a:off x="1025019" y="1763267"/>
            <a:ext cx="4735867" cy="21070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E14C4A75-F48D-7F38-EE7C-9245B610AAE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F4AE439B-4BF8-66C7-6861-5B7CB09B93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CDE78154-99DC-8200-6C3F-85385362C608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FB3B67D-E0AC-7B1E-93D5-D9E5B5A34017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147A66F9-C1C8-C7E7-7F6E-FA7FE2ED7DFC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89AE7D0D-1E3E-9BD2-5C89-73B355C770B5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B4EEB67B-75BD-DC35-1215-DBBBC0600686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Título 1">
            <a:extLst>
              <a:ext uri="{FF2B5EF4-FFF2-40B4-BE49-F238E27FC236}">
                <a16:creationId xmlns:a16="http://schemas.microsoft.com/office/drawing/2014/main" id="{BC58E636-11D6-A5C9-B356-856CCE9AAF49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A0D9576F-50E9-C93C-7244-CD797428EED2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DFD43AF-D5D1-1A7F-06B1-762722F5BACB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31037CAF-70A5-93DE-ADA1-18757953778E}"/>
              </a:ext>
            </a:extLst>
          </p:cNvPr>
          <p:cNvSpPr txBox="1"/>
          <p:nvPr/>
        </p:nvSpPr>
        <p:spPr>
          <a:xfrm>
            <a:off x="7078155" y="1620502"/>
            <a:ext cx="366063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Informação / Procedimento Incorreto: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60CD3B-3A81-C60C-3D0F-1FD5DE6AC872}"/>
              </a:ext>
            </a:extLst>
          </p:cNvPr>
          <p:cNvSpPr txBox="1"/>
          <p:nvPr/>
        </p:nvSpPr>
        <p:spPr>
          <a:xfrm>
            <a:off x="1431436" y="1336969"/>
            <a:ext cx="60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Análises dos Pontos Ofensores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DACCB53A-839A-FA05-6705-B2A5F3AB12D9}"/>
              </a:ext>
            </a:extLst>
          </p:cNvPr>
          <p:cNvSpPr txBox="1"/>
          <p:nvPr/>
        </p:nvSpPr>
        <p:spPr>
          <a:xfrm>
            <a:off x="1453209" y="1620502"/>
            <a:ext cx="32874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Tabulação: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8051BA38-BCBA-8DB0-145B-7594A70E8B0E}"/>
              </a:ext>
            </a:extLst>
          </p:cNvPr>
          <p:cNvSpPr txBox="1"/>
          <p:nvPr/>
        </p:nvSpPr>
        <p:spPr>
          <a:xfrm>
            <a:off x="4447909" y="4235339"/>
            <a:ext cx="3287486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Erros de gramatica e digitação: </a:t>
            </a:r>
            <a:endParaRPr kumimoji="0" lang="pt-BR" sz="1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F6E85F8-AFC2-C696-42CF-F5FB2706E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AF7440A-5DD1-BD7B-A0B9-4A50CE0CFE56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95441A79-67AD-11D8-3D75-1937C8BD00F0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RECLAME AQUI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5D2DF3A-4ADD-F022-7DE0-10BB93118A8A}"/>
              </a:ext>
            </a:extLst>
          </p:cNvPr>
          <p:cNvSpPr txBox="1"/>
          <p:nvPr/>
        </p:nvSpPr>
        <p:spPr>
          <a:xfrm>
            <a:off x="1198997" y="2134335"/>
            <a:ext cx="43047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principais pontos de atenção estão relacionados à necessidade de maior assertividade na escolha da tabulação e ao correto preenchimento dos campos complementares. É importante diferenciar situações de conceito, pagamento dentro do prazo, solicitação de inibição, erro ao pagar e demais motivos específicos, evitando classificações genéricas.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D95627D-5AA6-68F5-8B9C-AB455F64E639}"/>
              </a:ext>
            </a:extLst>
          </p:cNvPr>
          <p:cNvSpPr txBox="1"/>
          <p:nvPr/>
        </p:nvSpPr>
        <p:spPr>
          <a:xfrm>
            <a:off x="6763830" y="2114626"/>
            <a:ext cx="4304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principais pontos de atenção estão relacionados à necessidade de uma sondagem mais completa e à utilização adequada das ferramentas disponíveis antes da definição da tratativa. É fundamental consultar o Super Admin, verificar o ticket original em casos de réplica e analisar as evidências encaminhadas pelo consumidor.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4F397D6-4B03-B77D-88EF-16680ACD191A}"/>
              </a:ext>
            </a:extLst>
          </p:cNvPr>
          <p:cNvSpPr txBox="1"/>
          <p:nvPr/>
        </p:nvSpPr>
        <p:spPr>
          <a:xfrm>
            <a:off x="3926315" y="5185013"/>
            <a:ext cx="4304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principais pontos de atenção estão relacionados à conferência e personalização das informações antes do envio da resposta.</a:t>
            </a:r>
          </a:p>
        </p:txBody>
      </p:sp>
    </p:spTree>
    <p:extLst>
      <p:ext uri="{BB962C8B-B14F-4D97-AF65-F5344CB8AC3E}">
        <p14:creationId xmlns:p14="http://schemas.microsoft.com/office/powerpoint/2010/main" val="3286150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APLICAÇÃO DE FEEDBACKS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F530EC9-E21D-4CE2-9C84-D2A18F828C6C}"/>
              </a:ext>
            </a:extLst>
          </p:cNvPr>
          <p:cNvCxnSpPr>
            <a:cxnSpLocks/>
          </p:cNvCxnSpPr>
          <p:nvPr/>
        </p:nvCxnSpPr>
        <p:spPr>
          <a:xfrm>
            <a:off x="5929215" y="1848607"/>
            <a:ext cx="34403" cy="37287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Gráfico 29">
            <a:extLst>
              <a:ext uri="{FF2B5EF4-FFF2-40B4-BE49-F238E27FC236}">
                <a16:creationId xmlns:a16="http://schemas.microsoft.com/office/drawing/2014/main" id="{71DC83F7-0B9A-49E0-8FF4-1656C753BD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9503653"/>
              </p:ext>
            </p:extLst>
          </p:nvPr>
        </p:nvGraphicFramePr>
        <p:xfrm>
          <a:off x="6521594" y="1625248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CaixaDeTexto 30">
            <a:extLst>
              <a:ext uri="{FF2B5EF4-FFF2-40B4-BE49-F238E27FC236}">
                <a16:creationId xmlns:a16="http://schemas.microsoft.com/office/drawing/2014/main" id="{82A0E21E-D797-4B82-AA4B-7C5E92F466F2}"/>
              </a:ext>
            </a:extLst>
          </p:cNvPr>
          <p:cNvSpPr txBox="1"/>
          <p:nvPr/>
        </p:nvSpPr>
        <p:spPr>
          <a:xfrm>
            <a:off x="7034775" y="1697194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Cumprimento do SLA(%) - NCG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17A71CF-78F9-4EE7-A121-79E5C8E39F2B}"/>
              </a:ext>
            </a:extLst>
          </p:cNvPr>
          <p:cNvSpPr txBox="1"/>
          <p:nvPr/>
        </p:nvSpPr>
        <p:spPr>
          <a:xfrm>
            <a:off x="1418916" y="1774955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Cumprimento do SLA(%) – NC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30A12FB-989E-42A9-A3F0-B8234CB2550E}"/>
              </a:ext>
            </a:extLst>
          </p:cNvPr>
          <p:cNvSpPr/>
          <p:nvPr/>
        </p:nvSpPr>
        <p:spPr>
          <a:xfrm>
            <a:off x="1198996" y="4328581"/>
            <a:ext cx="4402601" cy="12488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48B36F2A-D988-4E04-8C57-90B32EEB49F2}"/>
              </a:ext>
            </a:extLst>
          </p:cNvPr>
          <p:cNvSpPr/>
          <p:nvPr/>
        </p:nvSpPr>
        <p:spPr>
          <a:xfrm>
            <a:off x="6732902" y="4328581"/>
            <a:ext cx="4402601" cy="106468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oogle Shape;2124;p50">
            <a:extLst>
              <a:ext uri="{FF2B5EF4-FFF2-40B4-BE49-F238E27FC236}">
                <a16:creationId xmlns:a16="http://schemas.microsoft.com/office/drawing/2014/main" id="{BA21E970-1083-4D19-A248-A58FF28D0D8C}"/>
              </a:ext>
            </a:extLst>
          </p:cNvPr>
          <p:cNvGrpSpPr/>
          <p:nvPr/>
        </p:nvGrpSpPr>
        <p:grpSpPr>
          <a:xfrm>
            <a:off x="1334646" y="4444924"/>
            <a:ext cx="286337" cy="286644"/>
            <a:chOff x="4673540" y="3680297"/>
            <a:chExt cx="355434" cy="355815"/>
          </a:xfrm>
        </p:grpSpPr>
        <p:sp>
          <p:nvSpPr>
            <p:cNvPr id="40" name="Google Shape;2125;p50">
              <a:extLst>
                <a:ext uri="{FF2B5EF4-FFF2-40B4-BE49-F238E27FC236}">
                  <a16:creationId xmlns:a16="http://schemas.microsoft.com/office/drawing/2014/main" id="{C0E45B05-9ECE-4D6F-B19D-CFD6B90F52E8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Google Shape;2126;p50">
              <a:extLst>
                <a:ext uri="{FF2B5EF4-FFF2-40B4-BE49-F238E27FC236}">
                  <a16:creationId xmlns:a16="http://schemas.microsoft.com/office/drawing/2014/main" id="{F5684C49-3999-483A-99DE-E39763B2DEAA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Google Shape;2127;p50">
              <a:extLst>
                <a:ext uri="{FF2B5EF4-FFF2-40B4-BE49-F238E27FC236}">
                  <a16:creationId xmlns:a16="http://schemas.microsoft.com/office/drawing/2014/main" id="{1EAA21D1-CDF8-45B7-B1CB-5AA4B6475E59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3" name="Google Shape;2124;p50">
            <a:extLst>
              <a:ext uri="{FF2B5EF4-FFF2-40B4-BE49-F238E27FC236}">
                <a16:creationId xmlns:a16="http://schemas.microsoft.com/office/drawing/2014/main" id="{D0FAFFC4-532D-4944-8A3C-56F7C4162B0A}"/>
              </a:ext>
            </a:extLst>
          </p:cNvPr>
          <p:cNvGrpSpPr/>
          <p:nvPr/>
        </p:nvGrpSpPr>
        <p:grpSpPr>
          <a:xfrm>
            <a:off x="6841356" y="4431352"/>
            <a:ext cx="286337" cy="286644"/>
            <a:chOff x="4673540" y="3680297"/>
            <a:chExt cx="355434" cy="355815"/>
          </a:xfrm>
        </p:grpSpPr>
        <p:sp>
          <p:nvSpPr>
            <p:cNvPr id="44" name="Google Shape;2125;p50">
              <a:extLst>
                <a:ext uri="{FF2B5EF4-FFF2-40B4-BE49-F238E27FC236}">
                  <a16:creationId xmlns:a16="http://schemas.microsoft.com/office/drawing/2014/main" id="{A214FCD6-1CC8-458A-A1FF-6BC1E84BCDD5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Google Shape;2126;p50">
              <a:extLst>
                <a:ext uri="{FF2B5EF4-FFF2-40B4-BE49-F238E27FC236}">
                  <a16:creationId xmlns:a16="http://schemas.microsoft.com/office/drawing/2014/main" id="{FBC3B93A-416F-4BE1-9B72-00921D37499F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Google Shape;2127;p50">
              <a:extLst>
                <a:ext uri="{FF2B5EF4-FFF2-40B4-BE49-F238E27FC236}">
                  <a16:creationId xmlns:a16="http://schemas.microsoft.com/office/drawing/2014/main" id="{35BE008B-FDBB-4300-A39B-CDA792EE33F4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B05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E1FBBE0-A94F-4D20-B406-7DA60663B781}"/>
              </a:ext>
            </a:extLst>
          </p:cNvPr>
          <p:cNvSpPr txBox="1"/>
          <p:nvPr/>
        </p:nvSpPr>
        <p:spPr>
          <a:xfrm>
            <a:off x="2523859" y="2921881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</a:t>
            </a: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%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7B13C345-67D4-4DB2-A6A2-72A16FDEB664}"/>
              </a:ext>
            </a:extLst>
          </p:cNvPr>
          <p:cNvSpPr txBox="1"/>
          <p:nvPr/>
        </p:nvSpPr>
        <p:spPr>
          <a:xfrm>
            <a:off x="4568713" y="3167762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33,33</a:t>
            </a: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%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0B02A0B6-9F29-4DEB-9BD0-12DC28E55E0F}"/>
              </a:ext>
            </a:extLst>
          </p:cNvPr>
          <p:cNvSpPr txBox="1"/>
          <p:nvPr/>
        </p:nvSpPr>
        <p:spPr>
          <a:xfrm>
            <a:off x="4561354" y="2921881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75,00%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A999F9C6-24E8-4807-9840-8CB397C729DA}"/>
              </a:ext>
            </a:extLst>
          </p:cNvPr>
          <p:cNvSpPr txBox="1"/>
          <p:nvPr/>
        </p:nvSpPr>
        <p:spPr>
          <a:xfrm>
            <a:off x="9262927" y="2343386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73314980-B727-4D4A-84FF-BD5215D7BE79}"/>
              </a:ext>
            </a:extLst>
          </p:cNvPr>
          <p:cNvSpPr txBox="1"/>
          <p:nvPr/>
        </p:nvSpPr>
        <p:spPr>
          <a:xfrm>
            <a:off x="10470911" y="2087535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100%</a:t>
            </a:r>
          </a:p>
        </p:txBody>
      </p:sp>
      <p:pic>
        <p:nvPicPr>
          <p:cNvPr id="55" name="Imagem 54">
            <a:extLst>
              <a:ext uri="{FF2B5EF4-FFF2-40B4-BE49-F238E27FC236}">
                <a16:creationId xmlns:a16="http://schemas.microsoft.com/office/drawing/2014/main" id="{9CB98EAA-7749-46B9-926F-F7EC5D091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E771D2-5642-3BEA-6A3C-3ADEA86F5C02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RECLAME AQUI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11416FD-268E-486D-98A7-DB4A36BF50A0}"/>
              </a:ext>
            </a:extLst>
          </p:cNvPr>
          <p:cNvSpPr txBox="1"/>
          <p:nvPr/>
        </p:nvSpPr>
        <p:spPr>
          <a:xfrm>
            <a:off x="1509952" y="3172095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%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9F374962-3443-4B97-8064-985F0327BEDF}"/>
              </a:ext>
            </a:extLst>
          </p:cNvPr>
          <p:cNvSpPr txBox="1"/>
          <p:nvPr/>
        </p:nvSpPr>
        <p:spPr>
          <a:xfrm>
            <a:off x="3553867" y="3192346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50%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93E57CBD-9460-4567-AFC5-FD7056B60070}"/>
              </a:ext>
            </a:extLst>
          </p:cNvPr>
          <p:cNvSpPr txBox="1"/>
          <p:nvPr/>
        </p:nvSpPr>
        <p:spPr>
          <a:xfrm>
            <a:off x="7270528" y="2412105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50%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DC201BC-0EDB-41FA-B8AF-F3FAF3FED0BB}"/>
              </a:ext>
            </a:extLst>
          </p:cNvPr>
          <p:cNvSpPr txBox="1"/>
          <p:nvPr/>
        </p:nvSpPr>
        <p:spPr>
          <a:xfrm>
            <a:off x="1658815" y="4688080"/>
            <a:ext cx="38322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consolidado 88,89% estão No Prazo e 11,11% estão Fora do Prazo.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EF5CC40-BB6B-4324-B87E-D227E9BE5F85}"/>
              </a:ext>
            </a:extLst>
          </p:cNvPr>
          <p:cNvSpPr txBox="1"/>
          <p:nvPr/>
        </p:nvSpPr>
        <p:spPr>
          <a:xfrm>
            <a:off x="7187278" y="4527630"/>
            <a:ext cx="38322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NGC  87,50% estão No Prazo e 12,50% estão Fora do Prazo.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DB3B27AA-067F-E2B2-53C2-A56E86A9F5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2277933"/>
              </p:ext>
            </p:extLst>
          </p:nvPr>
        </p:nvGraphicFramePr>
        <p:xfrm>
          <a:off x="695509" y="1772801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1" name="CaixaDeTexto 50">
            <a:extLst>
              <a:ext uri="{FF2B5EF4-FFF2-40B4-BE49-F238E27FC236}">
                <a16:creationId xmlns:a16="http://schemas.microsoft.com/office/drawing/2014/main" id="{B346F8E9-37D6-42EB-9FA1-57236AF90AE9}"/>
              </a:ext>
            </a:extLst>
          </p:cNvPr>
          <p:cNvSpPr txBox="1"/>
          <p:nvPr/>
        </p:nvSpPr>
        <p:spPr>
          <a:xfrm>
            <a:off x="7828504" y="2418457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11400402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9198792" y="4575185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Gráfico 25">
            <a:extLst>
              <a:ext uri="{FF2B5EF4-FFF2-40B4-BE49-F238E27FC236}">
                <a16:creationId xmlns:a16="http://schemas.microsoft.com/office/drawing/2014/main" id="{CB343202-015A-4FBE-B942-B99305F6E3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958073"/>
              </p:ext>
            </p:extLst>
          </p:nvPr>
        </p:nvGraphicFramePr>
        <p:xfrm>
          <a:off x="643466" y="1549889"/>
          <a:ext cx="5787167" cy="325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ECBC702-8A0A-4D6D-9F12-E545E8615BE2}"/>
              </a:ext>
            </a:extLst>
          </p:cNvPr>
          <p:cNvSpPr/>
          <p:nvPr/>
        </p:nvSpPr>
        <p:spPr>
          <a:xfrm>
            <a:off x="7138142" y="1626082"/>
            <a:ext cx="4128654" cy="183914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9" name="Google Shape;1944;p50">
            <a:extLst>
              <a:ext uri="{FF2B5EF4-FFF2-40B4-BE49-F238E27FC236}">
                <a16:creationId xmlns:a16="http://schemas.microsoft.com/office/drawing/2014/main" id="{AE3E5632-39EC-498B-8446-16F7B46F0CF4}"/>
              </a:ext>
            </a:extLst>
          </p:cNvPr>
          <p:cNvGrpSpPr/>
          <p:nvPr/>
        </p:nvGrpSpPr>
        <p:grpSpPr>
          <a:xfrm>
            <a:off x="7308880" y="1717741"/>
            <a:ext cx="476316" cy="468384"/>
            <a:chOff x="860940" y="2746477"/>
            <a:chExt cx="371883" cy="365691"/>
          </a:xfrm>
          <a:solidFill>
            <a:srgbClr val="00B050"/>
          </a:solidFill>
        </p:grpSpPr>
        <p:sp>
          <p:nvSpPr>
            <p:cNvPr id="50" name="Google Shape;1945;p50">
              <a:extLst>
                <a:ext uri="{FF2B5EF4-FFF2-40B4-BE49-F238E27FC236}">
                  <a16:creationId xmlns:a16="http://schemas.microsoft.com/office/drawing/2014/main" id="{F8E576BE-2CD1-4B21-BB2A-FA3D538B5E35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Google Shape;1946;p50">
              <a:extLst>
                <a:ext uri="{FF2B5EF4-FFF2-40B4-BE49-F238E27FC236}">
                  <a16:creationId xmlns:a16="http://schemas.microsoft.com/office/drawing/2014/main" id="{9F68CAA6-59B8-4F64-8643-1935A15F9675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Google Shape;1947;p50">
              <a:extLst>
                <a:ext uri="{FF2B5EF4-FFF2-40B4-BE49-F238E27FC236}">
                  <a16:creationId xmlns:a16="http://schemas.microsoft.com/office/drawing/2014/main" id="{EA4A187D-2E3F-46AA-BEA6-749B97B58F53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Google Shape;1948;p50">
              <a:extLst>
                <a:ext uri="{FF2B5EF4-FFF2-40B4-BE49-F238E27FC236}">
                  <a16:creationId xmlns:a16="http://schemas.microsoft.com/office/drawing/2014/main" id="{85D06B3A-A8F7-4804-B970-45AE95668DED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Google Shape;1949;p50">
              <a:extLst>
                <a:ext uri="{FF2B5EF4-FFF2-40B4-BE49-F238E27FC236}">
                  <a16:creationId xmlns:a16="http://schemas.microsoft.com/office/drawing/2014/main" id="{0E034A1A-361D-430B-BD52-6D0AB6ACB680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151331E-ED22-483C-9A5F-F39D02811185}"/>
              </a:ext>
            </a:extLst>
          </p:cNvPr>
          <p:cNvSpPr txBox="1"/>
          <p:nvPr/>
        </p:nvSpPr>
        <p:spPr>
          <a:xfrm>
            <a:off x="7826628" y="1751439"/>
            <a:ext cx="149834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Top Promotor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D7D8EBC-45F0-466E-AA24-76F7AF55B24C}"/>
              </a:ext>
            </a:extLst>
          </p:cNvPr>
          <p:cNvSpPr txBox="1"/>
          <p:nvPr/>
        </p:nvSpPr>
        <p:spPr>
          <a:xfrm>
            <a:off x="7785196" y="2104709"/>
            <a:ext cx="24732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Alcione De Fatima Belle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Bruna Celeste Beal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Djanira Juliana Alves De Almeida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Vanessa Nogueira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Manuela De Souza Matias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BC700C3C-D613-4864-AB92-6017CB7A1E70}"/>
              </a:ext>
            </a:extLst>
          </p:cNvPr>
          <p:cNvSpPr/>
          <p:nvPr/>
        </p:nvSpPr>
        <p:spPr>
          <a:xfrm>
            <a:off x="7138142" y="3903415"/>
            <a:ext cx="4128654" cy="13285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" name="Google Shape;1944;p50">
            <a:extLst>
              <a:ext uri="{FF2B5EF4-FFF2-40B4-BE49-F238E27FC236}">
                <a16:creationId xmlns:a16="http://schemas.microsoft.com/office/drawing/2014/main" id="{D992BF29-30A3-4BE4-B7C7-5CC12855C680}"/>
              </a:ext>
            </a:extLst>
          </p:cNvPr>
          <p:cNvGrpSpPr/>
          <p:nvPr/>
        </p:nvGrpSpPr>
        <p:grpSpPr>
          <a:xfrm rot="10417960">
            <a:off x="7308880" y="3995073"/>
            <a:ext cx="476316" cy="468384"/>
            <a:chOff x="860940" y="2746477"/>
            <a:chExt cx="371883" cy="365691"/>
          </a:xfrm>
          <a:solidFill>
            <a:srgbClr val="00B050"/>
          </a:solidFill>
        </p:grpSpPr>
        <p:sp>
          <p:nvSpPr>
            <p:cNvPr id="67" name="Google Shape;1945;p50">
              <a:extLst>
                <a:ext uri="{FF2B5EF4-FFF2-40B4-BE49-F238E27FC236}">
                  <a16:creationId xmlns:a16="http://schemas.microsoft.com/office/drawing/2014/main" id="{D17A3269-EA0E-4DCD-A7FA-DB45599C4B11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Google Shape;1946;p50">
              <a:extLst>
                <a:ext uri="{FF2B5EF4-FFF2-40B4-BE49-F238E27FC236}">
                  <a16:creationId xmlns:a16="http://schemas.microsoft.com/office/drawing/2014/main" id="{619D078A-CF76-4D11-B528-09456D759EBC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Google Shape;1947;p50">
              <a:extLst>
                <a:ext uri="{FF2B5EF4-FFF2-40B4-BE49-F238E27FC236}">
                  <a16:creationId xmlns:a16="http://schemas.microsoft.com/office/drawing/2014/main" id="{B4EF2116-4816-47AF-A2F4-BF0E390808D8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Google Shape;1948;p50">
              <a:extLst>
                <a:ext uri="{FF2B5EF4-FFF2-40B4-BE49-F238E27FC236}">
                  <a16:creationId xmlns:a16="http://schemas.microsoft.com/office/drawing/2014/main" id="{AF85CE36-5327-4CFD-9945-648968C30A0B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Google Shape;1949;p50">
              <a:extLst>
                <a:ext uri="{FF2B5EF4-FFF2-40B4-BE49-F238E27FC236}">
                  <a16:creationId xmlns:a16="http://schemas.microsoft.com/office/drawing/2014/main" id="{220B1891-A6FD-457A-A82D-A2CA406B1689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F549BB60-0BF1-41F3-853E-103F8C42AD2E}"/>
              </a:ext>
            </a:extLst>
          </p:cNvPr>
          <p:cNvSpPr txBox="1"/>
          <p:nvPr/>
        </p:nvSpPr>
        <p:spPr>
          <a:xfrm>
            <a:off x="7826628" y="4028771"/>
            <a:ext cx="149834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Ofensor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6E0F3539-E83A-49C9-A0E1-B7C22DEA1CB9}"/>
              </a:ext>
            </a:extLst>
          </p:cNvPr>
          <p:cNvSpPr txBox="1"/>
          <p:nvPr/>
        </p:nvSpPr>
        <p:spPr>
          <a:xfrm>
            <a:off x="7773289" y="4318898"/>
            <a:ext cx="2404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Luane Bianca Padilha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David Gabriel Pereira Farias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Maria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Dluz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Schon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Ribeiro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Gustavo Da Rosa</a:t>
            </a: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19F7444E-86B2-4DF8-9BE5-F4C6CFF6FB01}"/>
              </a:ext>
            </a:extLst>
          </p:cNvPr>
          <p:cNvSpPr/>
          <p:nvPr/>
        </p:nvSpPr>
        <p:spPr>
          <a:xfrm>
            <a:off x="742950" y="4840194"/>
            <a:ext cx="5353050" cy="144373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chemeClr val="tx1">
                <a:lumMod val="65000"/>
                <a:lumOff val="3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6" name="Google Shape;1944;p50">
            <a:extLst>
              <a:ext uri="{FF2B5EF4-FFF2-40B4-BE49-F238E27FC236}">
                <a16:creationId xmlns:a16="http://schemas.microsoft.com/office/drawing/2014/main" id="{23D4F9B8-B03B-4AD5-8AC1-B8C7EEE8B6CA}"/>
              </a:ext>
            </a:extLst>
          </p:cNvPr>
          <p:cNvGrpSpPr/>
          <p:nvPr/>
        </p:nvGrpSpPr>
        <p:grpSpPr>
          <a:xfrm rot="10417960">
            <a:off x="913355" y="4932021"/>
            <a:ext cx="473619" cy="462234"/>
            <a:chOff x="860940" y="2746477"/>
            <a:chExt cx="371883" cy="365691"/>
          </a:xfrm>
          <a:solidFill>
            <a:srgbClr val="595959"/>
          </a:solidFill>
        </p:grpSpPr>
        <p:sp>
          <p:nvSpPr>
            <p:cNvPr id="77" name="Google Shape;1945;p50">
              <a:extLst>
                <a:ext uri="{FF2B5EF4-FFF2-40B4-BE49-F238E27FC236}">
                  <a16:creationId xmlns:a16="http://schemas.microsoft.com/office/drawing/2014/main" id="{71446081-35DF-4E60-A1F2-EEBC3EA75609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Google Shape;1946;p50">
              <a:extLst>
                <a:ext uri="{FF2B5EF4-FFF2-40B4-BE49-F238E27FC236}">
                  <a16:creationId xmlns:a16="http://schemas.microsoft.com/office/drawing/2014/main" id="{B9B62BB4-7A78-4DC4-AD93-62C842D5F6AD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Google Shape;1947;p50">
              <a:extLst>
                <a:ext uri="{FF2B5EF4-FFF2-40B4-BE49-F238E27FC236}">
                  <a16:creationId xmlns:a16="http://schemas.microsoft.com/office/drawing/2014/main" id="{88EC2143-2ECD-4B77-AE77-51D362C72CD8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Google Shape;1948;p50">
              <a:extLst>
                <a:ext uri="{FF2B5EF4-FFF2-40B4-BE49-F238E27FC236}">
                  <a16:creationId xmlns:a16="http://schemas.microsoft.com/office/drawing/2014/main" id="{FA2F7CC1-E87A-4627-92E3-73CD74E11E82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Google Shape;1949;p50">
              <a:extLst>
                <a:ext uri="{FF2B5EF4-FFF2-40B4-BE49-F238E27FC236}">
                  <a16:creationId xmlns:a16="http://schemas.microsoft.com/office/drawing/2014/main" id="{70A0C0B0-8C76-4E89-8B6A-4D2C03C94300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A3FBEEA3-F03C-4393-A61C-516C388CADB5}"/>
              </a:ext>
            </a:extLst>
          </p:cNvPr>
          <p:cNvSpPr txBox="1"/>
          <p:nvPr/>
        </p:nvSpPr>
        <p:spPr>
          <a:xfrm>
            <a:off x="1431436" y="4965551"/>
            <a:ext cx="172170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Ofensores - </a:t>
            </a:r>
            <a:r>
              <a:rPr kumimoji="0" lang="pt-BR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Jun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7" name="Imagem 116">
            <a:extLst>
              <a:ext uri="{FF2B5EF4-FFF2-40B4-BE49-F238E27FC236}">
                <a16:creationId xmlns:a16="http://schemas.microsoft.com/office/drawing/2014/main" id="{6A0AFDE9-DC25-408B-8239-6C5E44CC4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501A0EB-5DA0-3859-A07B-BA0FAF50F422}"/>
              </a:ext>
            </a:extLst>
          </p:cNvPr>
          <p:cNvSpPr txBox="1"/>
          <p:nvPr/>
        </p:nvSpPr>
        <p:spPr>
          <a:xfrm>
            <a:off x="10088217" y="2097438"/>
            <a:ext cx="707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99,38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98,14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97,43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A709B06-6C3F-45A8-49E0-38D57E9D4BFC}"/>
              </a:ext>
            </a:extLst>
          </p:cNvPr>
          <p:cNvSpPr txBox="1"/>
          <p:nvPr/>
        </p:nvSpPr>
        <p:spPr>
          <a:xfrm>
            <a:off x="10177670" y="4390848"/>
            <a:ext cx="707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84,57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83,13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55,29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D726579-AFFE-85E7-0503-F7EBE73535F4}"/>
              </a:ext>
            </a:extLst>
          </p:cNvPr>
          <p:cNvSpPr txBox="1"/>
          <p:nvPr/>
        </p:nvSpPr>
        <p:spPr>
          <a:xfrm>
            <a:off x="1431436" y="1336969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Comparativo dos Ofensores (Jun. </a:t>
            </a: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Vs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Jul.)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4F5C9E8-77B2-D902-6A58-20BDDC42F8E4}"/>
              </a:ext>
            </a:extLst>
          </p:cNvPr>
          <p:cNvSpPr txBox="1"/>
          <p:nvPr/>
        </p:nvSpPr>
        <p:spPr>
          <a:xfrm>
            <a:off x="1416898" y="5348879"/>
            <a:ext cx="2404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Vanessa Nogueira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Gustavo Da Rosa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Djanira Juliana A. De Almeida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Maria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Dluz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pt-B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Schon</a:t>
            </a: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Ribeiro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732938-2534-0BEF-D677-37D33D04F80B}"/>
              </a:ext>
            </a:extLst>
          </p:cNvPr>
          <p:cNvSpPr txBox="1"/>
          <p:nvPr/>
        </p:nvSpPr>
        <p:spPr>
          <a:xfrm>
            <a:off x="4472396" y="5348878"/>
            <a:ext cx="707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98,83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98,14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81,17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B28D3B2-7AE7-1AAD-9891-E7687F283A2D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RECLAME AQUI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198BF02F-6036-DA89-F0F0-9C5467118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029698"/>
              </p:ext>
            </p:extLst>
          </p:nvPr>
        </p:nvGraphicFramePr>
        <p:xfrm>
          <a:off x="5073650" y="3620294"/>
          <a:ext cx="2044700" cy="762000"/>
        </p:xfrm>
        <a:graphic>
          <a:graphicData uri="http://schemas.openxmlformats.org/drawingml/2006/table">
            <a:tbl>
              <a:tblPr/>
              <a:tblGrid>
                <a:gridCol w="2044700">
                  <a:extLst>
                    <a:ext uri="{9D8B030D-6E8A-4147-A177-3AD203B41FA5}">
                      <a16:colId xmlns:a16="http://schemas.microsoft.com/office/drawing/2014/main" val="389026280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2130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1988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4655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564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485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C475D-ACA9-DD53-1691-8803192B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2D49271-0110-3311-48E9-55CC3236E389}"/>
              </a:ext>
            </a:extLst>
          </p:cNvPr>
          <p:cNvSpPr/>
          <p:nvPr/>
        </p:nvSpPr>
        <p:spPr>
          <a:xfrm>
            <a:off x="1025019" y="1763267"/>
            <a:ext cx="4809019" cy="21070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933BE2EA-2D21-DA07-1C1E-39DC9BB35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79FC7D57-35F1-7A0B-889B-727CF68DCB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A04F7DCC-E3BB-C1E2-F42B-97D58340BF9B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340BE602-2C45-966B-D2B0-7DF05A761352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0C96C8CC-C561-3D79-FE1B-7C0A164CCF08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60FE5C66-2168-F0CF-66B5-F0DBF2746917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AC118835-928C-7180-5E67-FA310D1F5009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Título 1">
            <a:extLst>
              <a:ext uri="{FF2B5EF4-FFF2-40B4-BE49-F238E27FC236}">
                <a16:creationId xmlns:a16="http://schemas.microsoft.com/office/drawing/2014/main" id="{AF8703C4-E434-4598-5858-28863533A715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AFA56292-39B8-FD9E-3ABD-7CEB82BFE946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FB3C851-71B6-E63F-5E88-13A95A5F2422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777FC3-23E9-6FAA-09DB-1400B3B97566}"/>
              </a:ext>
            </a:extLst>
          </p:cNvPr>
          <p:cNvSpPr txBox="1"/>
          <p:nvPr/>
        </p:nvSpPr>
        <p:spPr>
          <a:xfrm>
            <a:off x="753481" y="1262231"/>
            <a:ext cx="60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Análises do Perfil dos Ofensores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8D2EC6C-B7AC-845D-C9C9-A902B12A5564}"/>
              </a:ext>
            </a:extLst>
          </p:cNvPr>
          <p:cNvSpPr txBox="1"/>
          <p:nvPr/>
        </p:nvSpPr>
        <p:spPr>
          <a:xfrm>
            <a:off x="1261790" y="2277071"/>
            <a:ext cx="4423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D073D74-CBB7-D013-2790-17B92CD5E88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9C278CF-189E-F412-FD9E-8E2D9A608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427FE413-2D27-C74D-B514-D89E9146EE03}"/>
              </a:ext>
            </a:extLst>
          </p:cNvPr>
          <p:cNvSpPr txBox="1">
            <a:spLocks/>
          </p:cNvSpPr>
          <p:nvPr/>
        </p:nvSpPr>
        <p:spPr>
          <a:xfrm>
            <a:off x="5946417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RECLAME AQUI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0611134-676A-22D4-3A75-CDB3924D5BAF}"/>
              </a:ext>
            </a:extLst>
          </p:cNvPr>
          <p:cNvSpPr txBox="1"/>
          <p:nvPr/>
        </p:nvSpPr>
        <p:spPr>
          <a:xfrm>
            <a:off x="1484775" y="1621431"/>
            <a:ext cx="149834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Ofensor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AB89CE4-C42E-BFEA-7AD3-70BF072D2C0C}"/>
              </a:ext>
            </a:extLst>
          </p:cNvPr>
          <p:cNvSpPr txBox="1"/>
          <p:nvPr/>
        </p:nvSpPr>
        <p:spPr>
          <a:xfrm>
            <a:off x="1431436" y="1984642"/>
            <a:ext cx="42542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Luane Bianca Padilha</a:t>
            </a: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/>
              <a:t>Operadora experiente, sem oportunidades comportamentais. Apresentou </a:t>
            </a:r>
            <a:r>
              <a:rPr lang="pt-BR" sz="1200" b="1" dirty="0"/>
              <a:t>1 NCG por procedimento incorreto</a:t>
            </a:r>
            <a:r>
              <a:rPr lang="pt-BR" sz="1200" dirty="0"/>
              <a:t>, decorrente de uma interpretação pontual do caso, reforçando a necessidade de maior atenção na análise da tratativa.</a:t>
            </a: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5590A96-4167-FF30-B003-A12089B88590}"/>
              </a:ext>
            </a:extLst>
          </p:cNvPr>
          <p:cNvSpPr txBox="1"/>
          <p:nvPr/>
        </p:nvSpPr>
        <p:spPr>
          <a:xfrm>
            <a:off x="3670697" y="1663268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Média atual: </a:t>
            </a:r>
            <a:r>
              <a:rPr lang="pt-BR" sz="1100" b="1" dirty="0"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100,00</a:t>
            </a:r>
            <a:endParaRPr kumimoji="0" lang="pt-BR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9A50899-6618-4578-BFA4-6736BE991C1B}"/>
              </a:ext>
            </a:extLst>
          </p:cNvPr>
          <p:cNvSpPr/>
          <p:nvPr/>
        </p:nvSpPr>
        <p:spPr>
          <a:xfrm>
            <a:off x="6357963" y="1763267"/>
            <a:ext cx="4660666" cy="21070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2045908-D335-4F37-AF76-51991143F153}"/>
              </a:ext>
            </a:extLst>
          </p:cNvPr>
          <p:cNvSpPr txBox="1"/>
          <p:nvPr/>
        </p:nvSpPr>
        <p:spPr>
          <a:xfrm>
            <a:off x="6600825" y="2283989"/>
            <a:ext cx="3980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F417A36-443B-47AB-8C39-EEDF26CF400B}"/>
              </a:ext>
            </a:extLst>
          </p:cNvPr>
          <p:cNvSpPr txBox="1"/>
          <p:nvPr/>
        </p:nvSpPr>
        <p:spPr>
          <a:xfrm>
            <a:off x="6817719" y="1621431"/>
            <a:ext cx="149834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Ofensor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DD23DE9-8A58-4458-853A-18AB7CFD27B3}"/>
              </a:ext>
            </a:extLst>
          </p:cNvPr>
          <p:cNvSpPr txBox="1"/>
          <p:nvPr/>
        </p:nvSpPr>
        <p:spPr>
          <a:xfrm>
            <a:off x="6764380" y="1984642"/>
            <a:ext cx="44026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David Gabriel Pereira Farias</a:t>
            </a: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Operador</a:t>
            </a:r>
            <a:r>
              <a:rPr lang="pt-BR" sz="1200" dirty="0"/>
              <a:t> migrou da </a:t>
            </a:r>
            <a:r>
              <a:rPr lang="pt-BR" sz="1200" b="1" dirty="0"/>
              <a:t>Central de Ajuda para o Reclame Aqui em junho</a:t>
            </a:r>
            <a:r>
              <a:rPr lang="pt-BR" sz="1200" dirty="0"/>
              <a:t> e segue em adaptação ao canal. No período, apresentou </a:t>
            </a:r>
            <a:r>
              <a:rPr lang="pt-BR" sz="1200" b="1" dirty="0"/>
              <a:t>1 NCG pela ausência da macro de NPS</a:t>
            </a:r>
            <a:r>
              <a:rPr lang="pt-BR" sz="1200" dirty="0"/>
              <a:t>, reforçando a necessidade de acompanhamento na aplicação dos procedimentos.</a:t>
            </a: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E617B0B-4CF2-4720-8AD1-4375488285B4}"/>
              </a:ext>
            </a:extLst>
          </p:cNvPr>
          <p:cNvSpPr txBox="1"/>
          <p:nvPr/>
        </p:nvSpPr>
        <p:spPr>
          <a:xfrm>
            <a:off x="9003641" y="1663268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Média atual: </a:t>
            </a:r>
            <a:r>
              <a:rPr lang="pt-BR" sz="1100" b="1" dirty="0"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62,33</a:t>
            </a:r>
            <a:endParaRPr kumimoji="0" lang="pt-BR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9B07965D-F0E6-4CDC-8FCD-CB61217B3903}"/>
              </a:ext>
            </a:extLst>
          </p:cNvPr>
          <p:cNvSpPr/>
          <p:nvPr/>
        </p:nvSpPr>
        <p:spPr>
          <a:xfrm>
            <a:off x="1025019" y="4330611"/>
            <a:ext cx="4402601" cy="21070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FC4BA7D-5F1C-4C19-A68C-618F07DEB564}"/>
              </a:ext>
            </a:extLst>
          </p:cNvPr>
          <p:cNvSpPr txBox="1"/>
          <p:nvPr/>
        </p:nvSpPr>
        <p:spPr>
          <a:xfrm>
            <a:off x="1484775" y="4188775"/>
            <a:ext cx="149834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Ofensor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493F112-7084-496C-BA4C-C2BB329DF42D}"/>
              </a:ext>
            </a:extLst>
          </p:cNvPr>
          <p:cNvSpPr txBox="1"/>
          <p:nvPr/>
        </p:nvSpPr>
        <p:spPr>
          <a:xfrm>
            <a:off x="1431436" y="4551986"/>
            <a:ext cx="4402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Maria </a:t>
            </a:r>
            <a:r>
              <a:rPr lang="pt-BR" sz="1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Dluz</a:t>
            </a:r>
            <a: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2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Schon</a:t>
            </a:r>
            <a: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Ribeiro</a:t>
            </a: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Operadora</a:t>
            </a:r>
            <a:r>
              <a:rPr lang="pt-BR" sz="1200" dirty="0"/>
              <a:t> apresenta oportunidades principalmente em tratativas de </a:t>
            </a:r>
            <a:r>
              <a:rPr lang="pt-BR" sz="1200" b="1" dirty="0"/>
              <a:t>Score</a:t>
            </a:r>
            <a:r>
              <a:rPr lang="pt-BR" sz="1200" dirty="0"/>
              <a:t>. No período, registrou </a:t>
            </a:r>
            <a:r>
              <a:rPr lang="pt-BR" sz="1200" b="1" dirty="0"/>
              <a:t>2 </a:t>
            </a:r>
            <a:r>
              <a:rPr lang="pt-BR" sz="1200" b="1" dirty="0" err="1"/>
              <a:t>NCGs</a:t>
            </a:r>
            <a:r>
              <a:rPr lang="pt-BR" sz="1200" dirty="0"/>
              <a:t>, relacionadas à </a:t>
            </a:r>
            <a:r>
              <a:rPr lang="pt-BR" sz="1200" b="1" dirty="0"/>
              <a:t>falta de orientação sobre Cadastro Positivo</a:t>
            </a:r>
            <a:r>
              <a:rPr lang="pt-BR" sz="1200" dirty="0"/>
              <a:t> e à </a:t>
            </a:r>
            <a:r>
              <a:rPr lang="pt-BR" sz="1200" b="1" dirty="0"/>
              <a:t>não moderação de um caso Serasa Experian</a:t>
            </a:r>
            <a:r>
              <a:rPr lang="pt-BR" sz="1200" dirty="0"/>
              <a:t>, reforçando a necessidade de maior domínio e assertividade nos procedimentos.</a:t>
            </a: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F068040-E19A-44E6-B9CB-A99916A4764B}"/>
              </a:ext>
            </a:extLst>
          </p:cNvPr>
          <p:cNvSpPr txBox="1"/>
          <p:nvPr/>
        </p:nvSpPr>
        <p:spPr>
          <a:xfrm>
            <a:off x="3670697" y="4230612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Média atual: </a:t>
            </a:r>
            <a:r>
              <a:rPr lang="pt-BR" sz="1100" b="1" dirty="0"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33,33</a:t>
            </a:r>
            <a:endParaRPr kumimoji="0" lang="pt-BR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79EE6296-B896-4BA3-A776-F207082A472F}"/>
              </a:ext>
            </a:extLst>
          </p:cNvPr>
          <p:cNvSpPr/>
          <p:nvPr/>
        </p:nvSpPr>
        <p:spPr>
          <a:xfrm>
            <a:off x="6304624" y="4361631"/>
            <a:ext cx="4714005" cy="21070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282E104-5324-4E70-971A-2B3654FA5BC4}"/>
              </a:ext>
            </a:extLst>
          </p:cNvPr>
          <p:cNvSpPr txBox="1"/>
          <p:nvPr/>
        </p:nvSpPr>
        <p:spPr>
          <a:xfrm>
            <a:off x="6764380" y="4219795"/>
            <a:ext cx="1498347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Ofensor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463B60F-8F58-4E8A-B6DF-19FEB99E7740}"/>
              </a:ext>
            </a:extLst>
          </p:cNvPr>
          <p:cNvSpPr txBox="1"/>
          <p:nvPr/>
        </p:nvSpPr>
        <p:spPr>
          <a:xfrm>
            <a:off x="6452975" y="4583006"/>
            <a:ext cx="45656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Gustavo Da Rosa</a:t>
            </a: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/>
              <a:t>Gustavo apresenta </a:t>
            </a:r>
            <a:r>
              <a:rPr lang="pt-BR" sz="1200" b="1" dirty="0"/>
              <a:t>oportunidades comportamentais relacionadas à receptividade e aplicação dos feedbacks</a:t>
            </a:r>
            <a:r>
              <a:rPr lang="pt-BR" sz="1200" dirty="0"/>
              <a:t>. No período, registrou </a:t>
            </a:r>
            <a:r>
              <a:rPr lang="pt-BR" sz="1200" b="1" dirty="0"/>
              <a:t>3 </a:t>
            </a:r>
            <a:r>
              <a:rPr lang="pt-BR" sz="1200" b="1" dirty="0" err="1"/>
              <a:t>NCGs</a:t>
            </a:r>
            <a:r>
              <a:rPr lang="pt-BR" sz="1200" dirty="0"/>
              <a:t>, envolvendo </a:t>
            </a:r>
            <a:r>
              <a:rPr lang="pt-BR" sz="1200" b="1" dirty="0"/>
              <a:t>procedimentos incorretos e uso de macro externa</a:t>
            </a:r>
            <a:r>
              <a:rPr lang="pt-BR" sz="1200" dirty="0"/>
              <a:t>, reforçando a necessidade de maior aderência às orientações e aos processos do canal.</a:t>
            </a:r>
          </a:p>
          <a:p>
            <a:pPr>
              <a:defRPr/>
            </a:pP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5FC9AC51-140F-4DEE-8AF2-9410316B8D25}"/>
              </a:ext>
            </a:extLst>
          </p:cNvPr>
          <p:cNvSpPr txBox="1"/>
          <p:nvPr/>
        </p:nvSpPr>
        <p:spPr>
          <a:xfrm>
            <a:off x="8950302" y="4261632"/>
            <a:ext cx="201498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Média atual: </a:t>
            </a:r>
            <a:r>
              <a:rPr lang="pt-BR" sz="1100" b="1" dirty="0"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89,00</a:t>
            </a:r>
            <a:endParaRPr kumimoji="0" lang="pt-BR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386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79CE1-18B2-FFED-A697-50AE7399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09F37CB7-B26F-B6A0-B8F4-C32C6341BA37}"/>
              </a:ext>
            </a:extLst>
          </p:cNvPr>
          <p:cNvSpPr/>
          <p:nvPr/>
        </p:nvSpPr>
        <p:spPr>
          <a:xfrm>
            <a:off x="9727562" y="551224"/>
            <a:ext cx="2020973" cy="375927"/>
          </a:xfrm>
          <a:prstGeom prst="roundRect">
            <a:avLst>
              <a:gd name="adj" fmla="val 13727"/>
            </a:avLst>
          </a:prstGeom>
          <a:solidFill>
            <a:srgbClr val="0B589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2E68552-5CF8-BEC3-D218-8FCB72962F78}"/>
              </a:ext>
            </a:extLst>
          </p:cNvPr>
          <p:cNvSpPr/>
          <p:nvPr/>
        </p:nvSpPr>
        <p:spPr>
          <a:xfrm>
            <a:off x="9785544" y="588962"/>
            <a:ext cx="1992680" cy="341643"/>
          </a:xfrm>
          <a:prstGeom prst="roundRect">
            <a:avLst>
              <a:gd name="adj" fmla="val 1372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5B3C9B77-A215-5CA1-2ED3-48BAF203D8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3D8ED0D3-5F89-D697-80EA-0FA03487DC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530FD829-3CFC-6786-1B09-26B77A17DE8B}"/>
              </a:ext>
            </a:extLst>
          </p:cNvPr>
          <p:cNvSpPr txBox="1">
            <a:spLocks/>
          </p:cNvSpPr>
          <p:nvPr/>
        </p:nvSpPr>
        <p:spPr>
          <a:xfrm>
            <a:off x="-1" y="855616"/>
            <a:ext cx="12192001" cy="5580185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3300" b="1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  <a:alpha val="11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1DD1586-1EFA-5E41-E54F-7B272E4C8678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B589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9CE762-6A28-CBD5-C0FC-71D619C83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7224" y="3091934"/>
            <a:ext cx="5172501" cy="1189342"/>
          </a:xfrm>
          <a:effectLst/>
        </p:spPr>
        <p:txBody>
          <a:bodyPr>
            <a:noAutofit/>
          </a:bodyPr>
          <a:lstStyle/>
          <a:p>
            <a:r>
              <a:rPr lang="pt-BR" sz="103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</a:t>
            </a:r>
            <a:endParaRPr lang="pt-BR" sz="1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6A8A486-BCD1-538F-333D-AFC0B73EB36E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ABF3C41-A3B8-E31D-2274-8B8C837C9743}"/>
              </a:ext>
            </a:extLst>
          </p:cNvPr>
          <p:cNvSpPr/>
          <p:nvPr/>
        </p:nvSpPr>
        <p:spPr>
          <a:xfrm>
            <a:off x="3214255" y="4289580"/>
            <a:ext cx="5167746" cy="422031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75000"/>
                  <a:tint val="66000"/>
                  <a:satMod val="160000"/>
                </a:schemeClr>
              </a:gs>
              <a:gs pos="50000">
                <a:schemeClr val="bg2">
                  <a:lumMod val="75000"/>
                  <a:tint val="44500"/>
                  <a:satMod val="160000"/>
                </a:schemeClr>
              </a:gs>
              <a:gs pos="100000">
                <a:schemeClr val="bg2">
                  <a:lumMod val="75000"/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0855DBC7-4E4C-C86E-3A22-BA41ADEE217F}"/>
              </a:ext>
            </a:extLst>
          </p:cNvPr>
          <p:cNvSpPr txBox="1">
            <a:spLocks/>
          </p:cNvSpPr>
          <p:nvPr/>
        </p:nvSpPr>
        <p:spPr>
          <a:xfrm>
            <a:off x="3708183" y="4214299"/>
            <a:ext cx="468201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RESULTADOS OPERACIONAIS  - DIGITAL</a:t>
            </a:r>
          </a:p>
        </p:txBody>
      </p:sp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223D983F-D66C-19A1-ACBC-9713756DC0B6}"/>
              </a:ext>
            </a:extLst>
          </p:cNvPr>
          <p:cNvGrpSpPr/>
          <p:nvPr/>
        </p:nvGrpSpPr>
        <p:grpSpPr>
          <a:xfrm>
            <a:off x="3378137" y="4364143"/>
            <a:ext cx="293131" cy="279819"/>
            <a:chOff x="4126815" y="2760704"/>
            <a:chExt cx="380393" cy="363118"/>
          </a:xfrm>
          <a:solidFill>
            <a:srgbClr val="002060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5DFB8196-D4A1-AADC-659D-B13E4E447A69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53296BFA-DF49-88EC-6D4A-8959B60E0E22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9EB9C163-6758-F340-E0D0-8F7436B1E669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D4A476A5-E240-881D-ED29-01A187E40E03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9D3F9BBE-A4E2-81D4-CA5F-7E6D42586F42}"/>
              </a:ext>
            </a:extLst>
          </p:cNvPr>
          <p:cNvSpPr/>
          <p:nvPr/>
        </p:nvSpPr>
        <p:spPr>
          <a:xfrm>
            <a:off x="-503922" y="6707874"/>
            <a:ext cx="13708160" cy="30025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BE351377-0FA8-7E89-FB99-B34B9078C706}"/>
              </a:ext>
            </a:extLst>
          </p:cNvPr>
          <p:cNvSpPr txBox="1">
            <a:spLocks/>
          </p:cNvSpPr>
          <p:nvPr/>
        </p:nvSpPr>
        <p:spPr>
          <a:xfrm>
            <a:off x="0" y="5391500"/>
            <a:ext cx="12192000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Excelência não é um ato, é um hábito diário.</a:t>
            </a: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40B6F900-11F7-6F5D-55BD-E1F6302B5653}"/>
              </a:ext>
            </a:extLst>
          </p:cNvPr>
          <p:cNvSpPr txBox="1">
            <a:spLocks/>
          </p:cNvSpPr>
          <p:nvPr/>
        </p:nvSpPr>
        <p:spPr>
          <a:xfrm>
            <a:off x="10010273" y="673769"/>
            <a:ext cx="1744579" cy="228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spc="3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endParaRPr kumimoji="0" lang="pt-BR" sz="1400" b="0" i="0" u="none" strike="noStrike" kern="1200" cap="none" spc="300" normalizeH="0" baseline="0" noProof="0" dirty="0">
              <a:ln>
                <a:noFill/>
              </a:ln>
              <a:solidFill>
                <a:srgbClr val="0B589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64" name="Google Shape;2286;p50">
            <a:extLst>
              <a:ext uri="{FF2B5EF4-FFF2-40B4-BE49-F238E27FC236}">
                <a16:creationId xmlns:a16="http://schemas.microsoft.com/office/drawing/2014/main" id="{A0F6C68E-C689-D476-C138-3DAE407CD1BD}"/>
              </a:ext>
            </a:extLst>
          </p:cNvPr>
          <p:cNvGrpSpPr/>
          <p:nvPr/>
        </p:nvGrpSpPr>
        <p:grpSpPr>
          <a:xfrm>
            <a:off x="9914641" y="640516"/>
            <a:ext cx="256996" cy="256996"/>
            <a:chOff x="10170398" y="2275581"/>
            <a:chExt cx="1044240" cy="1044240"/>
          </a:xfrm>
          <a:solidFill>
            <a:srgbClr val="0B5892"/>
          </a:solidFill>
        </p:grpSpPr>
        <p:sp>
          <p:nvSpPr>
            <p:cNvPr id="65" name="Google Shape;2287;p50">
              <a:extLst>
                <a:ext uri="{FF2B5EF4-FFF2-40B4-BE49-F238E27FC236}">
                  <a16:creationId xmlns:a16="http://schemas.microsoft.com/office/drawing/2014/main" id="{007137B5-2618-498C-9C05-9C3A6A919EE5}"/>
                </a:ext>
              </a:extLst>
            </p:cNvPr>
            <p:cNvSpPr/>
            <p:nvPr/>
          </p:nvSpPr>
          <p:spPr>
            <a:xfrm>
              <a:off x="10170398" y="2275581"/>
              <a:ext cx="1044240" cy="1044240"/>
            </a:xfrm>
            <a:custGeom>
              <a:avLst/>
              <a:gdLst/>
              <a:ahLst/>
              <a:cxnLst/>
              <a:rect l="l" t="t" r="r" b="b"/>
              <a:pathLst>
                <a:path w="1044240" h="1044240" extrusionOk="0">
                  <a:moveTo>
                    <a:pt x="1043243" y="1023511"/>
                  </a:moveTo>
                  <a:lnTo>
                    <a:pt x="890278" y="620562"/>
                  </a:lnTo>
                  <a:cubicBezTo>
                    <a:pt x="889008" y="617215"/>
                    <a:pt x="886603" y="614420"/>
                    <a:pt x="883487" y="612664"/>
                  </a:cubicBezTo>
                  <a:lnTo>
                    <a:pt x="720557" y="520873"/>
                  </a:lnTo>
                  <a:lnTo>
                    <a:pt x="768125" y="445452"/>
                  </a:lnTo>
                  <a:cubicBezTo>
                    <a:pt x="797319" y="399126"/>
                    <a:pt x="812752" y="345590"/>
                    <a:pt x="812752" y="290633"/>
                  </a:cubicBezTo>
                  <a:cubicBezTo>
                    <a:pt x="812752" y="130377"/>
                    <a:pt x="682375" y="0"/>
                    <a:pt x="522119" y="0"/>
                  </a:cubicBezTo>
                  <a:cubicBezTo>
                    <a:pt x="361863" y="0"/>
                    <a:pt x="231486" y="130377"/>
                    <a:pt x="231486" y="290633"/>
                  </a:cubicBezTo>
                  <a:cubicBezTo>
                    <a:pt x="231486" y="345604"/>
                    <a:pt x="246925" y="399142"/>
                    <a:pt x="276135" y="445456"/>
                  </a:cubicBezTo>
                  <a:cubicBezTo>
                    <a:pt x="276917" y="446698"/>
                    <a:pt x="323691" y="520877"/>
                    <a:pt x="323691" y="520877"/>
                  </a:cubicBezTo>
                  <a:lnTo>
                    <a:pt x="160755" y="612664"/>
                  </a:lnTo>
                  <a:cubicBezTo>
                    <a:pt x="157637" y="614420"/>
                    <a:pt x="155232" y="617215"/>
                    <a:pt x="153961" y="620562"/>
                  </a:cubicBezTo>
                  <a:lnTo>
                    <a:pt x="997" y="1023511"/>
                  </a:lnTo>
                  <a:cubicBezTo>
                    <a:pt x="-1290" y="1029532"/>
                    <a:pt x="442" y="1036340"/>
                    <a:pt x="5323" y="1040539"/>
                  </a:cubicBezTo>
                  <a:cubicBezTo>
                    <a:pt x="10209" y="1044741"/>
                    <a:pt x="17195" y="1045432"/>
                    <a:pt x="22805" y="1042269"/>
                  </a:cubicBezTo>
                  <a:lnTo>
                    <a:pt x="268707" y="903732"/>
                  </a:lnTo>
                  <a:lnTo>
                    <a:pt x="514609" y="1042269"/>
                  </a:lnTo>
                  <a:cubicBezTo>
                    <a:pt x="519270" y="1044894"/>
                    <a:pt x="524966" y="1044894"/>
                    <a:pt x="529626" y="1042269"/>
                  </a:cubicBezTo>
                  <a:lnTo>
                    <a:pt x="775528" y="903732"/>
                  </a:lnTo>
                  <a:lnTo>
                    <a:pt x="1021430" y="1042269"/>
                  </a:lnTo>
                  <a:cubicBezTo>
                    <a:pt x="1023776" y="1043590"/>
                    <a:pt x="1026364" y="1044239"/>
                    <a:pt x="1028938" y="1044239"/>
                  </a:cubicBezTo>
                  <a:cubicBezTo>
                    <a:pt x="1032519" y="1044239"/>
                    <a:pt x="1036072" y="1042985"/>
                    <a:pt x="1038915" y="1040541"/>
                  </a:cubicBezTo>
                  <a:cubicBezTo>
                    <a:pt x="1043800" y="1036340"/>
                    <a:pt x="1045529" y="1029532"/>
                    <a:pt x="1043243" y="1023511"/>
                  </a:cubicBezTo>
                  <a:close/>
                  <a:moveTo>
                    <a:pt x="537417" y="792788"/>
                  </a:moveTo>
                  <a:cubicBezTo>
                    <a:pt x="546987" y="789410"/>
                    <a:pt x="555284" y="782904"/>
                    <a:pt x="560915" y="773989"/>
                  </a:cubicBezTo>
                  <a:cubicBezTo>
                    <a:pt x="561692" y="772765"/>
                    <a:pt x="691912" y="566296"/>
                    <a:pt x="691912" y="566296"/>
                  </a:cubicBezTo>
                  <a:lnTo>
                    <a:pt x="758235" y="878360"/>
                  </a:lnTo>
                  <a:lnTo>
                    <a:pt x="537417" y="1002763"/>
                  </a:lnTo>
                  <a:close/>
                  <a:moveTo>
                    <a:pt x="302013" y="429133"/>
                  </a:moveTo>
                  <a:cubicBezTo>
                    <a:pt x="275889" y="387710"/>
                    <a:pt x="262081" y="339818"/>
                    <a:pt x="262081" y="290631"/>
                  </a:cubicBezTo>
                  <a:cubicBezTo>
                    <a:pt x="262081" y="147244"/>
                    <a:pt x="378734" y="30591"/>
                    <a:pt x="522121" y="30591"/>
                  </a:cubicBezTo>
                  <a:cubicBezTo>
                    <a:pt x="665508" y="30591"/>
                    <a:pt x="782161" y="147244"/>
                    <a:pt x="782161" y="290631"/>
                  </a:cubicBezTo>
                  <a:cubicBezTo>
                    <a:pt x="782161" y="339808"/>
                    <a:pt x="768357" y="387704"/>
                    <a:pt x="742249" y="429133"/>
                  </a:cubicBezTo>
                  <a:cubicBezTo>
                    <a:pt x="740208" y="432370"/>
                    <a:pt x="538658" y="751989"/>
                    <a:pt x="535141" y="757510"/>
                  </a:cubicBezTo>
                  <a:cubicBezTo>
                    <a:pt x="535109" y="757557"/>
                    <a:pt x="535080" y="757606"/>
                    <a:pt x="535050" y="757653"/>
                  </a:cubicBezTo>
                  <a:cubicBezTo>
                    <a:pt x="532213" y="762139"/>
                    <a:pt x="527381" y="764821"/>
                    <a:pt x="522121" y="764821"/>
                  </a:cubicBezTo>
                  <a:cubicBezTo>
                    <a:pt x="516857" y="764821"/>
                    <a:pt x="512003" y="762127"/>
                    <a:pt x="509162" y="757661"/>
                  </a:cubicBezTo>
                  <a:cubicBezTo>
                    <a:pt x="507118" y="754420"/>
                    <a:pt x="305166" y="434169"/>
                    <a:pt x="302082" y="429245"/>
                  </a:cubicBezTo>
                  <a:cubicBezTo>
                    <a:pt x="302060" y="429209"/>
                    <a:pt x="302035" y="429172"/>
                    <a:pt x="302013" y="429133"/>
                  </a:cubicBezTo>
                  <a:close/>
                  <a:moveTo>
                    <a:pt x="180596" y="636598"/>
                  </a:moveTo>
                  <a:lnTo>
                    <a:pt x="323191" y="556267"/>
                  </a:lnTo>
                  <a:lnTo>
                    <a:pt x="298350" y="673141"/>
                  </a:lnTo>
                  <a:cubicBezTo>
                    <a:pt x="296594" y="681405"/>
                    <a:pt x="301868" y="689526"/>
                    <a:pt x="310130" y="691284"/>
                  </a:cubicBezTo>
                  <a:cubicBezTo>
                    <a:pt x="311203" y="691513"/>
                    <a:pt x="312274" y="691623"/>
                    <a:pt x="313326" y="691623"/>
                  </a:cubicBezTo>
                  <a:cubicBezTo>
                    <a:pt x="320393" y="691623"/>
                    <a:pt x="326744" y="686693"/>
                    <a:pt x="328272" y="679504"/>
                  </a:cubicBezTo>
                  <a:lnTo>
                    <a:pt x="352332" y="566306"/>
                  </a:lnTo>
                  <a:lnTo>
                    <a:pt x="483313" y="774030"/>
                  </a:lnTo>
                  <a:cubicBezTo>
                    <a:pt x="488964" y="782920"/>
                    <a:pt x="497267" y="789412"/>
                    <a:pt x="506820" y="792785"/>
                  </a:cubicBezTo>
                  <a:lnTo>
                    <a:pt x="506820" y="1002767"/>
                  </a:lnTo>
                  <a:lnTo>
                    <a:pt x="286007" y="878362"/>
                  </a:lnTo>
                  <a:lnTo>
                    <a:pt x="315553" y="739350"/>
                  </a:lnTo>
                  <a:cubicBezTo>
                    <a:pt x="317309" y="731086"/>
                    <a:pt x="312035" y="722964"/>
                    <a:pt x="303773" y="721206"/>
                  </a:cubicBezTo>
                  <a:cubicBezTo>
                    <a:pt x="295501" y="719440"/>
                    <a:pt x="287385" y="724726"/>
                    <a:pt x="285629" y="732986"/>
                  </a:cubicBezTo>
                  <a:lnTo>
                    <a:pt x="255181" y="876235"/>
                  </a:lnTo>
                  <a:lnTo>
                    <a:pt x="44588" y="994882"/>
                  </a:lnTo>
                  <a:close/>
                  <a:moveTo>
                    <a:pt x="789059" y="876237"/>
                  </a:moveTo>
                  <a:lnTo>
                    <a:pt x="721055" y="556265"/>
                  </a:lnTo>
                  <a:lnTo>
                    <a:pt x="863644" y="636598"/>
                  </a:lnTo>
                  <a:lnTo>
                    <a:pt x="999654" y="9948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2288;p50">
              <a:extLst>
                <a:ext uri="{FF2B5EF4-FFF2-40B4-BE49-F238E27FC236}">
                  <a16:creationId xmlns:a16="http://schemas.microsoft.com/office/drawing/2014/main" id="{3EEA4771-8FD8-B396-D0C0-CABA291D0D4A}"/>
                </a:ext>
              </a:extLst>
            </p:cNvPr>
            <p:cNvSpPr/>
            <p:nvPr/>
          </p:nvSpPr>
          <p:spPr>
            <a:xfrm>
              <a:off x="10524258" y="2397950"/>
              <a:ext cx="336522" cy="336522"/>
            </a:xfrm>
            <a:custGeom>
              <a:avLst/>
              <a:gdLst/>
              <a:ahLst/>
              <a:cxnLst/>
              <a:rect l="l" t="t" r="r" b="b"/>
              <a:pathLst>
                <a:path w="336522" h="336522" extrusionOk="0">
                  <a:moveTo>
                    <a:pt x="336522" y="168261"/>
                  </a:moveTo>
                  <a:cubicBezTo>
                    <a:pt x="336522" y="75483"/>
                    <a:pt x="261039" y="0"/>
                    <a:pt x="168261" y="0"/>
                  </a:cubicBezTo>
                  <a:cubicBezTo>
                    <a:pt x="75483" y="0"/>
                    <a:pt x="0" y="75483"/>
                    <a:pt x="0" y="168261"/>
                  </a:cubicBezTo>
                  <a:cubicBezTo>
                    <a:pt x="0" y="261039"/>
                    <a:pt x="75483" y="336522"/>
                    <a:pt x="168261" y="336522"/>
                  </a:cubicBezTo>
                  <a:cubicBezTo>
                    <a:pt x="261039" y="336522"/>
                    <a:pt x="336522" y="261039"/>
                    <a:pt x="336522" y="168261"/>
                  </a:cubicBezTo>
                  <a:close/>
                  <a:moveTo>
                    <a:pt x="30593" y="168261"/>
                  </a:moveTo>
                  <a:cubicBezTo>
                    <a:pt x="30593" y="92350"/>
                    <a:pt x="92350" y="30593"/>
                    <a:pt x="168261" y="30593"/>
                  </a:cubicBezTo>
                  <a:cubicBezTo>
                    <a:pt x="244172" y="30593"/>
                    <a:pt x="305929" y="92350"/>
                    <a:pt x="305929" y="168261"/>
                  </a:cubicBezTo>
                  <a:cubicBezTo>
                    <a:pt x="305929" y="244172"/>
                    <a:pt x="244172" y="305929"/>
                    <a:pt x="168261" y="305929"/>
                  </a:cubicBezTo>
                  <a:cubicBezTo>
                    <a:pt x="92350" y="305929"/>
                    <a:pt x="30593" y="244172"/>
                    <a:pt x="30593" y="16826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2289;p50">
              <a:extLst>
                <a:ext uri="{FF2B5EF4-FFF2-40B4-BE49-F238E27FC236}">
                  <a16:creationId xmlns:a16="http://schemas.microsoft.com/office/drawing/2014/main" id="{9816219E-23ED-D937-A9A2-1FBA745F8C73}"/>
                </a:ext>
              </a:extLst>
            </p:cNvPr>
            <p:cNvSpPr/>
            <p:nvPr/>
          </p:nvSpPr>
          <p:spPr>
            <a:xfrm>
              <a:off x="10585444" y="2459136"/>
              <a:ext cx="214150" cy="214150"/>
            </a:xfrm>
            <a:custGeom>
              <a:avLst/>
              <a:gdLst/>
              <a:ahLst/>
              <a:cxnLst/>
              <a:rect l="l" t="t" r="r" b="b"/>
              <a:pathLst>
                <a:path w="214150" h="214150" extrusionOk="0">
                  <a:moveTo>
                    <a:pt x="214151" y="107075"/>
                  </a:moveTo>
                  <a:cubicBezTo>
                    <a:pt x="214151" y="48035"/>
                    <a:pt x="166116" y="0"/>
                    <a:pt x="107075" y="0"/>
                  </a:cubicBezTo>
                  <a:cubicBezTo>
                    <a:pt x="48035" y="0"/>
                    <a:pt x="0" y="48035"/>
                    <a:pt x="0" y="107075"/>
                  </a:cubicBezTo>
                  <a:cubicBezTo>
                    <a:pt x="0" y="166116"/>
                    <a:pt x="48035" y="214151"/>
                    <a:pt x="107075" y="214151"/>
                  </a:cubicBezTo>
                  <a:cubicBezTo>
                    <a:pt x="166116" y="214151"/>
                    <a:pt x="214151" y="166116"/>
                    <a:pt x="214151" y="107075"/>
                  </a:cubicBezTo>
                  <a:close/>
                  <a:moveTo>
                    <a:pt x="30593" y="107075"/>
                  </a:moveTo>
                  <a:cubicBezTo>
                    <a:pt x="30593" y="64902"/>
                    <a:pt x="64902" y="30593"/>
                    <a:pt x="107075" y="30593"/>
                  </a:cubicBezTo>
                  <a:cubicBezTo>
                    <a:pt x="149249" y="30593"/>
                    <a:pt x="183558" y="64902"/>
                    <a:pt x="183558" y="107075"/>
                  </a:cubicBezTo>
                  <a:cubicBezTo>
                    <a:pt x="183558" y="149249"/>
                    <a:pt x="149249" y="183558"/>
                    <a:pt x="107075" y="183558"/>
                  </a:cubicBezTo>
                  <a:cubicBezTo>
                    <a:pt x="64902" y="183558"/>
                    <a:pt x="30593" y="149249"/>
                    <a:pt x="30593" y="1070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" name="Imagem 26">
            <a:extLst>
              <a:ext uri="{FF2B5EF4-FFF2-40B4-BE49-F238E27FC236}">
                <a16:creationId xmlns:a16="http://schemas.microsoft.com/office/drawing/2014/main" id="{6C7C2B50-B760-67CE-BCE5-86D88A0D6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30" name="Título 1">
            <a:extLst>
              <a:ext uri="{FF2B5EF4-FFF2-40B4-BE49-F238E27FC236}">
                <a16:creationId xmlns:a16="http://schemas.microsoft.com/office/drawing/2014/main" id="{0C812DC5-9D3E-9DFA-5814-BA4A951BF135}"/>
              </a:ext>
            </a:extLst>
          </p:cNvPr>
          <p:cNvSpPr txBox="1">
            <a:spLocks/>
          </p:cNvSpPr>
          <p:nvPr/>
        </p:nvSpPr>
        <p:spPr>
          <a:xfrm>
            <a:off x="3248168" y="3864620"/>
            <a:ext cx="5131558" cy="4480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Consumidor.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Gov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D17D4A1B-DB06-6695-EF03-693DE57C1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59146" y="2565415"/>
            <a:ext cx="2132458" cy="2132458"/>
          </a:xfrm>
          <a:prstGeom prst="rect">
            <a:avLst/>
          </a:prstGeom>
          <a:effectLst>
            <a:outerShdw blurRad="457200" dist="38100" dir="2700000" sx="106000" sy="106000" algn="tl" rotWithShape="0">
              <a:prstClr val="black">
                <a:alpha val="40000"/>
              </a:prstClr>
            </a:outerShdw>
            <a:reflection blurRad="6350" stA="50000" endA="300" endPos="55500" dist="101600" dir="5400000" sy="-100000" algn="bl" rotWithShape="0"/>
          </a:effectLst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7194D52F-E828-FB90-8FD6-6CD40B26C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10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75B4443A-AB0F-41A7-8EBD-850DB095055A}"/>
              </a:ext>
            </a:extLst>
          </p:cNvPr>
          <p:cNvSpPr/>
          <p:nvPr/>
        </p:nvSpPr>
        <p:spPr>
          <a:xfrm>
            <a:off x="3467190" y="3895016"/>
            <a:ext cx="4814164" cy="175290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CA314B76-9ED7-405F-8836-ADF96DD6847A}"/>
              </a:ext>
            </a:extLst>
          </p:cNvPr>
          <p:cNvSpPr/>
          <p:nvPr/>
        </p:nvSpPr>
        <p:spPr>
          <a:xfrm>
            <a:off x="3512911" y="3895017"/>
            <a:ext cx="4814164" cy="17529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F9B8545C-EE3B-4A2D-88AF-B393E3C17F99}"/>
              </a:ext>
            </a:extLst>
          </p:cNvPr>
          <p:cNvSpPr/>
          <p:nvPr/>
        </p:nvSpPr>
        <p:spPr>
          <a:xfrm>
            <a:off x="6171638" y="1885845"/>
            <a:ext cx="4814164" cy="173766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0D24A15-7CCF-4245-A75F-347C77ED1F42}"/>
              </a:ext>
            </a:extLst>
          </p:cNvPr>
          <p:cNvSpPr/>
          <p:nvPr/>
        </p:nvSpPr>
        <p:spPr>
          <a:xfrm>
            <a:off x="6194499" y="1897276"/>
            <a:ext cx="4790472" cy="17376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915379" y="2444842"/>
            <a:ext cx="3625927" cy="527350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B589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19E4ED5-6191-4819-BC5E-0686AFC2CEAF}"/>
              </a:ext>
            </a:extLst>
          </p:cNvPr>
          <p:cNvSpPr txBox="1">
            <a:spLocks/>
          </p:cNvSpPr>
          <p:nvPr/>
        </p:nvSpPr>
        <p:spPr>
          <a:xfrm>
            <a:off x="7150308" y="431573"/>
            <a:ext cx="4607974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CONSUMIDOR.GOV</a:t>
            </a:r>
          </a:p>
        </p:txBody>
      </p:sp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VISÃO GERAL DO CANAL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6CE0130-151A-4297-A436-4220E143FB10}"/>
              </a:ext>
            </a:extLst>
          </p:cNvPr>
          <p:cNvSpPr/>
          <p:nvPr/>
        </p:nvSpPr>
        <p:spPr>
          <a:xfrm>
            <a:off x="841448" y="1859175"/>
            <a:ext cx="4814164" cy="1752907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BB5200E-D583-4DFF-A3A0-F34072602F9F}"/>
              </a:ext>
            </a:extLst>
          </p:cNvPr>
          <p:cNvSpPr/>
          <p:nvPr/>
        </p:nvSpPr>
        <p:spPr>
          <a:xfrm>
            <a:off x="948129" y="1859176"/>
            <a:ext cx="4753204" cy="17529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F7528B4-88F4-468A-8E7C-E472BD29EE3C}"/>
              </a:ext>
            </a:extLst>
          </p:cNvPr>
          <p:cNvSpPr txBox="1"/>
          <p:nvPr/>
        </p:nvSpPr>
        <p:spPr>
          <a:xfrm>
            <a:off x="1219240" y="2126274"/>
            <a:ext cx="3758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Volume de Monitorias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04A5897-BEF2-4BD8-BE02-EA3E5D4A80D1}"/>
              </a:ext>
            </a:extLst>
          </p:cNvPr>
          <p:cNvSpPr txBox="1"/>
          <p:nvPr/>
        </p:nvSpPr>
        <p:spPr>
          <a:xfrm>
            <a:off x="1362295" y="2200680"/>
            <a:ext cx="18381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600" b="1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  <a:endParaRPr kumimoji="0" lang="pt-BR" sz="6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Google Shape;2081;p50">
            <a:extLst>
              <a:ext uri="{FF2B5EF4-FFF2-40B4-BE49-F238E27FC236}">
                <a16:creationId xmlns:a16="http://schemas.microsoft.com/office/drawing/2014/main" id="{BCBB39BF-ABF4-4D46-A5A2-ED525A956FBF}"/>
              </a:ext>
            </a:extLst>
          </p:cNvPr>
          <p:cNvSpPr/>
          <p:nvPr/>
        </p:nvSpPr>
        <p:spPr>
          <a:xfrm>
            <a:off x="5059638" y="2045692"/>
            <a:ext cx="192116" cy="240512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0CA63353-40AC-40B2-A5C2-734BB29F6637}"/>
              </a:ext>
            </a:extLst>
          </p:cNvPr>
          <p:cNvSpPr txBox="1"/>
          <p:nvPr/>
        </p:nvSpPr>
        <p:spPr>
          <a:xfrm>
            <a:off x="1207029" y="3196711"/>
            <a:ext cx="3953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A9E22E9-AA98-4B42-8F8D-6BE3DA249752}"/>
              </a:ext>
            </a:extLst>
          </p:cNvPr>
          <p:cNvSpPr txBox="1"/>
          <p:nvPr/>
        </p:nvSpPr>
        <p:spPr>
          <a:xfrm>
            <a:off x="6512383" y="2034834"/>
            <a:ext cx="1811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Média Do Mês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D33852A-A47C-4576-9C4A-3C972DD40094}"/>
              </a:ext>
            </a:extLst>
          </p:cNvPr>
          <p:cNvSpPr txBox="1"/>
          <p:nvPr/>
        </p:nvSpPr>
        <p:spPr>
          <a:xfrm>
            <a:off x="6428480" y="2299842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80,</a:t>
            </a:r>
            <a:r>
              <a:rPr lang="pt-BR" sz="6000" b="1" dirty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31C7B74-2118-4CDD-B0D0-DE1F77107782}"/>
              </a:ext>
            </a:extLst>
          </p:cNvPr>
          <p:cNvSpPr txBox="1"/>
          <p:nvPr/>
        </p:nvSpPr>
        <p:spPr>
          <a:xfrm>
            <a:off x="6502087" y="3269231"/>
            <a:ext cx="17278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(Qualidade + Operação)</a:t>
            </a:r>
          </a:p>
        </p:txBody>
      </p:sp>
      <p:grpSp>
        <p:nvGrpSpPr>
          <p:cNvPr id="41" name="Google Shape;2561;p51">
            <a:extLst>
              <a:ext uri="{FF2B5EF4-FFF2-40B4-BE49-F238E27FC236}">
                <a16:creationId xmlns:a16="http://schemas.microsoft.com/office/drawing/2014/main" id="{6FBEF20F-E903-44C4-881A-70AE6F8AEF33}"/>
              </a:ext>
            </a:extLst>
          </p:cNvPr>
          <p:cNvGrpSpPr/>
          <p:nvPr/>
        </p:nvGrpSpPr>
        <p:grpSpPr>
          <a:xfrm>
            <a:off x="10403127" y="2054092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42" name="Google Shape;2562;p51">
              <a:extLst>
                <a:ext uri="{FF2B5EF4-FFF2-40B4-BE49-F238E27FC236}">
                  <a16:creationId xmlns:a16="http://schemas.microsoft.com/office/drawing/2014/main" id="{864D4EBC-4F20-4F03-B58B-E924ED9A2A8A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Google Shape;2563;p51">
              <a:extLst>
                <a:ext uri="{FF2B5EF4-FFF2-40B4-BE49-F238E27FC236}">
                  <a16:creationId xmlns:a16="http://schemas.microsoft.com/office/drawing/2014/main" id="{B6FB790E-6181-494B-8F66-47D168E05014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Google Shape;2564;p51">
              <a:extLst>
                <a:ext uri="{FF2B5EF4-FFF2-40B4-BE49-F238E27FC236}">
                  <a16:creationId xmlns:a16="http://schemas.microsoft.com/office/drawing/2014/main" id="{099484A7-C227-4045-819C-75C2F7C47320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F0E6FE5-B17A-42B9-9A44-DCF89B81043E}"/>
              </a:ext>
            </a:extLst>
          </p:cNvPr>
          <p:cNvSpPr txBox="1"/>
          <p:nvPr/>
        </p:nvSpPr>
        <p:spPr>
          <a:xfrm>
            <a:off x="3820850" y="4029207"/>
            <a:ext cx="2149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Volume de Feedback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C6DA04E-F738-4A7B-BA80-252717B62CAA}"/>
              </a:ext>
            </a:extLst>
          </p:cNvPr>
          <p:cNvSpPr txBox="1"/>
          <p:nvPr/>
        </p:nvSpPr>
        <p:spPr>
          <a:xfrm>
            <a:off x="4045829" y="4175199"/>
            <a:ext cx="25081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48</a:t>
            </a:r>
          </a:p>
        </p:txBody>
      </p:sp>
      <p:grpSp>
        <p:nvGrpSpPr>
          <p:cNvPr id="49" name="Google Shape;3637;p53">
            <a:extLst>
              <a:ext uri="{FF2B5EF4-FFF2-40B4-BE49-F238E27FC236}">
                <a16:creationId xmlns:a16="http://schemas.microsoft.com/office/drawing/2014/main" id="{5F55345F-DD7D-4D97-A22E-8C6A53D2CE13}"/>
              </a:ext>
            </a:extLst>
          </p:cNvPr>
          <p:cNvGrpSpPr/>
          <p:nvPr/>
        </p:nvGrpSpPr>
        <p:grpSpPr>
          <a:xfrm>
            <a:off x="7611528" y="4117186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50" name="Google Shape;3638;p53">
              <a:extLst>
                <a:ext uri="{FF2B5EF4-FFF2-40B4-BE49-F238E27FC236}">
                  <a16:creationId xmlns:a16="http://schemas.microsoft.com/office/drawing/2014/main" id="{6E792E51-DF81-4979-B773-F615C8DC120C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Google Shape;3639;p53">
              <a:extLst>
                <a:ext uri="{FF2B5EF4-FFF2-40B4-BE49-F238E27FC236}">
                  <a16:creationId xmlns:a16="http://schemas.microsoft.com/office/drawing/2014/main" id="{19FDBECF-6FEE-4821-9285-1F80A438C8D0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Google Shape;3640;p53">
              <a:extLst>
                <a:ext uri="{FF2B5EF4-FFF2-40B4-BE49-F238E27FC236}">
                  <a16:creationId xmlns:a16="http://schemas.microsoft.com/office/drawing/2014/main" id="{C1914079-D4B5-4231-B503-B0017E60AC85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Google Shape;3641;p53">
              <a:extLst>
                <a:ext uri="{FF2B5EF4-FFF2-40B4-BE49-F238E27FC236}">
                  <a16:creationId xmlns:a16="http://schemas.microsoft.com/office/drawing/2014/main" id="{E63FD7C3-F576-41E5-8195-379E28F82DC0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Google Shape;3642;p53">
              <a:extLst>
                <a:ext uri="{FF2B5EF4-FFF2-40B4-BE49-F238E27FC236}">
                  <a16:creationId xmlns:a16="http://schemas.microsoft.com/office/drawing/2014/main" id="{2168DEE8-42A0-4A8E-BBD0-746835BDC4DA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Google Shape;3643;p53">
              <a:extLst>
                <a:ext uri="{FF2B5EF4-FFF2-40B4-BE49-F238E27FC236}">
                  <a16:creationId xmlns:a16="http://schemas.microsoft.com/office/drawing/2014/main" id="{751A078A-329B-42B3-ACE7-D5D03D0F90EE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Google Shape;3644;p53">
              <a:extLst>
                <a:ext uri="{FF2B5EF4-FFF2-40B4-BE49-F238E27FC236}">
                  <a16:creationId xmlns:a16="http://schemas.microsoft.com/office/drawing/2014/main" id="{AB869589-4FD0-4DAE-87C3-16B618BA7BFA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Google Shape;3645;p53">
              <a:extLst>
                <a:ext uri="{FF2B5EF4-FFF2-40B4-BE49-F238E27FC236}">
                  <a16:creationId xmlns:a16="http://schemas.microsoft.com/office/drawing/2014/main" id="{EE5BCDCB-AC0F-4F69-A95C-4B1B865D0205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Google Shape;3646;p53">
              <a:extLst>
                <a:ext uri="{FF2B5EF4-FFF2-40B4-BE49-F238E27FC236}">
                  <a16:creationId xmlns:a16="http://schemas.microsoft.com/office/drawing/2014/main" id="{3AA8BA00-0C5B-4CCC-9DFF-0B75C4860180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Google Shape;3647;p53">
              <a:extLst>
                <a:ext uri="{FF2B5EF4-FFF2-40B4-BE49-F238E27FC236}">
                  <a16:creationId xmlns:a16="http://schemas.microsoft.com/office/drawing/2014/main" id="{BAB53E3B-45F1-4AC8-B28D-AED515A90A19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Google Shape;3648;p53">
              <a:extLst>
                <a:ext uri="{FF2B5EF4-FFF2-40B4-BE49-F238E27FC236}">
                  <a16:creationId xmlns:a16="http://schemas.microsoft.com/office/drawing/2014/main" id="{6A8872E4-8E33-4935-B31D-692F17BC7464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Google Shape;3649;p53">
              <a:extLst>
                <a:ext uri="{FF2B5EF4-FFF2-40B4-BE49-F238E27FC236}">
                  <a16:creationId xmlns:a16="http://schemas.microsoft.com/office/drawing/2014/main" id="{C986010D-E52D-4E81-80D4-5A480B9E65D6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Google Shape;3650;p53">
              <a:extLst>
                <a:ext uri="{FF2B5EF4-FFF2-40B4-BE49-F238E27FC236}">
                  <a16:creationId xmlns:a16="http://schemas.microsoft.com/office/drawing/2014/main" id="{6F0AF0E7-F33F-439A-8903-55E54872F203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82527A-B164-4794-830B-92A3A7349125}"/>
              </a:ext>
            </a:extLst>
          </p:cNvPr>
          <p:cNvSpPr txBox="1"/>
          <p:nvPr/>
        </p:nvSpPr>
        <p:spPr>
          <a:xfrm>
            <a:off x="3307732" y="5146852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DE2F8EFF-F33D-4250-8441-37B57FADC64A}"/>
              </a:ext>
            </a:extLst>
          </p:cNvPr>
          <p:cNvSpPr/>
          <p:nvPr/>
        </p:nvSpPr>
        <p:spPr>
          <a:xfrm>
            <a:off x="9437580" y="2460899"/>
            <a:ext cx="983649" cy="329956"/>
          </a:xfrm>
          <a:prstGeom prst="roundRect">
            <a:avLst/>
          </a:prstGeom>
          <a:solidFill>
            <a:srgbClr val="00B0F0">
              <a:alpha val="33000"/>
            </a:srgb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C02844A9-7651-4753-B295-E91FA142E752}"/>
              </a:ext>
            </a:extLst>
          </p:cNvPr>
          <p:cNvSpPr txBox="1"/>
          <p:nvPr/>
        </p:nvSpPr>
        <p:spPr>
          <a:xfrm>
            <a:off x="9778194" y="2548362"/>
            <a:ext cx="5862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9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87,32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B6AC2246-F4DE-4F0D-9991-D269E36B8956}"/>
              </a:ext>
            </a:extLst>
          </p:cNvPr>
          <p:cNvSpPr txBox="1"/>
          <p:nvPr/>
        </p:nvSpPr>
        <p:spPr>
          <a:xfrm>
            <a:off x="9639834" y="2446575"/>
            <a:ext cx="69393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Mês anterior </a:t>
            </a:r>
          </a:p>
        </p:txBody>
      </p:sp>
      <p:sp>
        <p:nvSpPr>
          <p:cNvPr id="72" name="Google Shape;2252;p50">
            <a:extLst>
              <a:ext uri="{FF2B5EF4-FFF2-40B4-BE49-F238E27FC236}">
                <a16:creationId xmlns:a16="http://schemas.microsoft.com/office/drawing/2014/main" id="{DC8ABE9C-FF66-4A29-BC5A-6ACA7897B022}"/>
              </a:ext>
            </a:extLst>
          </p:cNvPr>
          <p:cNvSpPr/>
          <p:nvPr/>
        </p:nvSpPr>
        <p:spPr>
          <a:xfrm>
            <a:off x="9539371" y="2593258"/>
            <a:ext cx="211300" cy="131628"/>
          </a:xfrm>
          <a:custGeom>
            <a:avLst/>
            <a:gdLst/>
            <a:ahLst/>
            <a:cxnLst/>
            <a:rect l="l" t="t" r="r" b="b"/>
            <a:pathLst>
              <a:path w="10419" h="6490" extrusionOk="0">
                <a:moveTo>
                  <a:pt x="2751" y="2905"/>
                </a:moveTo>
                <a:lnTo>
                  <a:pt x="2751" y="6191"/>
                </a:lnTo>
                <a:lnTo>
                  <a:pt x="1429" y="6191"/>
                </a:lnTo>
                <a:lnTo>
                  <a:pt x="1429" y="2905"/>
                </a:lnTo>
                <a:close/>
                <a:moveTo>
                  <a:pt x="5847" y="2084"/>
                </a:moveTo>
                <a:lnTo>
                  <a:pt x="5847" y="6191"/>
                </a:lnTo>
                <a:lnTo>
                  <a:pt x="4525" y="6191"/>
                </a:lnTo>
                <a:lnTo>
                  <a:pt x="4525" y="2084"/>
                </a:lnTo>
                <a:close/>
                <a:moveTo>
                  <a:pt x="8942" y="298"/>
                </a:moveTo>
                <a:lnTo>
                  <a:pt x="8942" y="6191"/>
                </a:lnTo>
                <a:lnTo>
                  <a:pt x="7609" y="6191"/>
                </a:lnTo>
                <a:lnTo>
                  <a:pt x="7609" y="298"/>
                </a:lnTo>
                <a:close/>
                <a:moveTo>
                  <a:pt x="7466" y="0"/>
                </a:moveTo>
                <a:cubicBezTo>
                  <a:pt x="7383" y="0"/>
                  <a:pt x="7323" y="72"/>
                  <a:pt x="7323" y="155"/>
                </a:cubicBezTo>
                <a:lnTo>
                  <a:pt x="7323" y="6191"/>
                </a:lnTo>
                <a:lnTo>
                  <a:pt x="6156" y="6191"/>
                </a:lnTo>
                <a:lnTo>
                  <a:pt x="6156" y="1941"/>
                </a:lnTo>
                <a:cubicBezTo>
                  <a:pt x="6156" y="1846"/>
                  <a:pt x="6085" y="1786"/>
                  <a:pt x="6013" y="1786"/>
                </a:cubicBezTo>
                <a:lnTo>
                  <a:pt x="4370" y="1786"/>
                </a:lnTo>
                <a:cubicBezTo>
                  <a:pt x="4287" y="1786"/>
                  <a:pt x="4227" y="1858"/>
                  <a:pt x="4227" y="1941"/>
                </a:cubicBezTo>
                <a:lnTo>
                  <a:pt x="4227" y="6191"/>
                </a:lnTo>
                <a:lnTo>
                  <a:pt x="3061" y="6191"/>
                </a:lnTo>
                <a:lnTo>
                  <a:pt x="3061" y="2751"/>
                </a:lnTo>
                <a:cubicBezTo>
                  <a:pt x="3061" y="2667"/>
                  <a:pt x="2989" y="2608"/>
                  <a:pt x="2918" y="2608"/>
                </a:cubicBezTo>
                <a:lnTo>
                  <a:pt x="1275" y="2608"/>
                </a:lnTo>
                <a:cubicBezTo>
                  <a:pt x="1191" y="2608"/>
                  <a:pt x="1132" y="2679"/>
                  <a:pt x="1132" y="2751"/>
                </a:cubicBezTo>
                <a:lnTo>
                  <a:pt x="1132" y="6191"/>
                </a:lnTo>
                <a:lnTo>
                  <a:pt x="144" y="6191"/>
                </a:lnTo>
                <a:cubicBezTo>
                  <a:pt x="60" y="6191"/>
                  <a:pt x="1" y="6263"/>
                  <a:pt x="1" y="6346"/>
                </a:cubicBezTo>
                <a:cubicBezTo>
                  <a:pt x="1" y="6430"/>
                  <a:pt x="72" y="6489"/>
                  <a:pt x="144" y="6489"/>
                </a:cubicBezTo>
                <a:lnTo>
                  <a:pt x="10264" y="6489"/>
                </a:lnTo>
                <a:cubicBezTo>
                  <a:pt x="10359" y="6489"/>
                  <a:pt x="10419" y="6418"/>
                  <a:pt x="10419" y="6346"/>
                </a:cubicBezTo>
                <a:cubicBezTo>
                  <a:pt x="10395" y="6251"/>
                  <a:pt x="10323" y="6191"/>
                  <a:pt x="10240" y="6191"/>
                </a:cubicBezTo>
                <a:lnTo>
                  <a:pt x="9252" y="6191"/>
                </a:lnTo>
                <a:lnTo>
                  <a:pt x="9252" y="155"/>
                </a:lnTo>
                <a:cubicBezTo>
                  <a:pt x="9252" y="60"/>
                  <a:pt x="9180" y="0"/>
                  <a:pt x="9109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9143A6E9-6809-466E-8A9A-B26F01387941}"/>
              </a:ext>
            </a:extLst>
          </p:cNvPr>
          <p:cNvSpPr/>
          <p:nvPr/>
        </p:nvSpPr>
        <p:spPr>
          <a:xfrm>
            <a:off x="9440352" y="2923640"/>
            <a:ext cx="983649" cy="329956"/>
          </a:xfrm>
          <a:prstGeom prst="roundRect">
            <a:avLst/>
          </a:prstGeom>
          <a:solidFill>
            <a:srgbClr val="FF33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BACBD4EB-8C45-4F25-8447-C28AE2745340}"/>
              </a:ext>
            </a:extLst>
          </p:cNvPr>
          <p:cNvSpPr txBox="1"/>
          <p:nvPr/>
        </p:nvSpPr>
        <p:spPr>
          <a:xfrm>
            <a:off x="9653178" y="3011595"/>
            <a:ext cx="7458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- 6,89</a:t>
            </a:r>
          </a:p>
        </p:txBody>
      </p:sp>
      <p:grpSp>
        <p:nvGrpSpPr>
          <p:cNvPr id="73" name="Google Shape;2139;p50">
            <a:extLst>
              <a:ext uri="{FF2B5EF4-FFF2-40B4-BE49-F238E27FC236}">
                <a16:creationId xmlns:a16="http://schemas.microsoft.com/office/drawing/2014/main" id="{CAE335B8-3CA4-4FF0-847E-A163EBF508F9}"/>
              </a:ext>
            </a:extLst>
          </p:cNvPr>
          <p:cNvGrpSpPr/>
          <p:nvPr/>
        </p:nvGrpSpPr>
        <p:grpSpPr>
          <a:xfrm>
            <a:off x="9526403" y="3001444"/>
            <a:ext cx="207026" cy="206636"/>
            <a:chOff x="1421638" y="4125629"/>
            <a:chExt cx="374709" cy="374010"/>
          </a:xfrm>
          <a:solidFill>
            <a:schemeClr val="bg1">
              <a:lumMod val="95000"/>
            </a:schemeClr>
          </a:solidFill>
        </p:grpSpPr>
        <p:sp>
          <p:nvSpPr>
            <p:cNvPr id="74" name="Google Shape;2140;p50">
              <a:extLst>
                <a:ext uri="{FF2B5EF4-FFF2-40B4-BE49-F238E27FC236}">
                  <a16:creationId xmlns:a16="http://schemas.microsoft.com/office/drawing/2014/main" id="{0E956040-C3F6-4F7E-B01D-AA0390AEA9DC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Google Shape;2141;p50">
              <a:extLst>
                <a:ext uri="{FF2B5EF4-FFF2-40B4-BE49-F238E27FC236}">
                  <a16:creationId xmlns:a16="http://schemas.microsoft.com/office/drawing/2014/main" id="{6213F634-69C5-45D1-B0CA-B369B824C994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396FFDF2-17CD-4FD1-A7F0-E53220611038}"/>
              </a:ext>
            </a:extLst>
          </p:cNvPr>
          <p:cNvSpPr txBox="1"/>
          <p:nvPr/>
        </p:nvSpPr>
        <p:spPr>
          <a:xfrm>
            <a:off x="9445870" y="2903922"/>
            <a:ext cx="9698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Queda</a:t>
            </a: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2EEE25DB-99F5-4C8F-86C1-D827EA728EF2}"/>
              </a:ext>
            </a:extLst>
          </p:cNvPr>
          <p:cNvSpPr/>
          <p:nvPr/>
        </p:nvSpPr>
        <p:spPr>
          <a:xfrm>
            <a:off x="6698070" y="4667983"/>
            <a:ext cx="921752" cy="360432"/>
          </a:xfrm>
          <a:prstGeom prst="roundRect">
            <a:avLst/>
          </a:prstGeom>
          <a:solidFill>
            <a:srgbClr val="A7E1C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5CD1DE65-5668-42EC-8C03-D363DB0A175C}"/>
              </a:ext>
            </a:extLst>
          </p:cNvPr>
          <p:cNvSpPr txBox="1"/>
          <p:nvPr/>
        </p:nvSpPr>
        <p:spPr>
          <a:xfrm>
            <a:off x="6913993" y="4775656"/>
            <a:ext cx="6871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92" name="Google Shape;2139;p50">
            <a:extLst>
              <a:ext uri="{FF2B5EF4-FFF2-40B4-BE49-F238E27FC236}">
                <a16:creationId xmlns:a16="http://schemas.microsoft.com/office/drawing/2014/main" id="{5BFCF830-72A2-40BF-B938-0F06C6710D0B}"/>
              </a:ext>
            </a:extLst>
          </p:cNvPr>
          <p:cNvGrpSpPr/>
          <p:nvPr/>
        </p:nvGrpSpPr>
        <p:grpSpPr>
          <a:xfrm>
            <a:off x="6787217" y="4765505"/>
            <a:ext cx="207026" cy="206636"/>
            <a:chOff x="1421638" y="4125629"/>
            <a:chExt cx="374709" cy="374010"/>
          </a:xfrm>
          <a:solidFill>
            <a:srgbClr val="00B050"/>
          </a:solidFill>
        </p:grpSpPr>
        <p:sp>
          <p:nvSpPr>
            <p:cNvPr id="93" name="Google Shape;2140;p50">
              <a:extLst>
                <a:ext uri="{FF2B5EF4-FFF2-40B4-BE49-F238E27FC236}">
                  <a16:creationId xmlns:a16="http://schemas.microsoft.com/office/drawing/2014/main" id="{1F72AE8B-F832-47E2-9940-D5751A0FD10A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Google Shape;2141;p50">
              <a:extLst>
                <a:ext uri="{FF2B5EF4-FFF2-40B4-BE49-F238E27FC236}">
                  <a16:creationId xmlns:a16="http://schemas.microsoft.com/office/drawing/2014/main" id="{8A69BAD6-A7A3-49EB-847B-57F4FCFD09E1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5FAD3610-97DE-4BC5-9329-57B2739CA52D}"/>
              </a:ext>
            </a:extLst>
          </p:cNvPr>
          <p:cNvSpPr txBox="1"/>
          <p:nvPr/>
        </p:nvSpPr>
        <p:spPr>
          <a:xfrm>
            <a:off x="6961079" y="4667983"/>
            <a:ext cx="5862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Aplicação</a:t>
            </a:r>
          </a:p>
        </p:txBody>
      </p:sp>
      <p:pic>
        <p:nvPicPr>
          <p:cNvPr id="103" name="Imagem 102">
            <a:extLst>
              <a:ext uri="{FF2B5EF4-FFF2-40B4-BE49-F238E27FC236}">
                <a16:creationId xmlns:a16="http://schemas.microsoft.com/office/drawing/2014/main" id="{340E386D-CEBE-465A-A7DD-870028909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3627924-30A8-DEC6-467A-1A63AC7C4219}"/>
              </a:ext>
            </a:extLst>
          </p:cNvPr>
          <p:cNvSpPr/>
          <p:nvPr/>
        </p:nvSpPr>
        <p:spPr>
          <a:xfrm>
            <a:off x="3585938" y="2960870"/>
            <a:ext cx="1909219" cy="329956"/>
          </a:xfrm>
          <a:prstGeom prst="roundRect">
            <a:avLst/>
          </a:prstGeom>
          <a:solidFill>
            <a:srgbClr val="A7E1C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885349-6DBD-A5EA-F16D-0AE684607EB7}"/>
              </a:ext>
            </a:extLst>
          </p:cNvPr>
          <p:cNvSpPr txBox="1"/>
          <p:nvPr/>
        </p:nvSpPr>
        <p:spPr>
          <a:xfrm>
            <a:off x="3573412" y="3010432"/>
            <a:ext cx="21035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monitorias justificadas</a:t>
            </a:r>
          </a:p>
        </p:txBody>
      </p:sp>
      <p:grpSp>
        <p:nvGrpSpPr>
          <p:cNvPr id="7" name="Google Shape;2139;p50">
            <a:extLst>
              <a:ext uri="{FF2B5EF4-FFF2-40B4-BE49-F238E27FC236}">
                <a16:creationId xmlns:a16="http://schemas.microsoft.com/office/drawing/2014/main" id="{0B859F14-B172-3386-7712-BC7671558C0A}"/>
              </a:ext>
            </a:extLst>
          </p:cNvPr>
          <p:cNvGrpSpPr/>
          <p:nvPr/>
        </p:nvGrpSpPr>
        <p:grpSpPr>
          <a:xfrm>
            <a:off x="3695195" y="3012379"/>
            <a:ext cx="207026" cy="206636"/>
            <a:chOff x="1421638" y="4125629"/>
            <a:chExt cx="374709" cy="374010"/>
          </a:xfrm>
          <a:solidFill>
            <a:srgbClr val="00B050"/>
          </a:solidFill>
        </p:grpSpPr>
        <p:sp>
          <p:nvSpPr>
            <p:cNvPr id="9" name="Google Shape;2140;p50">
              <a:extLst>
                <a:ext uri="{FF2B5EF4-FFF2-40B4-BE49-F238E27FC236}">
                  <a16:creationId xmlns:a16="http://schemas.microsoft.com/office/drawing/2014/main" id="{89515843-4C1D-215A-18E9-FE8E861666BA}"/>
                </a:ext>
              </a:extLst>
            </p:cNvPr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2141;p50">
              <a:extLst>
                <a:ext uri="{FF2B5EF4-FFF2-40B4-BE49-F238E27FC236}">
                  <a16:creationId xmlns:a16="http://schemas.microsoft.com/office/drawing/2014/main" id="{41ABB4AE-A4A8-8C3D-DA9A-967D3AB7B1D0}"/>
                </a:ext>
              </a:extLst>
            </p:cNvPr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60105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18521" y="4681854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081505" y="-2125340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VISÃO POR CICLOS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4" name="Gráfico 103">
            <a:extLst>
              <a:ext uri="{FF2B5EF4-FFF2-40B4-BE49-F238E27FC236}">
                <a16:creationId xmlns:a16="http://schemas.microsoft.com/office/drawing/2014/main" id="{7F29A529-8C89-46A4-A733-2C6C8EC952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4598704"/>
              </p:ext>
            </p:extLst>
          </p:nvPr>
        </p:nvGraphicFramePr>
        <p:xfrm>
          <a:off x="1147712" y="2006930"/>
          <a:ext cx="4157940" cy="1757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C6473394-799A-44A9-BA31-CF46E95925AD}"/>
              </a:ext>
            </a:extLst>
          </p:cNvPr>
          <p:cNvSpPr txBox="1"/>
          <p:nvPr/>
        </p:nvSpPr>
        <p:spPr>
          <a:xfrm>
            <a:off x="1294993" y="1638285"/>
            <a:ext cx="3758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Volume de Monitorias </a:t>
            </a:r>
          </a:p>
        </p:txBody>
      </p:sp>
      <p:graphicFrame>
        <p:nvGraphicFramePr>
          <p:cNvPr id="106" name="Tabela 105">
            <a:extLst>
              <a:ext uri="{FF2B5EF4-FFF2-40B4-BE49-F238E27FC236}">
                <a16:creationId xmlns:a16="http://schemas.microsoft.com/office/drawing/2014/main" id="{7DDD1E95-3CD5-466E-99A8-89970A230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757156"/>
              </p:ext>
            </p:extLst>
          </p:nvPr>
        </p:nvGraphicFramePr>
        <p:xfrm>
          <a:off x="1400358" y="4729429"/>
          <a:ext cx="3822477" cy="63516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7415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qualidade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supervisão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Margem de erro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18%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E66C4CB9-9CD9-49E1-8372-BBBB577F2680}"/>
              </a:ext>
            </a:extLst>
          </p:cNvPr>
          <p:cNvCxnSpPr>
            <a:cxnSpLocks/>
          </p:cNvCxnSpPr>
          <p:nvPr/>
        </p:nvCxnSpPr>
        <p:spPr>
          <a:xfrm>
            <a:off x="6096000" y="1848607"/>
            <a:ext cx="34403" cy="37287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Gráfico 25">
            <a:extLst>
              <a:ext uri="{FF2B5EF4-FFF2-40B4-BE49-F238E27FC236}">
                <a16:creationId xmlns:a16="http://schemas.microsoft.com/office/drawing/2014/main" id="{CE1C9029-2899-4182-87BA-4652FFBC28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3357337"/>
              </p:ext>
            </p:extLst>
          </p:nvPr>
        </p:nvGraphicFramePr>
        <p:xfrm>
          <a:off x="6858000" y="2022809"/>
          <a:ext cx="4157940" cy="17570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7" name="CaixaDeTexto 26">
            <a:extLst>
              <a:ext uri="{FF2B5EF4-FFF2-40B4-BE49-F238E27FC236}">
                <a16:creationId xmlns:a16="http://schemas.microsoft.com/office/drawing/2014/main" id="{6C361242-B178-4979-B54C-68D4AAA5711A}"/>
              </a:ext>
            </a:extLst>
          </p:cNvPr>
          <p:cNvSpPr txBox="1"/>
          <p:nvPr/>
        </p:nvSpPr>
        <p:spPr>
          <a:xfrm>
            <a:off x="6927804" y="1635312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Classificação das Monitorias </a:t>
            </a:r>
          </a:p>
        </p:txBody>
      </p:sp>
      <p:graphicFrame>
        <p:nvGraphicFramePr>
          <p:cNvPr id="28" name="Tabela 27">
            <a:extLst>
              <a:ext uri="{FF2B5EF4-FFF2-40B4-BE49-F238E27FC236}">
                <a16:creationId xmlns:a16="http://schemas.microsoft.com/office/drawing/2014/main" id="{B7DEE6CE-3286-4828-8325-E256C5CEF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055365"/>
              </p:ext>
            </p:extLst>
          </p:nvPr>
        </p:nvGraphicFramePr>
        <p:xfrm>
          <a:off x="7005281" y="4064594"/>
          <a:ext cx="3822477" cy="68776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7415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127415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</a:tblGrid>
              <a:tr h="23660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NCG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Excelência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95986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(16,33%)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(30,61%)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rgbClr val="59595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 (53,06%)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graphicFrame>
        <p:nvGraphicFramePr>
          <p:cNvPr id="30" name="Tabela 29">
            <a:extLst>
              <a:ext uri="{FF2B5EF4-FFF2-40B4-BE49-F238E27FC236}">
                <a16:creationId xmlns:a16="http://schemas.microsoft.com/office/drawing/2014/main" id="{6A7033CE-8E82-41A8-9F6A-4D6F557D3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442440"/>
              </p:ext>
            </p:extLst>
          </p:nvPr>
        </p:nvGraphicFramePr>
        <p:xfrm>
          <a:off x="7173142" y="5088122"/>
          <a:ext cx="3654616" cy="97854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13654">
                  <a:extLst>
                    <a:ext uri="{9D8B030D-6E8A-4147-A177-3AD203B41FA5}">
                      <a16:colId xmlns:a16="http://schemas.microsoft.com/office/drawing/2014/main" val="1531427166"/>
                    </a:ext>
                  </a:extLst>
                </a:gridCol>
                <a:gridCol w="913654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913654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913654">
                  <a:extLst>
                    <a:ext uri="{9D8B030D-6E8A-4147-A177-3AD203B41FA5}">
                      <a16:colId xmlns:a16="http://schemas.microsoft.com/office/drawing/2014/main" val="1257820269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Excelência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NCG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Operação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 (57,89%)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(21,05%)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(21,05%)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810871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Qualidade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(50%)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 (36,67%)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(13,33%)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21114"/>
                  </a:ext>
                </a:extLst>
              </a:tr>
            </a:tbl>
          </a:graphicData>
        </a:graphic>
      </p:graphicFrame>
      <p:pic>
        <p:nvPicPr>
          <p:cNvPr id="31" name="Imagem 30">
            <a:extLst>
              <a:ext uri="{FF2B5EF4-FFF2-40B4-BE49-F238E27FC236}">
                <a16:creationId xmlns:a16="http://schemas.microsoft.com/office/drawing/2014/main" id="{936DF459-A481-4909-B847-906691B7E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D56CEA7-40D6-400D-128B-5F48284E4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701781"/>
              </p:ext>
            </p:extLst>
          </p:nvPr>
        </p:nvGraphicFramePr>
        <p:xfrm>
          <a:off x="1430643" y="3834928"/>
          <a:ext cx="3867956" cy="63516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66989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2373962523"/>
                    </a:ext>
                  </a:extLst>
                </a:gridCol>
                <a:gridCol w="966989">
                  <a:extLst>
                    <a:ext uri="{9D8B030D-6E8A-4147-A177-3AD203B41FA5}">
                      <a16:colId xmlns:a16="http://schemas.microsoft.com/office/drawing/2014/main" val="1961687730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4° Ciclo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835773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86E5AC89-D663-4637-84A6-F4F91104BCFD}"/>
              </a:ext>
            </a:extLst>
          </p:cNvPr>
          <p:cNvSpPr txBox="1">
            <a:spLocks/>
          </p:cNvSpPr>
          <p:nvPr/>
        </p:nvSpPr>
        <p:spPr>
          <a:xfrm>
            <a:off x="7150308" y="431573"/>
            <a:ext cx="4607974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B27ED83-FAD6-4286-B914-5066AAD0A219}"/>
              </a:ext>
            </a:extLst>
          </p:cNvPr>
          <p:cNvSpPr/>
          <p:nvPr/>
        </p:nvSpPr>
        <p:spPr>
          <a:xfrm>
            <a:off x="1138876" y="5553624"/>
            <a:ext cx="4402601" cy="93155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Google Shape;2124;p50">
            <a:extLst>
              <a:ext uri="{FF2B5EF4-FFF2-40B4-BE49-F238E27FC236}">
                <a16:creationId xmlns:a16="http://schemas.microsoft.com/office/drawing/2014/main" id="{5ABB601D-15A9-4764-B89B-064C2C58F973}"/>
              </a:ext>
            </a:extLst>
          </p:cNvPr>
          <p:cNvGrpSpPr/>
          <p:nvPr/>
        </p:nvGrpSpPr>
        <p:grpSpPr>
          <a:xfrm>
            <a:off x="1274526" y="5577904"/>
            <a:ext cx="286337" cy="286644"/>
            <a:chOff x="4673540" y="3680297"/>
            <a:chExt cx="355434" cy="355815"/>
          </a:xfrm>
        </p:grpSpPr>
        <p:sp>
          <p:nvSpPr>
            <p:cNvPr id="34" name="Google Shape;2125;p50">
              <a:extLst>
                <a:ext uri="{FF2B5EF4-FFF2-40B4-BE49-F238E27FC236}">
                  <a16:creationId xmlns:a16="http://schemas.microsoft.com/office/drawing/2014/main" id="{F880FD2C-6F44-4F1B-8C8E-419AD79982C9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Google Shape;2126;p50">
              <a:extLst>
                <a:ext uri="{FF2B5EF4-FFF2-40B4-BE49-F238E27FC236}">
                  <a16:creationId xmlns:a16="http://schemas.microsoft.com/office/drawing/2014/main" id="{EE3EE849-6D25-4206-9E05-63F85CB91831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Google Shape;2127;p50">
              <a:extLst>
                <a:ext uri="{FF2B5EF4-FFF2-40B4-BE49-F238E27FC236}">
                  <a16:creationId xmlns:a16="http://schemas.microsoft.com/office/drawing/2014/main" id="{129F4566-23B2-4E5B-BBA4-82F94A9AE72F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A3C93B4-BDA1-43F1-A38B-77C579F67CBC}"/>
              </a:ext>
            </a:extLst>
          </p:cNvPr>
          <p:cNvSpPr txBox="1"/>
          <p:nvPr/>
        </p:nvSpPr>
        <p:spPr>
          <a:xfrm>
            <a:off x="1560839" y="5479409"/>
            <a:ext cx="440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sz="1200" dirty="0"/>
              <a:t>O volume de monitorias apresentou </a:t>
            </a:r>
            <a:r>
              <a:rPr lang="pt-BR" sz="1200" b="1" dirty="0"/>
              <a:t>evolução ao longo dos ciclos</a:t>
            </a:r>
            <a:r>
              <a:rPr lang="pt-BR" sz="1200" dirty="0"/>
              <a:t>, passando de </a:t>
            </a:r>
            <a:r>
              <a:rPr lang="pt-BR" sz="1200" b="1" dirty="0"/>
              <a:t>8 monitorias no 1º ciclo para 15 no 3º e 4º ciclos</a:t>
            </a:r>
            <a:r>
              <a:rPr lang="pt-BR" sz="1200" dirty="0"/>
              <a:t>. A Qualidade realizou </a:t>
            </a:r>
            <a:r>
              <a:rPr lang="pt-BR" sz="1200" b="1" dirty="0"/>
              <a:t>30 monitorias</a:t>
            </a:r>
            <a:r>
              <a:rPr lang="pt-BR" sz="1200" dirty="0"/>
              <a:t>, enquanto a Supervisão realizou </a:t>
            </a:r>
            <a:r>
              <a:rPr lang="pt-BR" sz="1200" b="1" dirty="0"/>
              <a:t>19. </a:t>
            </a:r>
            <a:r>
              <a:rPr lang="pt-BR" sz="1200" dirty="0"/>
              <a:t>Observa-se maior equilíbrio entre as áreas nos últimos ciclos.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3447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18521" y="4681854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MÉDIA DO CANAL 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751BA167-80F5-4834-A5C7-E8ED41135E2E}"/>
              </a:ext>
            </a:extLst>
          </p:cNvPr>
          <p:cNvSpPr txBox="1"/>
          <p:nvPr/>
        </p:nvSpPr>
        <p:spPr>
          <a:xfrm>
            <a:off x="1549613" y="1890202"/>
            <a:ext cx="372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Médias por ciclos </a:t>
            </a:r>
          </a:p>
        </p:txBody>
      </p:sp>
      <p:graphicFrame>
        <p:nvGraphicFramePr>
          <p:cNvPr id="114" name="Gráfico 113">
            <a:extLst>
              <a:ext uri="{FF2B5EF4-FFF2-40B4-BE49-F238E27FC236}">
                <a16:creationId xmlns:a16="http://schemas.microsoft.com/office/drawing/2014/main" id="{7D3C7095-828E-4C06-BD03-D01C402F70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6479494"/>
              </p:ext>
            </p:extLst>
          </p:nvPr>
        </p:nvGraphicFramePr>
        <p:xfrm>
          <a:off x="1330893" y="2445001"/>
          <a:ext cx="4157940" cy="1533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5" name="Gráfico 114">
            <a:extLst>
              <a:ext uri="{FF2B5EF4-FFF2-40B4-BE49-F238E27FC236}">
                <a16:creationId xmlns:a16="http://schemas.microsoft.com/office/drawing/2014/main" id="{E2098B98-DBDA-4BD6-9D64-5C4C6FDA77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7906995"/>
              </p:ext>
            </p:extLst>
          </p:nvPr>
        </p:nvGraphicFramePr>
        <p:xfrm>
          <a:off x="6737570" y="2495204"/>
          <a:ext cx="4157940" cy="1681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CaixaDeTexto 30">
            <a:extLst>
              <a:ext uri="{FF2B5EF4-FFF2-40B4-BE49-F238E27FC236}">
                <a16:creationId xmlns:a16="http://schemas.microsoft.com/office/drawing/2014/main" id="{8351364F-9B64-4F08-9C15-EDDFE9AC06B3}"/>
              </a:ext>
            </a:extLst>
          </p:cNvPr>
          <p:cNvSpPr txBox="1"/>
          <p:nvPr/>
        </p:nvSpPr>
        <p:spPr>
          <a:xfrm>
            <a:off x="7072510" y="1863435"/>
            <a:ext cx="3720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Operação vs. Qualidade</a:t>
            </a:r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F978C618-01F7-4633-A987-CCB8366D669E}"/>
              </a:ext>
            </a:extLst>
          </p:cNvPr>
          <p:cNvCxnSpPr>
            <a:cxnSpLocks/>
          </p:cNvCxnSpPr>
          <p:nvPr/>
        </p:nvCxnSpPr>
        <p:spPr>
          <a:xfrm>
            <a:off x="6235547" y="2171212"/>
            <a:ext cx="0" cy="1691089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Imagem 45">
            <a:extLst>
              <a:ext uri="{FF2B5EF4-FFF2-40B4-BE49-F238E27FC236}">
                <a16:creationId xmlns:a16="http://schemas.microsoft.com/office/drawing/2014/main" id="{36C2CBE4-6A41-4107-948B-498529598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3ACE034-08B6-F20C-1487-F228E7E80BA9}"/>
              </a:ext>
            </a:extLst>
          </p:cNvPr>
          <p:cNvSpPr txBox="1">
            <a:spLocks/>
          </p:cNvSpPr>
          <p:nvPr/>
        </p:nvSpPr>
        <p:spPr>
          <a:xfrm>
            <a:off x="7150308" y="431573"/>
            <a:ext cx="4607974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CONSUMIDOR.GOV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C9B41D8B-C9E2-9E36-1910-A63D182CE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988330"/>
              </p:ext>
            </p:extLst>
          </p:nvPr>
        </p:nvGraphicFramePr>
        <p:xfrm>
          <a:off x="7030772" y="4598850"/>
          <a:ext cx="3803976" cy="97854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267992">
                  <a:extLst>
                    <a:ext uri="{9D8B030D-6E8A-4147-A177-3AD203B41FA5}">
                      <a16:colId xmlns:a16="http://schemas.microsoft.com/office/drawing/2014/main" val="1531427166"/>
                    </a:ext>
                  </a:extLst>
                </a:gridCol>
                <a:gridCol w="1267992">
                  <a:extLst>
                    <a:ext uri="{9D8B030D-6E8A-4147-A177-3AD203B41FA5}">
                      <a16:colId xmlns:a16="http://schemas.microsoft.com/office/drawing/2014/main" val="3806050286"/>
                    </a:ext>
                  </a:extLst>
                </a:gridCol>
                <a:gridCol w="1267992">
                  <a:extLst>
                    <a:ext uri="{9D8B030D-6E8A-4147-A177-3AD203B41FA5}">
                      <a16:colId xmlns:a16="http://schemas.microsoft.com/office/drawing/2014/main" val="658273446"/>
                    </a:ext>
                  </a:extLst>
                </a:gridCol>
              </a:tblGrid>
              <a:tr h="253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Média Final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Diferença</a:t>
                      </a:r>
                    </a:p>
                  </a:txBody>
                  <a:tcPr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108456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Operação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76,95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810871"/>
                  </a:ext>
                </a:extLst>
              </a:tr>
              <a:tr h="343381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Qualidade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82,63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121114"/>
                  </a:ext>
                </a:extLst>
              </a:tr>
            </a:tbl>
          </a:graphicData>
        </a:graphic>
      </p:graphicFrame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9EC0701-F0EB-8EE1-398B-9881909D4B36}"/>
              </a:ext>
            </a:extLst>
          </p:cNvPr>
          <p:cNvSpPr/>
          <p:nvPr/>
        </p:nvSpPr>
        <p:spPr>
          <a:xfrm>
            <a:off x="1470745" y="4613589"/>
            <a:ext cx="4487866" cy="11654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oogle Shape;2124;p50">
            <a:extLst>
              <a:ext uri="{FF2B5EF4-FFF2-40B4-BE49-F238E27FC236}">
                <a16:creationId xmlns:a16="http://schemas.microsoft.com/office/drawing/2014/main" id="{27438F26-4C36-C01F-D30D-1A92BE8F82C4}"/>
              </a:ext>
            </a:extLst>
          </p:cNvPr>
          <p:cNvGrpSpPr/>
          <p:nvPr/>
        </p:nvGrpSpPr>
        <p:grpSpPr>
          <a:xfrm>
            <a:off x="1606395" y="4729932"/>
            <a:ext cx="286337" cy="286644"/>
            <a:chOff x="4673540" y="3680297"/>
            <a:chExt cx="355434" cy="355815"/>
          </a:xfrm>
        </p:grpSpPr>
        <p:sp>
          <p:nvSpPr>
            <p:cNvPr id="13" name="Google Shape;2125;p50">
              <a:extLst>
                <a:ext uri="{FF2B5EF4-FFF2-40B4-BE49-F238E27FC236}">
                  <a16:creationId xmlns:a16="http://schemas.microsoft.com/office/drawing/2014/main" id="{89770794-4157-FFB7-260B-6B4726D4431E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Google Shape;2126;p50">
              <a:extLst>
                <a:ext uri="{FF2B5EF4-FFF2-40B4-BE49-F238E27FC236}">
                  <a16:creationId xmlns:a16="http://schemas.microsoft.com/office/drawing/2014/main" id="{E9260B99-DBA2-D637-16A3-C7C2D81C39D5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Google Shape;2127;p50">
              <a:extLst>
                <a:ext uri="{FF2B5EF4-FFF2-40B4-BE49-F238E27FC236}">
                  <a16:creationId xmlns:a16="http://schemas.microsoft.com/office/drawing/2014/main" id="{1ECC9A99-7DF8-CDAD-BDF7-1925FA46508F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EECF4D9-3AD1-42F5-84B2-5ED2BC57F53D}"/>
              </a:ext>
            </a:extLst>
          </p:cNvPr>
          <p:cNvSpPr txBox="1"/>
          <p:nvPr/>
        </p:nvSpPr>
        <p:spPr>
          <a:xfrm>
            <a:off x="1807443" y="4688044"/>
            <a:ext cx="4151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sz="1200" dirty="0"/>
              <a:t>Os ciclos apresentaram </a:t>
            </a:r>
            <a:r>
              <a:rPr lang="pt-BR" sz="1200" b="1" dirty="0"/>
              <a:t>oscilação na performance</a:t>
            </a:r>
            <a:r>
              <a:rPr lang="pt-BR" sz="1200" dirty="0"/>
              <a:t>, com queda mais acentuada no </a:t>
            </a:r>
            <a:r>
              <a:rPr lang="pt-BR" sz="1200" b="1" dirty="0"/>
              <a:t>2º e 3º ciclos, impactada pela ocorrência de notas zero no canal</a:t>
            </a:r>
            <a:r>
              <a:rPr lang="pt-BR" sz="1200" dirty="0"/>
              <a:t>. No </a:t>
            </a:r>
            <a:r>
              <a:rPr lang="pt-BR" sz="1200" b="1" dirty="0"/>
              <a:t>4º ciclo, houve recuperação da média, alcançando 83,53%</a:t>
            </a:r>
            <a:r>
              <a:rPr lang="pt-BR" sz="1200" dirty="0"/>
              <a:t>, demonstrando evolução no desempenho.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2111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PONTOS OFENSORES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E459499-C8E1-4C45-B0E3-1FB3AEB91E77}"/>
              </a:ext>
            </a:extLst>
          </p:cNvPr>
          <p:cNvSpPr txBox="1"/>
          <p:nvPr/>
        </p:nvSpPr>
        <p:spPr>
          <a:xfrm>
            <a:off x="1400358" y="1656579"/>
            <a:ext cx="985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Pontos Ofensores </a:t>
            </a:r>
          </a:p>
        </p:txBody>
      </p:sp>
      <p:graphicFrame>
        <p:nvGraphicFramePr>
          <p:cNvPr id="37" name="Gráfico 36">
            <a:extLst>
              <a:ext uri="{FF2B5EF4-FFF2-40B4-BE49-F238E27FC236}">
                <a16:creationId xmlns:a16="http://schemas.microsoft.com/office/drawing/2014/main" id="{FF23FD38-007D-4F79-919D-26FFBFCC25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2872469"/>
              </p:ext>
            </p:extLst>
          </p:nvPr>
        </p:nvGraphicFramePr>
        <p:xfrm>
          <a:off x="742950" y="2104709"/>
          <a:ext cx="10147789" cy="3699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7" name="Imagem 16">
            <a:extLst>
              <a:ext uri="{FF2B5EF4-FFF2-40B4-BE49-F238E27FC236}">
                <a16:creationId xmlns:a16="http://schemas.microsoft.com/office/drawing/2014/main" id="{E9D25BA6-8511-4D82-971E-D19E05650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5EFA20-025F-A9BC-C83C-C46AA11CDF62}"/>
              </a:ext>
            </a:extLst>
          </p:cNvPr>
          <p:cNvSpPr txBox="1">
            <a:spLocks/>
          </p:cNvSpPr>
          <p:nvPr/>
        </p:nvSpPr>
        <p:spPr>
          <a:xfrm>
            <a:off x="7150308" y="431573"/>
            <a:ext cx="4607974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3AD812-5520-6B04-683B-64DC8B029682}"/>
              </a:ext>
            </a:extLst>
          </p:cNvPr>
          <p:cNvSpPr txBox="1"/>
          <p:nvPr/>
        </p:nvSpPr>
        <p:spPr>
          <a:xfrm>
            <a:off x="10866344" y="1899610"/>
            <a:ext cx="778428" cy="3597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2,9%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2,9%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5,9%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5,9%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8,8%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11,8%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11,8%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11,8%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11,8%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26,5%</a:t>
            </a: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AB83F8B-5135-3A2B-B6F8-B4168B02AB94}"/>
              </a:ext>
            </a:extLst>
          </p:cNvPr>
          <p:cNvSpPr txBox="1">
            <a:spLocks/>
          </p:cNvSpPr>
          <p:nvPr/>
        </p:nvSpPr>
        <p:spPr>
          <a:xfrm>
            <a:off x="8251372" y="5948511"/>
            <a:ext cx="3594148" cy="3777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9E2289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pt-BR" sz="1000" b="0" i="0" u="none" strike="noStrike" kern="1200" cap="none" spc="3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Total Apontamentos:34</a:t>
            </a:r>
          </a:p>
        </p:txBody>
      </p:sp>
    </p:spTree>
    <p:extLst>
      <p:ext uri="{BB962C8B-B14F-4D97-AF65-F5344CB8AC3E}">
        <p14:creationId xmlns:p14="http://schemas.microsoft.com/office/powerpoint/2010/main" val="815013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C2913-D384-25D2-2BBF-01B8266A3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5AC2217-2D26-4734-81AF-62F96B97C56F}"/>
              </a:ext>
            </a:extLst>
          </p:cNvPr>
          <p:cNvSpPr/>
          <p:nvPr/>
        </p:nvSpPr>
        <p:spPr>
          <a:xfrm>
            <a:off x="3691452" y="4366224"/>
            <a:ext cx="5154836" cy="21070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5D25C65-1B26-8BCA-FDCD-DF58889411FD}"/>
              </a:ext>
            </a:extLst>
          </p:cNvPr>
          <p:cNvSpPr/>
          <p:nvPr/>
        </p:nvSpPr>
        <p:spPr>
          <a:xfrm>
            <a:off x="6520598" y="1775631"/>
            <a:ext cx="4823677" cy="21070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00AB469-9422-1EA5-63E2-9F5A4AFDF1F1}"/>
              </a:ext>
            </a:extLst>
          </p:cNvPr>
          <p:cNvSpPr/>
          <p:nvPr/>
        </p:nvSpPr>
        <p:spPr>
          <a:xfrm>
            <a:off x="1025019" y="1763267"/>
            <a:ext cx="4402601" cy="21070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5899590D-8744-3BBC-67A5-6CAB7D4DB4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F96FCBDC-03D1-5F8D-20C0-E54B1989B1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08B8396E-F5CA-C54F-F3B7-513B394B6EF5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926011E5-C9B0-1A11-A3A0-5DBDCCEF89D7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42E08F5B-526C-1836-7731-54591162354E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667AE6BE-865E-9221-2DA9-F89BEDBE069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196D166C-315A-39DC-F14C-66BC514FBFD9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Título 1">
            <a:extLst>
              <a:ext uri="{FF2B5EF4-FFF2-40B4-BE49-F238E27FC236}">
                <a16:creationId xmlns:a16="http://schemas.microsoft.com/office/drawing/2014/main" id="{5E4A269B-47C1-0695-5C13-273895356C3B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3F84B50-3A1B-EF76-9189-CAB5B1CE456F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7ADF79E-52F8-662A-C91A-31DDCB4186E3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A831E8-AA2A-62D7-2CF4-1C8A922DFA16}"/>
              </a:ext>
            </a:extLst>
          </p:cNvPr>
          <p:cNvSpPr txBox="1"/>
          <p:nvPr/>
        </p:nvSpPr>
        <p:spPr>
          <a:xfrm>
            <a:off x="7078155" y="1620502"/>
            <a:ext cx="328748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Atenção e Interesse: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9DA68B9-40CA-DDEB-3452-6F4860779E0D}"/>
              </a:ext>
            </a:extLst>
          </p:cNvPr>
          <p:cNvSpPr txBox="1"/>
          <p:nvPr/>
        </p:nvSpPr>
        <p:spPr>
          <a:xfrm>
            <a:off x="1431436" y="1336969"/>
            <a:ext cx="60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Análises dos Pontos Ofensores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A31E05-193A-666B-B12D-81BEC8BBDE9B}"/>
              </a:ext>
            </a:extLst>
          </p:cNvPr>
          <p:cNvSpPr txBox="1"/>
          <p:nvPr/>
        </p:nvSpPr>
        <p:spPr>
          <a:xfrm>
            <a:off x="1366068" y="2059164"/>
            <a:ext cx="37488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 principais desvios estão relacionados à utilização de tabulações genéricas ou diferentes do motivo efetivamente tratado durante o atendimento. Também é importante diferenciar corretamente os fluxos de Serasa Score, Serasa Premium, Serasa Limpa Nome e Minhas Contas, garantindo que a tabulação represente exatamente o assunto e a tratativa realizada.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E26341A-A326-C27B-D27B-751741FC995D}"/>
              </a:ext>
            </a:extLst>
          </p:cNvPr>
          <p:cNvSpPr txBox="1"/>
          <p:nvPr/>
        </p:nvSpPr>
        <p:spPr>
          <a:xfrm>
            <a:off x="1453209" y="1620502"/>
            <a:ext cx="328748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Tabulação: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9A787CB-A3E6-7396-64E0-9DE5B325433F}"/>
              </a:ext>
            </a:extLst>
          </p:cNvPr>
          <p:cNvSpPr txBox="1"/>
          <p:nvPr/>
        </p:nvSpPr>
        <p:spPr>
          <a:xfrm>
            <a:off x="4447909" y="4235339"/>
            <a:ext cx="328748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Flag de Não Resolvido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5E6FDF-686C-B700-E1A1-F86821E4C517}"/>
              </a:ext>
            </a:extLst>
          </p:cNvPr>
          <p:cNvSpPr txBox="1"/>
          <p:nvPr/>
        </p:nvSpPr>
        <p:spPr>
          <a:xfrm>
            <a:off x="3560536" y="734906"/>
            <a:ext cx="8155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CONSUMIDOR.GOV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1F4D865-21E5-3647-CCA1-4DFA6F490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F27A992-3A54-E58F-DE49-202CE3461FA0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AB394C7-56DC-6812-18ED-91A63A1A40F5}"/>
              </a:ext>
            </a:extLst>
          </p:cNvPr>
          <p:cNvSpPr txBox="1"/>
          <p:nvPr/>
        </p:nvSpPr>
        <p:spPr>
          <a:xfrm>
            <a:off x="6780044" y="1977770"/>
            <a:ext cx="4304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2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Embora as macros utilizadas estejam, em alguns casos, corretas, é necessário avançar na personalização das orientações. Nos casos relacionados ao Score, é importante explicar os pilares da pontuação e, quando pertinente, utilizar a macro de orientações para aumento do Score. Da mesma forma, em temas como Minhas Contas, DDA e Cadastro Positivo, é importante contextualizar o funcionamento e a finalidade dos produtos, garantindo uma orientação mais clara, completa e alinhada à dúvida apresentada.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E4DD9B8-9AA6-BAE9-8B88-7E4364BE5FF8}"/>
              </a:ext>
            </a:extLst>
          </p:cNvPr>
          <p:cNvSpPr txBox="1"/>
          <p:nvPr/>
        </p:nvSpPr>
        <p:spPr>
          <a:xfrm>
            <a:off x="3990176" y="4840996"/>
            <a:ext cx="45573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É necessário reforçar a correta utilização das flags de encerramento. A opção “Não resolvido” deve ser utilizada somente quando a solicitação do consumidor não tiver sido solucionada. Quando o caso estiver resolvido, a flag deve refletir o encerramento adequado, garantindo também o correto disparo da avaliação de satisfação.</a:t>
            </a:r>
          </a:p>
        </p:txBody>
      </p:sp>
    </p:spTree>
    <p:extLst>
      <p:ext uri="{BB962C8B-B14F-4D97-AF65-F5344CB8AC3E}">
        <p14:creationId xmlns:p14="http://schemas.microsoft.com/office/powerpoint/2010/main" val="14199360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APLICAÇÃO DE FEEDBACKS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Gráfico 31">
            <a:extLst>
              <a:ext uri="{FF2B5EF4-FFF2-40B4-BE49-F238E27FC236}">
                <a16:creationId xmlns:a16="http://schemas.microsoft.com/office/drawing/2014/main" id="{72CA1D9F-992B-4BC8-97CA-826DA81980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1614054"/>
              </p:ext>
            </p:extLst>
          </p:nvPr>
        </p:nvGraphicFramePr>
        <p:xfrm>
          <a:off x="1035123" y="1942699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CaixaDeTexto 32">
            <a:extLst>
              <a:ext uri="{FF2B5EF4-FFF2-40B4-BE49-F238E27FC236}">
                <a16:creationId xmlns:a16="http://schemas.microsoft.com/office/drawing/2014/main" id="{417A71CF-78F9-4EE7-A121-79E5C8E39F2B}"/>
              </a:ext>
            </a:extLst>
          </p:cNvPr>
          <p:cNvSpPr txBox="1"/>
          <p:nvPr/>
        </p:nvSpPr>
        <p:spPr>
          <a:xfrm>
            <a:off x="1608852" y="2020460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Cumprimento do SLA(%) – NC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30A12FB-989E-42A9-A3F0-B8234CB2550E}"/>
              </a:ext>
            </a:extLst>
          </p:cNvPr>
          <p:cNvSpPr/>
          <p:nvPr/>
        </p:nvSpPr>
        <p:spPr>
          <a:xfrm>
            <a:off x="1476473" y="4622206"/>
            <a:ext cx="4402601" cy="12488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" name="Google Shape;2124;p50">
            <a:extLst>
              <a:ext uri="{FF2B5EF4-FFF2-40B4-BE49-F238E27FC236}">
                <a16:creationId xmlns:a16="http://schemas.microsoft.com/office/drawing/2014/main" id="{BA21E970-1083-4D19-A248-A58FF28D0D8C}"/>
              </a:ext>
            </a:extLst>
          </p:cNvPr>
          <p:cNvGrpSpPr/>
          <p:nvPr/>
        </p:nvGrpSpPr>
        <p:grpSpPr>
          <a:xfrm>
            <a:off x="1612123" y="4738549"/>
            <a:ext cx="286337" cy="286644"/>
            <a:chOff x="4673540" y="3680297"/>
            <a:chExt cx="355434" cy="355815"/>
          </a:xfrm>
        </p:grpSpPr>
        <p:sp>
          <p:nvSpPr>
            <p:cNvPr id="40" name="Google Shape;2125;p50">
              <a:extLst>
                <a:ext uri="{FF2B5EF4-FFF2-40B4-BE49-F238E27FC236}">
                  <a16:creationId xmlns:a16="http://schemas.microsoft.com/office/drawing/2014/main" id="{C0E45B05-9ECE-4D6F-B19D-CFD6B90F52E8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Google Shape;2126;p50">
              <a:extLst>
                <a:ext uri="{FF2B5EF4-FFF2-40B4-BE49-F238E27FC236}">
                  <a16:creationId xmlns:a16="http://schemas.microsoft.com/office/drawing/2014/main" id="{F5684C49-3999-483A-99DE-E39763B2DEAA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Google Shape;2127;p50">
              <a:extLst>
                <a:ext uri="{FF2B5EF4-FFF2-40B4-BE49-F238E27FC236}">
                  <a16:creationId xmlns:a16="http://schemas.microsoft.com/office/drawing/2014/main" id="{1EAA21D1-CDF8-45B7-B1CB-5AA4B6475E59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5" name="Imagem 54">
            <a:extLst>
              <a:ext uri="{FF2B5EF4-FFF2-40B4-BE49-F238E27FC236}">
                <a16:creationId xmlns:a16="http://schemas.microsoft.com/office/drawing/2014/main" id="{9CB98EAA-7749-46B9-926F-F7EC5D091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14B6E3-396D-F76C-F717-B0AE3B991BF1}"/>
              </a:ext>
            </a:extLst>
          </p:cNvPr>
          <p:cNvSpPr txBox="1">
            <a:spLocks/>
          </p:cNvSpPr>
          <p:nvPr/>
        </p:nvSpPr>
        <p:spPr>
          <a:xfrm>
            <a:off x="7150308" y="431573"/>
            <a:ext cx="4607974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15C7C4D-B311-4D09-A50B-01BFDF8234BC}"/>
              </a:ext>
            </a:extLst>
          </p:cNvPr>
          <p:cNvSpPr txBox="1"/>
          <p:nvPr/>
        </p:nvSpPr>
        <p:spPr>
          <a:xfrm>
            <a:off x="1988371" y="4821255"/>
            <a:ext cx="3613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pt-BR" sz="12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consolidado, 73,33% estão No Prazo, 20,00% estão Fora do Prazo e 6,67% estão </a:t>
            </a: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Justificados</a:t>
            </a:r>
            <a:r>
              <a:rPr lang="pt-BR" sz="12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pt-BR" sz="1200" b="0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4C399F21-21BC-312B-AD6D-6BA029B8F3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8894647"/>
              </p:ext>
            </p:extLst>
          </p:nvPr>
        </p:nvGraphicFramePr>
        <p:xfrm>
          <a:off x="6149932" y="1942699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1CC242B6-C862-0EC6-D94A-0A84BD33618D}"/>
              </a:ext>
            </a:extLst>
          </p:cNvPr>
          <p:cNvSpPr txBox="1"/>
          <p:nvPr/>
        </p:nvSpPr>
        <p:spPr>
          <a:xfrm>
            <a:off x="6723661" y="2020460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Cumprimento do SLA(%) – NC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D90DF14-3CE6-5E16-C61C-13236635D04A}"/>
              </a:ext>
            </a:extLst>
          </p:cNvPr>
          <p:cNvSpPr txBox="1"/>
          <p:nvPr/>
        </p:nvSpPr>
        <p:spPr>
          <a:xfrm>
            <a:off x="6733393" y="2947319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66,67%</a:t>
            </a:r>
            <a:endParaRPr kumimoji="0" lang="pt-BR" sz="7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E68C01B-FDC0-2437-049C-095E53A0BA32}"/>
              </a:ext>
            </a:extLst>
          </p:cNvPr>
          <p:cNvSpPr/>
          <p:nvPr/>
        </p:nvSpPr>
        <p:spPr>
          <a:xfrm>
            <a:off x="6621830" y="4622206"/>
            <a:ext cx="4402601" cy="12488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8" name="Google Shape;2124;p50">
            <a:extLst>
              <a:ext uri="{FF2B5EF4-FFF2-40B4-BE49-F238E27FC236}">
                <a16:creationId xmlns:a16="http://schemas.microsoft.com/office/drawing/2014/main" id="{50A52B16-DA5D-50B2-BA0F-E497EEF6DC58}"/>
              </a:ext>
            </a:extLst>
          </p:cNvPr>
          <p:cNvGrpSpPr/>
          <p:nvPr/>
        </p:nvGrpSpPr>
        <p:grpSpPr>
          <a:xfrm>
            <a:off x="6757480" y="4738549"/>
            <a:ext cx="286337" cy="286644"/>
            <a:chOff x="4673540" y="3680297"/>
            <a:chExt cx="355434" cy="355815"/>
          </a:xfrm>
        </p:grpSpPr>
        <p:sp>
          <p:nvSpPr>
            <p:cNvPr id="30" name="Google Shape;2125;p50">
              <a:extLst>
                <a:ext uri="{FF2B5EF4-FFF2-40B4-BE49-F238E27FC236}">
                  <a16:creationId xmlns:a16="http://schemas.microsoft.com/office/drawing/2014/main" id="{0705397D-18B2-7F7F-0C6B-66F4002BD8C0}"/>
                </a:ext>
              </a:extLst>
            </p:cNvPr>
            <p:cNvSpPr/>
            <p:nvPr/>
          </p:nvSpPr>
          <p:spPr>
            <a:xfrm>
              <a:off x="4673540" y="3680297"/>
              <a:ext cx="355434" cy="355815"/>
            </a:xfrm>
            <a:custGeom>
              <a:avLst/>
              <a:gdLst/>
              <a:ahLst/>
              <a:cxnLst/>
              <a:rect l="l" t="t" r="r" b="b"/>
              <a:pathLst>
                <a:path w="11193" h="11205" extrusionOk="0">
                  <a:moveTo>
                    <a:pt x="2012" y="0"/>
                  </a:moveTo>
                  <a:cubicBezTo>
                    <a:pt x="905" y="0"/>
                    <a:pt x="0" y="893"/>
                    <a:pt x="0" y="2013"/>
                  </a:cubicBezTo>
                  <a:lnTo>
                    <a:pt x="0" y="9192"/>
                  </a:lnTo>
                  <a:cubicBezTo>
                    <a:pt x="0" y="10287"/>
                    <a:pt x="893" y="11204"/>
                    <a:pt x="2012" y="11204"/>
                  </a:cubicBezTo>
                  <a:lnTo>
                    <a:pt x="9180" y="11204"/>
                  </a:lnTo>
                  <a:cubicBezTo>
                    <a:pt x="10287" y="11204"/>
                    <a:pt x="11192" y="10311"/>
                    <a:pt x="11192" y="9192"/>
                  </a:cubicBezTo>
                  <a:lnTo>
                    <a:pt x="11192" y="2013"/>
                  </a:lnTo>
                  <a:cubicBezTo>
                    <a:pt x="11180" y="917"/>
                    <a:pt x="10287" y="0"/>
                    <a:pt x="9180" y="0"/>
                  </a:cubicBezTo>
                  <a:lnTo>
                    <a:pt x="8085" y="0"/>
                  </a:lnTo>
                  <a:cubicBezTo>
                    <a:pt x="7989" y="0"/>
                    <a:pt x="7918" y="84"/>
                    <a:pt x="7918" y="167"/>
                  </a:cubicBezTo>
                  <a:cubicBezTo>
                    <a:pt x="7918" y="262"/>
                    <a:pt x="7989" y="334"/>
                    <a:pt x="8085" y="334"/>
                  </a:cubicBezTo>
                  <a:lnTo>
                    <a:pt x="9180" y="334"/>
                  </a:lnTo>
                  <a:cubicBezTo>
                    <a:pt x="10109" y="334"/>
                    <a:pt x="10847" y="1084"/>
                    <a:pt x="10847" y="2001"/>
                  </a:cubicBezTo>
                  <a:lnTo>
                    <a:pt x="10847" y="9180"/>
                  </a:lnTo>
                  <a:cubicBezTo>
                    <a:pt x="10847" y="10097"/>
                    <a:pt x="10109" y="10847"/>
                    <a:pt x="9180" y="10847"/>
                  </a:cubicBezTo>
                  <a:lnTo>
                    <a:pt x="2012" y="10847"/>
                  </a:lnTo>
                  <a:cubicBezTo>
                    <a:pt x="1084" y="10847"/>
                    <a:pt x="345" y="10097"/>
                    <a:pt x="345" y="9180"/>
                  </a:cubicBezTo>
                  <a:lnTo>
                    <a:pt x="345" y="2001"/>
                  </a:lnTo>
                  <a:cubicBezTo>
                    <a:pt x="345" y="1084"/>
                    <a:pt x="1084" y="334"/>
                    <a:pt x="2012" y="334"/>
                  </a:cubicBezTo>
                  <a:lnTo>
                    <a:pt x="7418" y="334"/>
                  </a:lnTo>
                  <a:cubicBezTo>
                    <a:pt x="7501" y="334"/>
                    <a:pt x="7573" y="262"/>
                    <a:pt x="7573" y="167"/>
                  </a:cubicBezTo>
                  <a:cubicBezTo>
                    <a:pt x="7573" y="84"/>
                    <a:pt x="7501" y="0"/>
                    <a:pt x="74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Google Shape;2126;p50">
              <a:extLst>
                <a:ext uri="{FF2B5EF4-FFF2-40B4-BE49-F238E27FC236}">
                  <a16:creationId xmlns:a16="http://schemas.microsoft.com/office/drawing/2014/main" id="{A3BF88BD-2B78-9F69-88B2-26794D0B9E29}"/>
                </a:ext>
              </a:extLst>
            </p:cNvPr>
            <p:cNvSpPr/>
            <p:nvPr/>
          </p:nvSpPr>
          <p:spPr>
            <a:xfrm>
              <a:off x="4805864" y="3736630"/>
              <a:ext cx="93042" cy="92661"/>
            </a:xfrm>
            <a:custGeom>
              <a:avLst/>
              <a:gdLst/>
              <a:ahLst/>
              <a:cxnLst/>
              <a:rect l="l" t="t" r="r" b="b"/>
              <a:pathLst>
                <a:path w="2930" h="2918" extrusionOk="0">
                  <a:moveTo>
                    <a:pt x="1477" y="334"/>
                  </a:moveTo>
                  <a:cubicBezTo>
                    <a:pt x="2096" y="334"/>
                    <a:pt x="2608" y="834"/>
                    <a:pt x="2608" y="1465"/>
                  </a:cubicBezTo>
                  <a:cubicBezTo>
                    <a:pt x="2608" y="2084"/>
                    <a:pt x="2096" y="2596"/>
                    <a:pt x="1477" y="2596"/>
                  </a:cubicBezTo>
                  <a:cubicBezTo>
                    <a:pt x="846" y="2596"/>
                    <a:pt x="346" y="2084"/>
                    <a:pt x="346" y="1465"/>
                  </a:cubicBezTo>
                  <a:cubicBezTo>
                    <a:pt x="346" y="834"/>
                    <a:pt x="846" y="334"/>
                    <a:pt x="1477" y="334"/>
                  </a:cubicBezTo>
                  <a:close/>
                  <a:moveTo>
                    <a:pt x="1477" y="0"/>
                  </a:moveTo>
                  <a:cubicBezTo>
                    <a:pt x="667" y="0"/>
                    <a:pt x="12" y="655"/>
                    <a:pt x="12" y="1465"/>
                  </a:cubicBezTo>
                  <a:cubicBezTo>
                    <a:pt x="0" y="2263"/>
                    <a:pt x="655" y="2918"/>
                    <a:pt x="1477" y="2918"/>
                  </a:cubicBezTo>
                  <a:cubicBezTo>
                    <a:pt x="2274" y="2918"/>
                    <a:pt x="2929" y="2263"/>
                    <a:pt x="2929" y="1465"/>
                  </a:cubicBezTo>
                  <a:cubicBezTo>
                    <a:pt x="2929" y="655"/>
                    <a:pt x="2274" y="0"/>
                    <a:pt x="14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Google Shape;2127;p50">
              <a:extLst>
                <a:ext uri="{FF2B5EF4-FFF2-40B4-BE49-F238E27FC236}">
                  <a16:creationId xmlns:a16="http://schemas.microsoft.com/office/drawing/2014/main" id="{2EADAC76-7AD0-F11D-046C-2C482FFDE7E1}"/>
                </a:ext>
              </a:extLst>
            </p:cNvPr>
            <p:cNvSpPr/>
            <p:nvPr/>
          </p:nvSpPr>
          <p:spPr>
            <a:xfrm>
              <a:off x="4779380" y="3841358"/>
              <a:ext cx="143723" cy="138801"/>
            </a:xfrm>
            <a:custGeom>
              <a:avLst/>
              <a:gdLst/>
              <a:ahLst/>
              <a:cxnLst/>
              <a:rect l="l" t="t" r="r" b="b"/>
              <a:pathLst>
                <a:path w="4526" h="4371" extrusionOk="0">
                  <a:moveTo>
                    <a:pt x="477" y="1"/>
                  </a:moveTo>
                  <a:cubicBezTo>
                    <a:pt x="215" y="1"/>
                    <a:pt x="1" y="203"/>
                    <a:pt x="1" y="477"/>
                  </a:cubicBezTo>
                  <a:lnTo>
                    <a:pt x="1" y="893"/>
                  </a:lnTo>
                  <a:cubicBezTo>
                    <a:pt x="1" y="1155"/>
                    <a:pt x="203" y="1370"/>
                    <a:pt x="477" y="1370"/>
                  </a:cubicBezTo>
                  <a:lnTo>
                    <a:pt x="763" y="1370"/>
                  </a:lnTo>
                  <a:cubicBezTo>
                    <a:pt x="834" y="1370"/>
                    <a:pt x="906" y="1429"/>
                    <a:pt x="906" y="1513"/>
                  </a:cubicBezTo>
                  <a:lnTo>
                    <a:pt x="906" y="2858"/>
                  </a:lnTo>
                  <a:cubicBezTo>
                    <a:pt x="906" y="2929"/>
                    <a:pt x="846" y="3001"/>
                    <a:pt x="763" y="3001"/>
                  </a:cubicBezTo>
                  <a:lnTo>
                    <a:pt x="572" y="3001"/>
                  </a:lnTo>
                  <a:cubicBezTo>
                    <a:pt x="299" y="3001"/>
                    <a:pt x="96" y="3215"/>
                    <a:pt x="96" y="3477"/>
                  </a:cubicBezTo>
                  <a:lnTo>
                    <a:pt x="96" y="3894"/>
                  </a:lnTo>
                  <a:cubicBezTo>
                    <a:pt x="96" y="4168"/>
                    <a:pt x="299" y="4370"/>
                    <a:pt x="572" y="4370"/>
                  </a:cubicBezTo>
                  <a:lnTo>
                    <a:pt x="4049" y="4370"/>
                  </a:lnTo>
                  <a:cubicBezTo>
                    <a:pt x="4311" y="4370"/>
                    <a:pt x="4525" y="4168"/>
                    <a:pt x="4525" y="3894"/>
                  </a:cubicBezTo>
                  <a:lnTo>
                    <a:pt x="4525" y="3477"/>
                  </a:lnTo>
                  <a:cubicBezTo>
                    <a:pt x="4525" y="3215"/>
                    <a:pt x="4311" y="3001"/>
                    <a:pt x="4049" y="3001"/>
                  </a:cubicBezTo>
                  <a:lnTo>
                    <a:pt x="3859" y="3001"/>
                  </a:lnTo>
                  <a:cubicBezTo>
                    <a:pt x="3787" y="3001"/>
                    <a:pt x="3704" y="2941"/>
                    <a:pt x="3704" y="2858"/>
                  </a:cubicBezTo>
                  <a:lnTo>
                    <a:pt x="3704" y="477"/>
                  </a:lnTo>
                  <a:cubicBezTo>
                    <a:pt x="3704" y="203"/>
                    <a:pt x="3501" y="1"/>
                    <a:pt x="3228" y="1"/>
                  </a:cubicBezTo>
                  <a:lnTo>
                    <a:pt x="1442" y="1"/>
                  </a:lnTo>
                  <a:cubicBezTo>
                    <a:pt x="1358" y="1"/>
                    <a:pt x="1287" y="72"/>
                    <a:pt x="1287" y="155"/>
                  </a:cubicBezTo>
                  <a:cubicBezTo>
                    <a:pt x="1287" y="251"/>
                    <a:pt x="1358" y="322"/>
                    <a:pt x="1442" y="322"/>
                  </a:cubicBezTo>
                  <a:lnTo>
                    <a:pt x="3228" y="322"/>
                  </a:lnTo>
                  <a:cubicBezTo>
                    <a:pt x="3311" y="322"/>
                    <a:pt x="3382" y="382"/>
                    <a:pt x="3382" y="477"/>
                  </a:cubicBezTo>
                  <a:lnTo>
                    <a:pt x="3382" y="2858"/>
                  </a:lnTo>
                  <a:cubicBezTo>
                    <a:pt x="3382" y="3120"/>
                    <a:pt x="3585" y="3334"/>
                    <a:pt x="3859" y="3334"/>
                  </a:cubicBezTo>
                  <a:lnTo>
                    <a:pt x="4049" y="3334"/>
                  </a:lnTo>
                  <a:cubicBezTo>
                    <a:pt x="4121" y="3334"/>
                    <a:pt x="4204" y="3394"/>
                    <a:pt x="4204" y="3477"/>
                  </a:cubicBezTo>
                  <a:lnTo>
                    <a:pt x="4204" y="3894"/>
                  </a:lnTo>
                  <a:cubicBezTo>
                    <a:pt x="4204" y="3965"/>
                    <a:pt x="4132" y="4049"/>
                    <a:pt x="4049" y="4049"/>
                  </a:cubicBezTo>
                  <a:lnTo>
                    <a:pt x="572" y="4049"/>
                  </a:lnTo>
                  <a:cubicBezTo>
                    <a:pt x="489" y="4049"/>
                    <a:pt x="418" y="3989"/>
                    <a:pt x="418" y="3894"/>
                  </a:cubicBezTo>
                  <a:lnTo>
                    <a:pt x="418" y="3477"/>
                  </a:lnTo>
                  <a:cubicBezTo>
                    <a:pt x="418" y="3406"/>
                    <a:pt x="477" y="3334"/>
                    <a:pt x="572" y="3334"/>
                  </a:cubicBezTo>
                  <a:lnTo>
                    <a:pt x="763" y="3334"/>
                  </a:lnTo>
                  <a:cubicBezTo>
                    <a:pt x="1025" y="3334"/>
                    <a:pt x="1239" y="3120"/>
                    <a:pt x="1239" y="2858"/>
                  </a:cubicBezTo>
                  <a:lnTo>
                    <a:pt x="1239" y="1513"/>
                  </a:lnTo>
                  <a:cubicBezTo>
                    <a:pt x="1239" y="1251"/>
                    <a:pt x="1025" y="1036"/>
                    <a:pt x="763" y="1036"/>
                  </a:cubicBezTo>
                  <a:lnTo>
                    <a:pt x="477" y="1036"/>
                  </a:lnTo>
                  <a:cubicBezTo>
                    <a:pt x="406" y="1036"/>
                    <a:pt x="334" y="977"/>
                    <a:pt x="334" y="893"/>
                  </a:cubicBezTo>
                  <a:lnTo>
                    <a:pt x="334" y="477"/>
                  </a:lnTo>
                  <a:cubicBezTo>
                    <a:pt x="334" y="393"/>
                    <a:pt x="394" y="322"/>
                    <a:pt x="477" y="322"/>
                  </a:cubicBezTo>
                  <a:lnTo>
                    <a:pt x="787" y="322"/>
                  </a:lnTo>
                  <a:cubicBezTo>
                    <a:pt x="882" y="322"/>
                    <a:pt x="953" y="251"/>
                    <a:pt x="953" y="155"/>
                  </a:cubicBezTo>
                  <a:cubicBezTo>
                    <a:pt x="953" y="72"/>
                    <a:pt x="882" y="1"/>
                    <a:pt x="7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7EF4836-A1B9-ED87-A0DE-2D913CF15560}"/>
              </a:ext>
            </a:extLst>
          </p:cNvPr>
          <p:cNvSpPr txBox="1"/>
          <p:nvPr/>
        </p:nvSpPr>
        <p:spPr>
          <a:xfrm>
            <a:off x="7129082" y="4925408"/>
            <a:ext cx="3613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Dos feedbacks registrados, 87,50% estão No Prazo e 12,50% estão Fora do Prazo.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B41BC022-20BB-95EE-9BD8-20198454698B}"/>
              </a:ext>
            </a:extLst>
          </p:cNvPr>
          <p:cNvSpPr txBox="1"/>
          <p:nvPr/>
        </p:nvSpPr>
        <p:spPr>
          <a:xfrm>
            <a:off x="7371597" y="2967600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33,33%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25F12DDF-23A6-4C05-A413-FC5E83E54297}"/>
              </a:ext>
            </a:extLst>
          </p:cNvPr>
          <p:cNvSpPr txBox="1"/>
          <p:nvPr/>
        </p:nvSpPr>
        <p:spPr>
          <a:xfrm>
            <a:off x="8288221" y="2462542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>
                <a:solidFill>
                  <a:prstClr val="white">
                    <a:lumMod val="9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0%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E4D7143-B870-4461-9A17-191295BE4CB2}"/>
              </a:ext>
            </a:extLst>
          </p:cNvPr>
          <p:cNvSpPr txBox="1"/>
          <p:nvPr/>
        </p:nvSpPr>
        <p:spPr>
          <a:xfrm>
            <a:off x="9595715" y="2806330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0%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30CB250F-C81C-4394-8E99-A656A0970AC3}"/>
              </a:ext>
            </a:extLst>
          </p:cNvPr>
          <p:cNvSpPr txBox="1"/>
          <p:nvPr/>
        </p:nvSpPr>
        <p:spPr>
          <a:xfrm>
            <a:off x="10233919" y="2781753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33,33%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5E23B98-11C1-4BFE-8836-1E9F233CCEF9}"/>
              </a:ext>
            </a:extLst>
          </p:cNvPr>
          <p:cNvSpPr txBox="1"/>
          <p:nvPr/>
        </p:nvSpPr>
        <p:spPr>
          <a:xfrm>
            <a:off x="8274491" y="2512155"/>
            <a:ext cx="5486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521240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202469" y="4597434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644333FE-63B4-42DF-ADFA-AF9177DF58D7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C90A8E2B-6430-4128-93A1-80EDBF3E3BED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C220A82A-DCEF-47A8-9174-5A849CB2B75F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446DDA74-F73B-4510-BFCE-608659C3FC02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487DFEED-06C3-4B9B-9B7A-545AAF95F24C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9BC75932-B40A-460F-B242-8264BFE06926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B92D9AB-3FEB-47AD-8015-DD30B5F902CE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6F5D155-7AE8-4277-A61A-2EF88BF2DADC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4ECBC702-8A0A-4D6D-9F12-E545E8615BE2}"/>
              </a:ext>
            </a:extLst>
          </p:cNvPr>
          <p:cNvSpPr/>
          <p:nvPr/>
        </p:nvSpPr>
        <p:spPr>
          <a:xfrm>
            <a:off x="7138142" y="1626081"/>
            <a:ext cx="4410392" cy="22797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9" name="Google Shape;1944;p50">
            <a:extLst>
              <a:ext uri="{FF2B5EF4-FFF2-40B4-BE49-F238E27FC236}">
                <a16:creationId xmlns:a16="http://schemas.microsoft.com/office/drawing/2014/main" id="{AE3E5632-39EC-498B-8446-16F7B46F0CF4}"/>
              </a:ext>
            </a:extLst>
          </p:cNvPr>
          <p:cNvGrpSpPr/>
          <p:nvPr/>
        </p:nvGrpSpPr>
        <p:grpSpPr>
          <a:xfrm>
            <a:off x="7308880" y="1717741"/>
            <a:ext cx="476316" cy="468384"/>
            <a:chOff x="860940" y="2746477"/>
            <a:chExt cx="371883" cy="365691"/>
          </a:xfrm>
          <a:solidFill>
            <a:srgbClr val="002060"/>
          </a:solidFill>
        </p:grpSpPr>
        <p:sp>
          <p:nvSpPr>
            <p:cNvPr id="50" name="Google Shape;1945;p50">
              <a:extLst>
                <a:ext uri="{FF2B5EF4-FFF2-40B4-BE49-F238E27FC236}">
                  <a16:creationId xmlns:a16="http://schemas.microsoft.com/office/drawing/2014/main" id="{F8E576BE-2CD1-4B21-BB2A-FA3D538B5E35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Google Shape;1946;p50">
              <a:extLst>
                <a:ext uri="{FF2B5EF4-FFF2-40B4-BE49-F238E27FC236}">
                  <a16:creationId xmlns:a16="http://schemas.microsoft.com/office/drawing/2014/main" id="{9F68CAA6-59B8-4F64-8643-1935A15F9675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Google Shape;1947;p50">
              <a:extLst>
                <a:ext uri="{FF2B5EF4-FFF2-40B4-BE49-F238E27FC236}">
                  <a16:creationId xmlns:a16="http://schemas.microsoft.com/office/drawing/2014/main" id="{EA4A187D-2E3F-46AA-BEA6-749B97B58F53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Google Shape;1948;p50">
              <a:extLst>
                <a:ext uri="{FF2B5EF4-FFF2-40B4-BE49-F238E27FC236}">
                  <a16:creationId xmlns:a16="http://schemas.microsoft.com/office/drawing/2014/main" id="{85D06B3A-A8F7-4804-B970-45AE95668DED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Google Shape;1949;p50">
              <a:extLst>
                <a:ext uri="{FF2B5EF4-FFF2-40B4-BE49-F238E27FC236}">
                  <a16:creationId xmlns:a16="http://schemas.microsoft.com/office/drawing/2014/main" id="{0E034A1A-361D-430B-BD52-6D0AB6ACB680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151331E-ED22-483C-9A5F-F39D02811185}"/>
              </a:ext>
            </a:extLst>
          </p:cNvPr>
          <p:cNvSpPr txBox="1"/>
          <p:nvPr/>
        </p:nvSpPr>
        <p:spPr>
          <a:xfrm>
            <a:off x="7826628" y="1751439"/>
            <a:ext cx="1498347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Top Promotor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D7D8EBC-45F0-466E-AA24-76F7AF55B24C}"/>
              </a:ext>
            </a:extLst>
          </p:cNvPr>
          <p:cNvSpPr txBox="1"/>
          <p:nvPr/>
        </p:nvSpPr>
        <p:spPr>
          <a:xfrm>
            <a:off x="7793167" y="2161051"/>
            <a:ext cx="31047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Rafael Vitor Raimundi De Araujo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Cintia Reif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Beatriz Ribeiro De Castro</a:t>
            </a: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19F7444E-86B2-4DF8-9BE5-F4C6CFF6FB01}"/>
              </a:ext>
            </a:extLst>
          </p:cNvPr>
          <p:cNvSpPr/>
          <p:nvPr/>
        </p:nvSpPr>
        <p:spPr>
          <a:xfrm>
            <a:off x="1035123" y="4905211"/>
            <a:ext cx="5353050" cy="144373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chemeClr val="tx1">
                <a:lumMod val="65000"/>
                <a:lumOff val="3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6" name="Google Shape;1944;p50">
            <a:extLst>
              <a:ext uri="{FF2B5EF4-FFF2-40B4-BE49-F238E27FC236}">
                <a16:creationId xmlns:a16="http://schemas.microsoft.com/office/drawing/2014/main" id="{23D4F9B8-B03B-4AD5-8AC1-B8C7EEE8B6CA}"/>
              </a:ext>
            </a:extLst>
          </p:cNvPr>
          <p:cNvGrpSpPr/>
          <p:nvPr/>
        </p:nvGrpSpPr>
        <p:grpSpPr>
          <a:xfrm rot="10417960">
            <a:off x="1205528" y="4997038"/>
            <a:ext cx="473619" cy="462234"/>
            <a:chOff x="860940" y="2746477"/>
            <a:chExt cx="371883" cy="365691"/>
          </a:xfrm>
          <a:solidFill>
            <a:srgbClr val="595959"/>
          </a:solidFill>
        </p:grpSpPr>
        <p:sp>
          <p:nvSpPr>
            <p:cNvPr id="77" name="Google Shape;1945;p50">
              <a:extLst>
                <a:ext uri="{FF2B5EF4-FFF2-40B4-BE49-F238E27FC236}">
                  <a16:creationId xmlns:a16="http://schemas.microsoft.com/office/drawing/2014/main" id="{71446081-35DF-4E60-A1F2-EEBC3EA75609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Google Shape;1946;p50">
              <a:extLst>
                <a:ext uri="{FF2B5EF4-FFF2-40B4-BE49-F238E27FC236}">
                  <a16:creationId xmlns:a16="http://schemas.microsoft.com/office/drawing/2014/main" id="{B9B62BB4-7A78-4DC4-AD93-62C842D5F6AD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Google Shape;1947;p50">
              <a:extLst>
                <a:ext uri="{FF2B5EF4-FFF2-40B4-BE49-F238E27FC236}">
                  <a16:creationId xmlns:a16="http://schemas.microsoft.com/office/drawing/2014/main" id="{88EC2143-2ECD-4B77-AE77-51D362C72CD8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Google Shape;1948;p50">
              <a:extLst>
                <a:ext uri="{FF2B5EF4-FFF2-40B4-BE49-F238E27FC236}">
                  <a16:creationId xmlns:a16="http://schemas.microsoft.com/office/drawing/2014/main" id="{FA2F7CC1-E87A-4627-92E3-73CD74E11E82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Google Shape;1949;p50">
              <a:extLst>
                <a:ext uri="{FF2B5EF4-FFF2-40B4-BE49-F238E27FC236}">
                  <a16:creationId xmlns:a16="http://schemas.microsoft.com/office/drawing/2014/main" id="{70A0C0B0-8C76-4E89-8B6A-4D2C03C94300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A3FBEEA3-F03C-4393-A61C-516C388CADB5}"/>
              </a:ext>
            </a:extLst>
          </p:cNvPr>
          <p:cNvSpPr txBox="1"/>
          <p:nvPr/>
        </p:nvSpPr>
        <p:spPr>
          <a:xfrm>
            <a:off x="1723609" y="5030568"/>
            <a:ext cx="1721709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Ofensores - </a:t>
            </a:r>
            <a:r>
              <a:rPr lang="pt-BR" sz="1000" b="1" dirty="0" err="1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</a:t>
            </a:r>
            <a:endParaRPr kumimoji="0" lang="pt-BR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C0884E51-525A-4C8A-8832-D714925FCECD}"/>
              </a:ext>
            </a:extLst>
          </p:cNvPr>
          <p:cNvSpPr txBox="1"/>
          <p:nvPr/>
        </p:nvSpPr>
        <p:spPr>
          <a:xfrm>
            <a:off x="1797631" y="5483290"/>
            <a:ext cx="2564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Daniel Felipe Santos De Souza</a:t>
            </a:r>
          </a:p>
        </p:txBody>
      </p:sp>
      <p:pic>
        <p:nvPicPr>
          <p:cNvPr id="117" name="Imagem 116">
            <a:extLst>
              <a:ext uri="{FF2B5EF4-FFF2-40B4-BE49-F238E27FC236}">
                <a16:creationId xmlns:a16="http://schemas.microsoft.com/office/drawing/2014/main" id="{6A0AFDE9-DC25-408B-8239-6C5E44CC4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632BE73-D21F-17B6-F257-46BEF6269B29}"/>
              </a:ext>
            </a:extLst>
          </p:cNvPr>
          <p:cNvSpPr txBox="1"/>
          <p:nvPr/>
        </p:nvSpPr>
        <p:spPr>
          <a:xfrm>
            <a:off x="10649629" y="2173762"/>
            <a:ext cx="8016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98,6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95,86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95,14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47F2A5-0ED7-BBAF-2640-2A5E990A2D96}"/>
              </a:ext>
            </a:extLst>
          </p:cNvPr>
          <p:cNvSpPr txBox="1"/>
          <p:nvPr/>
        </p:nvSpPr>
        <p:spPr>
          <a:xfrm>
            <a:off x="1431436" y="1336969"/>
            <a:ext cx="3992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Comparativo dos Ofensores (Jun. </a:t>
            </a: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Vs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Jul.)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8D3685B-A9A2-0389-3D22-7506457E4557}"/>
              </a:ext>
            </a:extLst>
          </p:cNvPr>
          <p:cNvSpPr txBox="1">
            <a:spLocks/>
          </p:cNvSpPr>
          <p:nvPr/>
        </p:nvSpPr>
        <p:spPr>
          <a:xfrm>
            <a:off x="7150308" y="431573"/>
            <a:ext cx="4607974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5E5A950-0E1B-3A18-2825-BDDB8FA7C9A0}"/>
              </a:ext>
            </a:extLst>
          </p:cNvPr>
          <p:cNvSpPr/>
          <p:nvPr/>
        </p:nvSpPr>
        <p:spPr>
          <a:xfrm>
            <a:off x="7192514" y="4046496"/>
            <a:ext cx="4410392" cy="132850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oogle Shape;1944;p50">
            <a:extLst>
              <a:ext uri="{FF2B5EF4-FFF2-40B4-BE49-F238E27FC236}">
                <a16:creationId xmlns:a16="http://schemas.microsoft.com/office/drawing/2014/main" id="{E7FA866E-4BF0-B890-F340-67912EB4D762}"/>
              </a:ext>
            </a:extLst>
          </p:cNvPr>
          <p:cNvGrpSpPr/>
          <p:nvPr/>
        </p:nvGrpSpPr>
        <p:grpSpPr>
          <a:xfrm rot="10417960">
            <a:off x="7363252" y="4138154"/>
            <a:ext cx="476316" cy="468384"/>
            <a:chOff x="860940" y="2746477"/>
            <a:chExt cx="371883" cy="365691"/>
          </a:xfrm>
          <a:solidFill>
            <a:srgbClr val="002060"/>
          </a:solidFill>
        </p:grpSpPr>
        <p:sp>
          <p:nvSpPr>
            <p:cNvPr id="12" name="Google Shape;1945;p50">
              <a:extLst>
                <a:ext uri="{FF2B5EF4-FFF2-40B4-BE49-F238E27FC236}">
                  <a16:creationId xmlns:a16="http://schemas.microsoft.com/office/drawing/2014/main" id="{BE9820C7-9E1B-4021-9EDE-54149D16BF79}"/>
                </a:ext>
              </a:extLst>
            </p:cNvPr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Google Shape;1946;p50">
              <a:extLst>
                <a:ext uri="{FF2B5EF4-FFF2-40B4-BE49-F238E27FC236}">
                  <a16:creationId xmlns:a16="http://schemas.microsoft.com/office/drawing/2014/main" id="{7BE8D574-C2C7-F70C-6103-D18AFD45F97E}"/>
                </a:ext>
              </a:extLst>
            </p:cNvPr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Google Shape;1947;p50">
              <a:extLst>
                <a:ext uri="{FF2B5EF4-FFF2-40B4-BE49-F238E27FC236}">
                  <a16:creationId xmlns:a16="http://schemas.microsoft.com/office/drawing/2014/main" id="{7108BBDE-A84F-25C3-AA2A-0A0A59C4706A}"/>
                </a:ext>
              </a:extLst>
            </p:cNvPr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Google Shape;1948;p50">
              <a:extLst>
                <a:ext uri="{FF2B5EF4-FFF2-40B4-BE49-F238E27FC236}">
                  <a16:creationId xmlns:a16="http://schemas.microsoft.com/office/drawing/2014/main" id="{A3908F70-1738-9007-3222-B2FF9DFFCA29}"/>
                </a:ext>
              </a:extLst>
            </p:cNvPr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Google Shape;1949;p50">
              <a:extLst>
                <a:ext uri="{FF2B5EF4-FFF2-40B4-BE49-F238E27FC236}">
                  <a16:creationId xmlns:a16="http://schemas.microsoft.com/office/drawing/2014/main" id="{5C86BC1D-AC74-C62F-453C-B018C5C7FD62}"/>
                </a:ext>
              </a:extLst>
            </p:cNvPr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8A88F61-3021-EC3C-570E-CEFA04777094}"/>
              </a:ext>
            </a:extLst>
          </p:cNvPr>
          <p:cNvSpPr txBox="1"/>
          <p:nvPr/>
        </p:nvSpPr>
        <p:spPr>
          <a:xfrm>
            <a:off x="7881000" y="4171852"/>
            <a:ext cx="1498347" cy="3077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Ofensor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5F3E1B0-BFAD-C82D-59EC-410A30ECC7DE}"/>
              </a:ext>
            </a:extLst>
          </p:cNvPr>
          <p:cNvSpPr txBox="1"/>
          <p:nvPr/>
        </p:nvSpPr>
        <p:spPr>
          <a:xfrm>
            <a:off x="7827661" y="4597434"/>
            <a:ext cx="3621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Ederson Henrique De Souza Silva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Jean Mauricio Moacyr Mendes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5E28F52-0974-4EF8-8880-DAA2F4B3FA4D}"/>
              </a:ext>
            </a:extLst>
          </p:cNvPr>
          <p:cNvSpPr txBox="1"/>
          <p:nvPr/>
        </p:nvSpPr>
        <p:spPr>
          <a:xfrm>
            <a:off x="10649629" y="4597434"/>
            <a:ext cx="801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76,4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17,4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E899AB8-C306-6196-204D-F7038C7DDC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90818"/>
              </p:ext>
            </p:extLst>
          </p:nvPr>
        </p:nvGraphicFramePr>
        <p:xfrm>
          <a:off x="643466" y="1549889"/>
          <a:ext cx="5787167" cy="325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350F9477-00B9-9BED-5D15-B47FB082760A}"/>
              </a:ext>
            </a:extLst>
          </p:cNvPr>
          <p:cNvSpPr txBox="1"/>
          <p:nvPr/>
        </p:nvSpPr>
        <p:spPr>
          <a:xfrm>
            <a:off x="4472396" y="5483290"/>
            <a:ext cx="652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1743218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4079-9555-AE58-C0CC-2DE12C18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m 38">
            <a:extLst>
              <a:ext uri="{FF2B5EF4-FFF2-40B4-BE49-F238E27FC236}">
                <a16:creationId xmlns:a16="http://schemas.microsoft.com/office/drawing/2014/main" id="{A93762E3-975F-4C42-2777-2F3C3A1223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1840" y="3813455"/>
            <a:ext cx="5030445" cy="5148116"/>
          </a:xfrm>
          <a:prstGeom prst="rect">
            <a:avLst/>
          </a:prstGeom>
          <a:effectLst/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B1D58CEE-3E53-604B-804F-73A4CACC7E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28370" y="-2021305"/>
            <a:ext cx="5030445" cy="5148116"/>
          </a:xfrm>
          <a:prstGeom prst="rect">
            <a:avLst/>
          </a:prstGeom>
          <a:effectLst/>
        </p:spPr>
      </p:pic>
      <p:grpSp>
        <p:nvGrpSpPr>
          <p:cNvPr id="20" name="Google Shape;1964;p50">
            <a:extLst>
              <a:ext uri="{FF2B5EF4-FFF2-40B4-BE49-F238E27FC236}">
                <a16:creationId xmlns:a16="http://schemas.microsoft.com/office/drawing/2014/main" id="{CD18D31C-FFC2-CC9E-4070-75E23059DA1F}"/>
              </a:ext>
            </a:extLst>
          </p:cNvPr>
          <p:cNvGrpSpPr/>
          <p:nvPr/>
        </p:nvGrpSpPr>
        <p:grpSpPr>
          <a:xfrm flipH="1">
            <a:off x="742950" y="537670"/>
            <a:ext cx="603644" cy="576232"/>
            <a:chOff x="4126815" y="2760704"/>
            <a:chExt cx="380393" cy="363118"/>
          </a:xfrm>
          <a:solidFill>
            <a:srgbClr val="0B5892"/>
          </a:solidFill>
        </p:grpSpPr>
        <p:sp>
          <p:nvSpPr>
            <p:cNvPr id="21" name="Google Shape;1965;p50">
              <a:extLst>
                <a:ext uri="{FF2B5EF4-FFF2-40B4-BE49-F238E27FC236}">
                  <a16:creationId xmlns:a16="http://schemas.microsoft.com/office/drawing/2014/main" id="{A50C1D74-5D7E-C3E4-D1E1-9966A94105AC}"/>
                </a:ext>
              </a:extLst>
            </p:cNvPr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Google Shape;1966;p50">
              <a:extLst>
                <a:ext uri="{FF2B5EF4-FFF2-40B4-BE49-F238E27FC236}">
                  <a16:creationId xmlns:a16="http://schemas.microsoft.com/office/drawing/2014/main" id="{334FAC39-C2C3-94DA-8368-A85B94348433}"/>
                </a:ext>
              </a:extLst>
            </p:cNvPr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Google Shape;1967;p50">
              <a:extLst>
                <a:ext uri="{FF2B5EF4-FFF2-40B4-BE49-F238E27FC236}">
                  <a16:creationId xmlns:a16="http://schemas.microsoft.com/office/drawing/2014/main" id="{8B16E5D4-C71C-4780-7E4C-D68A7E0F4A38}"/>
                </a:ext>
              </a:extLst>
            </p:cNvPr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Google Shape;1968;p50">
              <a:extLst>
                <a:ext uri="{FF2B5EF4-FFF2-40B4-BE49-F238E27FC236}">
                  <a16:creationId xmlns:a16="http://schemas.microsoft.com/office/drawing/2014/main" id="{655F5AED-6322-4A57-ADAE-927F7A5AC0E8}"/>
                </a:ext>
              </a:extLst>
            </p:cNvPr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21ECD5B7-F9CF-EBF1-214C-0B1B1DD92428}"/>
              </a:ext>
            </a:extLst>
          </p:cNvPr>
          <p:cNvSpPr/>
          <p:nvPr/>
        </p:nvSpPr>
        <p:spPr>
          <a:xfrm>
            <a:off x="-449179" y="6707874"/>
            <a:ext cx="14054469" cy="3346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204F533-5F6A-7489-B78D-9EF59E2BC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741AFD2B-6A67-39E0-73CC-51D36D597754}"/>
              </a:ext>
            </a:extLst>
          </p:cNvPr>
          <p:cNvSpPr txBox="1">
            <a:spLocks/>
          </p:cNvSpPr>
          <p:nvPr/>
        </p:nvSpPr>
        <p:spPr>
          <a:xfrm>
            <a:off x="1366068" y="448718"/>
            <a:ext cx="6453099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6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RANKING DE DESEMPENHO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6E51EC9A-CE2F-6695-25C7-563E12C0D687}"/>
              </a:ext>
            </a:extLst>
          </p:cNvPr>
          <p:cNvSpPr txBox="1">
            <a:spLocks/>
          </p:cNvSpPr>
          <p:nvPr/>
        </p:nvSpPr>
        <p:spPr>
          <a:xfrm>
            <a:off x="1400358" y="716411"/>
            <a:ext cx="6950456" cy="4811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300" normalizeH="0" baseline="0" noProof="0" dirty="0">
                <a:ln>
                  <a:noFill/>
                </a:ln>
                <a:solidFill>
                  <a:srgbClr val="0B589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Quantidade total de monitorias realizadas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310B0BA-E2BA-B90B-0B15-4E57AA96AE2E}"/>
              </a:ext>
            </a:extLst>
          </p:cNvPr>
          <p:cNvCxnSpPr/>
          <p:nvPr/>
        </p:nvCxnSpPr>
        <p:spPr>
          <a:xfrm>
            <a:off x="725988" y="1185955"/>
            <a:ext cx="9855200" cy="0"/>
          </a:xfrm>
          <a:prstGeom prst="line">
            <a:avLst/>
          </a:prstGeom>
          <a:ln>
            <a:solidFill>
              <a:srgbClr val="0B58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" name="Imagem 116">
            <a:extLst>
              <a:ext uri="{FF2B5EF4-FFF2-40B4-BE49-F238E27FC236}">
                <a16:creationId xmlns:a16="http://schemas.microsoft.com/office/drawing/2014/main" id="{9DBBF9E1-A5F1-F2E4-A4B3-053D73F28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DB2DD0DF-FD82-C0DE-5C94-18F2C2E916C4}"/>
              </a:ext>
            </a:extLst>
          </p:cNvPr>
          <p:cNvSpPr txBox="1">
            <a:spLocks/>
          </p:cNvSpPr>
          <p:nvPr/>
        </p:nvSpPr>
        <p:spPr>
          <a:xfrm>
            <a:off x="7150308" y="431573"/>
            <a:ext cx="4607974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60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7B28AFF-5B4F-5A12-28A4-F8EE572C3CA2}"/>
              </a:ext>
            </a:extLst>
          </p:cNvPr>
          <p:cNvSpPr/>
          <p:nvPr/>
        </p:nvSpPr>
        <p:spPr>
          <a:xfrm>
            <a:off x="1203072" y="1843632"/>
            <a:ext cx="4319996" cy="196982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dist="101600" dir="10740000" algn="t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E8C2F6C-8290-AC2F-AF41-34792EF0BAF3}"/>
              </a:ext>
            </a:extLst>
          </p:cNvPr>
          <p:cNvSpPr txBox="1"/>
          <p:nvPr/>
        </p:nvSpPr>
        <p:spPr>
          <a:xfrm>
            <a:off x="4742316" y="6334780"/>
            <a:ext cx="801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0ACE8DDF-13A2-B127-8038-E23E54B01F9A}"/>
              </a:ext>
            </a:extLst>
          </p:cNvPr>
          <p:cNvSpPr txBox="1"/>
          <p:nvPr/>
        </p:nvSpPr>
        <p:spPr>
          <a:xfrm>
            <a:off x="1442249" y="1705501"/>
            <a:ext cx="1498347" cy="307777"/>
          </a:xfrm>
          <a:prstGeom prst="rect">
            <a:avLst/>
          </a:prstGeom>
          <a:solidFill>
            <a:srgbClr val="BDD7EE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Ofensor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02329041-EB3F-F572-ABE8-889BCB7DEF63}"/>
              </a:ext>
            </a:extLst>
          </p:cNvPr>
          <p:cNvSpPr txBox="1"/>
          <p:nvPr/>
        </p:nvSpPr>
        <p:spPr>
          <a:xfrm>
            <a:off x="3585123" y="1742606"/>
            <a:ext cx="2014988" cy="43088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Média atual: 97,50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b="1" dirty="0">
                <a:solidFill>
                  <a:srgbClr val="E7E6E6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  <a:endParaRPr kumimoji="0" lang="pt-BR" sz="11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77D29EB7-AB47-8121-3739-F25558450450}"/>
              </a:ext>
            </a:extLst>
          </p:cNvPr>
          <p:cNvSpPr txBox="1"/>
          <p:nvPr/>
        </p:nvSpPr>
        <p:spPr>
          <a:xfrm>
            <a:off x="1044772" y="1263280"/>
            <a:ext cx="6064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Análises do Perfil dos Ofensores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B7FD60BE-07AA-21A5-206D-3AA61316EFB2}"/>
              </a:ext>
            </a:extLst>
          </p:cNvPr>
          <p:cNvSpPr txBox="1"/>
          <p:nvPr/>
        </p:nvSpPr>
        <p:spPr>
          <a:xfrm>
            <a:off x="1307340" y="2142347"/>
            <a:ext cx="47886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Ederson Henrique De Souza Silva</a:t>
            </a:r>
            <a:b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</a:t>
            </a:r>
            <a:r>
              <a:rPr lang="pt-BR" sz="1200" dirty="0"/>
              <a:t> atuou </a:t>
            </a:r>
            <a:r>
              <a:rPr lang="pt-BR" sz="1200" b="1" dirty="0"/>
              <a:t>temporariamente no Consumidor.gov</a:t>
            </a:r>
            <a:r>
              <a:rPr lang="pt-BR" sz="1200" dirty="0"/>
              <a:t> e apresentou </a:t>
            </a:r>
            <a:r>
              <a:rPr lang="pt-BR" sz="1200" b="1" dirty="0"/>
              <a:t>excelente desempenho</a:t>
            </a:r>
            <a:r>
              <a:rPr lang="pt-BR" sz="1200" dirty="0"/>
              <a:t>, com </a:t>
            </a:r>
            <a:r>
              <a:rPr lang="pt-BR" sz="1200" b="1" dirty="0"/>
              <a:t>nota 100 nas duas monitorias realizadas em julho</a:t>
            </a:r>
            <a:r>
              <a:rPr lang="pt-BR" sz="1200" dirty="0"/>
              <a:t>, demonstrando boa aderência aos procedimentos e assertividade nas tratativas.</a:t>
            </a:r>
            <a:endParaRPr lang="pt-BR" sz="1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12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3019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19E4ED5-6191-4819-BC5E-0686AFC2CEAF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1D28AC1-0221-48D8-B024-0763281FCC5A}"/>
              </a:ext>
            </a:extLst>
          </p:cNvPr>
          <p:cNvSpPr/>
          <p:nvPr/>
        </p:nvSpPr>
        <p:spPr>
          <a:xfrm>
            <a:off x="-641684" y="6707874"/>
            <a:ext cx="4776717" cy="300251"/>
          </a:xfrm>
          <a:prstGeom prst="rect">
            <a:avLst/>
          </a:prstGeom>
          <a:solidFill>
            <a:srgbClr val="9E2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B97A203-0963-4EDB-AFF5-18D33C0036C8}"/>
              </a:ext>
            </a:extLst>
          </p:cNvPr>
          <p:cNvSpPr/>
          <p:nvPr/>
        </p:nvSpPr>
        <p:spPr>
          <a:xfrm>
            <a:off x="4040868" y="6707874"/>
            <a:ext cx="4776717" cy="300251"/>
          </a:xfrm>
          <a:prstGeom prst="rect">
            <a:avLst/>
          </a:prstGeom>
          <a:solidFill>
            <a:srgbClr val="0B58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8828573" y="6707874"/>
            <a:ext cx="4776717" cy="3002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07062480-4CDC-C85A-37DA-9A4F7FB0C889}"/>
              </a:ext>
            </a:extLst>
          </p:cNvPr>
          <p:cNvSpPr txBox="1">
            <a:spLocks/>
          </p:cNvSpPr>
          <p:nvPr/>
        </p:nvSpPr>
        <p:spPr>
          <a:xfrm>
            <a:off x="509191" y="2955832"/>
            <a:ext cx="6453099" cy="1121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ALINHAMENTO</a:t>
            </a:r>
          </a:p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QUALIDADE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4BC2D1-2EAB-C1B3-6E51-8C01AE13D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309" y="447338"/>
            <a:ext cx="7499842" cy="564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735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15712-F764-80BE-531F-80004A21E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>
            <a:extLst>
              <a:ext uri="{FF2B5EF4-FFF2-40B4-BE49-F238E27FC236}">
                <a16:creationId xmlns:a16="http://schemas.microsoft.com/office/drawing/2014/main" id="{AD29C0BA-5BF8-B3A3-4DE8-AA55198E67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23C65F6D-9DB6-8DAD-BE87-F503316B2F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D331F5D-CA01-5E79-EA9F-BB87F04B8714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C7E9BC7-76CD-DB9B-6AA1-D9F2D7CEF22B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EAEDF0-F2A3-847F-3B53-A1A652530344}"/>
              </a:ext>
            </a:extLst>
          </p:cNvPr>
          <p:cNvSpPr/>
          <p:nvPr/>
        </p:nvSpPr>
        <p:spPr>
          <a:xfrm>
            <a:off x="-641684" y="6707874"/>
            <a:ext cx="4776717" cy="300251"/>
          </a:xfrm>
          <a:prstGeom prst="rect">
            <a:avLst/>
          </a:prstGeom>
          <a:solidFill>
            <a:srgbClr val="9E2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778A503-2325-82F2-9CA4-1CC672549733}"/>
              </a:ext>
            </a:extLst>
          </p:cNvPr>
          <p:cNvSpPr/>
          <p:nvPr/>
        </p:nvSpPr>
        <p:spPr>
          <a:xfrm>
            <a:off x="4040868" y="6707874"/>
            <a:ext cx="4776717" cy="300251"/>
          </a:xfrm>
          <a:prstGeom prst="rect">
            <a:avLst/>
          </a:prstGeom>
          <a:solidFill>
            <a:srgbClr val="0B58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33F5784-394A-7AB2-1236-981197392BF8}"/>
              </a:ext>
            </a:extLst>
          </p:cNvPr>
          <p:cNvSpPr/>
          <p:nvPr/>
        </p:nvSpPr>
        <p:spPr>
          <a:xfrm>
            <a:off x="8828573" y="6707874"/>
            <a:ext cx="4776717" cy="3002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7D9D352-FC71-E382-D43F-74AC4C92A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F83AFBA8-2DF1-D084-A709-AFCCEE05593D}"/>
              </a:ext>
            </a:extLst>
          </p:cNvPr>
          <p:cNvSpPr txBox="1">
            <a:spLocks/>
          </p:cNvSpPr>
          <p:nvPr/>
        </p:nvSpPr>
        <p:spPr>
          <a:xfrm>
            <a:off x="509191" y="2955832"/>
            <a:ext cx="6453099" cy="1121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APLICAÇÃO </a:t>
            </a:r>
          </a:p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FEEDBACKS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61F5E7B-5867-9883-334F-CF00A9CBD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728" y="369990"/>
            <a:ext cx="4541292" cy="603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125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F1DEB-2B42-892E-FE81-79EAE252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>
            <a:extLst>
              <a:ext uri="{FF2B5EF4-FFF2-40B4-BE49-F238E27FC236}">
                <a16:creationId xmlns:a16="http://schemas.microsoft.com/office/drawing/2014/main" id="{304F6A6B-9455-F436-3F69-5AA9BDC3B9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E6E96F1B-AB10-3109-F821-950A0A2C7BD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C7BD8A7-A039-BEB4-73C9-2510EAA8FCFA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B036FD0-A89E-0FC2-4A5C-B9412B135AF2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9D0959C-85A7-331C-DF41-BB3EACCB75E7}"/>
              </a:ext>
            </a:extLst>
          </p:cNvPr>
          <p:cNvSpPr/>
          <p:nvPr/>
        </p:nvSpPr>
        <p:spPr>
          <a:xfrm>
            <a:off x="-641684" y="6707874"/>
            <a:ext cx="4776717" cy="300251"/>
          </a:xfrm>
          <a:prstGeom prst="rect">
            <a:avLst/>
          </a:prstGeom>
          <a:solidFill>
            <a:srgbClr val="9E2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34057F3-B85B-76D5-FA70-3180009AAEC9}"/>
              </a:ext>
            </a:extLst>
          </p:cNvPr>
          <p:cNvSpPr/>
          <p:nvPr/>
        </p:nvSpPr>
        <p:spPr>
          <a:xfrm>
            <a:off x="4040868" y="6707874"/>
            <a:ext cx="4776717" cy="300251"/>
          </a:xfrm>
          <a:prstGeom prst="rect">
            <a:avLst/>
          </a:prstGeom>
          <a:solidFill>
            <a:srgbClr val="0B58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EC2F060-929F-41FF-70F1-538F2BC8314A}"/>
              </a:ext>
            </a:extLst>
          </p:cNvPr>
          <p:cNvSpPr/>
          <p:nvPr/>
        </p:nvSpPr>
        <p:spPr>
          <a:xfrm>
            <a:off x="8828573" y="6707874"/>
            <a:ext cx="4776717" cy="3002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FEA587E-607F-EFFA-16CD-9B620A685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2BAEFB2E-6C2C-DCF8-EFFA-AB68EB5613F2}"/>
              </a:ext>
            </a:extLst>
          </p:cNvPr>
          <p:cNvSpPr txBox="1">
            <a:spLocks/>
          </p:cNvSpPr>
          <p:nvPr/>
        </p:nvSpPr>
        <p:spPr>
          <a:xfrm>
            <a:off x="509191" y="2955832"/>
            <a:ext cx="6453099" cy="1121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ORGULHOS </a:t>
            </a:r>
          </a:p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QUALIDADE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483286C-1635-6D6E-5080-D1B0E5C1A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999" y="343428"/>
            <a:ext cx="4562249" cy="608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116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F1EBE-A504-B269-4337-2C50F0D6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>
            <a:extLst>
              <a:ext uri="{FF2B5EF4-FFF2-40B4-BE49-F238E27FC236}">
                <a16:creationId xmlns:a16="http://schemas.microsoft.com/office/drawing/2014/main" id="{2FA8E060-EB80-DFDB-4654-39C9ED4212B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C61FCAD9-B81F-3CF4-48E2-CE1BA835BC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96EFFB7-4403-C80F-E9A5-8044DE987C39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70E8DAC-51CA-57FA-FCA2-9BC35929196E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66B65A0-C77F-B575-11C7-77CCFFF265D8}"/>
              </a:ext>
            </a:extLst>
          </p:cNvPr>
          <p:cNvSpPr/>
          <p:nvPr/>
        </p:nvSpPr>
        <p:spPr>
          <a:xfrm>
            <a:off x="-641684" y="6707874"/>
            <a:ext cx="4776717" cy="300251"/>
          </a:xfrm>
          <a:prstGeom prst="rect">
            <a:avLst/>
          </a:prstGeom>
          <a:solidFill>
            <a:srgbClr val="9E2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7429B19-5986-2E7B-6F09-6AC9658542FB}"/>
              </a:ext>
            </a:extLst>
          </p:cNvPr>
          <p:cNvSpPr/>
          <p:nvPr/>
        </p:nvSpPr>
        <p:spPr>
          <a:xfrm>
            <a:off x="4040868" y="6707874"/>
            <a:ext cx="4776717" cy="300251"/>
          </a:xfrm>
          <a:prstGeom prst="rect">
            <a:avLst/>
          </a:prstGeom>
          <a:solidFill>
            <a:srgbClr val="0B58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6C1295A-8C77-BADC-420B-A282063246B3}"/>
              </a:ext>
            </a:extLst>
          </p:cNvPr>
          <p:cNvSpPr/>
          <p:nvPr/>
        </p:nvSpPr>
        <p:spPr>
          <a:xfrm>
            <a:off x="8828573" y="6707874"/>
            <a:ext cx="4776717" cy="3002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DF6E72E-2231-4346-A862-BEB7DD7C9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8C90369D-65CB-A1F1-AC91-8C0EA770540B}"/>
              </a:ext>
            </a:extLst>
          </p:cNvPr>
          <p:cNvSpPr txBox="1">
            <a:spLocks/>
          </p:cNvSpPr>
          <p:nvPr/>
        </p:nvSpPr>
        <p:spPr>
          <a:xfrm>
            <a:off x="509191" y="2955832"/>
            <a:ext cx="6453099" cy="1121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APLICAÇÃO </a:t>
            </a:r>
          </a:p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FEEDBACKS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265BCC-F1F2-49B3-9DA7-C6359A0DC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764" y="345829"/>
            <a:ext cx="4532719" cy="60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871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2BF09-A42E-5DCD-8D01-6870F7E6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>
            <a:extLst>
              <a:ext uri="{FF2B5EF4-FFF2-40B4-BE49-F238E27FC236}">
                <a16:creationId xmlns:a16="http://schemas.microsoft.com/office/drawing/2014/main" id="{394AA291-83AF-303F-9A09-50712BA5A6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A4109403-B25F-AB41-656D-04A7D34BF2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FB08C41-6FD1-CDFA-F1B3-6E6041BA5CAB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C902D8D-1B52-95F8-F553-24ACE19A3BE0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BADD98B-0525-BF34-D502-246A71C59F7F}"/>
              </a:ext>
            </a:extLst>
          </p:cNvPr>
          <p:cNvSpPr/>
          <p:nvPr/>
        </p:nvSpPr>
        <p:spPr>
          <a:xfrm>
            <a:off x="-641684" y="6707874"/>
            <a:ext cx="4776717" cy="300251"/>
          </a:xfrm>
          <a:prstGeom prst="rect">
            <a:avLst/>
          </a:prstGeom>
          <a:solidFill>
            <a:srgbClr val="9E2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FEE52AD6-F1E7-033B-7562-59ADDDC77705}"/>
              </a:ext>
            </a:extLst>
          </p:cNvPr>
          <p:cNvSpPr/>
          <p:nvPr/>
        </p:nvSpPr>
        <p:spPr>
          <a:xfrm>
            <a:off x="4040868" y="6707874"/>
            <a:ext cx="4776717" cy="300251"/>
          </a:xfrm>
          <a:prstGeom prst="rect">
            <a:avLst/>
          </a:prstGeom>
          <a:solidFill>
            <a:srgbClr val="0B58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269B9DC-C918-B88A-4BB8-518FC370E96F}"/>
              </a:ext>
            </a:extLst>
          </p:cNvPr>
          <p:cNvSpPr/>
          <p:nvPr/>
        </p:nvSpPr>
        <p:spPr>
          <a:xfrm>
            <a:off x="8828573" y="6707874"/>
            <a:ext cx="4776717" cy="3002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C9F901C-EB16-49E2-F49F-5AA1ECCD1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6DCDC250-D935-AFCF-E0EC-44092B22D347}"/>
              </a:ext>
            </a:extLst>
          </p:cNvPr>
          <p:cNvSpPr txBox="1">
            <a:spLocks/>
          </p:cNvSpPr>
          <p:nvPr/>
        </p:nvSpPr>
        <p:spPr>
          <a:xfrm>
            <a:off x="509191" y="2955832"/>
            <a:ext cx="6453099" cy="1121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APLICAÇÃO </a:t>
            </a:r>
          </a:p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FEEDBACKS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D597526-ABE4-E1C5-08E9-88D0A422E5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294" y="275480"/>
            <a:ext cx="4613210" cy="615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1211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AB1E-9A24-B23B-3F04-B07B20BE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>
            <a:extLst>
              <a:ext uri="{FF2B5EF4-FFF2-40B4-BE49-F238E27FC236}">
                <a16:creationId xmlns:a16="http://schemas.microsoft.com/office/drawing/2014/main" id="{CEC3ED08-2CE9-493B-6731-6A760871A9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6615A8BB-722A-37F2-0705-C31162D68C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FDA57CD-9992-3B3E-1CFA-4AC3D760B566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EFF3FA-7C95-FA6A-EDCD-2ECC8F0221A0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9AA6860-578D-92D1-E4C3-AABC29159247}"/>
              </a:ext>
            </a:extLst>
          </p:cNvPr>
          <p:cNvSpPr/>
          <p:nvPr/>
        </p:nvSpPr>
        <p:spPr>
          <a:xfrm>
            <a:off x="-641684" y="6707874"/>
            <a:ext cx="4776717" cy="300251"/>
          </a:xfrm>
          <a:prstGeom prst="rect">
            <a:avLst/>
          </a:prstGeom>
          <a:solidFill>
            <a:srgbClr val="9E2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2761F69-2A9E-FF90-C5C1-E3AC0CFD6F80}"/>
              </a:ext>
            </a:extLst>
          </p:cNvPr>
          <p:cNvSpPr/>
          <p:nvPr/>
        </p:nvSpPr>
        <p:spPr>
          <a:xfrm>
            <a:off x="4040868" y="6707874"/>
            <a:ext cx="4776717" cy="300251"/>
          </a:xfrm>
          <a:prstGeom prst="rect">
            <a:avLst/>
          </a:prstGeom>
          <a:solidFill>
            <a:srgbClr val="0B58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6E1E7A7-4371-ADCF-772A-56A73953CDA6}"/>
              </a:ext>
            </a:extLst>
          </p:cNvPr>
          <p:cNvSpPr/>
          <p:nvPr/>
        </p:nvSpPr>
        <p:spPr>
          <a:xfrm>
            <a:off x="8828573" y="6707874"/>
            <a:ext cx="4776717" cy="3002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7742ECB-3D3E-7ED6-22C7-1364F7B6E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FEE9E0CD-B74B-DFAC-EA61-0D1667DEEFAE}"/>
              </a:ext>
            </a:extLst>
          </p:cNvPr>
          <p:cNvSpPr txBox="1">
            <a:spLocks/>
          </p:cNvSpPr>
          <p:nvPr/>
        </p:nvSpPr>
        <p:spPr>
          <a:xfrm>
            <a:off x="509191" y="2955832"/>
            <a:ext cx="6453099" cy="11210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ORGULHOS </a:t>
            </a:r>
          </a:p>
          <a:p>
            <a:pPr algn="l"/>
            <a:r>
              <a:rPr lang="pt-BR" sz="24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QUALIDADE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7501C0C-1B8A-08D5-637F-5024E48C7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206" y="279627"/>
            <a:ext cx="4610100" cy="61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76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>
            <a:extLst>
              <a:ext uri="{FF2B5EF4-FFF2-40B4-BE49-F238E27FC236}">
                <a16:creationId xmlns:a16="http://schemas.microsoft.com/office/drawing/2014/main" id="{DE2A603E-716D-41D5-ABEF-1625839B46A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-2192539" y="-1973179"/>
            <a:ext cx="5030445" cy="5148116"/>
          </a:xfrm>
          <a:prstGeom prst="rect">
            <a:avLst/>
          </a:prstGeom>
          <a:effectLst/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8F6A83EB-6687-479D-BD59-51B6B2B8CB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"/>
          </a:blip>
          <a:stretch>
            <a:fillRect/>
          </a:stretch>
        </p:blipFill>
        <p:spPr>
          <a:xfrm>
            <a:off x="9157251" y="4596063"/>
            <a:ext cx="5030445" cy="5148116"/>
          </a:xfrm>
          <a:prstGeom prst="rect">
            <a:avLst/>
          </a:prstGeom>
          <a:effectLst/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A5950180-9DDC-4E06-9746-C88850FA434F}"/>
              </a:ext>
            </a:extLst>
          </p:cNvPr>
          <p:cNvSpPr txBox="1">
            <a:spLocks/>
          </p:cNvSpPr>
          <p:nvPr/>
        </p:nvSpPr>
        <p:spPr>
          <a:xfrm>
            <a:off x="-1" y="855616"/>
            <a:ext cx="12192001" cy="5580185"/>
          </a:xfrm>
          <a:prstGeom prst="rect">
            <a:avLst/>
          </a:prstGeom>
          <a:effectLst>
            <a:reflection blurRad="6350" stA="50000" endA="295" endPos="92000" dist="101600" dir="5400000" sy="-100000" algn="bl" rotWithShape="0"/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3300" b="1" spc="-300" dirty="0">
                <a:solidFill>
                  <a:schemeClr val="tx1">
                    <a:lumMod val="50000"/>
                    <a:lumOff val="50000"/>
                    <a:alpha val="11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B71EADA-2995-4F0E-898A-DAD0EBF1629A}"/>
              </a:ext>
            </a:extLst>
          </p:cNvPr>
          <p:cNvSpPr/>
          <p:nvPr/>
        </p:nvSpPr>
        <p:spPr>
          <a:xfrm>
            <a:off x="940477" y="2158889"/>
            <a:ext cx="2437660" cy="408165"/>
          </a:xfrm>
          <a:prstGeom prst="round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B5892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F19E4ED5-6191-4819-BC5E-0686AFC2CEAF}"/>
              </a:ext>
            </a:extLst>
          </p:cNvPr>
          <p:cNvSpPr txBox="1">
            <a:spLocks/>
          </p:cNvSpPr>
          <p:nvPr/>
        </p:nvSpPr>
        <p:spPr>
          <a:xfrm>
            <a:off x="395849" y="431573"/>
            <a:ext cx="5811865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spc="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MENSAL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4C060A47-A05B-445F-9298-A5D6A781B1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87766" y="2567054"/>
            <a:ext cx="2132458" cy="2132458"/>
          </a:xfrm>
          <a:prstGeom prst="rect">
            <a:avLst/>
          </a:prstGeom>
          <a:effectLst>
            <a:outerShdw blurRad="457200" dist="38100" dir="2700000" sx="106000" sy="106000" algn="tl" rotWithShape="0">
              <a:prstClr val="black">
                <a:alpha val="40000"/>
              </a:prstClr>
            </a:outerShdw>
            <a:reflection blurRad="6350" stA="50000" endA="300" endPos="55500" dist="101600" dir="5400000" sy="-100000" algn="bl" rotWithShape="0"/>
          </a:effec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1D28AC1-0221-48D8-B024-0763281FCC5A}"/>
              </a:ext>
            </a:extLst>
          </p:cNvPr>
          <p:cNvSpPr/>
          <p:nvPr/>
        </p:nvSpPr>
        <p:spPr>
          <a:xfrm>
            <a:off x="-641684" y="6707874"/>
            <a:ext cx="4776717" cy="300251"/>
          </a:xfrm>
          <a:prstGeom prst="rect">
            <a:avLst/>
          </a:prstGeom>
          <a:solidFill>
            <a:srgbClr val="9E2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B97A203-0963-4EDB-AFF5-18D33C0036C8}"/>
              </a:ext>
            </a:extLst>
          </p:cNvPr>
          <p:cNvSpPr/>
          <p:nvPr/>
        </p:nvSpPr>
        <p:spPr>
          <a:xfrm>
            <a:off x="4040868" y="6707874"/>
            <a:ext cx="4776717" cy="300251"/>
          </a:xfrm>
          <a:prstGeom prst="rect">
            <a:avLst/>
          </a:prstGeom>
          <a:solidFill>
            <a:srgbClr val="0B58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BBC58FB-2C41-419E-8246-609C9177CDA9}"/>
              </a:ext>
            </a:extLst>
          </p:cNvPr>
          <p:cNvSpPr/>
          <p:nvPr/>
        </p:nvSpPr>
        <p:spPr>
          <a:xfrm>
            <a:off x="8828573" y="6707874"/>
            <a:ext cx="4776717" cy="3002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5CA91AA-A108-4071-B0A7-0374C74ED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4691" y="-20995"/>
            <a:ext cx="12316692" cy="88042"/>
          </a:xfrm>
          <a:prstGeom prst="rect">
            <a:avLst/>
          </a:prstGeom>
        </p:spPr>
      </p:pic>
      <p:sp>
        <p:nvSpPr>
          <p:cNvPr id="33" name="Título 1">
            <a:extLst>
              <a:ext uri="{FF2B5EF4-FFF2-40B4-BE49-F238E27FC236}">
                <a16:creationId xmlns:a16="http://schemas.microsoft.com/office/drawing/2014/main" id="{E8ED96BD-2906-4BD9-86CD-086D77D840E8}"/>
              </a:ext>
            </a:extLst>
          </p:cNvPr>
          <p:cNvSpPr txBox="1">
            <a:spLocks/>
          </p:cNvSpPr>
          <p:nvPr/>
        </p:nvSpPr>
        <p:spPr>
          <a:xfrm>
            <a:off x="3237243" y="3585878"/>
            <a:ext cx="5717512" cy="4723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600" b="1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Excelência</a:t>
            </a:r>
            <a:r>
              <a:rPr lang="pt-BR" sz="1600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não é um ato,</a:t>
            </a:r>
          </a:p>
          <a:p>
            <a:r>
              <a:rPr lang="pt-BR" sz="1600" spc="600" dirty="0">
                <a:solidFill>
                  <a:srgbClr val="0B58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é um hábito diário.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8B98A7E-4B68-465C-A00D-AC7894A965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7293" y="-171064"/>
            <a:ext cx="12192000" cy="27546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267B244-91D0-4A57-85A4-4E3AFD986A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1490" y="3087487"/>
            <a:ext cx="900752" cy="36965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078F6D9D-B043-462D-A3DF-9407DB0572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6292" y="2479425"/>
            <a:ext cx="1604749" cy="160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021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4822</TotalTime>
  <Words>3633</Words>
  <Application>Microsoft Office PowerPoint</Application>
  <PresentationFormat>Widescreen</PresentationFormat>
  <Paragraphs>768</Paragraphs>
  <Slides>46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46</vt:i4>
      </vt:variant>
    </vt:vector>
  </HeadingPairs>
  <TitlesOfParts>
    <vt:vector size="53" baseType="lpstr">
      <vt:lpstr>Aptos</vt:lpstr>
      <vt:lpstr>Aptos Narrow</vt:lpstr>
      <vt:lpstr>Arial</vt:lpstr>
      <vt:lpstr>Calibri</vt:lpstr>
      <vt:lpstr>Calibri Light</vt:lpstr>
      <vt:lpstr>Tema do Office</vt:lpstr>
      <vt:lpstr>1_Tema do Office</vt:lpstr>
      <vt:lpstr>WEEKLY</vt:lpstr>
      <vt:lpstr>Apresentação do PowerPoint</vt:lpstr>
      <vt:lpstr>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CHAT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GOV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</dc:title>
  <dc:creator>AVANCAR</dc:creator>
  <cp:lastModifiedBy>Qualidade ITS</cp:lastModifiedBy>
  <cp:revision>236</cp:revision>
  <dcterms:created xsi:type="dcterms:W3CDTF">2026-03-05T00:13:41Z</dcterms:created>
  <dcterms:modified xsi:type="dcterms:W3CDTF">2026-08-13T17:36:40Z</dcterms:modified>
</cp:coreProperties>
</file>